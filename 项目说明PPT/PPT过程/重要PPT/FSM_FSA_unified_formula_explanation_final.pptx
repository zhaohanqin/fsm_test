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1" autoAdjust="0"/>
    <p:restoredTop sz="94610"/>
  </p:normalViewPr>
  <p:slideViewPr>
    <p:cSldViewPr snapToGrid="0" snapToObjects="1">
      <p:cViewPr>
        <p:scale>
          <a:sx n="94" d="100"/>
          <a:sy n="94" d="100"/>
        </p:scale>
        <p:origin x="91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96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STRUCTURED LIGHT · DECODING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频移法（FSM / FSA）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统一公式详解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D[k] 的相位旋转速度，到 FFT bin q，再到投影仪坐标 uₚ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0467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四步相移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029968" y="4517136"/>
            <a:ext cx="356616" cy="0"/>
          </a:xfrm>
          <a:prstGeom prst="line">
            <a:avLst/>
          </a:prstGeom>
          <a:noFill/>
          <a:ln w="19050">
            <a:solidFill>
              <a:srgbClr val="376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49631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复信号 D[k]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721608" y="4517136"/>
            <a:ext cx="356616" cy="0"/>
          </a:xfrm>
          <a:prstGeom prst="line">
            <a:avLst/>
          </a:prstGeom>
          <a:noFill/>
          <a:ln w="19050">
            <a:solidFill>
              <a:srgbClr val="376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18795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搜索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413248" y="4517136"/>
            <a:ext cx="356616" cy="0"/>
          </a:xfrm>
          <a:prstGeom prst="line">
            <a:avLst/>
          </a:prstGeom>
          <a:noFill/>
          <a:ln w="19050">
            <a:solidFill>
              <a:srgbClr val="376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87959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7959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104888" y="4517136"/>
            <a:ext cx="356616" cy="0"/>
          </a:xfrm>
          <a:prstGeom prst="line">
            <a:avLst/>
          </a:prstGeom>
          <a:noFill/>
          <a:ln w="19050">
            <a:solidFill>
              <a:srgbClr val="376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57123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57123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投影仪坐标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796528" y="4517136"/>
            <a:ext cx="356616" cy="0"/>
          </a:xfrm>
          <a:prstGeom prst="line">
            <a:avLst/>
          </a:prstGeom>
          <a:noFill/>
          <a:ln w="19050">
            <a:solidFill>
              <a:srgbClr val="376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262872" y="4297680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0A2C45"/>
          </a:solidFill>
          <a:ln w="8890">
            <a:solidFill>
              <a:srgbClr val="174B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262872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D9F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量化阶梯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223760" y="1444752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0D3D5C"/>
          </a:solidFill>
          <a:ln w="10160">
            <a:solidFill>
              <a:srgbClr val="2A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351776" y="1581912"/>
            <a:ext cx="33558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 · N / (L · s)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26948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核心目标：让 FFT 的 bin 网格与投影仪坐标网格对齐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Title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32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讲解路线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讲解路线 ·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围绕统一公式，串起物理信号、FFT 匹配、参数策略与工程实现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讲解路线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914400" cy="91440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130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物理信号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3310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D[k] 的相位从何而来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709928" y="2286000"/>
            <a:ext cx="969264" cy="0"/>
          </a:xfrm>
          <a:prstGeom prst="line">
            <a:avLst/>
          </a:prstGeom>
          <a:noFill/>
          <a:ln w="19050">
            <a:solidFill>
              <a:srgbClr val="8AA4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788920" y="1828800"/>
            <a:ext cx="914400" cy="91440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88920" y="2130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41448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匹配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310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/ L 到底测试什么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767328" y="2286000"/>
            <a:ext cx="969264" cy="0"/>
          </a:xfrm>
          <a:prstGeom prst="line">
            <a:avLst/>
          </a:prstGeom>
          <a:noFill/>
          <a:ln w="19050">
            <a:solidFill>
              <a:srgbClr val="8AA4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914400" cy="9144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130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8848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3310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uₚ = q·N/(L·s)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824728" y="2286000"/>
            <a:ext cx="969264" cy="0"/>
          </a:xfrm>
          <a:prstGeom prst="line">
            <a:avLst/>
          </a:prstGeom>
          <a:noFill/>
          <a:ln w="19050">
            <a:solidFill>
              <a:srgbClr val="8AA4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903720" y="1828800"/>
            <a:ext cx="914400" cy="91440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903720" y="2130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56248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参数策略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310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 = N/s 的含义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882128" y="2286000"/>
            <a:ext cx="969264" cy="0"/>
          </a:xfrm>
          <a:prstGeom prst="line">
            <a:avLst/>
          </a:prstGeom>
          <a:noFill/>
          <a:ln w="19050">
            <a:solidFill>
              <a:srgbClr val="8AA4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961120" y="1828800"/>
            <a:ext cx="914400" cy="91440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961120" y="2130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13648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工程误区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3310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M、补零、量化阶梯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1828800" y="4617720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956816" y="4754880"/>
            <a:ext cx="35844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匹配条件： q / L = s · uₚ / 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0800" y="461772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28816" y="4754880"/>
            <a:ext cx="28529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推荐策略： L = N / 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从目标看统一公式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频移法要恢复相机像素与投影仪像素的对应关系；统一公式描述的是 q 如何变成 uₚ。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从目标看统一公式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32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方法目标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频移法的最终目标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对每个相机像素恢复它对应的投影仪坐标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方法目标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32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相机像素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" y="22860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86384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(x_c, y_c)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88920" y="2743200"/>
            <a:ext cx="210312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FSM / FSA 解码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(x_p, y_p)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投影仪像素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52360" y="17373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452360" y="1737360"/>
            <a:ext cx="73152" cy="141732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5352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固定一个相机像素，只看它沿频率轴的响应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2267712"/>
            <a:ext cx="3017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D[0], D[1], ..., D[M−1]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这串复数的相位旋转速度携带了投影仪坐标 uₚ。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52360" y="370332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0B314D"/>
          </a:solidFill>
          <a:ln w="10160">
            <a:solidFill>
              <a:srgbClr val="0B31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580376" y="3840480"/>
            <a:ext cx="30815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旋转越快 → uₚ 越大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旋转越慢 → uₚ 越小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核心概念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三个量不能混在一起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M、N、L 分别属于数据采集、物理坐标和频谱搜索三个层面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核心概念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05840" y="2084832"/>
            <a:ext cx="777240" cy="77724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20240" y="2121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num_frequencies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实际采集 / 投影的频率数量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063240"/>
            <a:ext cx="2697480" cy="27432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 Σ 求和里有多少个真实观测值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07992" y="187452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36592" y="2084832"/>
            <a:ext cx="777240" cy="77724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736592" y="23317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50992" y="2121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9F0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proj_dim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50992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投影仪当前解码方向分辨率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3063240"/>
            <a:ext cx="2697480" cy="27432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36592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决定真实相位公式里的坐标归一化周期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238744" y="187452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67344" y="2084832"/>
            <a:ext cx="777240" cy="777240"/>
          </a:xfrm>
          <a:prstGeom prst="ellipse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67344" y="23317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81744" y="2121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A5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fft_length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81744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用来搜索峰值的候选 bin 数量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67344" y="3063240"/>
            <a:ext cx="2697480" cy="27432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67344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 q 网格密度以及 q 到 uₚ 的比例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240280" y="489204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2368296" y="5029200"/>
            <a:ext cx="733348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 负责信息量 · N 负责物理周期 · L 负责搜索网格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解码链条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统一公式位于解码链条的最后一段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它把 FFT 的峰值 bin 编号 q 映射为投影仪物理坐标 uₚ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 · 解码链条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灰度图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I0/I1/I2/I3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1965960" y="2286000"/>
            <a:ext cx="34747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414016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414016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四步差分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14016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Dc, Ds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813048" y="2286000"/>
            <a:ext cx="34747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261104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261104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复信号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61104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D[k]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660136" y="2286000"/>
            <a:ext cx="34747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08192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108192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08192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C[q]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507224" y="2286000"/>
            <a:ext cx="34747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955280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016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955280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354312" y="2286000"/>
            <a:ext cx="347472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802368" y="18288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016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02368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02368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8862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77240" y="3886200"/>
            <a:ext cx="73152" cy="1463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78408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关键问题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8408" y="4416552"/>
            <a:ext cx="3611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argmax 只给出了整数 bin：q。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它什么时候能直接表示投影仪坐标？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什么时候必须缩放？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760720" y="40690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888736" y="4206240"/>
            <a:ext cx="42245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 · N / (L · s)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从灰度到复信号 D[k]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四步相移把亮度图像变成携带相位的复数序列，为 FFT 识别相位旋转速度做准备。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从灰度到复信号 D[k]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32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四步相移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四步相移如何得到 D[k]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对每个投影频率采集 0°/90°/180°/270° 四张图，再差分构造复数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四步相移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18288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96596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18288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10896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18288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251960" y="2066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270°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148840"/>
            <a:ext cx="914400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69280" y="1664208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797296" y="1801368"/>
            <a:ext cx="1847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Dc = I0 − I2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Ds = I3 − I1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01000" y="2148840"/>
            <a:ext cx="91440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098280" y="178308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226296" y="1920240"/>
            <a:ext cx="17556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 = Dc + j·Ds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14400" y="37033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3703320"/>
            <a:ext cx="73152" cy="1143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15568" y="3867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差分的作用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233672"/>
            <a:ext cx="3337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I0−I2 和 I3−I1 会抵消背景亮度 B，只留下近似的 cosθ 与 sinθ。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074920" y="370332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074920" y="3703320"/>
            <a:ext cx="73152" cy="1143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276088" y="3867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复数的意义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4233672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= 2R·exp(jθ)，相位 θ 被放进复数角度，后续就可以沿频率轴分析旋转速度。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物理信号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真实信号为什么是这个形式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固定一个相机像素，它对应的投影仪坐标 uₚ 会决定 D[k] 的相位斜率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物理信号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920240"/>
            <a:ext cx="64190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D[k] ≈ A · exp(j · 2π · s · k · uₚ / 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063240"/>
            <a:ext cx="310896" cy="310896"/>
          </a:xfrm>
          <a:prstGeom prst="ellipse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1363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8016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k 个采集频率样本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28269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0,1,...,M−1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343400" y="3063240"/>
            <a:ext cx="310896" cy="310896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43400" y="31363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frequency_step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28269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fₖ = s·k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68680" y="3931920"/>
            <a:ext cx="310896" cy="310896"/>
          </a:xfrm>
          <a:prstGeom prst="ellipse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uₚ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80160" y="39227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真实投影仪坐标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415137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要恢复的目标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343400" y="3931920"/>
            <a:ext cx="310896" cy="31089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343400" y="40050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0" y="39227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投影仪坐标周期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15137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width 或 height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046720" y="18745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4D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46720" y="1874520"/>
            <a:ext cx="73152" cy="2286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47888" y="20391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最关键的判断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47888" y="2404872"/>
            <a:ext cx="2880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分母 N 来自投影仪坐标 uₚ 的归一化周期，而不是来自采集了多少个频率 M。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470916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174736" y="4846320"/>
            <a:ext cx="294436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/ N  =  投影仪归一化位置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N 与 M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为什么分母是 N，不是 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是投影仪坐标轴的物理周期；M 只是采样点数量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 · N 与 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4389120" cy="502920"/>
          </a:xfrm>
          <a:prstGeom prst="rect">
            <a:avLst/>
          </a:prstGeom>
          <a:solidFill>
            <a:srgbClr val="FFF4DF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投影仪坐标轴：0, 1, 2, ..., N−1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90994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267587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444181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20774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797368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973961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150554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327148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503742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680335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856928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033522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10116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386709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563302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739896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916490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093083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269677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446270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622864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799457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976051" y="2651760"/>
            <a:ext cx="144590" cy="32004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4400" y="30632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个物理坐标位置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675120" y="1828800"/>
            <a:ext cx="3474720" cy="502920"/>
          </a:xfrm>
          <a:prstGeom prst="rect">
            <a:avLst/>
          </a:prstGeom>
          <a:solidFill>
            <a:srgbClr val="E6F4F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812280" y="202082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频率样本：k = 0, ..., M−1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95058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349236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503414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657592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811770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965948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120126" y="2651760"/>
            <a:ext cx="122174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274304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28482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582660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736838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91016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045194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199372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353550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507728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9661906" y="2651760"/>
            <a:ext cx="122174" cy="320040"/>
          </a:xfrm>
          <a:prstGeom prst="rect">
            <a:avLst/>
          </a:prstGeom>
          <a:solidFill>
            <a:srgbClr val="DDE7E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7040880" y="3063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 M 个真实观测值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1280160" y="406908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408176" y="4206240"/>
            <a:ext cx="459028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物理相位：θ[k] = 2π · s · k · uₚ / 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583680" y="40690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711696" y="4206240"/>
            <a:ext cx="34930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采样数量：D[0],...,D[M−1]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bin q 在测试什么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不是直接“读取坐标”，而是在 L 个候选相位斜率上测试哪一个能让 D[k] 同相叠加。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bin q 在测试什么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32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FFT 匹配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第 q 个 bin 的含义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q 个 bin 的基函数在测试归一化旋转速度 q/L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FFT 匹配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6446520" cy="731520"/>
          </a:xfrm>
          <a:prstGeom prst="roundRect">
            <a:avLst>
              <a:gd name="adj" fmla="val 10000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920240"/>
            <a:ext cx="61904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C[q] = Σ D[k] · exp(−j · 2π · q · k / L)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0" y="17830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900416" y="1920240"/>
            <a:ext cx="267004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测试斜率：β_q = q / 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348740" y="3314700"/>
            <a:ext cx="201168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4884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400300" y="3314700"/>
            <a:ext cx="142247" cy="142247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451860" y="3314700"/>
            <a:ext cx="0" cy="201168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25196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03420" y="3314700"/>
            <a:ext cx="0" cy="142247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0352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554980" y="3314700"/>
            <a:ext cx="0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4400" y="37307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D[k]：沿频率轴旋转的复数序列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852160" y="3319272"/>
            <a:ext cx="82296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903720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155180" y="3314700"/>
            <a:ext cx="201168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744968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996428" y="3314700"/>
            <a:ext cx="201168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86216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837676" y="3314700"/>
            <a:ext cx="201168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427464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678924" y="3314700"/>
            <a:ext cx="201168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268712" y="3063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520172" y="3314700"/>
            <a:ext cx="201168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92240" y="37307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匹配后：相位被抵消，同相叠加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1828800" y="46177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828800" y="4617720"/>
            <a:ext cx="73152" cy="82296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029968" y="478231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一句话理解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029968" y="5148072"/>
            <a:ext cx="7726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第 q 个 bin 在问：这串 D[k] 的相位旋转速度是不是 q/L？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推导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匹配条件的推导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真实旋转速度与 FFT 测试速度相等时，所有项同相叠加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推导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6916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828800"/>
            <a:ext cx="46817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真实信号： D[k] ≈ A·exp(j·2π·s·k·uₚ/N)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28816" y="1828800"/>
            <a:ext cx="4041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FFT 基函数： exp(−j·2π·q·k/L)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897880" y="1965960"/>
            <a:ext cx="36576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920240" y="27889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048256" y="2926080"/>
            <a:ext cx="74249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C[q] = A · Σ exp(j·2π·k·(s·uₚ/N − q/L))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06040" y="397764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4DF"/>
          </a:solidFill>
          <a:ln w="1016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34056" y="4114800"/>
            <a:ext cx="2852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9F0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s·uₚ/N − q/L = 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97880" y="4279392"/>
            <a:ext cx="59436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E7F7F1"/>
          </a:solidFill>
          <a:ln w="1016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03136" y="4114800"/>
            <a:ext cx="2852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A5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/ L = s · uₚ / 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5074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这就是统一公式最核心的匹配条件。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相位斜率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用“相位斜率”看就更直观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D[k] 可以看作 D[k] = A·exp(j·2π·α·k)，其中 α = s·uₚ/N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 · 相位斜率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32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22960" y="2039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小坐标 uₚ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482310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632901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783491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934081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084671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235262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385852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536442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687032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837623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988213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138803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289393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439984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90574" y="1874520"/>
            <a:ext cx="118586" cy="18288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48640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660136" y="1956816"/>
            <a:ext cx="146304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2648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00216" y="1956816"/>
            <a:ext cx="111899" cy="94252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6656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40296" y="1956816"/>
            <a:ext cx="24867" cy="144175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40664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580376" y="1956816"/>
            <a:ext cx="0" cy="126291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4672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20456" y="1956816"/>
            <a:ext cx="0" cy="4901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86800" y="17830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860536" y="1956816"/>
            <a:ext cx="0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692640" y="1920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慢旋转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" y="3319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中等坐标 uₚ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331720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2482310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2632901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2783491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2934081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084671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3235262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3385852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3536442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3687032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3837623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3988213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138803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289393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4439984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4590574" y="3154680"/>
            <a:ext cx="118586" cy="18288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548640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660136" y="3236976"/>
            <a:ext cx="146304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12648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6300216" y="3236976"/>
            <a:ext cx="24867" cy="144175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76656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6940296" y="3236976"/>
            <a:ext cx="0" cy="4901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740664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7580376" y="3236976"/>
            <a:ext cx="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804672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220456" y="3236976"/>
            <a:ext cx="113468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686800" y="30632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8860536" y="3236976"/>
            <a:ext cx="109992" cy="96471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9692640" y="3200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中速旋转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22960" y="45994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大坐标 uₚ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331720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2482310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2632901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2783491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2934081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3084671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3235262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3385852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3536442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3687032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3837623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3988213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4138803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4289393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4439984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4590574" y="4434840"/>
            <a:ext cx="118586" cy="182880"/>
          </a:xfrm>
          <a:prstGeom prst="rect">
            <a:avLst/>
          </a:prstGeom>
          <a:solidFill>
            <a:srgbClr val="2CA58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548640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5660136" y="4517136"/>
            <a:ext cx="146304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612648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6300216" y="4517136"/>
            <a:ext cx="0" cy="126291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676656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>
            <a:off x="6940296" y="4517136"/>
            <a:ext cx="0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>
            <a:off x="740664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>
            <a:off x="7580376" y="4517136"/>
            <a:ext cx="146275" cy="2926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804672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>
            <a:off x="8220456" y="4517136"/>
            <a:ext cx="0" cy="124789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>
            <a:off x="868680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97"/>
          <p:cNvSpPr/>
          <p:nvPr/>
        </p:nvSpPr>
        <p:spPr>
          <a:xfrm>
            <a:off x="8860536" y="4517136"/>
            <a:ext cx="0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98"/>
          <p:cNvSpPr/>
          <p:nvPr/>
        </p:nvSpPr>
        <p:spPr>
          <a:xfrm>
            <a:off x="9692640" y="4480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A5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快旋转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325880" y="5486400"/>
            <a:ext cx="9509760" cy="530352"/>
          </a:xfrm>
          <a:prstGeom prst="roundRect">
            <a:avLst>
              <a:gd name="adj" fmla="val 1379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1453896" y="5623560"/>
            <a:ext cx="92537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α = s · uₚ / N       β_q = q / L       匹配：α = β_q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统一公式与推荐策略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q/L = s·uₚ/N 出发，推出 q 如何映射为投影仪坐标，以及为什么推荐 L = N/s。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统一公式与推荐策略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32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统一公式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从匹配条件推出统一公式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q/L = s·uₚ/N 整理，就得到 bin 到坐标的尺度关系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统一公式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920240" y="173736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048256" y="1874520"/>
            <a:ext cx="523036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/ L = s · uₚ / 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9152"/>
            <a:ext cx="0" cy="265176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048256" y="2834640"/>
            <a:ext cx="523036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· N = L · s · uₚ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3319272"/>
            <a:ext cx="0" cy="265176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920240" y="365760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048256" y="3794760"/>
            <a:ext cx="523036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 · N / (L · s)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4279392"/>
            <a:ext cx="0" cy="265176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920240" y="46177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048256" y="4754880"/>
            <a:ext cx="523036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disparity = q · coord_scale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38160" y="21031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4D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138160" y="2103120"/>
            <a:ext cx="73152" cy="18288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339328" y="2267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coord_scale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39328" y="2633472"/>
            <a:ext cx="24231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coord_scale = N / (L · s)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它是从 FFT bin q 到投影仪坐标 uₚ 的比例尺。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138160" y="44348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66176" y="4572000"/>
            <a:ext cx="24871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希望 q = uₚ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⇒ coord_scale = 1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推荐策略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为什么推荐让 coord_scale =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最理想的工程状态：FFT 峰值 bin 编号 q 本身就是投影仪坐标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推荐策略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3383280" cy="621792"/>
          </a:xfrm>
          <a:prstGeom prst="roundRect">
            <a:avLst>
              <a:gd name="adj" fmla="val 11765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965960"/>
            <a:ext cx="31272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coord_scale = N / (L · s)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26280" y="2139696"/>
            <a:ext cx="96012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FFF4DF"/>
          </a:solidFill>
          <a:ln w="1016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888736" y="1965960"/>
            <a:ext cx="25786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9F0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令 coord_scale =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2139696"/>
            <a:ext cx="73152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784080" y="1828800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912096" y="1965960"/>
            <a:ext cx="13898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 = N / 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324612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8680" y="3246120"/>
            <a:ext cx="73152" cy="77724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69848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语义清楚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3776472"/>
            <a:ext cx="4023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就是投影仪坐标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989320" y="324612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989320" y="3246120"/>
            <a:ext cx="73152" cy="77724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190488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无需额外缩放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3776472"/>
            <a:ext cx="4023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disparity ≈ q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68680" y="434340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8680" y="4343400"/>
            <a:ext cx="73152" cy="77724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69848" y="4507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最小单位 1px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9848" y="4873752"/>
            <a:ext cx="4023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避免大步长量化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989320" y="434340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989320" y="4343400"/>
            <a:ext cx="73152" cy="7772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190488" y="4507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 s=0.5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4873752"/>
            <a:ext cx="4023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长度自动变为 2N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代码映射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代码中的推荐实现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统一公式对应到 _calc_fft_params() 的核心逻辑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 · 代码映射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920240"/>
            <a:ext cx="523036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fft_length = round(proj_dim / frequency_step)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valid_length = proj_dim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coord_scale = proj_dim / (fft_length · frequency_step)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190195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proj_dim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366760" y="190195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810512"/>
            <a:ext cx="329184" cy="329184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23960" y="191109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372600" y="18745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当前方向投影仪分辨率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0" y="267919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frequency_step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366760" y="267919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23960" y="2587752"/>
            <a:ext cx="329184" cy="329184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23960" y="268833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72600" y="26517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频率步长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766560" y="32918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858000" y="345643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fft_length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366760" y="34564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23960" y="3364992"/>
            <a:ext cx="329184" cy="329184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823960" y="346557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372600" y="34290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搜索网格长度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766560" y="406908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58000" y="423367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A9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freq_index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366760" y="423367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823960" y="4142232"/>
            <a:ext cx="329184" cy="329184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23960" y="424281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372600" y="42062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argmax 得到的峰值 bin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1828800" y="489204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956816" y="5029200"/>
            <a:ext cx="76078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disparity = freq_index · coord_scale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三种典型参数情况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用统一公式同时解释标准模式、0.5 步长模式，以及旧的 fft_length=M 方案。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三种典型参数情况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32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A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情况 A：s = 1.0，L = 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标准推荐模式，FFT 的 q 网格与投影仪坐标一一对齐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920240"/>
            <a:ext cx="44988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coord_scale = N / (N · 1.0) =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17830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711696" y="1920240"/>
            <a:ext cx="20299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97280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285304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473327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661351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849374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037398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225421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413445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601468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789492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977515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165539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353562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541586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729609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917633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105656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293680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481703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669727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857750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045774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233797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421821" y="2926080"/>
            <a:ext cx="156020" cy="27432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97280" y="33101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= 0 ... N−1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6400800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588824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776847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964871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152894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340917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528941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716965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904988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093012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281035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469059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657082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845106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033129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221153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409176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9597200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9785223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9973247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161270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349294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537317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725341" y="2926080"/>
            <a:ext cx="156020" cy="274320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400800" y="33101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uₚ = 0 ... N−1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5715000" y="3072384"/>
            <a:ext cx="548640" cy="0"/>
          </a:xfrm>
          <a:prstGeom prst="line">
            <a:avLst/>
          </a:prstGeom>
          <a:noFill/>
          <a:ln w="19050">
            <a:solidFill>
              <a:srgbClr val="2CA5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1188720" y="434340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188720" y="4343400"/>
            <a:ext cx="73152" cy="1143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389888" y="4507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解码方向对应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389888" y="4873752"/>
            <a:ext cx="3977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ver：N = projector_width，解出 x_p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hor：N = projector_height，解出 y_p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6492240" y="434340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492240" y="4343400"/>
            <a:ext cx="73152" cy="1143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693408" y="4507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工程解释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693408" y="4873752"/>
            <a:ext cx="3977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q 个 FFT bin 就是在测试当前相机像素是否对应投影仪坐标 q。</a:t>
            </a:r>
            <a:endParaRPr lang="en-US" sz="8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B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情况 B：s = 0.5，L = 2N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半步长下相位旋转速度减半，所以 FFT 长度要扩大 2 倍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B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874520"/>
            <a:ext cx="32186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 = N / 0.5 = 2N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17373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0056" y="1874520"/>
            <a:ext cx="45902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coord_scale = N / (2N · 0.5) =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64003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22165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480328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638491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796653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954816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112978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271141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429304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587466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745629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903792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061954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220117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378279" y="2788920"/>
            <a:ext cx="12615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536442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694605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852767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010930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169093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327255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485418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643580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801743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959906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118068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276231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434394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592556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750719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908881" y="2788920"/>
            <a:ext cx="126159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05840" y="31821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有 2N 个 bin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05840" y="3429000"/>
            <a:ext cx="2514600" cy="310896"/>
          </a:xfrm>
          <a:prstGeom prst="bracePair">
            <a:avLst/>
          </a:prstGeom>
          <a:noFill/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0584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有效区：0 ... N−1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20440" y="3429000"/>
            <a:ext cx="2514600" cy="310896"/>
          </a:xfrm>
          <a:prstGeom prst="bracePair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352044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后半区：不当作坐标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37960" y="29718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665976" y="3108960"/>
            <a:ext cx="34015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C_valid = C_full[:proj_dim]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537960" y="397764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537960" y="3977640"/>
            <a:ext cx="73152" cy="1143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739128" y="4142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为什么只取前 N 个 bin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39128" y="4507992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投影仪坐标只有 0 ... N−1；后面的 bin 可能属于负频率区、周期重复区或无效搜索区。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C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情况 C：旧方案 L = 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不再是投影仪坐标，而是被压缩到 M 个等级的频谱索引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情况 C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874520"/>
            <a:ext cx="404164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 · N / (M · 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DEAEA"/>
          </a:solidFill>
          <a:ln w="1016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28816" y="1874520"/>
            <a:ext cx="312724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F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若 s=1：Δu = N/M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51560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222520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93480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564440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73540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90636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07732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24828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41924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59020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761161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93212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10308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27404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44500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61596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78692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957882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12884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29980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47076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64172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81268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98364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154603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325564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496524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667484" y="2788920"/>
            <a:ext cx="138956" cy="292608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51560" y="31546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投影仪有 N 个坐标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583680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725249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866817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008386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149955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291524" y="2788920"/>
            <a:ext cx="109565" cy="292608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433092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574661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7716230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857798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999367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140936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282505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424073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565642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707211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848779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990348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9131917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9273486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9415054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9556623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9698192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9839760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9981329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0122898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10264467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10406035" y="2788920"/>
            <a:ext cx="109565" cy="292608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583680" y="31546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D94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只有 M 个候选 q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1828800" y="44348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1828800" y="4434840"/>
            <a:ext cx="73152" cy="105156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2029968" y="459943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029968" y="4965192"/>
            <a:ext cx="7818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多个真实 uₚ 会被压到同一个 q，再乘 N/M 也只能得到“浮点形式的粗离散台阶”。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对比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旧方案与推荐方案的本质差别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不是“有没有缩放”的差别，而是 q 网格是否与投影仪坐标网格对齐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 · 对比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73152" cy="18288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24128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旧方案：L = 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359152"/>
            <a:ext cx="3611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只有 M 个离散值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coord_scale = N/(M·s)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坐标间隔通常较大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7F7F1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73152" cy="182880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16368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推荐方案：L = N/s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16368" y="2359152"/>
            <a:ext cx="3611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网格对齐投影仪坐标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coord_scale ≈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输出步长约 1 个投影仪像素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2743200"/>
            <a:ext cx="182880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057400" y="45720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185416" y="4709160"/>
            <a:ext cx="779068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统一公式解释两者： uₚ = q · N / (L · s)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与零填充的真实作用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决定真实观测样本数量；L&gt;M 时补零只是在更密的 q 网格上评价同一组数据。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与零填充的真实作用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/ 32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零填充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只投影了 M 个频率，N−M 怎么办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的 n=L 会在频率轴后补零；真实求和中仍只有 M 个非零观测值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零填充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68680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52703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236726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20749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604772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788795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972818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156841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340864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524887" y="2103120"/>
            <a:ext cx="152019" cy="320040"/>
          </a:xfrm>
          <a:prstGeom prst="rect">
            <a:avLst/>
          </a:prstGeom>
          <a:solidFill>
            <a:srgbClr val="00A9C8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708910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892933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076956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60979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445002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629025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813048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997071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181094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365117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49140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733163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917186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101209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285232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469255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653278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37301" y="2103120"/>
            <a:ext cx="152019" cy="320040"/>
          </a:xfrm>
          <a:prstGeom prst="rect">
            <a:avLst/>
          </a:prstGeom>
          <a:solidFill>
            <a:srgbClr val="EEF3F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8680" y="24963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D[0] ... D[M−1]：真实采集值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063240" y="267004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补零区域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33375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42416" y="3474720"/>
            <a:ext cx="5138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C[q] = Σₖ₌₀ᴸ⁻¹ D_padded[k] · exp(−j·2π·q·k/L)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6355080" y="333756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0D3D5C"/>
          </a:solidFill>
          <a:ln w="1016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83096" y="3474720"/>
            <a:ext cx="46817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等价于：Σₖ₌₀ᴹ⁻¹ D[k] · exp(−j·2π·q·k/L)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914400" y="457200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914400" y="4572000"/>
            <a:ext cx="73152" cy="77724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15568" y="4736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15568" y="5102352"/>
            <a:ext cx="3977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决定真正参与求和的有效数据数量。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6400800" y="457200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400800" y="4572000"/>
            <a:ext cx="73152" cy="77724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601968" y="4736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01968" y="5102352"/>
            <a:ext cx="3977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 决定 FFT 在多少个候选 q 上评价这个求和结果。</a:t>
            </a:r>
            <a:endParaRPr lang="en-US" sz="8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零填充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零填充的意义与限制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它让频谱采样网格更密，但不会创造新的真实信息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零填充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7F7F1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73152" cy="68580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24128" y="1993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更密的 q 网格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35915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可以在更多候选 bin 上搜索峰值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822960" y="27889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7F7F1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73152" cy="68580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24128" y="2953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坐标对齐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31927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 L=N/s 时，q 与 uₚ 的网格对齐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22960" y="37490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7F7F1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3749040"/>
            <a:ext cx="73152" cy="68580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24128" y="3913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更细输出网格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427939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 L=M 导致的大步长输出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400800" y="1828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73152" cy="6858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01968" y="1993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不增加信息量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235915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后面的点是 0，不是新采集数据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400800" y="27889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00800" y="2788920"/>
            <a:ext cx="73152" cy="6858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01968" y="2953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不提高信噪比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01968" y="331927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噪声和反射问题不会被自动修复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400800" y="37490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0" y="3749040"/>
            <a:ext cx="73152" cy="6858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601968" y="3913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不能替代足够 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01968" y="4279392"/>
            <a:ext cx="434340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太少时峰会宽、易被噪声干扰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286000" y="5166360"/>
            <a:ext cx="7680960" cy="530352"/>
          </a:xfrm>
          <a:prstGeom prst="roundRect">
            <a:avLst>
              <a:gd name="adj" fmla="val 1379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414016" y="5303520"/>
            <a:ext cx="74249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 决定峰值可靠性；L 决定 q 网格密度。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M 的作用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是否越大越好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不决定坐标缩放，但决定频谱峰的可靠性与抗噪能力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 · M 的作用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4206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 rot="10800000">
            <a:off x="2743200" y="2514600"/>
            <a:ext cx="822960" cy="1417320"/>
          </a:xfrm>
          <a:prstGeom prst="triangle">
            <a:avLst/>
          </a:prstGeom>
          <a:solidFill>
            <a:srgbClr val="F29F05">
              <a:alpha val="85000"/>
            </a:srgbClr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较小：峰更宽、更不稳定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3931920"/>
            <a:ext cx="4206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rot="10800000">
            <a:off x="8613648" y="2240280"/>
            <a:ext cx="594360" cy="1691640"/>
          </a:xfrm>
          <a:prstGeom prst="triangle">
            <a:avLst/>
          </a:prstGeom>
          <a:solidFill>
            <a:srgbClr val="2CA58D">
              <a:alpha val="92000"/>
            </a:srgbClr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75120" y="42976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A5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 较大：峰更尖、抗噪更强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507492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31136" y="5212080"/>
            <a:ext cx="77906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正确峰：更多项同相叠加；错误峰：更容易相互抵消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E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EC7D8">
                    <a:alpha val="8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920240" y="1847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量化阶梯与常见误区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56816" y="254203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统一公式解释为什么 fft_length=M 会形成粗台阶，以及为什么不能简单把 N 改成 M。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3246120"/>
            <a:ext cx="3291840" cy="64008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量化阶梯与常见误区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/ 32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量化阶梯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fft_length = M 会造成量化阶梯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 L=M 时，输出坐标只能落在间隔 Δu = N/(M·s) 的粗网格上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量化阶梯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1874520"/>
            <a:ext cx="8522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L=M  ⇒  uₚ = q · N/(M·s)  ⇒  Δu = N/(M·s)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224344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442847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661351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79854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098358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316861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535365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753868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972372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190875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9379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27882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846386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064889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283393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01896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20400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38903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157407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75910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594414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812917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031421" y="2834640"/>
            <a:ext cx="186500" cy="219456"/>
          </a:xfrm>
          <a:prstGeom prst="rect">
            <a:avLst/>
          </a:prstGeom>
          <a:solidFill>
            <a:srgbClr val="F29F05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05840" y="318211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F29F0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真实投影仪坐标：N 个连续位置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675120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836474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997827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59181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320534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481887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643241" y="2834640"/>
            <a:ext cx="129349" cy="219456"/>
          </a:xfrm>
          <a:prstGeom prst="rect">
            <a:avLst/>
          </a:prstGeom>
          <a:solidFill>
            <a:srgbClr val="D94F4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804595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965948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127302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288655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50009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11362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772716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934069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095423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56776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418130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579483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9740837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9902190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063544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224897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386251" y="2834640"/>
            <a:ext cx="129349" cy="219456"/>
          </a:xfrm>
          <a:prstGeom prst="rect">
            <a:avLst/>
          </a:prstGeom>
          <a:solidFill>
            <a:srgbClr val="F3D1D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675120" y="31821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D94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q：只有 M 个等级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6355080" y="2944368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965960" y="434340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965960" y="4343400"/>
            <a:ext cx="73152" cy="9601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2167128" y="450799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直观结果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167128" y="4873752"/>
            <a:ext cx="7818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多个相邻的真实 uₚ 被判成同一个 q；再乘缩放比例后，只是得到浮点形式的离散台阶。</a:t>
            </a:r>
            <a:endParaRPr lang="en-US" sz="9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点云影响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量化阶梯对点云的影响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三角化需要连续的相机-投影仪对应；粗台阶会让对应关系跳变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点云影响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73152" cy="73152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9848" y="1993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相邻相机像素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2359152"/>
            <a:ext cx="3794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被解码成同一个投影仪坐标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212080" y="2194560"/>
            <a:ext cx="822960" cy="0"/>
          </a:xfrm>
          <a:prstGeom prst="line">
            <a:avLst/>
          </a:prstGeom>
          <a:noFill/>
          <a:ln w="19050">
            <a:solidFill>
              <a:srgbClr val="00A9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E6F4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2112264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对应关系不连续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29718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8680" y="2971800"/>
            <a:ext cx="73152" cy="73152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69848" y="3136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中间投影仪坐标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" y="3502152"/>
            <a:ext cx="3794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从来不会被输出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212080" y="3337560"/>
            <a:ext cx="822960" cy="0"/>
          </a:xfrm>
          <a:prstGeom prst="line">
            <a:avLst/>
          </a:prstGeom>
          <a:noFill/>
          <a:ln w="19050">
            <a:solidFill>
              <a:srgbClr val="F29F0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00800" y="30175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E6F4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0" y="3255264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对应关系不连续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41148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8680" y="4114800"/>
            <a:ext cx="73152" cy="7315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69848" y="4279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三角化结果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4645152"/>
            <a:ext cx="3794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出现条带、断层、空白或层状结构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212080" y="4480560"/>
            <a:ext cx="822960" cy="0"/>
          </a:xfrm>
          <a:prstGeom prst="line">
            <a:avLst/>
          </a:prstGeom>
          <a:noFill/>
          <a:ln w="19050">
            <a:solidFill>
              <a:srgbClr val="D94F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00800" y="41605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DEAEA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0" y="4398264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点云空白 / 断层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0" y="5394960"/>
            <a:ext cx="8961120" cy="512064"/>
          </a:xfrm>
          <a:prstGeom prst="roundRect">
            <a:avLst>
              <a:gd name="adj" fmla="val 14286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773936" y="5532120"/>
            <a:ext cx="870508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根本原因：q 的可取值太少，而不是乘法缩放不够。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A9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误区澄清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438912" y="6217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为什么不能简单把公式分母改成 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除非重新定义坐标，否则 uₚ 的归一化周期仍然是 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 · 误区澄清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/ 32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DEAEA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73152" cy="132588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9848" y="19933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错误写法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359152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D[k] ≈ A · exp(j·2π·k·uₚ/M)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这里把投影仪坐标 uₚ 错当成了 M 周期坐标。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E7F7F1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73152" cy="132588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01968" y="19933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正确写法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2359152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D[k] ≈ A · exp(j·2π·s·k·uₚ/N)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uₚ 定义在 0 ... N−1，分母应是 N。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4069080"/>
            <a:ext cx="9509760" cy="731520"/>
          </a:xfrm>
          <a:prstGeom prst="roundRect">
            <a:avLst>
              <a:gd name="adj" fmla="val 10000"/>
            </a:avLst>
          </a:prstGeom>
          <a:solidFill>
            <a:srgbClr val="061F34"/>
          </a:solidFill>
          <a:ln w="10160">
            <a:solidFill>
              <a:srgbClr val="061F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53896" y="4206240"/>
            <a:ext cx="92537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若定义压缩坐标 u′ = M · s · uₚ / N，则 q ≈ u′，不是 q ≈ uₚ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50749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形式上可以改写，但物理意义已经变了：u′ 是频谱坐标，不是投影仪像素坐标。</a:t>
            </a:r>
            <a:endParaRPr lang="en-US" sz="10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685800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最终归纳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8952" y="1325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统一公式把频移法的尺度关系全部串起来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A2C45"/>
          </a:solidFill>
          <a:ln w="10160">
            <a:solidFill>
              <a:srgbClr val="1A5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50976" y="2103120"/>
            <a:ext cx="47731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D[k] ≈ A · exp(j·2π·s·k·uₚ/N)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D3D5C"/>
          </a:solidFill>
          <a:ln w="1016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50976" y="2971800"/>
            <a:ext cx="47731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q/L = s·uₚ/N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00A9C8"/>
          </a:solidFill>
          <a:ln w="1016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50976" y="3840480"/>
            <a:ext cx="47731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uₚ = q · N / (L · s)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502920" cy="502920"/>
          </a:xfrm>
          <a:prstGeom prst="ellipse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66560" y="181051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16642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采集频率数量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决定峰值可靠性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766560" y="2560320"/>
            <a:ext cx="502920" cy="50292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272491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578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投影仪坐标周期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2852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决定真实公式分母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766560" y="3474720"/>
            <a:ext cx="502920" cy="502920"/>
          </a:xfrm>
          <a:prstGeom prst="ellipse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766560" y="363931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3493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FFT 搜索长度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3767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 q 与 uₚ 的比例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766560" y="4389120"/>
            <a:ext cx="502920" cy="50292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66560" y="455371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L=N/s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4407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推荐策略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46817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B6D6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q 直接等于 uₚ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31520" y="5623560"/>
            <a:ext cx="10789920" cy="54864"/>
          </a:xfrm>
          <a:prstGeom prst="rect">
            <a:avLst/>
          </a:prstGeom>
          <a:solidFill>
            <a:srgbClr val="00A9C8"/>
          </a:solidFill>
          <a:ln w="12700">
            <a:solidFill>
              <a:srgbClr val="00A9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97280" y="58978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FFT 的 bin 网格与投影仪坐标网格对齐，是消除粗量化阶梯的关键。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频移法 FSM / FSA · 统一公式详解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0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A4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/ 32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2324</Words>
  <Application>Microsoft Office PowerPoint</Application>
  <PresentationFormat>宽屏</PresentationFormat>
  <Paragraphs>483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Noto Sans CJK SC</vt:lpstr>
      <vt:lpstr>Aptos Mono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FSM/FSA 频移法统一公式详解</dc:title>
  <dc:subject>FSM/FSA unified formula explanation</dc:subject>
  <dc:creator>OpenAI</dc:creator>
  <cp:lastModifiedBy>顺康 肖</cp:lastModifiedBy>
  <cp:revision>2</cp:revision>
  <dcterms:created xsi:type="dcterms:W3CDTF">2026-05-22T09:50:00Z</dcterms:created>
  <dcterms:modified xsi:type="dcterms:W3CDTF">2026-05-23T12:43:06Z</dcterms:modified>
</cp:coreProperties>
</file>