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F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71323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EC7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STRUCTURED LIGHT · DECODING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13232" y="1143000"/>
            <a:ext cx="5669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频移法（FSM / FSA）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170078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EC7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统一公式详解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749808" y="24231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 D[k] 的相位旋转速度，到 FFT bin q，再到投影仪坐标 uₚ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04672" y="4297680"/>
            <a:ext cx="1170432" cy="438912"/>
          </a:xfrm>
          <a:prstGeom prst="roundRect">
            <a:avLst>
              <a:gd name="adj" fmla="val 12500"/>
            </a:avLst>
          </a:prstGeom>
          <a:solidFill>
            <a:srgbClr val="0A2C45"/>
          </a:solidFill>
          <a:ln w="8890">
            <a:solidFill>
              <a:srgbClr val="174B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46227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D9F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四步相移</a:t>
            </a:r>
            <a:endParaRPr lang="en-US" sz="760" dirty="0"/>
          </a:p>
        </p:txBody>
      </p:sp>
      <p:sp>
        <p:nvSpPr>
          <p:cNvPr id="10" name="Shape 8"/>
          <p:cNvSpPr/>
          <p:nvPr/>
        </p:nvSpPr>
        <p:spPr>
          <a:xfrm>
            <a:off x="2029968" y="4517136"/>
            <a:ext cx="356616" cy="0"/>
          </a:xfrm>
          <a:prstGeom prst="line">
            <a:avLst/>
          </a:prstGeom>
          <a:noFill/>
          <a:ln w="19050">
            <a:solidFill>
              <a:srgbClr val="376A82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496312" y="4297680"/>
            <a:ext cx="1170432" cy="438912"/>
          </a:xfrm>
          <a:prstGeom prst="roundRect">
            <a:avLst>
              <a:gd name="adj" fmla="val 12500"/>
            </a:avLst>
          </a:prstGeom>
          <a:solidFill>
            <a:srgbClr val="0A2C45"/>
          </a:solidFill>
          <a:ln w="8890">
            <a:solidFill>
              <a:srgbClr val="174B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96312" y="446227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D9F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复信号 D[k]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3721608" y="4517136"/>
            <a:ext cx="356616" cy="0"/>
          </a:xfrm>
          <a:prstGeom prst="line">
            <a:avLst/>
          </a:prstGeom>
          <a:noFill/>
          <a:ln w="19050">
            <a:solidFill>
              <a:srgbClr val="376A82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187952" y="4297680"/>
            <a:ext cx="1170432" cy="438912"/>
          </a:xfrm>
          <a:prstGeom prst="roundRect">
            <a:avLst>
              <a:gd name="adj" fmla="val 12500"/>
            </a:avLst>
          </a:prstGeom>
          <a:solidFill>
            <a:srgbClr val="0A2C45"/>
          </a:solidFill>
          <a:ln w="8890">
            <a:solidFill>
              <a:srgbClr val="174B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87952" y="446227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D9F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搜索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5413248" y="4517136"/>
            <a:ext cx="356616" cy="0"/>
          </a:xfrm>
          <a:prstGeom prst="line">
            <a:avLst/>
          </a:prstGeom>
          <a:noFill/>
          <a:ln w="19050">
            <a:solidFill>
              <a:srgbClr val="376A82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879592" y="4297680"/>
            <a:ext cx="1170432" cy="438912"/>
          </a:xfrm>
          <a:prstGeom prst="roundRect">
            <a:avLst>
              <a:gd name="adj" fmla="val 12500"/>
            </a:avLst>
          </a:prstGeom>
          <a:solidFill>
            <a:srgbClr val="0A2C45"/>
          </a:solidFill>
          <a:ln w="8890">
            <a:solidFill>
              <a:srgbClr val="174B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79592" y="446227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D9F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统一公式</a:t>
            </a:r>
            <a:endParaRPr lang="en-US" sz="760" dirty="0"/>
          </a:p>
        </p:txBody>
      </p:sp>
      <p:sp>
        <p:nvSpPr>
          <p:cNvPr id="19" name="Shape 17"/>
          <p:cNvSpPr/>
          <p:nvPr/>
        </p:nvSpPr>
        <p:spPr>
          <a:xfrm>
            <a:off x="7104888" y="4517136"/>
            <a:ext cx="356616" cy="0"/>
          </a:xfrm>
          <a:prstGeom prst="line">
            <a:avLst/>
          </a:prstGeom>
          <a:noFill/>
          <a:ln w="19050">
            <a:solidFill>
              <a:srgbClr val="376A8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571232" y="4297680"/>
            <a:ext cx="1170432" cy="438912"/>
          </a:xfrm>
          <a:prstGeom prst="roundRect">
            <a:avLst>
              <a:gd name="adj" fmla="val 12500"/>
            </a:avLst>
          </a:prstGeom>
          <a:solidFill>
            <a:srgbClr val="0A2C45"/>
          </a:solidFill>
          <a:ln w="8890">
            <a:solidFill>
              <a:srgbClr val="174B6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71232" y="446227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D9F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投影仪坐标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8796528" y="4517136"/>
            <a:ext cx="356616" cy="0"/>
          </a:xfrm>
          <a:prstGeom prst="line">
            <a:avLst/>
          </a:prstGeom>
          <a:noFill/>
          <a:ln w="19050">
            <a:solidFill>
              <a:srgbClr val="376A82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62872" y="4297680"/>
            <a:ext cx="1170432" cy="438912"/>
          </a:xfrm>
          <a:prstGeom prst="roundRect">
            <a:avLst>
              <a:gd name="adj" fmla="val 12500"/>
            </a:avLst>
          </a:prstGeom>
          <a:solidFill>
            <a:srgbClr val="0A2C45"/>
          </a:solidFill>
          <a:ln w="8890">
            <a:solidFill>
              <a:srgbClr val="174B6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872" y="4462272"/>
            <a:ext cx="1170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D9F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量化阶梯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7223760" y="1444752"/>
            <a:ext cx="3611880" cy="786384"/>
          </a:xfrm>
          <a:prstGeom prst="roundRect">
            <a:avLst>
              <a:gd name="adj" fmla="val 9302"/>
            </a:avLst>
          </a:prstGeom>
          <a:solidFill>
            <a:srgbClr val="0D3D5C"/>
          </a:solidFill>
          <a:ln w="10160">
            <a:solidFill>
              <a:srgbClr val="2AA9C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51776" y="1581912"/>
            <a:ext cx="3355848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uₚ = q · N / (L · s)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7269480" y="24505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核心目标：让 FFT 的 bin 网格与投影仪坐标网格对齐</a:t>
            </a:r>
            <a:endParaRPr lang="en-US" sz="1020" dirty="0"/>
          </a:p>
        </p:txBody>
      </p:sp>
      <p:sp>
        <p:nvSpPr>
          <p:cNvPr id="28" name="Text 2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Title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32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讲解路线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讲解路线 · ROADMAP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围绕统一公式，串起物理信号、FFT 匹配、参数策略与工程实现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讲解路线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731520" y="1828800"/>
            <a:ext cx="914400" cy="914400"/>
          </a:xfrm>
          <a:prstGeom prst="ellipse">
            <a:avLst/>
          </a:prstGeom>
          <a:solidFill>
            <a:srgbClr val="00A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213055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" y="29443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物理信号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" y="33101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D[k] 的相位从何而来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1709928" y="2286000"/>
            <a:ext cx="969264" cy="0"/>
          </a:xfrm>
          <a:prstGeom prst="line">
            <a:avLst/>
          </a:prstGeom>
          <a:noFill/>
          <a:ln w="19050">
            <a:solidFill>
              <a:srgbClr val="8AA4B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788920" y="1828800"/>
            <a:ext cx="914400" cy="914400"/>
          </a:xfrm>
          <a:prstGeom prst="ellipse">
            <a:avLst/>
          </a:prstGeom>
          <a:solidFill>
            <a:srgbClr val="00A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88920" y="213055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441448" y="29443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匹配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33101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 / L 到底测试什么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3767328" y="2286000"/>
            <a:ext cx="969264" cy="0"/>
          </a:xfrm>
          <a:prstGeom prst="line">
            <a:avLst/>
          </a:prstGeom>
          <a:noFill/>
          <a:ln w="19050">
            <a:solidFill>
              <a:srgbClr val="8AA4B8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846320" y="1828800"/>
            <a:ext cx="914400" cy="914400"/>
          </a:xfrm>
          <a:prstGeom prst="ellipse">
            <a:avLst/>
          </a:prstGeom>
          <a:solidFill>
            <a:srgbClr val="F29F0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213055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498848" y="29443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统一公式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343400" y="33101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uₚ = q·N/(L·s)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5824728" y="2286000"/>
            <a:ext cx="969264" cy="0"/>
          </a:xfrm>
          <a:prstGeom prst="line">
            <a:avLst/>
          </a:prstGeom>
          <a:noFill/>
          <a:ln w="19050">
            <a:solidFill>
              <a:srgbClr val="8AA4B8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6903720" y="1828800"/>
            <a:ext cx="914400" cy="914400"/>
          </a:xfrm>
          <a:prstGeom prst="ellipse">
            <a:avLst/>
          </a:prstGeom>
          <a:solidFill>
            <a:srgbClr val="00A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03720" y="213055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56248" y="29443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参数策略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33101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 = N/s 的含义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7882128" y="2286000"/>
            <a:ext cx="969264" cy="0"/>
          </a:xfrm>
          <a:prstGeom prst="line">
            <a:avLst/>
          </a:prstGeom>
          <a:noFill/>
          <a:ln w="19050">
            <a:solidFill>
              <a:srgbClr val="8AA4B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961120" y="1828800"/>
            <a:ext cx="914400" cy="914400"/>
          </a:xfrm>
          <a:prstGeom prst="ellipse">
            <a:avLst/>
          </a:prstGeom>
          <a:solidFill>
            <a:srgbClr val="00A9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61120" y="213055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13648" y="294436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工程误区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58200" y="33101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M、补零、量化阶梯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1828800" y="4617720"/>
            <a:ext cx="3840480" cy="621792"/>
          </a:xfrm>
          <a:prstGeom prst="roundRect">
            <a:avLst>
              <a:gd name="adj" fmla="val 11765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56816" y="4754880"/>
            <a:ext cx="3584448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匹配条件： q / L = s · uₚ / N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00800" y="4617720"/>
            <a:ext cx="3108960" cy="621792"/>
          </a:xfrm>
          <a:prstGeom prst="roundRect">
            <a:avLst>
              <a:gd name="adj" fmla="val 11765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28816" y="4754880"/>
            <a:ext cx="2852928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推荐策略： L = N / 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F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C7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CHAPTER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3EC7D8">
                    <a:alpha val="80000"/>
                  </a:srgb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920240" y="184708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从目标看统一公式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956816" y="2542032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频移法要恢复相机像素与投影仪像素的对应关系；统一公式描述的是 q 如何变成 uₚ。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3246120"/>
            <a:ext cx="3291840" cy="64008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从目标看统一公式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32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 · 方法目标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频移法的最终目标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对每个相机像素恢复它对应的投影仪坐标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 · 方法目标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32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22960" y="1828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相机像素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86384" y="22860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6060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9C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(x_c, y_c)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788920" y="2743200"/>
            <a:ext cx="2103120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200400" y="23317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FSM / FSA 解码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5120640" y="228600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26060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9C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(x_p, y_p)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49240" y="1828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投影仪像素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452360" y="1737360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2360" y="1737360"/>
            <a:ext cx="73152" cy="141732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53528" y="190195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固定一个相机像素，只看它沿频率轴的响应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653528" y="2267712"/>
            <a:ext cx="3017520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D[0], D[1], ..., D[M−1]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这串复数的相位旋转速度携带了投影仪坐标 uₚ。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452360" y="3703320"/>
            <a:ext cx="3337560" cy="822960"/>
          </a:xfrm>
          <a:prstGeom prst="roundRect">
            <a:avLst>
              <a:gd name="adj" fmla="val 8889"/>
            </a:avLst>
          </a:prstGeom>
          <a:solidFill>
            <a:srgbClr val="0B314D"/>
          </a:solidFill>
          <a:ln w="10160">
            <a:solidFill>
              <a:srgbClr val="0B31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0376" y="3840480"/>
            <a:ext cx="3081528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旋转越快 → uₚ 越大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旋转越慢 → uₚ 越小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 · 核心概念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三个量不能混在一起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M、N、L 分别属于数据采集、物理坐标和频谱搜索三个层面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 · 核心概念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777240" y="1874520"/>
            <a:ext cx="31546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1430">
            <a:solidFill>
              <a:srgbClr val="D9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2084832"/>
            <a:ext cx="777240" cy="777240"/>
          </a:xfrm>
          <a:prstGeom prst="ellipse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33172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920240" y="21214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9C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num_frequencies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92024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实际采集 / 投影的频率数量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05840" y="3063240"/>
            <a:ext cx="2697480" cy="27432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291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决定 Σ 求和里有多少个真实观测值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4507992" y="1874520"/>
            <a:ext cx="31546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143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36592" y="2084832"/>
            <a:ext cx="777240" cy="777240"/>
          </a:xfrm>
          <a:prstGeom prst="ellipse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36592" y="233172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650992" y="21214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9F0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proj_dim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50992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投影仪当前解码方向分辨率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36592" y="3063240"/>
            <a:ext cx="2697480" cy="27432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36592" y="3291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决定真实相位公式里的坐标归一化周期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8238744" y="1874520"/>
            <a:ext cx="31546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1430">
            <a:solidFill>
              <a:srgbClr val="D9E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67344" y="2084832"/>
            <a:ext cx="777240" cy="777240"/>
          </a:xfrm>
          <a:prstGeom prst="ellipse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67344" y="233172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381744" y="2121408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A5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fft_length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381744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用来搜索峰值的候选 bin 数量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467344" y="3063240"/>
            <a:ext cx="2697480" cy="27432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67344" y="3291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决定 q 网格密度以及 q 到 uₚ 的比例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2240280" y="4892040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368296" y="5029200"/>
            <a:ext cx="733348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 负责信息量 · N 负责物理周期 · L 负责搜索网格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 · 解码链条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统一公式位于解码链条的最后一段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它把 FFT 的峰值 bin 编号 q 映射为投影仪物理坐标 uₚ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 · 解码链条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66928" y="1828800"/>
            <a:ext cx="1325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08483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灰度图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4231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I0/I1/I2/I3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1965960" y="2286000"/>
            <a:ext cx="347472" cy="0"/>
          </a:xfrm>
          <a:prstGeom prst="line">
            <a:avLst/>
          </a:prstGeom>
          <a:noFill/>
          <a:ln w="19050">
            <a:solidFill>
              <a:srgbClr val="9FB3C8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414016" y="1828800"/>
            <a:ext cx="1325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14016" y="208483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四步差分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14016" y="24231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Dc, Ds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3813048" y="2286000"/>
            <a:ext cx="347472" cy="0"/>
          </a:xfrm>
          <a:prstGeom prst="line">
            <a:avLst/>
          </a:prstGeom>
          <a:noFill/>
          <a:ln w="19050">
            <a:solidFill>
              <a:srgbClr val="9FB3C8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261104" y="1828800"/>
            <a:ext cx="1325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1104" y="208483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复信号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61104" y="24231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D[k]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5660136" y="2286000"/>
            <a:ext cx="347472" cy="0"/>
          </a:xfrm>
          <a:prstGeom prst="line">
            <a:avLst/>
          </a:prstGeom>
          <a:noFill/>
          <a:ln w="19050">
            <a:solidFill>
              <a:srgbClr val="9FB3C8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08192" y="1828800"/>
            <a:ext cx="13258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08192" y="208483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08192" y="24231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C[q]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7507224" y="2286000"/>
            <a:ext cx="347472" cy="0"/>
          </a:xfrm>
          <a:prstGeom prst="line">
            <a:avLst/>
          </a:prstGeom>
          <a:noFill/>
          <a:ln w="19050">
            <a:solidFill>
              <a:srgbClr val="9FB3C8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955280" y="1828800"/>
            <a:ext cx="1325880" cy="914400"/>
          </a:xfrm>
          <a:prstGeom prst="roundRect">
            <a:avLst>
              <a:gd name="adj" fmla="val 10000"/>
            </a:avLst>
          </a:prstGeom>
          <a:solidFill>
            <a:srgbClr val="FFF4DF"/>
          </a:solidFill>
          <a:ln w="10160">
            <a:solidFill>
              <a:srgbClr val="F29F0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0" y="208483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峰值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955280" y="24231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9354312" y="2286000"/>
            <a:ext cx="347472" cy="0"/>
          </a:xfrm>
          <a:prstGeom prst="line">
            <a:avLst/>
          </a:prstGeom>
          <a:noFill/>
          <a:ln w="19050">
            <a:solidFill>
              <a:srgbClr val="9FB3C8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802368" y="1828800"/>
            <a:ext cx="1325880" cy="914400"/>
          </a:xfrm>
          <a:prstGeom prst="roundRect">
            <a:avLst>
              <a:gd name="adj" fmla="val 10000"/>
            </a:avLst>
          </a:prstGeom>
          <a:solidFill>
            <a:srgbClr val="FFF4DF"/>
          </a:solidFill>
          <a:ln w="10160">
            <a:solidFill>
              <a:srgbClr val="F29F0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02368" y="208483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坐标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802368" y="2423160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uₚ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777240" y="38862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7240" y="3886200"/>
            <a:ext cx="73152" cy="1463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8408" y="40507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关键问题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78408" y="4416552"/>
            <a:ext cx="361188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argmax 只给出了整数 bin：q。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它什么时候能直接表示投影仪坐标？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什么时候必须缩放？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5760720" y="4069080"/>
            <a:ext cx="4480560" cy="822960"/>
          </a:xfrm>
          <a:prstGeom prst="roundRect">
            <a:avLst>
              <a:gd name="adj" fmla="val 8889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8736" y="4206240"/>
            <a:ext cx="4224528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uₚ = q · N / (L · s)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F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C7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CHAPTER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3EC7D8">
                    <a:alpha val="80000"/>
                  </a:srgb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920240" y="184708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从灰度到复信号 D[k]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956816" y="2542032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四步相移把亮度图像变成携带相位的复数序列，为 FFT 识别相位旋转速度做准备。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3246120"/>
            <a:ext cx="3291840" cy="64008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从灰度到复信号 D[k]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07 / 32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 · 四步相移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四步相移如何得到 D[k]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对每个投影频率采集 0°/90°/180°/270° 四张图，再差分构造复数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 · 四步相移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08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22960" y="182880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066544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965960" y="182880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066544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90°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08960" y="182880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2066544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180°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51960" y="182880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51960" y="2066544"/>
            <a:ext cx="8229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270°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148840"/>
            <a:ext cx="914400" cy="0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69280" y="1664208"/>
            <a:ext cx="2103120" cy="1051560"/>
          </a:xfrm>
          <a:prstGeom prst="roundRect">
            <a:avLst>
              <a:gd name="adj" fmla="val 6957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97296" y="1801368"/>
            <a:ext cx="1847088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Dc = I0 − I2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Ds = I3 − I1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01000" y="2148840"/>
            <a:ext cx="914400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98280" y="178308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26296" y="1920240"/>
            <a:ext cx="1755648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 = Dc + j·Ds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914400" y="3703320"/>
            <a:ext cx="36576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3703320"/>
            <a:ext cx="73152" cy="1143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15568" y="386791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差分的作用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15568" y="4233672"/>
            <a:ext cx="333756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I0−I2 和 I3−I1 会抵消背景亮度 B，只留下近似的 cosθ 与 sinθ。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5074920" y="3703320"/>
            <a:ext cx="46634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74920" y="3703320"/>
            <a:ext cx="73152" cy="1143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76088" y="386791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复数的意义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76088" y="4233672"/>
            <a:ext cx="43434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 = 2R·exp(jθ)，相位 θ 被放进复数角度，后续就可以沿频率轴分析旋转速度。</a:t>
            </a:r>
            <a:endParaRPr lang="en-US" sz="8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 · 物理信号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真实信号为什么是这个形式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固定一个相机像素，它对应的投影仪坐标 uₚ 会决定 D[k] 的相位斜率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 · 物理信号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09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22960" y="1783080"/>
            <a:ext cx="6675120" cy="822960"/>
          </a:xfrm>
          <a:prstGeom prst="roundRect">
            <a:avLst>
              <a:gd name="adj" fmla="val 8889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920240"/>
            <a:ext cx="6419088" cy="6217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D[k] ≈ A · exp(j · 2π · s · k · uₚ / N)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68680" y="3063240"/>
            <a:ext cx="310896" cy="310896"/>
          </a:xfrm>
          <a:prstGeom prst="ellipse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13639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k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28016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 k 个采集频率样本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280160" y="3282696"/>
            <a:ext cx="2514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0,1,...,M−1</a:t>
            </a:r>
            <a:endParaRPr lang="en-US" sz="720" dirty="0"/>
          </a:p>
        </p:txBody>
      </p:sp>
      <p:sp>
        <p:nvSpPr>
          <p:cNvPr id="17" name="Shape 15"/>
          <p:cNvSpPr/>
          <p:nvPr/>
        </p:nvSpPr>
        <p:spPr>
          <a:xfrm>
            <a:off x="4343400" y="3063240"/>
            <a:ext cx="310896" cy="310896"/>
          </a:xfrm>
          <a:prstGeom prst="ellipse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313639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75488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frequency_step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3282696"/>
            <a:ext cx="2514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fₖ = s·k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868680" y="3931920"/>
            <a:ext cx="310896" cy="310896"/>
          </a:xfrm>
          <a:prstGeom prst="ellipse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00507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uₚ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280160" y="392277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真实投影仪坐标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280160" y="4151376"/>
            <a:ext cx="2514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要恢复的目标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4343400" y="3931920"/>
            <a:ext cx="310896" cy="310896"/>
          </a:xfrm>
          <a:prstGeom prst="ellipse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43400" y="4005072"/>
            <a:ext cx="31089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54880" y="392277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投影仪坐标周期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54880" y="4151376"/>
            <a:ext cx="2514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width 或 height</a:t>
            </a:r>
            <a:endParaRPr lang="en-US" sz="720" dirty="0"/>
          </a:p>
        </p:txBody>
      </p:sp>
      <p:sp>
        <p:nvSpPr>
          <p:cNvPr id="29" name="Shape 27"/>
          <p:cNvSpPr/>
          <p:nvPr/>
        </p:nvSpPr>
        <p:spPr>
          <a:xfrm>
            <a:off x="8046720" y="1874520"/>
            <a:ext cx="3200400" cy="2286000"/>
          </a:xfrm>
          <a:prstGeom prst="roundRect">
            <a:avLst>
              <a:gd name="adj" fmla="val 3200"/>
            </a:avLst>
          </a:prstGeom>
          <a:solidFill>
            <a:srgbClr val="FFF4D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0" y="1874520"/>
            <a:ext cx="73152" cy="2286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47888" y="20391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最关键的判断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47888" y="2404872"/>
            <a:ext cx="288036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分母 N 来自投影仪坐标 uₚ 的归一化周期，而不是来自采集了多少个频率 M。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8046720" y="4709160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74736" y="4846320"/>
            <a:ext cx="2944368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uₚ / N  =  投影仪归一化位置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 · N 与 M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为什么分母是 N，不是 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 是投影仪坐标轴的物理周期；M 只是采样点数量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 · N 与 M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10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22960" y="1828800"/>
            <a:ext cx="4389120" cy="502920"/>
          </a:xfrm>
          <a:prstGeom prst="rect">
            <a:avLst/>
          </a:prstGeom>
          <a:solidFill>
            <a:srgbClr val="FFF4DF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2020824"/>
            <a:ext cx="4114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投影仪坐标轴：0, 1, 2, ..., N−1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0994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67587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44181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20774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97368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73961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50554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27148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03742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80335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56928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3522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10116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6709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63302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9896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16490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93083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9677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46270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22864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99457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76051" y="2651760"/>
            <a:ext cx="144590" cy="32004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306324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 个物理坐标位置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675120" y="1828800"/>
            <a:ext cx="3474720" cy="502920"/>
          </a:xfrm>
          <a:prstGeom prst="rect">
            <a:avLst/>
          </a:prstGeom>
          <a:solidFill>
            <a:srgbClr val="E6F4F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12280" y="2020824"/>
            <a:ext cx="3200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频率样本：k = 0, ..., M−1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2651760"/>
            <a:ext cx="122174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95058" y="2651760"/>
            <a:ext cx="122174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49236" y="2651760"/>
            <a:ext cx="122174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03414" y="2651760"/>
            <a:ext cx="122174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57592" y="2651760"/>
            <a:ext cx="122174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11770" y="2651760"/>
            <a:ext cx="122174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65948" y="2651760"/>
            <a:ext cx="122174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20126" y="2651760"/>
            <a:ext cx="122174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74304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28482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582660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736838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891016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45194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199372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353550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07728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661906" y="2651760"/>
            <a:ext cx="122174" cy="320040"/>
          </a:xfrm>
          <a:prstGeom prst="rect">
            <a:avLst/>
          </a:prstGeom>
          <a:solidFill>
            <a:srgbClr val="DDE7E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40880" y="30632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只有 M 个真实观测值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1280160" y="4069080"/>
            <a:ext cx="4846320" cy="658368"/>
          </a:xfrm>
          <a:prstGeom prst="roundRect">
            <a:avLst>
              <a:gd name="adj" fmla="val 11111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408176" y="4206240"/>
            <a:ext cx="4590288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物理相位：θ[k] = 2π · s · k · uₚ / N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6583680" y="4069080"/>
            <a:ext cx="3749040" cy="658368"/>
          </a:xfrm>
          <a:prstGeom prst="roundRect">
            <a:avLst>
              <a:gd name="adj" fmla="val 11111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11696" y="4206240"/>
            <a:ext cx="3493008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采样数量：D[0],...,D[M−1]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1F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C7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CHAPTER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3EC7D8">
                    <a:alpha val="80000"/>
                  </a:srgb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920240" y="184708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bin q 在测试什么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956816" y="2542032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不是直接“读取坐标”，而是在 L 个候选相位斜率上测试哪一个能让 D[k] 同相叠加。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3246120"/>
            <a:ext cx="3291840" cy="64008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bin q 在测试什么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 / 32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 · FFT 匹配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第 q 个 bin 的含义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 q 个 bin 的基函数在测试归一化旋转速度 q/L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 · FFT 匹配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12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22960" y="1783080"/>
            <a:ext cx="6446520" cy="731520"/>
          </a:xfrm>
          <a:prstGeom prst="roundRect">
            <a:avLst>
              <a:gd name="adj" fmla="val 10000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920240"/>
            <a:ext cx="619048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C[q] = Σ D[k] · exp(−j · 2π · q · k / L)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772400" y="1783080"/>
            <a:ext cx="2926080" cy="731520"/>
          </a:xfrm>
          <a:prstGeom prst="roundRect">
            <a:avLst>
              <a:gd name="adj" fmla="val 10000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00416" y="1920240"/>
            <a:ext cx="267004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测试斜率：β_q = q / 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097280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48740" y="3314700"/>
            <a:ext cx="201168" cy="0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148840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00300" y="3314700"/>
            <a:ext cx="142247" cy="142247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200400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51860" y="3314700"/>
            <a:ext cx="0" cy="201168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251960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03420" y="3314700"/>
            <a:ext cx="-142247" cy="142247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303520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54980" y="3314700"/>
            <a:ext cx="-201168" cy="0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14400" y="373075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D[k]：沿频率轴旋转的复数序列</a:t>
            </a:r>
            <a:endParaRPr lang="en-US" sz="740" dirty="0"/>
          </a:p>
        </p:txBody>
      </p:sp>
      <p:sp>
        <p:nvSpPr>
          <p:cNvPr id="26" name="Shape 24"/>
          <p:cNvSpPr/>
          <p:nvPr/>
        </p:nvSpPr>
        <p:spPr>
          <a:xfrm>
            <a:off x="5852160" y="3319272"/>
            <a:ext cx="822960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903720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55180" y="3314700"/>
            <a:ext cx="201168" cy="0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744968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96428" y="3314700"/>
            <a:ext cx="201168" cy="0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86216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37676" y="3314700"/>
            <a:ext cx="201168" cy="0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427464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78924" y="3314700"/>
            <a:ext cx="201168" cy="0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268712" y="3063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520172" y="3314700"/>
            <a:ext cx="201168" cy="0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6492240" y="3730752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匹配后：相位被抵消，同相叠加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1828800" y="4617720"/>
            <a:ext cx="80467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28800" y="4617720"/>
            <a:ext cx="73152" cy="82296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9968" y="4782312"/>
            <a:ext cx="7726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一句话理解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029968" y="5148072"/>
            <a:ext cx="77266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第 q 个 bin 在问：这串 D[k] 的相位旋转速度是不是 q/L？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 · 推导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匹配条件的推导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真实旋转速度与 FFT 测试速度相等时，所有项同相叠加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 · 推导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22960" y="1691640"/>
            <a:ext cx="4937760" cy="566928"/>
          </a:xfrm>
          <a:prstGeom prst="roundRect">
            <a:avLst>
              <a:gd name="adj" fmla="val 12903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828800"/>
            <a:ext cx="4681728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真实信号： D[k] ≈ A·exp(j·2π·s·k·uₚ/N)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6400800" y="1691640"/>
            <a:ext cx="4297680" cy="566928"/>
          </a:xfrm>
          <a:prstGeom prst="roundRect">
            <a:avLst>
              <a:gd name="adj" fmla="val 12903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28816" y="1828800"/>
            <a:ext cx="4041648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2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FFT 基函数： exp(−j·2π·q·k/L)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5897880" y="1965960"/>
            <a:ext cx="365760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20240" y="2788920"/>
            <a:ext cx="7680960" cy="658368"/>
          </a:xfrm>
          <a:prstGeom prst="roundRect">
            <a:avLst>
              <a:gd name="adj" fmla="val 11111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48256" y="2926080"/>
            <a:ext cx="7424928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C[q] = A · Σ exp(j·2π·k·(s·uₚ/N − q/L))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06040" y="3977640"/>
            <a:ext cx="3108960" cy="640080"/>
          </a:xfrm>
          <a:prstGeom prst="roundRect">
            <a:avLst>
              <a:gd name="adj" fmla="val 11429"/>
            </a:avLst>
          </a:prstGeom>
          <a:solidFill>
            <a:srgbClr val="FFF4DF"/>
          </a:solidFill>
          <a:ln w="10160">
            <a:solidFill>
              <a:srgbClr val="F29F0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34056" y="4114800"/>
            <a:ext cx="2852928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9F0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s·uₚ/N − q/L = 0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897880" y="4279392"/>
            <a:ext cx="594360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75120" y="3977640"/>
            <a:ext cx="3108960" cy="640080"/>
          </a:xfrm>
          <a:prstGeom prst="roundRect">
            <a:avLst>
              <a:gd name="adj" fmla="val 11429"/>
            </a:avLst>
          </a:prstGeom>
          <a:solidFill>
            <a:srgbClr val="E7F7F1"/>
          </a:solidFill>
          <a:ln w="10160">
            <a:solidFill>
              <a:srgbClr val="2CA5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4114800"/>
            <a:ext cx="2852928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A58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/ L = s · uₚ / 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383280" y="507492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这就是统一公式最核心的匹配条件。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 · 相位斜率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用“相位斜率”看就更直观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D[k] 可以看作 D[k] = A·exp(j·2π·α·k)，其中 α = s·uₚ/N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 · 相位斜率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14 / 32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22960" y="2039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小坐标 uₚ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82310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32901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83491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34081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84671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35262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5852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36442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87032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37623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988213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38803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89393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9984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0574" y="1874520"/>
            <a:ext cx="118586" cy="18288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0" y="17830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0136" y="1956816"/>
            <a:ext cx="146304" cy="0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126480" y="17830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00216" y="1956816"/>
            <a:ext cx="111899" cy="94252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766560" y="17830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40296" y="1956816"/>
            <a:ext cx="24867" cy="144175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406640" y="17830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80376" y="1956816"/>
            <a:ext cx="-73861" cy="126291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046720" y="17830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0456" y="1956816"/>
            <a:ext cx="-137851" cy="49010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686800" y="17830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860536" y="1956816"/>
            <a:ext cx="-137007" cy="-51321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9692640" y="192024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慢旋转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22960" y="331927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中等坐标 uₚ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1720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82310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32901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783491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934081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84671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35262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385852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536442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87032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37623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988213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138803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289393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439984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0574" y="3154680"/>
            <a:ext cx="118586" cy="18288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486400" y="306324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0136" y="3236976"/>
            <a:ext cx="146304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126480" y="306324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00216" y="3236976"/>
            <a:ext cx="24867" cy="144175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6766560" y="306324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940296" y="3236976"/>
            <a:ext cx="-137851" cy="4901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7406640" y="306324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80376" y="3236976"/>
            <a:ext cx="-71727" cy="-127515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046720" y="306324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20456" y="3236976"/>
            <a:ext cx="113468" cy="-92357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686800" y="306324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860536" y="3236976"/>
            <a:ext cx="109992" cy="96471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70" name="Text 68"/>
          <p:cNvSpPr/>
          <p:nvPr/>
        </p:nvSpPr>
        <p:spPr>
          <a:xfrm>
            <a:off x="9692640" y="3200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中速旋转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822960" y="459943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大坐标 uₚ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331720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82310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32901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83491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34081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84671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235262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385852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536442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687032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837623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988213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138803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289393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9984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590574" y="4434840"/>
            <a:ext cx="118586" cy="182880"/>
          </a:xfrm>
          <a:prstGeom prst="rect">
            <a:avLst/>
          </a:prstGeom>
          <a:solidFill>
            <a:srgbClr val="2CA58D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486400" y="4343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660136" y="4517136"/>
            <a:ext cx="146304" cy="0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6126480" y="4343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300216" y="4517136"/>
            <a:ext cx="-73861" cy="126291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6766560" y="4343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940296" y="4517136"/>
            <a:ext cx="-71727" cy="-127515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7406640" y="4343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7580376" y="4517136"/>
            <a:ext cx="146275" cy="2926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8046720" y="4343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220456" y="4517136"/>
            <a:ext cx="-76372" cy="124789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8686800" y="434340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860536" y="4517136"/>
            <a:ext cx="-69163" cy="-128924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100" name="Text 98"/>
          <p:cNvSpPr/>
          <p:nvPr/>
        </p:nvSpPr>
        <p:spPr>
          <a:xfrm>
            <a:off x="9692640" y="448056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A58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快旋转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1325880" y="5486400"/>
            <a:ext cx="9509760" cy="530352"/>
          </a:xfrm>
          <a:prstGeom prst="roundRect">
            <a:avLst>
              <a:gd name="adj" fmla="val 13793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1453896" y="5623560"/>
            <a:ext cx="925372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α = s · uₚ / N       β_q = q / L       匹配：α = β_q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F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C7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CHAPTER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3EC7D8">
                    <a:alpha val="80000"/>
                  </a:srgb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920240" y="184708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统一公式与推荐策略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956816" y="2542032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 q/L = s·uₚ/N 出发，推出 q 如何映射为投影仪坐标，以及为什么推荐 L = N/s。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3246120"/>
            <a:ext cx="3291840" cy="64008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统一公式与推荐策略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 / 32</a:t>
            </a:r>
            <a:endParaRPr lang="en-US" sz="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 · 统一公式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从匹配条件推出统一公式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 q/L = s·uₚ/N 整理，就得到 bin 到坐标的尺度关系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 · 统一公式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16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920240" y="1737360"/>
            <a:ext cx="5486400" cy="566928"/>
          </a:xfrm>
          <a:prstGeom prst="roundRect">
            <a:avLst>
              <a:gd name="adj" fmla="val 12903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48256" y="1874520"/>
            <a:ext cx="5230368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/ L = s · uₚ / 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663440" y="2359152"/>
            <a:ext cx="0" cy="265176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20240" y="2697480"/>
            <a:ext cx="5486400" cy="566928"/>
          </a:xfrm>
          <a:prstGeom prst="roundRect">
            <a:avLst>
              <a:gd name="adj" fmla="val 12903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48256" y="2834640"/>
            <a:ext cx="5230368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 · N = L · s · uₚ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663440" y="3319272"/>
            <a:ext cx="0" cy="265176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920240" y="3657600"/>
            <a:ext cx="5486400" cy="566928"/>
          </a:xfrm>
          <a:prstGeom prst="roundRect">
            <a:avLst>
              <a:gd name="adj" fmla="val 12903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48256" y="3794760"/>
            <a:ext cx="5230368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uₚ = q · N / (L · s)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663440" y="4279392"/>
            <a:ext cx="0" cy="265176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920240" y="4617720"/>
            <a:ext cx="5486400" cy="566928"/>
          </a:xfrm>
          <a:prstGeom prst="roundRect">
            <a:avLst>
              <a:gd name="adj" fmla="val 12903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48256" y="4754880"/>
            <a:ext cx="5230368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disparity = q · coord_scale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38160" y="21031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FF4D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8160" y="2103120"/>
            <a:ext cx="73152" cy="18288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39328" y="22677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coord_scale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39328" y="2633472"/>
            <a:ext cx="242316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coord_scale = N / (L · s)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它是从 FFT bin q 到投影仪坐标 uₚ 的比例尺。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8138160" y="443484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66176" y="4572000"/>
            <a:ext cx="2487168" cy="5760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希望 q = uₚ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⇒ coord_scale = 1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 · 推荐策略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为什么推荐让 coord_scale =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最理想的工程状态：FFT 峰值 bin 编号 q 本身就是投影仪坐标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 · 推荐策略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17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914400" y="1828800"/>
            <a:ext cx="3383280" cy="621792"/>
          </a:xfrm>
          <a:prstGeom prst="roundRect">
            <a:avLst>
              <a:gd name="adj" fmla="val 11765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1965960"/>
            <a:ext cx="3127248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coord_scale = N / (L · s)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26280" y="2139696"/>
            <a:ext cx="960120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60720" y="1828800"/>
            <a:ext cx="2834640" cy="621792"/>
          </a:xfrm>
          <a:prstGeom prst="roundRect">
            <a:avLst>
              <a:gd name="adj" fmla="val 11765"/>
            </a:avLst>
          </a:prstGeom>
          <a:solidFill>
            <a:srgbClr val="FFF4DF"/>
          </a:solidFill>
          <a:ln w="10160">
            <a:solidFill>
              <a:srgbClr val="F29F0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88736" y="1965960"/>
            <a:ext cx="2578608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9F05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令 coord_scale = 1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2139696"/>
            <a:ext cx="731520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84080" y="1828800"/>
            <a:ext cx="1645920" cy="621792"/>
          </a:xfrm>
          <a:prstGeom prst="roundRect">
            <a:avLst>
              <a:gd name="adj" fmla="val 11765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12096" y="1965960"/>
            <a:ext cx="1389888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 = N / s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68680" y="3246120"/>
            <a:ext cx="4343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3246120"/>
            <a:ext cx="73152" cy="77724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34107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 语义清楚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69848" y="3776472"/>
            <a:ext cx="402336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 就是投影仪坐标</a:t>
            </a:r>
            <a:endParaRPr lang="en-US" sz="820" dirty="0"/>
          </a:p>
        </p:txBody>
      </p:sp>
      <p:sp>
        <p:nvSpPr>
          <p:cNvPr id="23" name="Shape 21"/>
          <p:cNvSpPr/>
          <p:nvPr/>
        </p:nvSpPr>
        <p:spPr>
          <a:xfrm>
            <a:off x="5989320" y="3246120"/>
            <a:ext cx="4343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9320" y="3246120"/>
            <a:ext cx="73152" cy="77724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90488" y="34107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无需额外缩放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190488" y="3776472"/>
            <a:ext cx="402336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disparity ≈ q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868680" y="4343400"/>
            <a:ext cx="4343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" y="4343400"/>
            <a:ext cx="73152" cy="77724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848" y="45079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最小单位 1px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69848" y="4873752"/>
            <a:ext cx="402336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避免大步长量化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989320" y="4343400"/>
            <a:ext cx="43434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9320" y="4343400"/>
            <a:ext cx="73152" cy="777240"/>
          </a:xfrm>
          <a:prstGeom prst="rect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90488" y="45079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支持 s=0.5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90488" y="4873752"/>
            <a:ext cx="402336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长度自动变为 2N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 · 代码映射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代码中的推荐实现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统一公式对应到 _calc_fft_params() 的核心逻辑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四 · 代码映射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18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22960" y="1783080"/>
            <a:ext cx="5486400" cy="1600200"/>
          </a:xfrm>
          <a:prstGeom prst="roundRect">
            <a:avLst>
              <a:gd name="adj" fmla="val 4571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0976" y="1920240"/>
            <a:ext cx="5230368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fft_length = round(proj_dim / frequency_step)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valid_length = proj_dim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coord_scale = proj_dim / (fft_length · frequency_step)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766560" y="1737360"/>
            <a:ext cx="14630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1901952"/>
            <a:ext cx="1280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A9C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proj_dim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8366760" y="1901952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823960" y="1810512"/>
            <a:ext cx="329184" cy="329184"/>
          </a:xfrm>
          <a:prstGeom prst="ellipse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23960" y="1911096"/>
            <a:ext cx="329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9372600" y="187452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当前方向投影仪分辨率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6766560" y="2514600"/>
            <a:ext cx="14630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2679192"/>
            <a:ext cx="1280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A9C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frequency_step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8366760" y="2679192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823960" y="2587752"/>
            <a:ext cx="329184" cy="329184"/>
          </a:xfrm>
          <a:prstGeom prst="ellipse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23960" y="2688336"/>
            <a:ext cx="329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9372600" y="265176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频率步长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6766560" y="3291840"/>
            <a:ext cx="14630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3456432"/>
            <a:ext cx="1280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A9C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fft_length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8366760" y="3456432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823960" y="3364992"/>
            <a:ext cx="329184" cy="329184"/>
          </a:xfrm>
          <a:prstGeom prst="ellipse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465576"/>
            <a:ext cx="329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9372600" y="342900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搜索网格长度</a:t>
            </a:r>
            <a:endParaRPr lang="en-US" sz="830" dirty="0"/>
          </a:p>
        </p:txBody>
      </p:sp>
      <p:sp>
        <p:nvSpPr>
          <p:cNvPr id="31" name="Shape 29"/>
          <p:cNvSpPr/>
          <p:nvPr/>
        </p:nvSpPr>
        <p:spPr>
          <a:xfrm>
            <a:off x="6766560" y="4069080"/>
            <a:ext cx="14630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0" y="4233672"/>
            <a:ext cx="12801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0A9C8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freq_index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8366760" y="4233672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823960" y="4142232"/>
            <a:ext cx="329184" cy="329184"/>
          </a:xfrm>
          <a:prstGeom prst="ellipse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23960" y="4242816"/>
            <a:ext cx="3291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9372600" y="4206240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argmax 得到的峰值 bin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1828800" y="489204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56816" y="5029200"/>
            <a:ext cx="7607808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disparity = freq_index · coord_scale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1F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C7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CHAPTER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3EC7D8">
                    <a:alpha val="80000"/>
                  </a:srgb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920240" y="184708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三种典型参数情况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956816" y="2542032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用统一公式同时解释标准模式、0.5 步长模式，以及旧的 fft_length=M 方案。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3246120"/>
            <a:ext cx="3291840" cy="64008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三种典型参数情况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19 / 32</a:t>
            </a:r>
            <a:endParaRPr lang="en-US" sz="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 · 情况 A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情况 A：s = 1.0，L = 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标准推荐模式，FFT 的 q 网格与投影仪坐标一一对齐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 · 情况 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20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914400" y="1783080"/>
            <a:ext cx="4754880" cy="640080"/>
          </a:xfrm>
          <a:prstGeom prst="roundRect">
            <a:avLst>
              <a:gd name="adj" fmla="val 11429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1920240"/>
            <a:ext cx="4498848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coord_scale = N / (N · 1.0) = 1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583680" y="1783080"/>
            <a:ext cx="2286000" cy="640080"/>
          </a:xfrm>
          <a:prstGeom prst="roundRect">
            <a:avLst>
              <a:gd name="adj" fmla="val 11429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1696" y="1920240"/>
            <a:ext cx="2029968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uₚ = q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097280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85304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73327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1351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49374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37398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5421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13445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01468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89492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7515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65539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3562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1586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9609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17633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05656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93680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81703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9727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7750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45774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233797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21821" y="2926080"/>
            <a:ext cx="156020" cy="27432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280" y="331012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 = 0 ... N−1</a:t>
            </a:r>
            <a:endParaRPr lang="en-US" sz="740" dirty="0"/>
          </a:p>
        </p:txBody>
      </p:sp>
      <p:sp>
        <p:nvSpPr>
          <p:cNvPr id="40" name="Shape 38"/>
          <p:cNvSpPr/>
          <p:nvPr/>
        </p:nvSpPr>
        <p:spPr>
          <a:xfrm>
            <a:off x="6400800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8824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76847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64871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52894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340917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528941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716965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04988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093012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81035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469059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57082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45106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033129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221153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409176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597200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785223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973247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161270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349294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0537317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725341" y="2926080"/>
            <a:ext cx="156020" cy="274320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00800" y="331012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uₚ = 0 ... N−1</a:t>
            </a:r>
            <a:endParaRPr lang="en-US" sz="740" dirty="0"/>
          </a:p>
        </p:txBody>
      </p:sp>
      <p:sp>
        <p:nvSpPr>
          <p:cNvPr id="65" name="Shape 63"/>
          <p:cNvSpPr/>
          <p:nvPr/>
        </p:nvSpPr>
        <p:spPr>
          <a:xfrm>
            <a:off x="5715000" y="3072384"/>
            <a:ext cx="548640" cy="0"/>
          </a:xfrm>
          <a:prstGeom prst="line">
            <a:avLst/>
          </a:prstGeom>
          <a:noFill/>
          <a:ln w="19050">
            <a:solidFill>
              <a:srgbClr val="2CA58D"/>
            </a:solidFill>
            <a:prstDash val="solid"/>
            <a:headEnd type="none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1188720" y="4343400"/>
            <a:ext cx="4297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88720" y="4343400"/>
            <a:ext cx="73152" cy="1143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389888" y="450799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解码方向对应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1389888" y="4873752"/>
            <a:ext cx="39776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ver：N = projector_width，解出 x_p</a:t>
            </a:r>
            <a:endParaRPr lang="en-US" sz="860" dirty="0"/>
          </a:p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hor：N = projector_height，解出 y_p</a:t>
            </a:r>
            <a:endParaRPr lang="en-US" sz="860" dirty="0"/>
          </a:p>
        </p:txBody>
      </p:sp>
      <p:sp>
        <p:nvSpPr>
          <p:cNvPr id="70" name="Shape 68"/>
          <p:cNvSpPr/>
          <p:nvPr/>
        </p:nvSpPr>
        <p:spPr>
          <a:xfrm>
            <a:off x="6492240" y="4343400"/>
            <a:ext cx="4297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492240" y="4343400"/>
            <a:ext cx="73152" cy="1143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93408" y="450799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工程解释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6693408" y="4873752"/>
            <a:ext cx="39776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 q 个 FFT bin 就是在测试当前相机像素是否对应投影仪坐标 q。</a:t>
            </a:r>
            <a:endParaRPr lang="en-US" sz="8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 · 情况 B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情况 B：s = 0.5，L = 2N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半步长下相位旋转速度减半，所以 FFT 长度要扩大 2 倍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 · 情况 B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21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914400" y="1737360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1874520"/>
            <a:ext cx="3218688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 = N / 0.5 = 2N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892040" y="17373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0056" y="1874520"/>
            <a:ext cx="4590288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coord_scale = N / (2N · 0.5) = 1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05840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4003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2165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0328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38491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96653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54816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12978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71141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29304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87466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5629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03792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61954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20117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78279" y="2788920"/>
            <a:ext cx="12615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36442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94605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52767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10930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169093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27255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85418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43580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01743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59906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18068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76231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34394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592556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50719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08881" y="2788920"/>
            <a:ext cx="126159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05840" y="31821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有 2N 个 bin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1005840" y="3429000"/>
            <a:ext cx="2514600" cy="310896"/>
          </a:xfrm>
          <a:prstGeom prst="bracePair">
            <a:avLst/>
          </a:prstGeom>
          <a:noFill/>
          <a:ln w="12700">
            <a:solidFill>
              <a:srgbClr val="00A9C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5840" y="376732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有效区：0 ... N−1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520440" y="3429000"/>
            <a:ext cx="2514600" cy="310896"/>
          </a:xfrm>
          <a:prstGeom prst="bracePair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767328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后半区：不当作坐标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537960" y="2971800"/>
            <a:ext cx="3657600" cy="530352"/>
          </a:xfrm>
          <a:prstGeom prst="roundRect">
            <a:avLst>
              <a:gd name="adj" fmla="val 13793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5976" y="3108960"/>
            <a:ext cx="340156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C_valid = C_full[:proj_dim]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537960" y="3977640"/>
            <a:ext cx="42062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37960" y="3977640"/>
            <a:ext cx="73152" cy="1143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39128" y="41422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为什么只取前 N 个 bin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6739128" y="4507992"/>
            <a:ext cx="38862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投影仪坐标只有 0 ... N−1；后面的 bin 可能属于负频率区、周期重复区或无效搜索区。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 · 情况 C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情况 C：旧方案 L = 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 不再是投影仪坐标，而是被压缩到 M 个等级的频谱索引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 · 情况 C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22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914400" y="1737360"/>
            <a:ext cx="4297680" cy="685800"/>
          </a:xfrm>
          <a:prstGeom prst="roundRect">
            <a:avLst>
              <a:gd name="adj" fmla="val 10667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1874520"/>
            <a:ext cx="4041648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uₚ = q · N / (M · s)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0" y="1737360"/>
            <a:ext cx="3383280" cy="685800"/>
          </a:xfrm>
          <a:prstGeom prst="roundRect">
            <a:avLst>
              <a:gd name="adj" fmla="val 10667"/>
            </a:avLst>
          </a:prstGeom>
          <a:solidFill>
            <a:srgbClr val="FDEAEA"/>
          </a:solidFill>
          <a:ln w="10160">
            <a:solidFill>
              <a:srgbClr val="D94F4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28816" y="1874520"/>
            <a:ext cx="3127248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F4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若 s=1：Δu = N/M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051560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22520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93480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64440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35401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6361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77321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48281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19241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90201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1161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32122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03082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74042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45002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15962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86922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957882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28843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99803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0763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41723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12683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983643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154603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25564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96524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667484" y="2788920"/>
            <a:ext cx="138956" cy="292608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3154680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投影仪有 N 个坐标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6583680" y="2788920"/>
            <a:ext cx="109565" cy="292608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25249" y="2788920"/>
            <a:ext cx="109565" cy="292608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866817" y="2788920"/>
            <a:ext cx="109565" cy="292608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008386" y="2788920"/>
            <a:ext cx="109565" cy="292608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49955" y="2788920"/>
            <a:ext cx="109565" cy="292608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291524" y="2788920"/>
            <a:ext cx="109565" cy="292608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433092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74661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716230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57798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999367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40936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282505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424073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565642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707211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848779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990348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31917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73486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415054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6623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698192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839760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981329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122898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264467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406035" y="2788920"/>
            <a:ext cx="109565" cy="292608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83680" y="315468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D94F4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只有 M 个候选 q</a:t>
            </a:r>
            <a:endParaRPr lang="en-US" sz="740" dirty="0"/>
          </a:p>
        </p:txBody>
      </p:sp>
      <p:sp>
        <p:nvSpPr>
          <p:cNvPr id="73" name="Shape 71"/>
          <p:cNvSpPr/>
          <p:nvPr/>
        </p:nvSpPr>
        <p:spPr>
          <a:xfrm>
            <a:off x="1828800" y="4434840"/>
            <a:ext cx="8138160" cy="1051560"/>
          </a:xfrm>
          <a:prstGeom prst="roundRect">
            <a:avLst>
              <a:gd name="adj" fmla="val 6957"/>
            </a:avLst>
          </a:prstGeom>
          <a:solidFill>
            <a:srgbClr val="FDEAEA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828800" y="4434840"/>
            <a:ext cx="73152" cy="105156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29968" y="4599432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2029968" y="4965192"/>
            <a:ext cx="781812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多个真实 uₚ 会被压到同一个 q，再乘 N/M 也只能得到“浮点形式的粗离散台阶”。</a:t>
            </a:r>
            <a:endParaRPr lang="en-US" sz="9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 · 对比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旧方案与推荐方案的本质差别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不是“有没有缩放”的差别，而是 q 网格是否与投影仪坐标网格对齐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五 · 对比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23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22960" y="182880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FDEAEA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828800"/>
            <a:ext cx="73152" cy="182880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19933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旧方案：L = 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4128" y="2359152"/>
            <a:ext cx="361188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 只有 M 个离散值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coord_scale = N/(M·s)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坐标间隔通常较大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315200" y="1828800"/>
            <a:ext cx="3931920" cy="1828800"/>
          </a:xfrm>
          <a:prstGeom prst="roundRect">
            <a:avLst>
              <a:gd name="adj" fmla="val 4000"/>
            </a:avLst>
          </a:prstGeom>
          <a:solidFill>
            <a:srgbClr val="E7F7F1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0" y="1828800"/>
            <a:ext cx="73152" cy="182880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16368" y="199339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推荐方案：L = N/s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16368" y="2359152"/>
            <a:ext cx="361188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 网格对齐投影仪坐标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coord_scale ≈ 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输出步长约 1 个投影仪像素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74920" y="2743200"/>
            <a:ext cx="1828800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057400" y="457200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85416" y="4709160"/>
            <a:ext cx="7790688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统一公式解释两者： uₚ = q · N / (L · s)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1F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C7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CHAPTER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3EC7D8">
                    <a:alpha val="80000"/>
                  </a:srgb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920240" y="184708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 与零填充的真实作用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956816" y="2542032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 决定真实观测样本数量；L&gt;M 时补零只是在更密的 q 网格上评价同一组数据。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3246120"/>
            <a:ext cx="3291840" cy="64008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 与零填充的真实作用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/ 32</a:t>
            </a:r>
            <a:endParaRPr lang="en-US" sz="6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 · 零填充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只投影了 M 个频率，N−M 怎么办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的 n=L 会在频率轴后补零；真实求和中仍只有 M 个非零观测值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 · 零填充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25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68680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2703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6726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20749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4772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88795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72818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56841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0864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24887" y="2103120"/>
            <a:ext cx="152019" cy="320040"/>
          </a:xfrm>
          <a:prstGeom prst="rect">
            <a:avLst/>
          </a:prstGeom>
          <a:solidFill>
            <a:srgbClr val="00A9C8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08910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92933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76956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60979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5002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29025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13048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97071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81094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65117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49140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3163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17186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1209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285232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69255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53278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37301" y="2103120"/>
            <a:ext cx="152019" cy="320040"/>
          </a:xfrm>
          <a:prstGeom prst="rect">
            <a:avLst/>
          </a:prstGeom>
          <a:solidFill>
            <a:srgbClr val="EEF3F7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8680" y="2496312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D[0] ... D[M−1]：真实采集值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3063240" y="2670048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补零区域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914400" y="33375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2416" y="3474720"/>
            <a:ext cx="5138928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C[q] = Σₖ₌₀ᴸ⁻¹ D_padded[k] · exp(−j·2π·q·k/L)</a:t>
            </a:r>
            <a:endParaRPr lang="en-US" sz="1280" dirty="0"/>
          </a:p>
        </p:txBody>
      </p:sp>
      <p:sp>
        <p:nvSpPr>
          <p:cNvPr id="43" name="Shape 41"/>
          <p:cNvSpPr/>
          <p:nvPr/>
        </p:nvSpPr>
        <p:spPr>
          <a:xfrm>
            <a:off x="6355080" y="3337560"/>
            <a:ext cx="4937760" cy="640080"/>
          </a:xfrm>
          <a:prstGeom prst="roundRect">
            <a:avLst>
              <a:gd name="adj" fmla="val 11429"/>
            </a:avLst>
          </a:prstGeom>
          <a:solidFill>
            <a:srgbClr val="0D3D5C"/>
          </a:solidFill>
          <a:ln w="10160">
            <a:solidFill>
              <a:srgbClr val="0D3D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83096" y="3474720"/>
            <a:ext cx="4681728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等价于：Σₖ₌₀ᴹ⁻¹ D[k] · exp(−j·2π·q·k/L)</a:t>
            </a:r>
            <a:endParaRPr lang="en-US" sz="1280" dirty="0"/>
          </a:p>
        </p:txBody>
      </p:sp>
      <p:sp>
        <p:nvSpPr>
          <p:cNvPr id="45" name="Shape 43"/>
          <p:cNvSpPr/>
          <p:nvPr/>
        </p:nvSpPr>
        <p:spPr>
          <a:xfrm>
            <a:off x="914400" y="4572000"/>
            <a:ext cx="4297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14400" y="4572000"/>
            <a:ext cx="73152" cy="77724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15568" y="473659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 1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15568" y="5102352"/>
            <a:ext cx="397764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 决定真正参与求和的有效数据数量。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6400800" y="4572000"/>
            <a:ext cx="42976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00800" y="4572000"/>
            <a:ext cx="73152" cy="77724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01968" y="473659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 2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6601968" y="5102352"/>
            <a:ext cx="397764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 决定 FFT 在多少个候选 q 上评价这个求和结果。</a:t>
            </a:r>
            <a:endParaRPr lang="en-US" sz="8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 · 零填充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零填充的意义与限制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它让频谱采样网格更密，但不会创造新的真实信息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 · 零填充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26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22960" y="182880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E7F7F1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828800"/>
            <a:ext cx="73152" cy="68580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199339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更密的 q 网格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" y="2359152"/>
            <a:ext cx="4343400" cy="45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可以在更多候选 bin 上搜索峰值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822960" y="278892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E7F7F1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788920"/>
            <a:ext cx="73152" cy="68580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95351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坐标对齐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3319272"/>
            <a:ext cx="4343400" cy="45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 L=N/s 时，q 与 uₚ 的网格对齐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822960" y="374904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E7F7F1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749040"/>
            <a:ext cx="73152" cy="68580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4128" y="391363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更细输出网格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4279392"/>
            <a:ext cx="4343400" cy="45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 L=M 导致的大步长输出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400800" y="182880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FDEAEA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1828800"/>
            <a:ext cx="73152" cy="68580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01968" y="199339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不增加信息量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01968" y="2359152"/>
            <a:ext cx="4343400" cy="45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后面的点是 0，不是新采集数据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6400800" y="278892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FDEAEA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0" y="2788920"/>
            <a:ext cx="73152" cy="68580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01968" y="295351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不提高信噪比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601968" y="3319272"/>
            <a:ext cx="4343400" cy="45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噪声和反射问题不会被自动修复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6400800" y="374904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FDEAEA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0" y="3749040"/>
            <a:ext cx="73152" cy="68580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01968" y="391363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不能替代足够 M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01968" y="4279392"/>
            <a:ext cx="4343400" cy="45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78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 太少时峰会宽、易被噪声干扰</a:t>
            </a:r>
            <a:endParaRPr lang="en-US" sz="780" dirty="0"/>
          </a:p>
        </p:txBody>
      </p:sp>
      <p:sp>
        <p:nvSpPr>
          <p:cNvPr id="35" name="Shape 33"/>
          <p:cNvSpPr/>
          <p:nvPr/>
        </p:nvSpPr>
        <p:spPr>
          <a:xfrm>
            <a:off x="2286000" y="5166360"/>
            <a:ext cx="7680960" cy="530352"/>
          </a:xfrm>
          <a:prstGeom prst="roundRect">
            <a:avLst>
              <a:gd name="adj" fmla="val 13793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14016" y="5303520"/>
            <a:ext cx="742492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 决定峰值可靠性；L 决定 q 网格密度。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 · M 的作用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 是否越大越好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 不决定坐标缩放，但决定频谱峰的可靠性与抗噪能力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六 · M 的作用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27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914400" y="3931920"/>
            <a:ext cx="420624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0800000">
            <a:off x="2743200" y="2514600"/>
            <a:ext cx="822960" cy="1417320"/>
          </a:xfrm>
          <a:prstGeom prst="triangle">
            <a:avLst/>
          </a:prstGeom>
          <a:solidFill>
            <a:srgbClr val="F29F05">
              <a:alpha val="85000"/>
            </a:srgbClr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2976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 较小：峰更宽、更不稳定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3931920"/>
            <a:ext cx="420624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0800000">
            <a:off x="8613648" y="2240280"/>
            <a:ext cx="594360" cy="1691640"/>
          </a:xfrm>
          <a:prstGeom prst="triangle">
            <a:avLst/>
          </a:prstGeom>
          <a:solidFill>
            <a:srgbClr val="2CA58D">
              <a:alpha val="92000"/>
            </a:srgbClr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0" y="42976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A58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 较大：峰更尖、抗噪更强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03120" y="5074920"/>
            <a:ext cx="8046720" cy="530352"/>
          </a:xfrm>
          <a:prstGeom prst="roundRect">
            <a:avLst>
              <a:gd name="adj" fmla="val 13793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31136" y="5212080"/>
            <a:ext cx="779068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正确峰：更多项同相叠加；错误峰：更容易相互抵消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61F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EC7D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CHAPTER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3EC7D8">
                    <a:alpha val="80000"/>
                  </a:srgbClr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七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920240" y="1847088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量化阶梯与常见误区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956816" y="2542032"/>
            <a:ext cx="6766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统一公式解释为什么 fft_length=M 会形成粗台阶，以及为什么不能简单把 N 改成 M。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20240" y="3246120"/>
            <a:ext cx="3291840" cy="64008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量化阶梯与常见误区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28 / 32</a:t>
            </a:r>
            <a:endParaRPr lang="en-US" sz="6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七 · 量化阶梯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 fft_length = M 会造成量化阶梯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 L=M 时，输出坐标只能落在间隔 Δu = N/(M·s) 的粗网格上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七 · 量化阶梯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29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914400" y="1737360"/>
            <a:ext cx="8778240" cy="621792"/>
          </a:xfrm>
          <a:prstGeom prst="roundRect">
            <a:avLst>
              <a:gd name="adj" fmla="val 11765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1874520"/>
            <a:ext cx="8522208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L=M  ⇒  uₚ = q · N/(M·s)  ⇒  Δu = N/(M·s)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05840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24344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42847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1351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79854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98358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16861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35365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53868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2372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90875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09379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27882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6386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4889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83393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01896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20400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8903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57407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75910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94414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812917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1421" y="2834640"/>
            <a:ext cx="186500" cy="219456"/>
          </a:xfrm>
          <a:prstGeom prst="rect">
            <a:avLst/>
          </a:prstGeom>
          <a:solidFill>
            <a:srgbClr val="F29F05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05840" y="3182112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F29F0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真实投影仪坐标：N 个连续位置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675120" y="2834640"/>
            <a:ext cx="129349" cy="219456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36474" y="2834640"/>
            <a:ext cx="129349" cy="219456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997827" y="2834640"/>
            <a:ext cx="129349" cy="219456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159181" y="2834640"/>
            <a:ext cx="129349" cy="219456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20534" y="2834640"/>
            <a:ext cx="129349" cy="219456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81887" y="2834640"/>
            <a:ext cx="129349" cy="219456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643241" y="2834640"/>
            <a:ext cx="129349" cy="219456"/>
          </a:xfrm>
          <a:prstGeom prst="rect">
            <a:avLst/>
          </a:prstGeom>
          <a:solidFill>
            <a:srgbClr val="D94F4F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04595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65948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27302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288655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50009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611362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772716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934069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095423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256776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418130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579483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740837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9902190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063544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224897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386251" y="2834640"/>
            <a:ext cx="129349" cy="219456"/>
          </a:xfrm>
          <a:prstGeom prst="rect">
            <a:avLst/>
          </a:prstGeom>
          <a:solidFill>
            <a:srgbClr val="F3D1D1"/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5120" y="318211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dirty="0">
                <a:solidFill>
                  <a:srgbClr val="D94F4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q：只有 M 个等级</a:t>
            </a:r>
            <a:endParaRPr lang="en-US" sz="740" dirty="0"/>
          </a:p>
        </p:txBody>
      </p:sp>
      <p:sp>
        <p:nvSpPr>
          <p:cNvPr id="63" name="Shape 61"/>
          <p:cNvSpPr/>
          <p:nvPr/>
        </p:nvSpPr>
        <p:spPr>
          <a:xfrm>
            <a:off x="6355080" y="2944368"/>
            <a:ext cx="2743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965960" y="4343400"/>
            <a:ext cx="8138160" cy="960120"/>
          </a:xfrm>
          <a:prstGeom prst="roundRect">
            <a:avLst>
              <a:gd name="adj" fmla="val 7619"/>
            </a:avLst>
          </a:prstGeom>
          <a:solidFill>
            <a:srgbClr val="FDEAEA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965960" y="4343400"/>
            <a:ext cx="73152" cy="96012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167128" y="4507992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直观结果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2167128" y="4873752"/>
            <a:ext cx="781812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多个相邻的真实 uₚ 被判成同一个 q；再乘缩放比例后，只是得到浮点形式的离散台阶。</a:t>
            </a:r>
            <a:endParaRPr lang="en-US" sz="9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七 · 点云影响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量化阶梯对点云的影响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三角化需要连续的相机-投影仪对应；粗台阶会让对应关系跳变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七 · 点云影响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30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68680" y="182880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1828800"/>
            <a:ext cx="73152" cy="73152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199339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相邻相机像素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69848" y="2359152"/>
            <a:ext cx="3794760" cy="91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被解码成同一个投影仪坐标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5212080" y="2194560"/>
            <a:ext cx="822960" cy="0"/>
          </a:xfrm>
          <a:prstGeom prst="line">
            <a:avLst/>
          </a:prstGeom>
          <a:noFill/>
          <a:ln w="19050">
            <a:solidFill>
              <a:srgbClr val="00A9C8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00800" y="1874520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E6F4F8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112264"/>
            <a:ext cx="3474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对应关系不连续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68680" y="297180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2971800"/>
            <a:ext cx="73152" cy="73152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" y="313639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中间投影仪坐标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69848" y="3502152"/>
            <a:ext cx="3794760" cy="91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从来不会被输出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5212080" y="3337560"/>
            <a:ext cx="822960" cy="0"/>
          </a:xfrm>
          <a:prstGeom prst="line">
            <a:avLst/>
          </a:prstGeom>
          <a:noFill/>
          <a:ln w="19050">
            <a:solidFill>
              <a:srgbClr val="F29F0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400800" y="3017520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E6F4F8"/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3255264"/>
            <a:ext cx="3474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对应关系不连续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68680" y="411480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" y="4114800"/>
            <a:ext cx="73152" cy="73152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9848" y="427939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三角化结果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69848" y="4645152"/>
            <a:ext cx="3794760" cy="91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83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出现条带、断层、空白或层状结构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5212080" y="4480560"/>
            <a:ext cx="822960" cy="0"/>
          </a:xfrm>
          <a:prstGeom prst="line">
            <a:avLst/>
          </a:prstGeom>
          <a:noFill/>
          <a:ln w="19050">
            <a:solidFill>
              <a:srgbClr val="D94F4F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00800" y="4160520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FDEAEA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4398264"/>
            <a:ext cx="34747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4F4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点云空白 / 断层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645920" y="5394960"/>
            <a:ext cx="8961120" cy="512064"/>
          </a:xfrm>
          <a:prstGeom prst="roundRect">
            <a:avLst>
              <a:gd name="adj" fmla="val 14286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73936" y="5532120"/>
            <a:ext cx="8705088" cy="3108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根本原因：q 的可取值太少，而不是乘法缩放不够。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" y="31089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0A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七 · 误区澄清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438912" y="621792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为什么不能简单把公式分母改成 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07899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除非重新定义坐标，否则 uₚ 的归一化周期仍然是 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38912" y="1444752"/>
            <a:ext cx="11155680" cy="0"/>
          </a:xfrm>
          <a:prstGeom prst="line">
            <a:avLst/>
          </a:prstGeom>
          <a:noFill/>
          <a:ln w="12700">
            <a:solidFill>
              <a:srgbClr val="D9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七 · 误区澄清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31 / 32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868680" y="182880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DEAEA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1828800"/>
            <a:ext cx="73152" cy="1325880"/>
          </a:xfrm>
          <a:prstGeom prst="rect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9848" y="199339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错误写法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9848" y="2359152"/>
            <a:ext cx="45262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D[k] ≈ A · exp(j·2π·k·uₚ/M)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这里把投影仪坐标 uₚ 错当成了 M 周期坐标。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0" y="182880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E7F7F1"/>
          </a:solidFill>
          <a:ln w="10160">
            <a:solidFill>
              <a:srgbClr val="D9E2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1828800"/>
            <a:ext cx="73152" cy="1325880"/>
          </a:xfrm>
          <a:prstGeom prst="rect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01968" y="199339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正确写法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01968" y="2359152"/>
            <a:ext cx="452628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D[k] ≈ A · exp(j·2π·s·k·uₚ/N)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uₚ 定义在 0 ... N−1，分母应是 N。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25880" y="4069080"/>
            <a:ext cx="9509760" cy="731520"/>
          </a:xfrm>
          <a:prstGeom prst="roundRect">
            <a:avLst>
              <a:gd name="adj" fmla="val 10000"/>
            </a:avLst>
          </a:prstGeom>
          <a:solidFill>
            <a:srgbClr val="061F34"/>
          </a:solidFill>
          <a:ln w="10160">
            <a:solidFill>
              <a:srgbClr val="061F3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53896" y="4206240"/>
            <a:ext cx="9253728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若定义压缩坐标 u′ = M · s · uₚ / N，则 q ≈ u′，不是 q ≈ uₚ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28800" y="50749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6B72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形式上可以改写，但物理意义已经变了：u′ 是频谱坐标，不是投影仪像素坐标。</a:t>
            </a:r>
            <a:endParaRPr lang="en-US" sz="10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61F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27432" cy="6858000"/>
          </a:xfrm>
          <a:prstGeom prst="rect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822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最终归纳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58952" y="13258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统一公式把频移法的尺度关系全部串起来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5029200" cy="594360"/>
          </a:xfrm>
          <a:prstGeom prst="roundRect">
            <a:avLst>
              <a:gd name="adj" fmla="val 12308"/>
            </a:avLst>
          </a:prstGeom>
          <a:solidFill>
            <a:srgbClr val="0A2C45"/>
          </a:solidFill>
          <a:ln w="10160">
            <a:solidFill>
              <a:srgbClr val="1A5B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2103120"/>
            <a:ext cx="477316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D[k] ≈ A · exp(j·2π·s·k·uₚ/N)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2834640"/>
            <a:ext cx="5029200" cy="594360"/>
          </a:xfrm>
          <a:prstGeom prst="roundRect">
            <a:avLst>
              <a:gd name="adj" fmla="val 12308"/>
            </a:avLst>
          </a:prstGeom>
          <a:solidFill>
            <a:srgbClr val="0D3D5C"/>
          </a:solidFill>
          <a:ln w="10160">
            <a:solidFill>
              <a:srgbClr val="00A9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2971800"/>
            <a:ext cx="477316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q/L = s·uₚ/N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3703320"/>
            <a:ext cx="5029200" cy="713232"/>
          </a:xfrm>
          <a:prstGeom prst="roundRect">
            <a:avLst>
              <a:gd name="adj" fmla="val 10256"/>
            </a:avLst>
          </a:prstGeom>
          <a:solidFill>
            <a:srgbClr val="00A9C8"/>
          </a:solidFill>
          <a:ln w="10160">
            <a:solidFill>
              <a:srgbClr val="00A9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3840480"/>
            <a:ext cx="4773168" cy="5120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uₚ = q · N / (L · s)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6766560" y="1645920"/>
            <a:ext cx="502920" cy="502920"/>
          </a:xfrm>
          <a:prstGeom prst="ellipse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66560" y="1810512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52360" y="16642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采集频率数量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52360" y="19385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决定峰值可靠性</a:t>
            </a:r>
            <a:endParaRPr lang="en-US" sz="840" dirty="0"/>
          </a:p>
        </p:txBody>
      </p:sp>
      <p:sp>
        <p:nvSpPr>
          <p:cNvPr id="16" name="Shape 14"/>
          <p:cNvSpPr/>
          <p:nvPr/>
        </p:nvSpPr>
        <p:spPr>
          <a:xfrm>
            <a:off x="6766560" y="2560320"/>
            <a:ext cx="502920" cy="502920"/>
          </a:xfrm>
          <a:prstGeom prst="ellipse">
            <a:avLst/>
          </a:prstGeom>
          <a:solidFill>
            <a:srgbClr val="F29F05"/>
          </a:solidFill>
          <a:ln w="12700">
            <a:solidFill>
              <a:srgbClr val="F29F0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0" y="2724912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52360" y="25786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投影仪坐标周期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52360" y="28529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决定真实公式分母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766560" y="3474720"/>
            <a:ext cx="502920" cy="502920"/>
          </a:xfrm>
          <a:prstGeom prst="ellipse">
            <a:avLst/>
          </a:prstGeom>
          <a:solidFill>
            <a:srgbClr val="2CA58D"/>
          </a:solidFill>
          <a:ln w="12700">
            <a:solidFill>
              <a:srgbClr val="2CA5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0" y="3639312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52360" y="34930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FFT 搜索长度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52360" y="37673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决定 q 与 uₚ 的比例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766560" y="4389120"/>
            <a:ext cx="502920" cy="502920"/>
          </a:xfrm>
          <a:prstGeom prst="ellipse">
            <a:avLst/>
          </a:prstGeom>
          <a:solidFill>
            <a:srgbClr val="1F77B4"/>
          </a:solidFill>
          <a:ln w="12700">
            <a:solidFill>
              <a:srgbClr val="1F77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4553712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L=N/s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52360" y="44074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推荐策略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52360" y="468172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B6D6E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 q 直接等于 uₚ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731520" y="5623560"/>
            <a:ext cx="10789920" cy="54864"/>
          </a:xfrm>
          <a:prstGeom prst="rect">
            <a:avLst/>
          </a:prstGeom>
          <a:solidFill>
            <a:srgbClr val="00A9C8"/>
          </a:solidFill>
          <a:ln w="12700">
            <a:solidFill>
              <a:srgbClr val="00A9C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89788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 FFT 的 bin 网格与投影仪坐标网格对齐，是消除粗量化阶梯的关键。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11480" y="6473952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频移法 FSM / FSA · 统一公式详解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4572000" y="647395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Summary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11475720" y="64739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AA4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32 / 32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FSM/FSA 频移法统一公式详解</dc:title>
  <dc:subject>FSM/FSA unified formula explanation</dc:subject>
  <dc:creator>OpenAI</dc:creator>
  <cp:lastModifiedBy>OpenAI</cp:lastModifiedBy>
  <cp:revision>1</cp:revision>
  <dcterms:created xsi:type="dcterms:W3CDTF">2026-05-22T09:50:00Z</dcterms:created>
  <dcterms:modified xsi:type="dcterms:W3CDTF">2026-05-22T09:50:00Z</dcterms:modified>
</cp:coreProperties>
</file>