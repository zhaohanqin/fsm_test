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</p:sldIdLst>
  <p:notesMasterIdLst>
    <p:notesMasterId r:id="rId5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notesMaster" Target="notesMasters/notesMaster1.xml"/><Relationship Id="rId53" Type="http://schemas.openxmlformats.org/officeDocument/2006/relationships/presProps" Target="presProps.xml"/><Relationship Id="rId54" Type="http://schemas.openxmlformats.org/officeDocument/2006/relationships/viewProps" Target="viewProps.xml"/><Relationship Id="rId55" Type="http://schemas.openxmlformats.org/officeDocument/2006/relationships/theme" Target="theme/theme1.xml"/><Relationship Id="rId5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5-1.png"/><Relationship Id="rId2" Type="http://schemas.openxmlformats.org/officeDocument/2006/relationships/image" Target="../media/image-4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6-1.png"/><Relationship Id="rId2" Type="http://schemas.openxmlformats.org/officeDocument/2006/relationships/image" Target="../media/image-4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7-1.png"/><Relationship Id="rId2" Type="http://schemas.openxmlformats.org/officeDocument/2006/relationships/image" Target="../media/image-4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3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4A46A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96012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80" kern="0" dirty="0">
                <a:solidFill>
                  <a:srgbClr val="C4A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  LIGHT    ·    DECODING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58368" y="1353312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7F4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频移法（FSM / FSA）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658368" y="1993392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E7E1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从条纹到投影仪坐标，再进入点云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58368" y="2487168"/>
            <a:ext cx="9326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9C2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相位随频率旋转的速度，就是投影仪坐标。FFT 只是把这个速度测出来。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58368" y="299923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4A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uₚ  =  q · N  /  (L · s)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658368" y="3794760"/>
            <a:ext cx="2514600" cy="1097280"/>
          </a:xfrm>
          <a:prstGeom prst="roundRect">
            <a:avLst>
              <a:gd name="adj" fmla="val 6667"/>
            </a:avLst>
          </a:prstGeom>
          <a:solidFill>
            <a:srgbClr val="243040"/>
          </a:solidFill>
          <a:ln/>
        </p:spPr>
      </p:sp>
      <p:sp>
        <p:nvSpPr>
          <p:cNvPr id="9" name="Text 7"/>
          <p:cNvSpPr/>
          <p:nvPr/>
        </p:nvSpPr>
        <p:spPr>
          <a:xfrm>
            <a:off x="658368" y="3895344"/>
            <a:ext cx="2514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7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58368" y="4389120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9C2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章完整主线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355848" y="3794760"/>
            <a:ext cx="2514600" cy="1097280"/>
          </a:xfrm>
          <a:prstGeom prst="roundRect">
            <a:avLst>
              <a:gd name="adj" fmla="val 6667"/>
            </a:avLst>
          </a:prstGeom>
          <a:solidFill>
            <a:srgbClr val="243040"/>
          </a:solidFill>
          <a:ln/>
        </p:spPr>
      </p:sp>
      <p:sp>
        <p:nvSpPr>
          <p:cNvPr id="12" name="Text 10"/>
          <p:cNvSpPr/>
          <p:nvPr/>
        </p:nvSpPr>
        <p:spPr>
          <a:xfrm>
            <a:off x="3355848" y="3895344"/>
            <a:ext cx="2514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7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355848" y="4389120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9C2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条统一公式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053328" y="3794760"/>
            <a:ext cx="2514600" cy="1097280"/>
          </a:xfrm>
          <a:prstGeom prst="roundRect">
            <a:avLst>
              <a:gd name="adj" fmla="val 6667"/>
            </a:avLst>
          </a:prstGeom>
          <a:solidFill>
            <a:srgbClr val="243040"/>
          </a:solidFill>
          <a:ln/>
        </p:spPr>
      </p:sp>
      <p:sp>
        <p:nvSpPr>
          <p:cNvPr id="15" name="Text 13"/>
          <p:cNvSpPr/>
          <p:nvPr/>
        </p:nvSpPr>
        <p:spPr>
          <a:xfrm>
            <a:off x="6053328" y="3895344"/>
            <a:ext cx="2514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7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99.98%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053328" y="4389120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9C2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合法坐标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750808" y="3794760"/>
            <a:ext cx="2514600" cy="1097280"/>
          </a:xfrm>
          <a:prstGeom prst="roundRect">
            <a:avLst>
              <a:gd name="adj" fmla="val 6667"/>
            </a:avLst>
          </a:prstGeom>
          <a:solidFill>
            <a:srgbClr val="243040"/>
          </a:solidFill>
          <a:ln/>
        </p:spPr>
      </p:sp>
      <p:sp>
        <p:nvSpPr>
          <p:cNvPr id="18" name="Text 16"/>
          <p:cNvSpPr/>
          <p:nvPr/>
        </p:nvSpPr>
        <p:spPr>
          <a:xfrm>
            <a:off x="8750808" y="3895344"/>
            <a:ext cx="2514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7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275 万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8750808" y="4389120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9C2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点云顶点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58368" y="512064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7E1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肖顺康    ·    机器视觉 · 三维成像算法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75488" y="6510528"/>
            <a:ext cx="11228832" cy="9144"/>
          </a:xfrm>
          <a:prstGeom prst="rect">
            <a:avLst/>
          </a:prstGeom>
          <a:solidFill>
            <a:srgbClr val="3A4454"/>
          </a:solidFill>
          <a:ln/>
        </p:spPr>
      </p:sp>
      <p:sp>
        <p:nvSpPr>
          <p:cNvPr id="22" name="Text 20"/>
          <p:cNvSpPr/>
          <p:nvPr/>
        </p:nvSpPr>
        <p:spPr>
          <a:xfrm>
            <a:off x="475488" y="6547104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5D0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肖顺康   ·   机器视觉 · 三维成像算法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503920" y="6547104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 /   50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256032"/>
            <a:ext cx="11155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9A5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493776"/>
            <a:ext cx="11155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讲解路线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75488" y="950976"/>
            <a:ext cx="11155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E66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一条主线：条纹 → 四步相移 → 频率轴旋转 → FFT 主峰 → 投影仪坐标 → 点云。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75488" y="1371600"/>
            <a:ext cx="5596128" cy="1097280"/>
          </a:xfrm>
          <a:prstGeom prst="roundRect">
            <a:avLst>
              <a:gd name="adj" fmla="val 6667"/>
            </a:avLst>
          </a:prstGeom>
          <a:solidFill>
            <a:srgbClr val="FFFDFB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536192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A5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344168" y="1536192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问题与两层序列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1938528"/>
            <a:ext cx="5257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66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为什么单张图不能定位，两个方向各解一个坐标。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54496" y="1371600"/>
            <a:ext cx="5596128" cy="1097280"/>
          </a:xfrm>
          <a:prstGeom prst="roundRect">
            <a:avLst>
              <a:gd name="adj" fmla="val 6667"/>
            </a:avLst>
          </a:prstGeom>
          <a:solidFill>
            <a:srgbClr val="FFFDFB"/>
          </a:solidFill>
          <a:ln/>
        </p:spPr>
      </p:sp>
      <p:sp>
        <p:nvSpPr>
          <p:cNvPr id="10" name="Text 8"/>
          <p:cNvSpPr/>
          <p:nvPr/>
        </p:nvSpPr>
        <p:spPr>
          <a:xfrm>
            <a:off x="6419088" y="1536192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A5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123176" y="1536192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四步相移与旋转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19088" y="1938528"/>
            <a:ext cx="5257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66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差分消直流；相位随 k 旋转，不是图像在转。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75488" y="2578608"/>
            <a:ext cx="5596128" cy="1097280"/>
          </a:xfrm>
          <a:prstGeom prst="roundRect">
            <a:avLst>
              <a:gd name="adj" fmla="val 6667"/>
            </a:avLst>
          </a:prstGeom>
          <a:solidFill>
            <a:srgbClr val="FFFDFB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743200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A5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344168" y="2743200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FFT 在测什么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0080" y="3145536"/>
            <a:ext cx="5257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66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 bin 试一种旋转速度，对齐才出主峰。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254496" y="2578608"/>
            <a:ext cx="5596128" cy="1097280"/>
          </a:xfrm>
          <a:prstGeom prst="roundRect">
            <a:avLst>
              <a:gd name="adj" fmla="val 6667"/>
            </a:avLst>
          </a:prstGeom>
          <a:solidFill>
            <a:srgbClr val="FFFDFB"/>
          </a:solidFill>
          <a:ln/>
        </p:spPr>
      </p:sp>
      <p:sp>
        <p:nvSpPr>
          <p:cNvPr id="18" name="Text 16"/>
          <p:cNvSpPr/>
          <p:nvPr/>
        </p:nvSpPr>
        <p:spPr>
          <a:xfrm>
            <a:off x="6419088" y="2743200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A5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7123176" y="2743200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统一公式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419088" y="3145536"/>
            <a:ext cx="5257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66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uₚ = q·N/(L·s)。L = N/s 时 q 就是坐标。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75488" y="3785616"/>
            <a:ext cx="5596128" cy="1097280"/>
          </a:xfrm>
          <a:prstGeom prst="roundRect">
            <a:avLst>
              <a:gd name="adj" fmla="val 6667"/>
            </a:avLst>
          </a:prstGeom>
          <a:solidFill>
            <a:srgbClr val="FFFDFB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3950208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A5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344168" y="3950208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代码与形状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40080" y="4352544"/>
            <a:ext cx="5257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66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频率轴在 axis=0，分块与低内存并不等价。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254496" y="3785616"/>
            <a:ext cx="5596128" cy="1097280"/>
          </a:xfrm>
          <a:prstGeom prst="roundRect">
            <a:avLst>
              <a:gd name="adj" fmla="val 6667"/>
            </a:avLst>
          </a:prstGeom>
          <a:solidFill>
            <a:srgbClr val="FFFDFB"/>
          </a:solidFill>
          <a:ln/>
        </p:spPr>
      </p:sp>
      <p:sp>
        <p:nvSpPr>
          <p:cNvPr id="26" name="Text 24"/>
          <p:cNvSpPr/>
          <p:nvPr/>
        </p:nvSpPr>
        <p:spPr>
          <a:xfrm>
            <a:off x="6419088" y="3950208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A5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7123176" y="3950208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后处理与排查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419088" y="4352544"/>
            <a:ext cx="5257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66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多峰、极线、亚像素，以及台阶状点云怎么查。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75488" y="4992624"/>
            <a:ext cx="5596128" cy="1097280"/>
          </a:xfrm>
          <a:prstGeom prst="roundRect">
            <a:avLst>
              <a:gd name="adj" fmla="val 6667"/>
            </a:avLst>
          </a:prstGeom>
          <a:solidFill>
            <a:srgbClr val="FFFDFB"/>
          </a:solidFill>
          <a:ln/>
        </p:spPr>
      </p:sp>
      <p:sp>
        <p:nvSpPr>
          <p:cNvPr id="30" name="Text 28"/>
          <p:cNvSpPr/>
          <p:nvPr/>
        </p:nvSpPr>
        <p:spPr>
          <a:xfrm>
            <a:off x="640080" y="5157216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A5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1344168" y="5157216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进入三维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40080" y="5559552"/>
            <a:ext cx="5257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66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两条射线求交；坐标系和标定行号不能看错。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6254496" y="4992624"/>
            <a:ext cx="5596128" cy="1097280"/>
          </a:xfrm>
          <a:prstGeom prst="roundRect">
            <a:avLst>
              <a:gd name="adj" fmla="val 6667"/>
            </a:avLst>
          </a:prstGeom>
          <a:solidFill>
            <a:srgbClr val="FFFDFB"/>
          </a:solidFill>
          <a:ln/>
        </p:spPr>
      </p:sp>
      <p:sp>
        <p:nvSpPr>
          <p:cNvPr id="34" name="Text 32"/>
          <p:cNvSpPr/>
          <p:nvPr/>
        </p:nvSpPr>
        <p:spPr>
          <a:xfrm>
            <a:off x="6419088" y="5157216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A5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7123176" y="5157216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实测收口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419088" y="5559552"/>
            <a:ext cx="5257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66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博客单次运行：频谱、坐标图、275 万顶点。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475488" y="6510528"/>
            <a:ext cx="11228832" cy="9144"/>
          </a:xfrm>
          <a:prstGeom prst="rect">
            <a:avLst/>
          </a:prstGeom>
          <a:solidFill>
            <a:srgbClr val="E4DDD3"/>
          </a:solidFill>
          <a:ln/>
        </p:spPr>
      </p:sp>
      <p:sp>
        <p:nvSpPr>
          <p:cNvPr id="38" name="Text 36"/>
          <p:cNvSpPr/>
          <p:nvPr/>
        </p:nvSpPr>
        <p:spPr>
          <a:xfrm>
            <a:off x="475488" y="6547104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66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肖顺康   ·   机器视觉 · 三维成像算法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8503920" y="6547104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 /   50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256032"/>
            <a:ext cx="11155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9A5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READ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493776"/>
            <a:ext cx="11155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这份讲义怎么用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75488" y="1170432"/>
            <a:ext cx="11228832" cy="1115568"/>
          </a:xfrm>
          <a:prstGeom prst="roundRect">
            <a:avLst>
              <a:gd name="adj" fmla="val 6557"/>
            </a:avLst>
          </a:prstGeom>
          <a:solidFill>
            <a:srgbClr val="FFFDFB"/>
          </a:solidFill>
          <a:ln/>
        </p:spPr>
      </p:sp>
      <p:sp>
        <p:nvSpPr>
          <p:cNvPr id="5" name="Text 3"/>
          <p:cNvSpPr/>
          <p:nvPr/>
        </p:nvSpPr>
        <p:spPr>
          <a:xfrm>
            <a:off x="676656" y="1499616"/>
            <a:ext cx="1280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4E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主线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103120" y="1389888"/>
            <a:ext cx="93268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C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解码只建立相机像素 ↔ 投影仪像素。没有 (xₚ, yₚ)，投影仪那条射线就不存在。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75488" y="2404872"/>
            <a:ext cx="11228832" cy="1115568"/>
          </a:xfrm>
          <a:prstGeom prst="roundRect">
            <a:avLst>
              <a:gd name="adj" fmla="val 6557"/>
            </a:avLst>
          </a:prstGeom>
          <a:solidFill>
            <a:srgbClr val="FFFDFB"/>
          </a:solidFill>
          <a:ln/>
        </p:spPr>
      </p:sp>
      <p:sp>
        <p:nvSpPr>
          <p:cNvPr id="8" name="Text 6"/>
          <p:cNvSpPr/>
          <p:nvPr/>
        </p:nvSpPr>
        <p:spPr>
          <a:xfrm>
            <a:off x="676656" y="2734056"/>
            <a:ext cx="1280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4E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103120" y="2624328"/>
            <a:ext cx="93268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C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原理详解、统一公式和仓库代码合成。代码现状以 FSM_decode_core.py、FSM_reconstruct_core.py 为准。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75488" y="3639312"/>
            <a:ext cx="11228832" cy="1115568"/>
          </a:xfrm>
          <a:prstGeom prst="roundRect">
            <a:avLst>
              <a:gd name="adj" fmla="val 6557"/>
            </a:avLst>
          </a:prstGeom>
          <a:solidFill>
            <a:srgbClr val="FFFDFB"/>
          </a:solidFill>
          <a:ln/>
        </p:spPr>
      </p:sp>
      <p:sp>
        <p:nvSpPr>
          <p:cNvPr id="11" name="Text 9"/>
          <p:cNvSpPr/>
          <p:nvPr/>
        </p:nvSpPr>
        <p:spPr>
          <a:xfrm>
            <a:off x="676656" y="3968496"/>
            <a:ext cx="1280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4E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边界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103120" y="3858768"/>
            <a:ext cx="93268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C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99.98%、275 万顶点、0.031 px 都是该次标定或该次运行，不写成系统通用精度。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75488" y="502920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E66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结果图来自博客《FSM 频移结构光：从频率响应到投影坐标与三维点云》。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75488" y="6510528"/>
            <a:ext cx="11228832" cy="9144"/>
          </a:xfrm>
          <a:prstGeom prst="rect">
            <a:avLst/>
          </a:prstGeom>
          <a:solidFill>
            <a:srgbClr val="E4DDD3"/>
          </a:solidFill>
          <a:ln/>
        </p:spPr>
      </p:sp>
      <p:sp>
        <p:nvSpPr>
          <p:cNvPr id="15" name="Text 13"/>
          <p:cNvSpPr/>
          <p:nvPr/>
        </p:nvSpPr>
        <p:spPr>
          <a:xfrm>
            <a:off x="475488" y="6547104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66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肖顺康   ·   机器视觉 · 三维成像算法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503920" y="6547104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 /   50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23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4A46A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1874520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60" kern="0" dirty="0">
                <a:solidFill>
                  <a:srgbClr val="C4A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 01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58368" y="2267712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7F4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问题：为什么必须解码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58368" y="3063240"/>
            <a:ext cx="9692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4DDD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相机只记下灰度。三角化还需要第二条射线，它由投影仪像素决定。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75488" y="6510528"/>
            <a:ext cx="11228832" cy="9144"/>
          </a:xfrm>
          <a:prstGeom prst="rect">
            <a:avLst/>
          </a:prstGeom>
          <a:solidFill>
            <a:srgbClr val="3A4454"/>
          </a:solidFill>
          <a:ln/>
        </p:spPr>
      </p:sp>
      <p:sp>
        <p:nvSpPr>
          <p:cNvPr id="7" name="Text 5"/>
          <p:cNvSpPr/>
          <p:nvPr/>
        </p:nvSpPr>
        <p:spPr>
          <a:xfrm>
            <a:off x="475488" y="6547104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5D0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肖顺康   ·   机器视觉 · 三维成像算法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503920" y="6547104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 /   50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256032"/>
            <a:ext cx="11155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9A5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  ·    问题背景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493776"/>
            <a:ext cx="11155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结构光为什么需要解码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75488" y="950976"/>
            <a:ext cx="11155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E66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投影仪投出已知条纹，相机看到的是被表面调制后的灰度。调制过程丢掉了坐标标签。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75488" y="1389888"/>
            <a:ext cx="2761488" cy="1965960"/>
          </a:xfrm>
          <a:prstGeom prst="roundRect">
            <a:avLst>
              <a:gd name="adj" fmla="val 3721"/>
            </a:avLst>
          </a:prstGeom>
          <a:solidFill>
            <a:srgbClr val="FFFDFB"/>
          </a:solidFill>
          <a:ln/>
        </p:spPr>
      </p:sp>
      <p:sp>
        <p:nvSpPr>
          <p:cNvPr id="6" name="Text 4"/>
          <p:cNvSpPr/>
          <p:nvPr/>
        </p:nvSpPr>
        <p:spPr>
          <a:xfrm>
            <a:off x="621792" y="1517904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A5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21792" y="1883664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投影仪投条纹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21792" y="228600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66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频率和相位已知，坐标还在投影仪上。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364992" y="1389888"/>
            <a:ext cx="2761488" cy="1965960"/>
          </a:xfrm>
          <a:prstGeom prst="roundRect">
            <a:avLst>
              <a:gd name="adj" fmla="val 3721"/>
            </a:avLst>
          </a:prstGeom>
          <a:solidFill>
            <a:srgbClr val="FFFDFB"/>
          </a:solidFill>
          <a:ln/>
        </p:spPr>
      </p:sp>
      <p:sp>
        <p:nvSpPr>
          <p:cNvPr id="10" name="Text 8"/>
          <p:cNvSpPr/>
          <p:nvPr/>
        </p:nvSpPr>
        <p:spPr>
          <a:xfrm>
            <a:off x="3511296" y="1517904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A5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511296" y="1883664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表面调制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511296" y="228600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66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反射率、环境光、互反射改写灰度。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254496" y="1389888"/>
            <a:ext cx="2761488" cy="1965960"/>
          </a:xfrm>
          <a:prstGeom prst="roundRect">
            <a:avLst>
              <a:gd name="adj" fmla="val 3721"/>
            </a:avLst>
          </a:prstGeom>
          <a:solidFill>
            <a:srgbClr val="FFFDFB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0" y="1517904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A5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400800" y="1883664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相机只记亮度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00800" y="228600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66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像素里没有“来自哪一个投影仪像素”。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9144000" y="1389888"/>
            <a:ext cx="2761488" cy="1965960"/>
          </a:xfrm>
          <a:prstGeom prst="roundRect">
            <a:avLst>
              <a:gd name="adj" fmla="val 3721"/>
            </a:avLst>
          </a:prstGeom>
          <a:solidFill>
            <a:srgbClr val="FFFDFB"/>
          </a:solidFill>
          <a:ln/>
        </p:spPr>
      </p:sp>
      <p:sp>
        <p:nvSpPr>
          <p:cNvPr id="18" name="Text 16"/>
          <p:cNvSpPr/>
          <p:nvPr/>
        </p:nvSpPr>
        <p:spPr>
          <a:xfrm>
            <a:off x="9290304" y="1517904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A5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9290304" y="1883664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主动编码再解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290304" y="228600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66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FSM 把坐标写进相位随频率的旋转。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75488" y="3529584"/>
            <a:ext cx="11228832" cy="2651760"/>
          </a:xfrm>
          <a:prstGeom prst="roundRect">
            <a:avLst>
              <a:gd name="adj" fmla="val 2759"/>
            </a:avLst>
          </a:prstGeom>
          <a:solidFill>
            <a:srgbClr val="E7EEF2"/>
          </a:solidFill>
          <a:ln/>
        </p:spPr>
      </p:sp>
      <p:sp>
        <p:nvSpPr>
          <p:cNvPr id="22" name="Text 20"/>
          <p:cNvSpPr/>
          <p:nvPr/>
        </p:nvSpPr>
        <p:spPr>
          <a:xfrm>
            <a:off x="676656" y="3694176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4E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在链路中的位置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76656" y="4078224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C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要重建空间点，必须有两条视线：相机光线穿过 (x_c, y_c)，投影仪光线穿过 (xₚ, yₚ)。FSM 只负责把灰度反解成投影仪坐标，三角化才把它变成三维点。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76656" y="493776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C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所以它是几何之前的对应关系环节，不是点云算法本身。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475488" y="6510528"/>
            <a:ext cx="11228832" cy="9144"/>
          </a:xfrm>
          <a:prstGeom prst="rect">
            <a:avLst/>
          </a:prstGeom>
          <a:solidFill>
            <a:srgbClr val="E4DDD3"/>
          </a:solidFill>
          <a:ln/>
        </p:spPr>
      </p:sp>
      <p:sp>
        <p:nvSpPr>
          <p:cNvPr id="26" name="Text 24"/>
          <p:cNvSpPr/>
          <p:nvPr/>
        </p:nvSpPr>
        <p:spPr>
          <a:xfrm>
            <a:off x="475488" y="6547104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66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肖顺康   ·   机器视觉 · 三维成像算法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503920" y="6547104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 /   50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256032"/>
            <a:ext cx="11155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9A5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  ·    两个方向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493776"/>
            <a:ext cx="11155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每个方向只恢复一个坐标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75488" y="950976"/>
            <a:ext cx="11155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E66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条纹延伸方向决定灰度沿投影仪的哪根轴变化。两个方向合起来才是完整对应。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75488" y="1371600"/>
            <a:ext cx="5623560" cy="3520440"/>
          </a:xfrm>
          <a:prstGeom prst="roundRect">
            <a:avLst>
              <a:gd name="adj" fmla="val 2078"/>
            </a:avLst>
          </a:prstGeom>
          <a:solidFill>
            <a:srgbClr val="FFFDFB"/>
          </a:solidFill>
          <a:ln/>
        </p:spPr>
      </p:sp>
      <p:sp>
        <p:nvSpPr>
          <p:cNvPr id="6" name="Text 4"/>
          <p:cNvSpPr/>
          <p:nvPr/>
        </p:nvSpPr>
        <p:spPr>
          <a:xfrm>
            <a:off x="694944" y="1536192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水平条纹  hor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94944" y="20116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E66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目录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167128" y="20116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C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FSM_horizontal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94944" y="25146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E66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灰度沿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167128" y="25146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C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投影仪行方向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94944" y="30175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E66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解出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167128" y="30175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C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yₚ  行坐标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94944" y="35204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E66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167128" y="35204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C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disp_hor.npy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94944" y="40233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E66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167128" y="40233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C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高度 1080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327648" y="1371600"/>
            <a:ext cx="5623560" cy="3520440"/>
          </a:xfrm>
          <a:prstGeom prst="roundRect">
            <a:avLst>
              <a:gd name="adj" fmla="val 2078"/>
            </a:avLst>
          </a:prstGeom>
          <a:solidFill>
            <a:srgbClr val="FFFDFB"/>
          </a:solidFill>
          <a:ln/>
        </p:spPr>
      </p:sp>
      <p:sp>
        <p:nvSpPr>
          <p:cNvPr id="18" name="Text 16"/>
          <p:cNvSpPr/>
          <p:nvPr/>
        </p:nvSpPr>
        <p:spPr>
          <a:xfrm>
            <a:off x="6547104" y="1536192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垂直条纹  ver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547104" y="20116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E66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目录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019288" y="20116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C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FSM_vertical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547104" y="25146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E66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灰度沿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019288" y="25146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C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投影仪列方向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547104" y="30175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E66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解出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019288" y="30175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C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xₚ  列坐标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547104" y="35204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E66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8019288" y="35204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C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disp_ver.npy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547104" y="40233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E66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8019288" y="40233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C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宽度 1920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475488" y="5047488"/>
            <a:ext cx="11228832" cy="1170432"/>
          </a:xfrm>
          <a:prstGeom prst="roundRect">
            <a:avLst>
              <a:gd name="adj" fmla="val 6250"/>
            </a:avLst>
          </a:prstGeom>
          <a:solidFill>
            <a:srgbClr val="F6EBE4"/>
          </a:solidFill>
          <a:ln/>
        </p:spPr>
      </p:sp>
      <p:sp>
        <p:nvSpPr>
          <p:cNvPr id="30" name="Text 28"/>
          <p:cNvSpPr/>
          <p:nvPr/>
        </p:nvSpPr>
        <p:spPr>
          <a:xfrm>
            <a:off x="676656" y="5248656"/>
            <a:ext cx="10835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C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还会输出 peak_hor / peak_ver 作为置信度。极线校正要同时有行候选和列候选，所以 DECODE_DIRECTION 必须是 both。代码：hor 取 proj_height，ver 取 proj_width。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475488" y="6510528"/>
            <a:ext cx="11228832" cy="9144"/>
          </a:xfrm>
          <a:prstGeom prst="rect">
            <a:avLst/>
          </a:prstGeom>
          <a:solidFill>
            <a:srgbClr val="E4DDD3"/>
          </a:solidFill>
          <a:ln/>
        </p:spPr>
      </p:sp>
      <p:sp>
        <p:nvSpPr>
          <p:cNvPr id="32" name="Text 30"/>
          <p:cNvSpPr/>
          <p:nvPr/>
        </p:nvSpPr>
        <p:spPr>
          <a:xfrm>
            <a:off x="475488" y="6547104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66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肖顺康   ·   机器视觉 · 三维成像算法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8503920" y="6547104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 /   50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256032"/>
            <a:ext cx="11155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9A5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  ·    单张图为什么不够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493776"/>
            <a:ext cx="11155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同一灰度会重复出现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75488" y="950976"/>
            <a:ext cx="11155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E66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正弦条纹在空间上是周期的。一张图只给出“此处多亮”，给不出“来自投影仪何处”。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75488" y="1389888"/>
            <a:ext cx="5623560" cy="1417320"/>
          </a:xfrm>
          <a:prstGeom prst="roundRect">
            <a:avLst>
              <a:gd name="adj" fmla="val 5161"/>
            </a:avLst>
          </a:prstGeom>
          <a:solidFill>
            <a:srgbClr val="FFFDFB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1591056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A5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89888" y="1591056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周期性多义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58368" y="2048256"/>
            <a:ext cx="5212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E66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一个周期内同一亮度出现两次，不同周期还会重复。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327648" y="1389888"/>
            <a:ext cx="5623560" cy="1417320"/>
          </a:xfrm>
          <a:prstGeom prst="roundRect">
            <a:avLst>
              <a:gd name="adj" fmla="val 5161"/>
            </a:avLst>
          </a:prstGeom>
          <a:solidFill>
            <a:srgbClr val="FFFDFB"/>
          </a:solidFill>
          <a:ln/>
        </p:spPr>
      </p:sp>
      <p:sp>
        <p:nvSpPr>
          <p:cNvPr id="10" name="Text 8"/>
          <p:cNvSpPr/>
          <p:nvPr/>
        </p:nvSpPr>
        <p:spPr>
          <a:xfrm>
            <a:off x="6510528" y="1591056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A5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242048" y="1591056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环境光与暗电流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510528" y="2048256"/>
            <a:ext cx="5212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E66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近似直流的 B 抬高整幅灰度，绝对亮度不可靠。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75488" y="2944368"/>
            <a:ext cx="5623560" cy="1417320"/>
          </a:xfrm>
          <a:prstGeom prst="roundRect">
            <a:avLst>
              <a:gd name="adj" fmla="val 5161"/>
            </a:avLst>
          </a:prstGeom>
          <a:solidFill>
            <a:srgbClr val="FFFDFB"/>
          </a:solidFill>
          <a:ln/>
        </p:spPr>
      </p:sp>
      <p:sp>
        <p:nvSpPr>
          <p:cNvPr id="14" name="Text 12"/>
          <p:cNvSpPr/>
          <p:nvPr/>
        </p:nvSpPr>
        <p:spPr>
          <a:xfrm>
            <a:off x="658368" y="3145536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A5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389888" y="3145536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颜色与反射率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58368" y="3602736"/>
            <a:ext cx="5212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E66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 逐点不同，只改变对比度，不提供坐标。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327648" y="2944368"/>
            <a:ext cx="5623560" cy="1417320"/>
          </a:xfrm>
          <a:prstGeom prst="roundRect">
            <a:avLst>
              <a:gd name="adj" fmla="val 5161"/>
            </a:avLst>
          </a:prstGeom>
          <a:solidFill>
            <a:srgbClr val="FFFDFB"/>
          </a:solidFill>
          <a:ln/>
        </p:spPr>
      </p:sp>
      <p:sp>
        <p:nvSpPr>
          <p:cNvPr id="18" name="Text 16"/>
          <p:cNvSpPr/>
          <p:nvPr/>
        </p:nvSpPr>
        <p:spPr>
          <a:xfrm>
            <a:off x="6510528" y="3145536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A5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242048" y="3145536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曝光与噪声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510528" y="3602736"/>
            <a:ext cx="5212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E66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读出噪声会削弱主峰，让次峰更容易被选中。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75488" y="4663440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C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所以必须用一组序列：四步相移消直流 B，多频率消周期多义。这就是后面两层设计的原因。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475488" y="6510528"/>
            <a:ext cx="11228832" cy="9144"/>
          </a:xfrm>
          <a:prstGeom prst="rect">
            <a:avLst/>
          </a:prstGeom>
          <a:solidFill>
            <a:srgbClr val="E4DDD3"/>
          </a:solidFill>
          <a:ln/>
        </p:spPr>
      </p:sp>
      <p:sp>
        <p:nvSpPr>
          <p:cNvPr id="23" name="Text 21"/>
          <p:cNvSpPr/>
          <p:nvPr/>
        </p:nvSpPr>
        <p:spPr>
          <a:xfrm>
            <a:off x="475488" y="6547104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66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肖顺康   ·   机器视觉 · 三维成像算法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503920" y="6547104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 /   50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256032"/>
            <a:ext cx="11155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9A5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  ·    两层序列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493776"/>
            <a:ext cx="11155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外层频率，内层四步相移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75488" y="1115568"/>
            <a:ext cx="5623560" cy="3383280"/>
          </a:xfrm>
          <a:prstGeom prst="roundRect">
            <a:avLst>
              <a:gd name="adj" fmla="val 2162"/>
            </a:avLst>
          </a:prstGeom>
          <a:solidFill>
            <a:srgbClr val="FFFDFB"/>
          </a:solidFill>
          <a:ln/>
        </p:spPr>
      </p:sp>
      <p:sp>
        <p:nvSpPr>
          <p:cNvPr id="5" name="Text 3"/>
          <p:cNvSpPr/>
          <p:nvPr/>
        </p:nvSpPr>
        <p:spPr>
          <a:xfrm>
            <a:off x="676656" y="1280160"/>
            <a:ext cx="5212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外层  ·  频率序列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76656" y="1700784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A5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= 0 … M−1，f_k = s·k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76656" y="2121408"/>
            <a:ext cx="5212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C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 D[k] 的相位随 k 线性增长，斜率正比于投影仪坐标。产出是每个像素一条频率轴复信号。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76656" y="3154680"/>
            <a:ext cx="5212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E66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 = 1.0 时 M = 151，每方向 604 张。s = 0.5 时 M = 301，每方向 1204 张。M 越大，主峰越尖。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63640" y="1115568"/>
            <a:ext cx="5440680" cy="3383280"/>
          </a:xfrm>
          <a:prstGeom prst="roundRect">
            <a:avLst>
              <a:gd name="adj" fmla="val 2162"/>
            </a:avLst>
          </a:prstGeom>
          <a:solidFill>
            <a:srgbClr val="E7EEF2"/>
          </a:solidFill>
          <a:ln/>
        </p:spPr>
      </p:sp>
      <p:sp>
        <p:nvSpPr>
          <p:cNvPr id="10" name="Text 8"/>
          <p:cNvSpPr/>
          <p:nvPr/>
        </p:nvSpPr>
        <p:spPr>
          <a:xfrm>
            <a:off x="6464808" y="1280160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内层  ·  四步相移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64808" y="1700784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4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0° / 90° / 180° / 270°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464808" y="2121408"/>
            <a:ext cx="5029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C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相差 180° 的差分消掉 B，把实数灰度变成携带相位的复数。两步只有余弦，四步才同时有实部和虚部。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464808" y="329184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E66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四次采集之间物体、相机、投影仪都不动，B 与 R 才能当成常数。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75488" y="4663440"/>
            <a:ext cx="11228832" cy="1536192"/>
          </a:xfrm>
          <a:prstGeom prst="roundRect">
            <a:avLst>
              <a:gd name="adj" fmla="val 4762"/>
            </a:avLst>
          </a:prstGeom>
          <a:solidFill>
            <a:srgbClr val="F3EFE8"/>
          </a:solidFill>
          <a:ln/>
        </p:spPr>
      </p:sp>
      <p:sp>
        <p:nvSpPr>
          <p:cNvPr id="15" name="Text 13"/>
          <p:cNvSpPr/>
          <p:nvPr/>
        </p:nvSpPr>
        <p:spPr>
          <a:xfrm>
            <a:off x="676656" y="4864608"/>
            <a:ext cx="10835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C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图像按频率优先命名：0–3 是 f0 的四步，4–7 是 f1。解码只需 I0 = images[0::4]。顺序错了，四路切片会把不同频率混在一起，峰值整体失效，所以要开 VERIFY_SEQUENCE。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475488" y="6510528"/>
            <a:ext cx="11228832" cy="9144"/>
          </a:xfrm>
          <a:prstGeom prst="rect">
            <a:avLst/>
          </a:prstGeom>
          <a:solidFill>
            <a:srgbClr val="E4DDD3"/>
          </a:solidFill>
          <a:ln/>
        </p:spPr>
      </p:sp>
      <p:sp>
        <p:nvSpPr>
          <p:cNvPr id="17" name="Text 15"/>
          <p:cNvSpPr/>
          <p:nvPr/>
        </p:nvSpPr>
        <p:spPr>
          <a:xfrm>
            <a:off x="475488" y="6547104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66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肖顺康   ·   机器视觉 · 三维成像算法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503920" y="6547104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 /   50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23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4A46A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1874520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60" kern="0" dirty="0">
                <a:solidFill>
                  <a:srgbClr val="C4A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 02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58368" y="2267712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7F4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四步相移，以及“旋转”指什么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58368" y="3063240"/>
            <a:ext cx="9692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4DDD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差分消掉直流。剩下的相位随频率编号转动，转动的快慢才是坐标。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75488" y="6510528"/>
            <a:ext cx="11228832" cy="9144"/>
          </a:xfrm>
          <a:prstGeom prst="rect">
            <a:avLst/>
          </a:prstGeom>
          <a:solidFill>
            <a:srgbClr val="3A4454"/>
          </a:solidFill>
          <a:ln/>
        </p:spPr>
      </p:sp>
      <p:sp>
        <p:nvSpPr>
          <p:cNvPr id="7" name="Text 5"/>
          <p:cNvSpPr/>
          <p:nvPr/>
        </p:nvSpPr>
        <p:spPr>
          <a:xfrm>
            <a:off x="475488" y="6547104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5D0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肖顺康   ·   机器视觉 · 三维成像算法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503920" y="6547104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  /   50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256032"/>
            <a:ext cx="11155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9A5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  ·    图像组织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493776"/>
            <a:ext cx="11155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 4 张一组，组内是四步相移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75488" y="1115568"/>
            <a:ext cx="2761488" cy="1691640"/>
          </a:xfrm>
          <a:prstGeom prst="roundRect">
            <a:avLst>
              <a:gd name="adj" fmla="val 4324"/>
            </a:avLst>
          </a:prstGeom>
          <a:solidFill>
            <a:srgbClr val="FFFDFB"/>
          </a:solidFill>
          <a:ln/>
        </p:spPr>
      </p:sp>
      <p:sp>
        <p:nvSpPr>
          <p:cNvPr id="5" name="Text 3"/>
          <p:cNvSpPr/>
          <p:nvPr/>
        </p:nvSpPr>
        <p:spPr>
          <a:xfrm>
            <a:off x="475488" y="1243584"/>
            <a:ext cx="2761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9A5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0–3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75488" y="1664208"/>
            <a:ext cx="27614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f₀ = 0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85216" y="2066544"/>
            <a:ext cx="2542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E66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0° / 90° / 180° / 270°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364992" y="1115568"/>
            <a:ext cx="2761488" cy="1691640"/>
          </a:xfrm>
          <a:prstGeom prst="roundRect">
            <a:avLst>
              <a:gd name="adj" fmla="val 4324"/>
            </a:avLst>
          </a:prstGeom>
          <a:solidFill>
            <a:srgbClr val="FFFDFB"/>
          </a:solidFill>
          <a:ln/>
        </p:spPr>
      </p:sp>
      <p:sp>
        <p:nvSpPr>
          <p:cNvPr id="9" name="Text 7"/>
          <p:cNvSpPr/>
          <p:nvPr/>
        </p:nvSpPr>
        <p:spPr>
          <a:xfrm>
            <a:off x="3364992" y="1243584"/>
            <a:ext cx="2761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9A5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4–7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364992" y="1664208"/>
            <a:ext cx="27614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f₁ = 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474720" y="2066544"/>
            <a:ext cx="2542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E66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同样四步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254496" y="1115568"/>
            <a:ext cx="2761488" cy="1691640"/>
          </a:xfrm>
          <a:prstGeom prst="roundRect">
            <a:avLst>
              <a:gd name="adj" fmla="val 4324"/>
            </a:avLst>
          </a:prstGeom>
          <a:solidFill>
            <a:srgbClr val="FFFDFB"/>
          </a:solidFill>
          <a:ln/>
        </p:spPr>
      </p:sp>
      <p:sp>
        <p:nvSpPr>
          <p:cNvPr id="13" name="Text 11"/>
          <p:cNvSpPr/>
          <p:nvPr/>
        </p:nvSpPr>
        <p:spPr>
          <a:xfrm>
            <a:off x="6254496" y="1243584"/>
            <a:ext cx="2761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9A5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8–11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254496" y="1664208"/>
            <a:ext cx="27614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f₂ = 2s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364224" y="2066544"/>
            <a:ext cx="2542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E66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同样四步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9144000" y="1115568"/>
            <a:ext cx="2761488" cy="1691640"/>
          </a:xfrm>
          <a:prstGeom prst="roundRect">
            <a:avLst>
              <a:gd name="adj" fmla="val 4324"/>
            </a:avLst>
          </a:prstGeom>
          <a:solidFill>
            <a:srgbClr val="FFFDFB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0" y="1243584"/>
            <a:ext cx="2761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9A5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4k …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9144000" y="1664208"/>
            <a:ext cx="27614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f_k = s·k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253728" y="2066544"/>
            <a:ext cx="2542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E66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频率优先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75488" y="2980944"/>
            <a:ext cx="11228832" cy="1965960"/>
          </a:xfrm>
          <a:prstGeom prst="roundRect">
            <a:avLst>
              <a:gd name="adj" fmla="val 3721"/>
            </a:avLst>
          </a:prstGeom>
          <a:solidFill>
            <a:srgbClr val="F3EFE8"/>
          </a:solidFill>
          <a:ln/>
        </p:spPr>
      </p:sp>
      <p:sp>
        <p:nvSpPr>
          <p:cNvPr id="21" name="Text 19"/>
          <p:cNvSpPr/>
          <p:nvPr/>
        </p:nvSpPr>
        <p:spPr>
          <a:xfrm>
            <a:off x="676656" y="3163824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I0 = images[0::4]    I1 = images[1::4]    I2 = images[2::4]    I3 = images[3::4]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76656" y="370332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E66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切片后每路形状是 (M, Hc, Wc)，axis = 0 已经是频率。总张数 = M × 4。不需要排序表，前提是命名没有错位。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75488" y="5138928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C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灰度相机只记录亮度。坐标不在单张灰度里，而在四张图差分之后的相位里。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475488" y="6510528"/>
            <a:ext cx="11228832" cy="9144"/>
          </a:xfrm>
          <a:prstGeom prst="rect">
            <a:avLst/>
          </a:prstGeom>
          <a:solidFill>
            <a:srgbClr val="E4DDD3"/>
          </a:solidFill>
          <a:ln/>
        </p:spPr>
      </p:sp>
      <p:sp>
        <p:nvSpPr>
          <p:cNvPr id="25" name="Text 23"/>
          <p:cNvSpPr/>
          <p:nvPr/>
        </p:nvSpPr>
        <p:spPr>
          <a:xfrm>
            <a:off x="475488" y="6547104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66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肖顺康   ·   机器视觉 · 三维成像算法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503920" y="6547104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  /   50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256032"/>
            <a:ext cx="11155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9A5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  ·    四步相移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493776"/>
            <a:ext cx="11155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四个已知相位，两两相差 180°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75488" y="1097280"/>
            <a:ext cx="2761488" cy="1874520"/>
          </a:xfrm>
          <a:prstGeom prst="roundRect">
            <a:avLst>
              <a:gd name="adj" fmla="val 3902"/>
            </a:avLst>
          </a:prstGeom>
          <a:solidFill>
            <a:srgbClr val="FFFDFB"/>
          </a:solidFill>
          <a:ln/>
        </p:spPr>
      </p:sp>
      <p:sp>
        <p:nvSpPr>
          <p:cNvPr id="5" name="Text 3"/>
          <p:cNvSpPr/>
          <p:nvPr/>
        </p:nvSpPr>
        <p:spPr>
          <a:xfrm>
            <a:off x="475488" y="1207008"/>
            <a:ext cx="27614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9A5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0°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591056"/>
            <a:ext cx="2615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+ R·cos θ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66928" y="2048256"/>
            <a:ext cx="25786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E66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I0   与 180° 相减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364992" y="1097280"/>
            <a:ext cx="2761488" cy="1874520"/>
          </a:xfrm>
          <a:prstGeom prst="roundRect">
            <a:avLst>
              <a:gd name="adj" fmla="val 3902"/>
            </a:avLst>
          </a:prstGeom>
          <a:solidFill>
            <a:srgbClr val="FFFDFB"/>
          </a:solidFill>
          <a:ln/>
        </p:spPr>
      </p:sp>
      <p:sp>
        <p:nvSpPr>
          <p:cNvPr id="9" name="Text 7"/>
          <p:cNvSpPr/>
          <p:nvPr/>
        </p:nvSpPr>
        <p:spPr>
          <a:xfrm>
            <a:off x="3364992" y="1207008"/>
            <a:ext cx="27614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9A5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90°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438144" y="1591056"/>
            <a:ext cx="2615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+ R·sin θ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456432" y="2048256"/>
            <a:ext cx="25786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E66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I1   与 270° 相减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254496" y="1097280"/>
            <a:ext cx="2761488" cy="1874520"/>
          </a:xfrm>
          <a:prstGeom prst="roundRect">
            <a:avLst>
              <a:gd name="adj" fmla="val 3902"/>
            </a:avLst>
          </a:prstGeom>
          <a:solidFill>
            <a:srgbClr val="FFFDFB"/>
          </a:solidFill>
          <a:ln/>
        </p:spPr>
      </p:sp>
      <p:sp>
        <p:nvSpPr>
          <p:cNvPr id="13" name="Text 11"/>
          <p:cNvSpPr/>
          <p:nvPr/>
        </p:nvSpPr>
        <p:spPr>
          <a:xfrm>
            <a:off x="6254496" y="1207008"/>
            <a:ext cx="27614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9A5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180°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327648" y="1591056"/>
            <a:ext cx="2615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− R·cos θ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345936" y="2048256"/>
            <a:ext cx="25786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E66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I2   与 0° 相减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9144000" y="1097280"/>
            <a:ext cx="2761488" cy="1874520"/>
          </a:xfrm>
          <a:prstGeom prst="roundRect">
            <a:avLst>
              <a:gd name="adj" fmla="val 3902"/>
            </a:avLst>
          </a:prstGeom>
          <a:solidFill>
            <a:srgbClr val="FFFDFB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0" y="1207008"/>
            <a:ext cx="27614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9A5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270°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9217152" y="1591056"/>
            <a:ext cx="2615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− R·sin θ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235440" y="2048256"/>
            <a:ext cx="25786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E66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I3   与 90° 相减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75488" y="3145536"/>
            <a:ext cx="11228832" cy="1325880"/>
          </a:xfrm>
          <a:prstGeom prst="roundRect">
            <a:avLst>
              <a:gd name="adj" fmla="val 5517"/>
            </a:avLst>
          </a:prstGeom>
          <a:solidFill>
            <a:srgbClr val="1A2330"/>
          </a:solidFill>
          <a:ln/>
        </p:spPr>
      </p:sp>
      <p:sp>
        <p:nvSpPr>
          <p:cNvPr id="21" name="Text 19"/>
          <p:cNvSpPr/>
          <p:nvPr/>
        </p:nvSpPr>
        <p:spPr>
          <a:xfrm>
            <a:off x="676656" y="329184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7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 = I0 − I2 ≈ 2R·cos θ      Ds = I3 − I1 ≈ 2R·sin θ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76656" y="3730752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4A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= Dc + j·Ds ≈ 2R · exp(j θ)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475488" y="466344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4E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为什么不是两步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75488" y="4992624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两步只能拿到余弦，分不出正弦，复平面上的方向不完整。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315968" y="466344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4E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为什么采集时不能动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315968" y="4992624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 和 R 在四张图里必须是同一常数，相减才消得干净。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156448" y="466344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4E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符号约定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8156448" y="4992624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正弦余弦的正方向只影响 θ 的符号。解码看的是 |C| 峰值，不依赖这个符号。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75488" y="6510528"/>
            <a:ext cx="11228832" cy="9144"/>
          </a:xfrm>
          <a:prstGeom prst="rect">
            <a:avLst/>
          </a:prstGeom>
          <a:solidFill>
            <a:srgbClr val="E4DDD3"/>
          </a:solidFill>
          <a:ln/>
        </p:spPr>
      </p:sp>
      <p:sp>
        <p:nvSpPr>
          <p:cNvPr id="30" name="Text 28"/>
          <p:cNvSpPr/>
          <p:nvPr/>
        </p:nvSpPr>
        <p:spPr>
          <a:xfrm>
            <a:off x="475488" y="6547104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66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肖顺康   ·   机器视觉 · 三维成像算法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8503920" y="6547104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  /   50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256032"/>
            <a:ext cx="11155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9A5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  ·    差分推导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493776"/>
            <a:ext cx="11155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直流项 B 是怎么消掉的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75488" y="1115568"/>
            <a:ext cx="3675888" cy="2880360"/>
          </a:xfrm>
          <a:prstGeom prst="roundRect">
            <a:avLst>
              <a:gd name="adj" fmla="val 2540"/>
            </a:avLst>
          </a:prstGeom>
          <a:solidFill>
            <a:srgbClr val="FFFDFB"/>
          </a:solidFill>
          <a:ln/>
        </p:spPr>
      </p:sp>
      <p:sp>
        <p:nvSpPr>
          <p:cNvPr id="5" name="Text 3"/>
          <p:cNvSpPr/>
          <p:nvPr/>
        </p:nvSpPr>
        <p:spPr>
          <a:xfrm>
            <a:off x="658368" y="1280160"/>
            <a:ext cx="3310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理想灰度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58368" y="1783080"/>
            <a:ext cx="331012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C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I0 = B + R·cos θ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C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I2 = B − R·cos θ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C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I1 = B − R·sin θ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C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I3 = B + R·sin θ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315968" y="1115568"/>
            <a:ext cx="3675888" cy="2880360"/>
          </a:xfrm>
          <a:prstGeom prst="roundRect">
            <a:avLst>
              <a:gd name="adj" fmla="val 2540"/>
            </a:avLst>
          </a:prstGeom>
          <a:solidFill>
            <a:srgbClr val="FFFDFB"/>
          </a:solidFill>
          <a:ln/>
        </p:spPr>
      </p:sp>
      <p:sp>
        <p:nvSpPr>
          <p:cNvPr id="8" name="Text 6"/>
          <p:cNvSpPr/>
          <p:nvPr/>
        </p:nvSpPr>
        <p:spPr>
          <a:xfrm>
            <a:off x="4498848" y="1280160"/>
            <a:ext cx="3310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相差 180° 相减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498848" y="1783080"/>
            <a:ext cx="331012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C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Dc = I0 − I2 = 2R·cos θ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C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Ds = I3 − I1 = 2R·sin θ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C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 在两项里相同，相减后为 0。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156448" y="1115568"/>
            <a:ext cx="3675888" cy="2880360"/>
          </a:xfrm>
          <a:prstGeom prst="roundRect">
            <a:avLst>
              <a:gd name="adj" fmla="val 2540"/>
            </a:avLst>
          </a:prstGeom>
          <a:solidFill>
            <a:srgbClr val="FFFDFB"/>
          </a:solidFill>
          <a:ln/>
        </p:spPr>
      </p:sp>
      <p:sp>
        <p:nvSpPr>
          <p:cNvPr id="11" name="Text 9"/>
          <p:cNvSpPr/>
          <p:nvPr/>
        </p:nvSpPr>
        <p:spPr>
          <a:xfrm>
            <a:off x="8339328" y="1280160"/>
            <a:ext cx="3310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合成复数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339328" y="1783080"/>
            <a:ext cx="331012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C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 = Dc + j·Ds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C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= 2R·(cos θ + j·sin θ)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C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= 2R·exp(j θ)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75488" y="4169664"/>
            <a:ext cx="11228832" cy="2011680"/>
          </a:xfrm>
          <a:prstGeom prst="roundRect">
            <a:avLst>
              <a:gd name="adj" fmla="val 3636"/>
            </a:avLst>
          </a:prstGeom>
          <a:solidFill>
            <a:srgbClr val="F6EBE4"/>
          </a:solidFill>
          <a:ln/>
        </p:spPr>
      </p:sp>
      <p:sp>
        <p:nvSpPr>
          <p:cNvPr id="14" name="Text 12"/>
          <p:cNvSpPr/>
          <p:nvPr/>
        </p:nvSpPr>
        <p:spPr>
          <a:xfrm>
            <a:off x="676656" y="431596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A5A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三件直接结论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76656" y="4700016"/>
            <a:ext cx="10789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C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 被完全消去，这是四步相对单张图的核心优势。幅值 2R 只反映反射强度，解码不看它。真正携带投影仪坐标的是相位 θ。后面所有推导都建立在这条相位上。代码就是 Dc = I0 − I2，Ds = I3 − I1。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475488" y="6510528"/>
            <a:ext cx="11228832" cy="9144"/>
          </a:xfrm>
          <a:prstGeom prst="rect">
            <a:avLst/>
          </a:prstGeom>
          <a:solidFill>
            <a:srgbClr val="E4DDD3"/>
          </a:solidFill>
          <a:ln/>
        </p:spPr>
      </p:sp>
      <p:sp>
        <p:nvSpPr>
          <p:cNvPr id="17" name="Text 15"/>
          <p:cNvSpPr/>
          <p:nvPr/>
        </p:nvSpPr>
        <p:spPr>
          <a:xfrm>
            <a:off x="475488" y="6547104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66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肖顺康   ·   机器视觉 · 三维成像算法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503920" y="6547104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  /   50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256032"/>
            <a:ext cx="11155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9A5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  ·    旋转是什么意思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493776"/>
            <a:ext cx="11155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 是复平面上的一支箭头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75488" y="950976"/>
            <a:ext cx="11155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E66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长度是幅值，方向是相位。这里的旋转，指箭头随频率编号 k 转动，不是物体或图像在转。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75488" y="1389888"/>
            <a:ext cx="3931920" cy="3246120"/>
          </a:xfrm>
          <a:prstGeom prst="roundRect">
            <a:avLst>
              <a:gd name="adj" fmla="val 2254"/>
            </a:avLst>
          </a:prstGeom>
          <a:solidFill>
            <a:srgbClr val="E7EEF2"/>
          </a:solidFill>
          <a:ln/>
        </p:spPr>
      </p:sp>
      <p:sp>
        <p:nvSpPr>
          <p:cNvPr id="6" name="Text 4"/>
          <p:cNvSpPr/>
          <p:nvPr/>
        </p:nvSpPr>
        <p:spPr>
          <a:xfrm>
            <a:off x="676656" y="155448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4E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复平面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76656" y="1965960"/>
            <a:ext cx="3474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C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  →  Dc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C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Im  →  Ds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C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箭头长度  |D| = 2R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C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箭头方向  θ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76656" y="370332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= |D| · exp(j θ)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90288" y="1389888"/>
            <a:ext cx="7114032" cy="1005840"/>
          </a:xfrm>
          <a:prstGeom prst="roundRect">
            <a:avLst>
              <a:gd name="adj" fmla="val 7273"/>
            </a:avLst>
          </a:prstGeom>
          <a:solidFill>
            <a:srgbClr val="FFFDFB"/>
          </a:solidFill>
          <a:ln/>
        </p:spPr>
      </p:sp>
      <p:sp>
        <p:nvSpPr>
          <p:cNvPr id="10" name="Text 8"/>
          <p:cNvSpPr/>
          <p:nvPr/>
        </p:nvSpPr>
        <p:spPr>
          <a:xfrm>
            <a:off x="4773168" y="1536192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A5A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幅值不含坐标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773168" y="1847088"/>
            <a:ext cx="6766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C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|D| 只随反射率变。解码不看长度。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90288" y="2505456"/>
            <a:ext cx="7114032" cy="1005840"/>
          </a:xfrm>
          <a:prstGeom prst="roundRect">
            <a:avLst>
              <a:gd name="adj" fmla="val 7273"/>
            </a:avLst>
          </a:prstGeom>
          <a:solidFill>
            <a:srgbClr val="FFFDFB"/>
          </a:solidFill>
          <a:ln/>
        </p:spPr>
      </p:sp>
      <p:sp>
        <p:nvSpPr>
          <p:cNvPr id="13" name="Text 11"/>
          <p:cNvSpPr/>
          <p:nvPr/>
        </p:nvSpPr>
        <p:spPr>
          <a:xfrm>
            <a:off x="4773168" y="2651760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A5A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相位才是载体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773168" y="2962656"/>
            <a:ext cx="6766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C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θ 被条纹写进去，并随 k 递增。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90288" y="3621024"/>
            <a:ext cx="7114032" cy="1005840"/>
          </a:xfrm>
          <a:prstGeom prst="roundRect">
            <a:avLst>
              <a:gd name="adj" fmla="val 7273"/>
            </a:avLst>
          </a:prstGeom>
          <a:solidFill>
            <a:srgbClr val="FFFDFB"/>
          </a:solidFill>
          <a:ln/>
        </p:spPr>
      </p:sp>
      <p:sp>
        <p:nvSpPr>
          <p:cNvPr id="16" name="Text 14"/>
          <p:cNvSpPr/>
          <p:nvPr/>
        </p:nvSpPr>
        <p:spPr>
          <a:xfrm>
            <a:off x="4773168" y="3767328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A5A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旋转速度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773168" y="4078224"/>
            <a:ext cx="6766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C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Δθ = θ[k+1] − θ[k] = 2π·s·uₚ / N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590288" y="4736592"/>
            <a:ext cx="7114032" cy="1005840"/>
          </a:xfrm>
          <a:prstGeom prst="roundRect">
            <a:avLst>
              <a:gd name="adj" fmla="val 7273"/>
            </a:avLst>
          </a:prstGeom>
          <a:solidFill>
            <a:srgbClr val="FFFDFB"/>
          </a:solidFill>
          <a:ln/>
        </p:spPr>
      </p:sp>
      <p:sp>
        <p:nvSpPr>
          <p:cNvPr id="19" name="Text 17"/>
          <p:cNvSpPr/>
          <p:nvPr/>
        </p:nvSpPr>
        <p:spPr>
          <a:xfrm>
            <a:off x="4773168" y="4882896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A5A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和谁有关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773168" y="5193792"/>
            <a:ext cx="6766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C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每个相机像素的旋转速度，由它真正对应的那个投影仪坐标决定。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75488" y="6510528"/>
            <a:ext cx="11228832" cy="9144"/>
          </a:xfrm>
          <a:prstGeom prst="rect">
            <a:avLst/>
          </a:prstGeom>
          <a:solidFill>
            <a:srgbClr val="E4DDD3"/>
          </a:solidFill>
          <a:ln/>
        </p:spPr>
      </p:sp>
      <p:sp>
        <p:nvSpPr>
          <p:cNvPr id="22" name="Text 20"/>
          <p:cNvSpPr/>
          <p:nvPr/>
        </p:nvSpPr>
        <p:spPr>
          <a:xfrm>
            <a:off x="475488" y="6547104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66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肖顺康   ·   机器视觉 · 三维成像算法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503920" y="6547104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  /   50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6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256032"/>
            <a:ext cx="11155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9A5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  ·    旋转速度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493776"/>
            <a:ext cx="11155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转得越快，投影仪坐标越大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75488" y="950976"/>
            <a:ext cx="11155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E66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固定一个相机像素，把各频率的 D[k] 看成一串箭头。相邻箭头偏转多少，就是 Δθ。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75488" y="1389888"/>
            <a:ext cx="3675888" cy="2148840"/>
          </a:xfrm>
          <a:prstGeom prst="roundRect">
            <a:avLst>
              <a:gd name="adj" fmla="val 3404"/>
            </a:avLst>
          </a:prstGeom>
          <a:solidFill>
            <a:srgbClr val="FFFDFB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1554480"/>
            <a:ext cx="33101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慢旋转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58368" y="1956816"/>
            <a:ext cx="33101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A5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uₚ 小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58368" y="2377440"/>
            <a:ext cx="33101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E66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相邻频率相位增量小，箭头几乎不转向。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315968" y="1389888"/>
            <a:ext cx="3675888" cy="2148840"/>
          </a:xfrm>
          <a:prstGeom prst="roundRect">
            <a:avLst>
              <a:gd name="adj" fmla="val 3404"/>
            </a:avLst>
          </a:prstGeom>
          <a:solidFill>
            <a:srgbClr val="FFFDFB"/>
          </a:solidFill>
          <a:ln/>
        </p:spPr>
      </p:sp>
      <p:sp>
        <p:nvSpPr>
          <p:cNvPr id="10" name="Text 8"/>
          <p:cNvSpPr/>
          <p:nvPr/>
        </p:nvSpPr>
        <p:spPr>
          <a:xfrm>
            <a:off x="4498848" y="1554480"/>
            <a:ext cx="33101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中速旋转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498848" y="1956816"/>
            <a:ext cx="33101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A5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uₚ 居中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498848" y="2377440"/>
            <a:ext cx="33101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E66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 个箭头沿圆弧均匀铺开。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156448" y="1389888"/>
            <a:ext cx="3675888" cy="2148840"/>
          </a:xfrm>
          <a:prstGeom prst="roundRect">
            <a:avLst>
              <a:gd name="adj" fmla="val 3404"/>
            </a:avLst>
          </a:prstGeom>
          <a:solidFill>
            <a:srgbClr val="F6EBE4"/>
          </a:solidFill>
          <a:ln/>
        </p:spPr>
      </p:sp>
      <p:sp>
        <p:nvSpPr>
          <p:cNvPr id="14" name="Text 12"/>
          <p:cNvSpPr/>
          <p:nvPr/>
        </p:nvSpPr>
        <p:spPr>
          <a:xfrm>
            <a:off x="8339328" y="1554480"/>
            <a:ext cx="33101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快旋转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339328" y="1956816"/>
            <a:ext cx="33101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A5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uₚ 大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339328" y="2377440"/>
            <a:ext cx="33101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E66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相位增量大。α 超过 1/2 时还会周期折叠。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75488" y="3730752"/>
            <a:ext cx="11228832" cy="2450592"/>
          </a:xfrm>
          <a:prstGeom prst="roundRect">
            <a:avLst>
              <a:gd name="adj" fmla="val 2985"/>
            </a:avLst>
          </a:prstGeom>
          <a:solidFill>
            <a:srgbClr val="1A2330"/>
          </a:solidFill>
          <a:ln/>
        </p:spPr>
      </p:sp>
      <p:sp>
        <p:nvSpPr>
          <p:cNvPr id="18" name="Text 16"/>
          <p:cNvSpPr/>
          <p:nvPr/>
        </p:nvSpPr>
        <p:spPr>
          <a:xfrm>
            <a:off x="676656" y="3895344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4A4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同一件事的两种写法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76656" y="429768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7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D[k] = A · exp( j · 2π · α · k )     α = s · uₚ / N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76656" y="480060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4DDD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FFT 用 β_q = q / L 反向旋转。α = β_q 时残余为 0，M 项同向，|C| 达到最大。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76656" y="530352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4DDD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所以解码不是在一张图里找条纹位置，而是测量这串箭头转得有多快。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475488" y="6510528"/>
            <a:ext cx="11228832" cy="9144"/>
          </a:xfrm>
          <a:prstGeom prst="rect">
            <a:avLst/>
          </a:prstGeom>
          <a:solidFill>
            <a:srgbClr val="E4DDD3"/>
          </a:solidFill>
          <a:ln/>
        </p:spPr>
      </p:sp>
      <p:sp>
        <p:nvSpPr>
          <p:cNvPr id="23" name="Text 21"/>
          <p:cNvSpPr/>
          <p:nvPr/>
        </p:nvSpPr>
        <p:spPr>
          <a:xfrm>
            <a:off x="475488" y="6547104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66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肖顺康   ·   机器视觉 · 三维成像算法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503920" y="6547104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  /   50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6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256032"/>
            <a:ext cx="11155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9A5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  ·    物理模型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493776"/>
            <a:ext cx="11155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从投影正弦到相机灰度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75488" y="1097280"/>
            <a:ext cx="11228832" cy="1554480"/>
          </a:xfrm>
          <a:prstGeom prst="roundRect">
            <a:avLst>
              <a:gd name="adj" fmla="val 4706"/>
            </a:avLst>
          </a:prstGeom>
          <a:solidFill>
            <a:srgbClr val="E7EEF2"/>
          </a:solidFill>
          <a:ln/>
        </p:spPr>
      </p:sp>
      <p:sp>
        <p:nvSpPr>
          <p:cNvPr id="5" name="Text 3"/>
          <p:cNvSpPr/>
          <p:nvPr/>
        </p:nvSpPr>
        <p:spPr>
          <a:xfrm>
            <a:off x="676656" y="1261872"/>
            <a:ext cx="10789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I_proj = A · sin(2π · f_k · u + φ)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76656" y="1682496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4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I_cam = B + R·A · sin(2π · f_k · uₚ + φ)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76656" y="2139696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E66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 是投影仪上的连续位置。uₚ 是该相机像素对应的那个位置，也是解码目标。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75488" y="2852928"/>
            <a:ext cx="3675888" cy="1463040"/>
          </a:xfrm>
          <a:prstGeom prst="roundRect">
            <a:avLst>
              <a:gd name="adj" fmla="val 5000"/>
            </a:avLst>
          </a:prstGeom>
          <a:solidFill>
            <a:srgbClr val="FFFDFB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999232"/>
            <a:ext cx="33467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A5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" y="3364992"/>
            <a:ext cx="33467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条纹振幅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0080" y="3730752"/>
            <a:ext cx="33467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66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投影系统常量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315968" y="2852928"/>
            <a:ext cx="3675888" cy="1463040"/>
          </a:xfrm>
          <a:prstGeom prst="roundRect">
            <a:avLst>
              <a:gd name="adj" fmla="val 5000"/>
            </a:avLst>
          </a:prstGeom>
          <a:solidFill>
            <a:srgbClr val="FFFDFB"/>
          </a:solidFill>
          <a:ln/>
        </p:spPr>
      </p:sp>
      <p:sp>
        <p:nvSpPr>
          <p:cNvPr id="13" name="Text 11"/>
          <p:cNvSpPr/>
          <p:nvPr/>
        </p:nvSpPr>
        <p:spPr>
          <a:xfrm>
            <a:off x="4480560" y="2999232"/>
            <a:ext cx="33467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A5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f_k = s·k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480560" y="3364992"/>
            <a:ext cx="33467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k 个频率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480560" y="3730752"/>
            <a:ext cx="33467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66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决定旋转速度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156448" y="2852928"/>
            <a:ext cx="3675888" cy="1463040"/>
          </a:xfrm>
          <a:prstGeom prst="roundRect">
            <a:avLst>
              <a:gd name="adj" fmla="val 5000"/>
            </a:avLst>
          </a:prstGeom>
          <a:solidFill>
            <a:srgbClr val="FFFDFB"/>
          </a:solidFill>
          <a:ln/>
        </p:spPr>
      </p:sp>
      <p:sp>
        <p:nvSpPr>
          <p:cNvPr id="17" name="Text 15"/>
          <p:cNvSpPr/>
          <p:nvPr/>
        </p:nvSpPr>
        <p:spPr>
          <a:xfrm>
            <a:off x="8321040" y="2999232"/>
            <a:ext cx="33467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A5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uₚ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321040" y="3364992"/>
            <a:ext cx="33467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投影仪坐标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321040" y="3730752"/>
            <a:ext cx="33467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66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待解目标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75488" y="4453128"/>
            <a:ext cx="3675888" cy="1463040"/>
          </a:xfrm>
          <a:prstGeom prst="roundRect">
            <a:avLst>
              <a:gd name="adj" fmla="val 5000"/>
            </a:avLst>
          </a:prstGeom>
          <a:solidFill>
            <a:srgbClr val="FFFDFB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4599432"/>
            <a:ext cx="33467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A5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40080" y="4965192"/>
            <a:ext cx="33467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环境光 + 暗电流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40080" y="5330952"/>
            <a:ext cx="33467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66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四步差分消去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315968" y="4453128"/>
            <a:ext cx="3675888" cy="1463040"/>
          </a:xfrm>
          <a:prstGeom prst="roundRect">
            <a:avLst>
              <a:gd name="adj" fmla="val 5000"/>
            </a:avLst>
          </a:prstGeom>
          <a:solidFill>
            <a:srgbClr val="FFFDFB"/>
          </a:solidFill>
          <a:ln/>
        </p:spPr>
      </p:sp>
      <p:sp>
        <p:nvSpPr>
          <p:cNvPr id="25" name="Text 23"/>
          <p:cNvSpPr/>
          <p:nvPr/>
        </p:nvSpPr>
        <p:spPr>
          <a:xfrm>
            <a:off x="4480560" y="4599432"/>
            <a:ext cx="33467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A5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4480560" y="4965192"/>
            <a:ext cx="33467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表面反射率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4480560" y="5330952"/>
            <a:ext cx="33467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66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只影响幅值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8156448" y="4453128"/>
            <a:ext cx="3675888" cy="1463040"/>
          </a:xfrm>
          <a:prstGeom prst="roundRect">
            <a:avLst>
              <a:gd name="adj" fmla="val 5000"/>
            </a:avLst>
          </a:prstGeom>
          <a:solidFill>
            <a:srgbClr val="FFFDFB"/>
          </a:solidFill>
          <a:ln/>
        </p:spPr>
      </p:sp>
      <p:sp>
        <p:nvSpPr>
          <p:cNvPr id="29" name="Text 27"/>
          <p:cNvSpPr/>
          <p:nvPr/>
        </p:nvSpPr>
        <p:spPr>
          <a:xfrm>
            <a:off x="8321040" y="4599432"/>
            <a:ext cx="33467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A5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8321040" y="4965192"/>
            <a:ext cx="33467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该方向分辨率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8321040" y="5330952"/>
            <a:ext cx="33467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66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相位公式分母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475488" y="6510528"/>
            <a:ext cx="11228832" cy="9144"/>
          </a:xfrm>
          <a:prstGeom prst="rect">
            <a:avLst/>
          </a:prstGeom>
          <a:solidFill>
            <a:srgbClr val="E4DDD3"/>
          </a:solidFill>
          <a:ln/>
        </p:spPr>
      </p:sp>
      <p:sp>
        <p:nvSpPr>
          <p:cNvPr id="33" name="Text 31"/>
          <p:cNvSpPr/>
          <p:nvPr/>
        </p:nvSpPr>
        <p:spPr>
          <a:xfrm>
            <a:off x="475488" y="6547104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66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肖顺康   ·   机器视觉 · 三维成像算法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8503920" y="6547104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  /   50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A23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4A46A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1874520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60" kern="0" dirty="0">
                <a:solidFill>
                  <a:srgbClr val="C4A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 03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58368" y="2267712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7F4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FFT 在测试哪一种旋转速度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58368" y="3063240"/>
            <a:ext cx="9692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4DDD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 bin 反向转一次。转回来还能对齐的那个 bin，就是投影仪坐标。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75488" y="6510528"/>
            <a:ext cx="11228832" cy="9144"/>
          </a:xfrm>
          <a:prstGeom prst="rect">
            <a:avLst/>
          </a:prstGeom>
          <a:solidFill>
            <a:srgbClr val="3A4454"/>
          </a:solidFill>
          <a:ln/>
        </p:spPr>
      </p:sp>
      <p:sp>
        <p:nvSpPr>
          <p:cNvPr id="7" name="Text 5"/>
          <p:cNvSpPr/>
          <p:nvPr/>
        </p:nvSpPr>
        <p:spPr>
          <a:xfrm>
            <a:off x="475488" y="6547104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5D0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肖顺康   ·   机器视觉 · 三维成像算法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503920" y="6547104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  /   50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6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256032"/>
            <a:ext cx="11155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9A5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  ·    频率轴信号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493776"/>
            <a:ext cx="11155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固定像素，抽出一条复信号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75488" y="1115568"/>
            <a:ext cx="6766560" cy="3200400"/>
          </a:xfrm>
          <a:prstGeom prst="roundRect">
            <a:avLst>
              <a:gd name="adj" fmla="val 2286"/>
            </a:avLst>
          </a:prstGeom>
          <a:solidFill>
            <a:srgbClr val="FFFDFB"/>
          </a:solidFill>
          <a:ln/>
        </p:spPr>
      </p:sp>
      <p:sp>
        <p:nvSpPr>
          <p:cNvPr id="5" name="Text 3"/>
          <p:cNvSpPr/>
          <p:nvPr/>
        </p:nvSpPr>
        <p:spPr>
          <a:xfrm>
            <a:off x="676656" y="1298448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= D[:, y, x]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76656" y="1810512"/>
            <a:ext cx="6309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C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长度 M 的一维复序列。下标 k 对应频率 f_k = s·k，不是图像的行或列。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76656" y="2514600"/>
            <a:ext cx="6309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E66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整幅图有 Hc × Wc 条独立信号。解码就是对它们做同样的 FFT。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76656" y="3200400"/>
            <a:ext cx="6309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C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 的形状是 (M, Hc, Wc)。axis = 0 是频率轴。把它当成图像高度，后面全部会错。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424928" y="1115568"/>
            <a:ext cx="4279392" cy="3200400"/>
          </a:xfrm>
          <a:prstGeom prst="roundRect">
            <a:avLst>
              <a:gd name="adj" fmla="val 2286"/>
            </a:avLst>
          </a:prstGeom>
          <a:solidFill>
            <a:srgbClr val="F6EBE4"/>
          </a:solidFill>
          <a:ln/>
        </p:spPr>
      </p:sp>
      <p:sp>
        <p:nvSpPr>
          <p:cNvPr id="10" name="Text 8"/>
          <p:cNvSpPr/>
          <p:nvPr/>
        </p:nvSpPr>
        <p:spPr>
          <a:xfrm>
            <a:off x="7607808" y="1298448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A5A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编码公式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607808" y="1737360"/>
            <a:ext cx="3886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D[k] ≈ A · exp( j · 2π · s · k · uₚ / N )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607808" y="3017520"/>
            <a:ext cx="3886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C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分母是 N，不是采集频率数 M。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75488" y="4498848"/>
            <a:ext cx="3675888" cy="1691640"/>
          </a:xfrm>
          <a:prstGeom prst="roundRect">
            <a:avLst>
              <a:gd name="adj" fmla="val 4324"/>
            </a:avLst>
          </a:prstGeom>
          <a:solidFill>
            <a:srgbClr val="FFFDFB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4645152"/>
            <a:ext cx="33467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4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Δθ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40080" y="5047488"/>
            <a:ext cx="33467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C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相邻频率增量 = 2π·s·uₚ / N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315968" y="4498848"/>
            <a:ext cx="3675888" cy="1691640"/>
          </a:xfrm>
          <a:prstGeom prst="roundRect">
            <a:avLst>
              <a:gd name="adj" fmla="val 4324"/>
            </a:avLst>
          </a:prstGeom>
          <a:solidFill>
            <a:srgbClr val="FFFDFB"/>
          </a:solidFill>
          <a:ln/>
        </p:spPr>
      </p:sp>
      <p:sp>
        <p:nvSpPr>
          <p:cNvPr id="17" name="Text 15"/>
          <p:cNvSpPr/>
          <p:nvPr/>
        </p:nvSpPr>
        <p:spPr>
          <a:xfrm>
            <a:off x="4480560" y="4645152"/>
            <a:ext cx="33467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4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480560" y="5047488"/>
            <a:ext cx="33467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C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真实观测数，决定峰尖不尖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8156448" y="4498848"/>
            <a:ext cx="3675888" cy="1691640"/>
          </a:xfrm>
          <a:prstGeom prst="roundRect">
            <a:avLst>
              <a:gd name="adj" fmla="val 4324"/>
            </a:avLst>
          </a:prstGeom>
          <a:solidFill>
            <a:srgbClr val="FFFDFB"/>
          </a:solidFill>
          <a:ln/>
        </p:spPr>
      </p:sp>
      <p:sp>
        <p:nvSpPr>
          <p:cNvPr id="20" name="Text 18"/>
          <p:cNvSpPr/>
          <p:nvPr/>
        </p:nvSpPr>
        <p:spPr>
          <a:xfrm>
            <a:off x="8321040" y="4645152"/>
            <a:ext cx="33467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4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8321040" y="5047488"/>
            <a:ext cx="33467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C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投影仪分辨率，与 M 无关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75488" y="6510528"/>
            <a:ext cx="11228832" cy="9144"/>
          </a:xfrm>
          <a:prstGeom prst="rect">
            <a:avLst/>
          </a:prstGeom>
          <a:solidFill>
            <a:srgbClr val="E4DDD3"/>
          </a:solidFill>
          <a:ln/>
        </p:spPr>
      </p:sp>
      <p:sp>
        <p:nvSpPr>
          <p:cNvPr id="23" name="Text 21"/>
          <p:cNvSpPr/>
          <p:nvPr/>
        </p:nvSpPr>
        <p:spPr>
          <a:xfrm>
            <a:off x="475488" y="6547104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66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肖顺康   ·   机器视觉 · 三维成像算法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503920" y="6547104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  /   50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6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256032"/>
            <a:ext cx="11155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9A5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  ·    分母为什么是 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493776"/>
            <a:ext cx="11155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 是坐标周期，M 只是采样点数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75488" y="1115568"/>
            <a:ext cx="5623560" cy="3063240"/>
          </a:xfrm>
          <a:prstGeom prst="roundRect">
            <a:avLst>
              <a:gd name="adj" fmla="val 2388"/>
            </a:avLst>
          </a:prstGeom>
          <a:solidFill>
            <a:srgbClr val="FFFDFB"/>
          </a:solidFill>
          <a:ln/>
        </p:spPr>
      </p:sp>
      <p:sp>
        <p:nvSpPr>
          <p:cNvPr id="5" name="Text 3"/>
          <p:cNvSpPr/>
          <p:nvPr/>
        </p:nvSpPr>
        <p:spPr>
          <a:xfrm>
            <a:off x="676656" y="1298448"/>
            <a:ext cx="5212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投影仪坐标轴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76656" y="1783080"/>
            <a:ext cx="5212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C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0, 1, 2, …, N−1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C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一共 N 个物理位置。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C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hor 的 N = 1080，ver 的 N = 1920。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76656" y="329184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A5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相位 θ[k] = 2π · s · k · uₚ / N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263640" y="1115568"/>
            <a:ext cx="5440680" cy="3063240"/>
          </a:xfrm>
          <a:prstGeom prst="roundRect">
            <a:avLst>
              <a:gd name="adj" fmla="val 2388"/>
            </a:avLst>
          </a:prstGeom>
          <a:solidFill>
            <a:srgbClr val="F3EFE8"/>
          </a:solidFill>
          <a:ln/>
        </p:spPr>
      </p:sp>
      <p:sp>
        <p:nvSpPr>
          <p:cNvPr id="9" name="Text 7"/>
          <p:cNvSpPr/>
          <p:nvPr/>
        </p:nvSpPr>
        <p:spPr>
          <a:xfrm>
            <a:off x="6464808" y="1298448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频率样本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64808" y="1783080"/>
            <a:ext cx="5029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C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 = 0 … M−1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C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只有 M 个真实观测。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C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标准 151，半步 301。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64808" y="320040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E66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 决定测到了多少，不决定坐标归一化周期。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75488" y="4352544"/>
            <a:ext cx="11228832" cy="1828800"/>
          </a:xfrm>
          <a:prstGeom prst="roundRect">
            <a:avLst>
              <a:gd name="adj" fmla="val 4000"/>
            </a:avLst>
          </a:prstGeom>
          <a:solidFill>
            <a:srgbClr val="F6EBE4"/>
          </a:solidFill>
          <a:ln/>
        </p:spPr>
      </p:sp>
      <p:sp>
        <p:nvSpPr>
          <p:cNvPr id="13" name="Text 11"/>
          <p:cNvSpPr/>
          <p:nvPr/>
        </p:nvSpPr>
        <p:spPr>
          <a:xfrm>
            <a:off x="676656" y="4517136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A5A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最容易写错的一处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76656" y="4901184"/>
            <a:ext cx="10789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C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把分母写成 M，等于把投影仪坐标错当成 M 周期坐标。可以定义压缩坐标 u′ = M·s·uₚ / N，那时 q ≈ u′，但 u′ 已经不是投影仪像素。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75488" y="6510528"/>
            <a:ext cx="11228832" cy="9144"/>
          </a:xfrm>
          <a:prstGeom prst="rect">
            <a:avLst/>
          </a:prstGeom>
          <a:solidFill>
            <a:srgbClr val="E4DDD3"/>
          </a:solidFill>
          <a:ln/>
        </p:spPr>
      </p:sp>
      <p:sp>
        <p:nvSpPr>
          <p:cNvPr id="16" name="Text 14"/>
          <p:cNvSpPr/>
          <p:nvPr/>
        </p:nvSpPr>
        <p:spPr>
          <a:xfrm>
            <a:off x="475488" y="6547104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66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肖顺康   ·   机器视觉 · 三维成像算法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503920" y="6547104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  /   50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6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256032"/>
            <a:ext cx="11155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9A5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  ·    FFT 在做什么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493776"/>
            <a:ext cx="11155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 bin 反向转一次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75488" y="1097280"/>
            <a:ext cx="11228832" cy="1234440"/>
          </a:xfrm>
          <a:prstGeom prst="roundRect">
            <a:avLst>
              <a:gd name="adj" fmla="val 5926"/>
            </a:avLst>
          </a:prstGeom>
          <a:solidFill>
            <a:srgbClr val="F3EFE8"/>
          </a:solidFill>
          <a:ln/>
        </p:spPr>
      </p:sp>
      <p:sp>
        <p:nvSpPr>
          <p:cNvPr id="5" name="Text 3"/>
          <p:cNvSpPr/>
          <p:nvPr/>
        </p:nvSpPr>
        <p:spPr>
          <a:xfrm>
            <a:off x="676656" y="1243584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C[q] = Σ_k  D[k] · exp( −j · 2π · q · k / L )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76656" y="1700784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E66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exp(−j…) 就是反向旋转。测试的斜率 β_q = q / L。一次 FFT 同时试完全部候选，不需要迭代。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75488" y="2505456"/>
            <a:ext cx="5623560" cy="2331720"/>
          </a:xfrm>
          <a:prstGeom prst="roundRect">
            <a:avLst>
              <a:gd name="adj" fmla="val 3137"/>
            </a:avLst>
          </a:prstGeom>
          <a:solidFill>
            <a:srgbClr val="E7F0EA"/>
          </a:solidFill>
          <a:ln/>
        </p:spPr>
      </p:sp>
      <p:sp>
        <p:nvSpPr>
          <p:cNvPr id="8" name="Text 6"/>
          <p:cNvSpPr/>
          <p:nvPr/>
        </p:nvSpPr>
        <p:spPr>
          <a:xfrm>
            <a:off x="676656" y="2651760"/>
            <a:ext cx="5212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6B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 匹配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76656" y="3090672"/>
            <a:ext cx="5212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C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反向旋转把每个 D[k] 转回同一方向。M 项同相相加，合成箭头最长，形成主峰。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263640" y="2505456"/>
            <a:ext cx="5440680" cy="2331720"/>
          </a:xfrm>
          <a:prstGeom prst="roundRect">
            <a:avLst>
              <a:gd name="adj" fmla="val 3137"/>
            </a:avLst>
          </a:prstGeom>
          <a:solidFill>
            <a:srgbClr val="F6EBE4"/>
          </a:solidFill>
          <a:ln/>
        </p:spPr>
      </p:sp>
      <p:sp>
        <p:nvSpPr>
          <p:cNvPr id="11" name="Text 9"/>
          <p:cNvSpPr/>
          <p:nvPr/>
        </p:nvSpPr>
        <p:spPr>
          <a:xfrm>
            <a:off x="6464808" y="2651760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A5A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 不匹配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64808" y="3090672"/>
            <a:ext cx="5029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C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残余相位 2π·(uₚ−q)·k / N 随 k 增大。箭头铺在圆上，互相抵消，幅值很小。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75488" y="502920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C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一句话：频谱峰值位置 = 投影仪坐标。前提是 FFT 长度和频率步长匹配，否则 q = uₚ 这个 bin 根本不存在。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475488" y="6510528"/>
            <a:ext cx="11228832" cy="9144"/>
          </a:xfrm>
          <a:prstGeom prst="rect">
            <a:avLst/>
          </a:prstGeom>
          <a:solidFill>
            <a:srgbClr val="E4DDD3"/>
          </a:solidFill>
          <a:ln/>
        </p:spPr>
      </p:sp>
      <p:sp>
        <p:nvSpPr>
          <p:cNvPr id="15" name="Text 13"/>
          <p:cNvSpPr/>
          <p:nvPr/>
        </p:nvSpPr>
        <p:spPr>
          <a:xfrm>
            <a:off x="475488" y="6547104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66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肖顺康   ·   机器视觉 · 三维成像算法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503920" y="6547104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  /   50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6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256032"/>
            <a:ext cx="11155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9A5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  ·    为什么对齐就是最大峰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493776"/>
            <a:ext cx="11155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代入之后只剩一个残余相位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75488" y="1097280"/>
            <a:ext cx="11228832" cy="2148840"/>
          </a:xfrm>
          <a:prstGeom prst="roundRect">
            <a:avLst>
              <a:gd name="adj" fmla="val 3404"/>
            </a:avLst>
          </a:prstGeom>
          <a:solidFill>
            <a:srgbClr val="1A2330"/>
          </a:solidFill>
          <a:ln/>
        </p:spPr>
      </p:sp>
      <p:sp>
        <p:nvSpPr>
          <p:cNvPr id="5" name="Text 3"/>
          <p:cNvSpPr/>
          <p:nvPr/>
        </p:nvSpPr>
        <p:spPr>
          <a:xfrm>
            <a:off x="676656" y="12618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4A4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取 L = N、s = 1 的简单情形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76656" y="1627632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7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C[q] = Σ A · exp( j · 2π · k · (uₚ − q) / N )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76656" y="214884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4DDD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 = uₚ 时指数为 1，|C| = M·|A|。q ≠ uₚ 时向量在单位圆上铺开。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75488" y="3438144"/>
            <a:ext cx="3675888" cy="2697480"/>
          </a:xfrm>
          <a:prstGeom prst="roundRect">
            <a:avLst>
              <a:gd name="adj" fmla="val 2712"/>
            </a:avLst>
          </a:prstGeom>
          <a:solidFill>
            <a:srgbClr val="FFFDFB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3602736"/>
            <a:ext cx="33467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同相叠加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" y="4315968"/>
            <a:ext cx="334670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E66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对齐时 M 项相加，不对齐时 M 项相消。所以 M 越大峰越尖、越抗噪。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315968" y="3438144"/>
            <a:ext cx="3675888" cy="2697480"/>
          </a:xfrm>
          <a:prstGeom prst="roundRect">
            <a:avLst>
              <a:gd name="adj" fmla="val 2712"/>
            </a:avLst>
          </a:prstGeom>
          <a:solidFill>
            <a:srgbClr val="FFFDFB"/>
          </a:solidFill>
          <a:ln/>
        </p:spPr>
      </p:sp>
      <p:sp>
        <p:nvSpPr>
          <p:cNvPr id="12" name="Text 10"/>
          <p:cNvSpPr/>
          <p:nvPr/>
        </p:nvSpPr>
        <p:spPr>
          <a:xfrm>
            <a:off x="4480560" y="3602736"/>
            <a:ext cx="33467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整数网格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480560" y="4315968"/>
            <a:ext cx="334670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E66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uₚ 与 q 都是整数时，N 点 FFT 正好含有 q = uₚ，峰值可以取到精确坐标。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156448" y="3438144"/>
            <a:ext cx="3675888" cy="2697480"/>
          </a:xfrm>
          <a:prstGeom prst="roundRect">
            <a:avLst>
              <a:gd name="adj" fmla="val 2712"/>
            </a:avLst>
          </a:prstGeom>
          <a:solidFill>
            <a:srgbClr val="FFFDFB"/>
          </a:solidFill>
          <a:ln/>
        </p:spPr>
      </p:sp>
      <p:sp>
        <p:nvSpPr>
          <p:cNvPr id="15" name="Text 13"/>
          <p:cNvSpPr/>
          <p:nvPr/>
        </p:nvSpPr>
        <p:spPr>
          <a:xfrm>
            <a:off x="8321040" y="3602736"/>
            <a:ext cx="33467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量化阶梯的来源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321040" y="4315968"/>
            <a:ext cx="334670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E66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 与 N 不匹配时，正确 bin 不存在，峰值只能落到最近的格子上。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75488" y="6510528"/>
            <a:ext cx="11228832" cy="9144"/>
          </a:xfrm>
          <a:prstGeom prst="rect">
            <a:avLst/>
          </a:prstGeom>
          <a:solidFill>
            <a:srgbClr val="E4DDD3"/>
          </a:solidFill>
          <a:ln/>
        </p:spPr>
      </p:sp>
      <p:sp>
        <p:nvSpPr>
          <p:cNvPr id="18" name="Text 16"/>
          <p:cNvSpPr/>
          <p:nvPr/>
        </p:nvSpPr>
        <p:spPr>
          <a:xfrm>
            <a:off x="475488" y="6547104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66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肖顺康   ·   机器视觉 · 三维成像算法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503920" y="6547104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  /   50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6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256032"/>
            <a:ext cx="11155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9A5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  ·    单像素流程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493776"/>
            <a:ext cx="11155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四行灰度，一条频谱，一个坐标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75488" y="1097280"/>
            <a:ext cx="1810512" cy="1234440"/>
          </a:xfrm>
          <a:prstGeom prst="roundRect">
            <a:avLst>
              <a:gd name="adj" fmla="val 5926"/>
            </a:avLst>
          </a:prstGeom>
          <a:solidFill>
            <a:srgbClr val="FFFDFB"/>
          </a:solidFill>
          <a:ln/>
        </p:spPr>
      </p:sp>
      <p:sp>
        <p:nvSpPr>
          <p:cNvPr id="5" name="Text 3"/>
          <p:cNvSpPr/>
          <p:nvPr/>
        </p:nvSpPr>
        <p:spPr>
          <a:xfrm>
            <a:off x="475488" y="1170432"/>
            <a:ext cx="1810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5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75488" y="1408176"/>
            <a:ext cx="18105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读四张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75488" y="1773936"/>
            <a:ext cx="18105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E66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I0…I3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414016" y="1097280"/>
            <a:ext cx="1810512" cy="1234440"/>
          </a:xfrm>
          <a:prstGeom prst="roundRect">
            <a:avLst>
              <a:gd name="adj" fmla="val 5926"/>
            </a:avLst>
          </a:prstGeom>
          <a:solidFill>
            <a:srgbClr val="FFFDFB"/>
          </a:solidFill>
          <a:ln/>
        </p:spPr>
      </p:sp>
      <p:sp>
        <p:nvSpPr>
          <p:cNvPr id="9" name="Text 7"/>
          <p:cNvSpPr/>
          <p:nvPr/>
        </p:nvSpPr>
        <p:spPr>
          <a:xfrm>
            <a:off x="2414016" y="1170432"/>
            <a:ext cx="1810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5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414016" y="1408176"/>
            <a:ext cx="18105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差分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414016" y="1773936"/>
            <a:ext cx="18105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E66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Dc / Ds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352544" y="1097280"/>
            <a:ext cx="1810512" cy="1234440"/>
          </a:xfrm>
          <a:prstGeom prst="roundRect">
            <a:avLst>
              <a:gd name="adj" fmla="val 5926"/>
            </a:avLst>
          </a:prstGeom>
          <a:solidFill>
            <a:srgbClr val="FFFDFB"/>
          </a:solidFill>
          <a:ln/>
        </p:spPr>
      </p:sp>
      <p:sp>
        <p:nvSpPr>
          <p:cNvPr id="13" name="Text 11"/>
          <p:cNvSpPr/>
          <p:nvPr/>
        </p:nvSpPr>
        <p:spPr>
          <a:xfrm>
            <a:off x="4352544" y="1170432"/>
            <a:ext cx="1810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5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352544" y="1408176"/>
            <a:ext cx="18105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合成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352544" y="1773936"/>
            <a:ext cx="18105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E66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复数 D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291072" y="1097280"/>
            <a:ext cx="1810512" cy="1234440"/>
          </a:xfrm>
          <a:prstGeom prst="roundRect">
            <a:avLst>
              <a:gd name="adj" fmla="val 5926"/>
            </a:avLst>
          </a:prstGeom>
          <a:solidFill>
            <a:srgbClr val="FFFDFB"/>
          </a:solidFill>
          <a:ln/>
        </p:spPr>
      </p:sp>
      <p:sp>
        <p:nvSpPr>
          <p:cNvPr id="17" name="Text 15"/>
          <p:cNvSpPr/>
          <p:nvPr/>
        </p:nvSpPr>
        <p:spPr>
          <a:xfrm>
            <a:off x="6291072" y="1170432"/>
            <a:ext cx="1810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5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291072" y="1408176"/>
            <a:ext cx="18105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FFT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291072" y="1773936"/>
            <a:ext cx="18105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E66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沿频率轴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229600" y="1097280"/>
            <a:ext cx="1810512" cy="1234440"/>
          </a:xfrm>
          <a:prstGeom prst="roundRect">
            <a:avLst>
              <a:gd name="adj" fmla="val 5926"/>
            </a:avLst>
          </a:prstGeom>
          <a:solidFill>
            <a:srgbClr val="FFFDFB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0" y="1170432"/>
            <a:ext cx="1810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5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229600" y="1408176"/>
            <a:ext cx="18105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取峰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229600" y="1773936"/>
            <a:ext cx="18105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E66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argmax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10168128" y="1097280"/>
            <a:ext cx="1810512" cy="1234440"/>
          </a:xfrm>
          <a:prstGeom prst="roundRect">
            <a:avLst>
              <a:gd name="adj" fmla="val 5926"/>
            </a:avLst>
          </a:prstGeom>
          <a:solidFill>
            <a:srgbClr val="FFFDFB"/>
          </a:solidFill>
          <a:ln/>
        </p:spPr>
      </p:sp>
      <p:sp>
        <p:nvSpPr>
          <p:cNvPr id="25" name="Text 23"/>
          <p:cNvSpPr/>
          <p:nvPr/>
        </p:nvSpPr>
        <p:spPr>
          <a:xfrm>
            <a:off x="10168128" y="1170432"/>
            <a:ext cx="1810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5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0168128" y="1408176"/>
            <a:ext cx="18105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换算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0168128" y="1773936"/>
            <a:ext cx="18105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E66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× coord_scale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75488" y="2505456"/>
            <a:ext cx="6858000" cy="3611880"/>
          </a:xfrm>
          <a:prstGeom prst="roundRect">
            <a:avLst>
              <a:gd name="adj" fmla="val 2025"/>
            </a:avLst>
          </a:prstGeom>
          <a:solidFill>
            <a:srgbClr val="F3EFE8"/>
          </a:solidFill>
          <a:ln/>
        </p:spPr>
      </p:sp>
      <p:sp>
        <p:nvSpPr>
          <p:cNvPr id="29" name="Text 27"/>
          <p:cNvSpPr/>
          <p:nvPr/>
        </p:nvSpPr>
        <p:spPr>
          <a:xfrm>
            <a:off x="676656" y="2688336"/>
            <a:ext cx="644652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signal.append((I0−I2) + 1j·(I3−I1))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= fft(signal, n=fft_length)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 = abs(C)[:valid_length]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= argmax(mag)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 = q * coord_scale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= mag[q] / fft_length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7498080" y="2505456"/>
            <a:ext cx="4206240" cy="3611880"/>
          </a:xfrm>
          <a:prstGeom prst="roundRect">
            <a:avLst>
              <a:gd name="adj" fmla="val 2025"/>
            </a:avLst>
          </a:prstGeom>
          <a:solidFill>
            <a:srgbClr val="FFFDFB"/>
          </a:solidFill>
          <a:ln/>
        </p:spPr>
      </p:sp>
      <p:sp>
        <p:nvSpPr>
          <p:cNvPr id="31" name="Text 29"/>
          <p:cNvSpPr/>
          <p:nvPr/>
        </p:nvSpPr>
        <p:spPr>
          <a:xfrm>
            <a:off x="7680960" y="267004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4E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三行 numpy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7680960" y="3072384"/>
            <a:ext cx="38404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C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fft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C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一次试完全部候选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C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abs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C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只看对齐强度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C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argmax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C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峰值 bin → 坐标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475488" y="6510528"/>
            <a:ext cx="11228832" cy="9144"/>
          </a:xfrm>
          <a:prstGeom prst="rect">
            <a:avLst/>
          </a:prstGeom>
          <a:solidFill>
            <a:srgbClr val="E4DDD3"/>
          </a:solidFill>
          <a:ln/>
        </p:spPr>
      </p:sp>
      <p:sp>
        <p:nvSpPr>
          <p:cNvPr id="34" name="Text 32"/>
          <p:cNvSpPr/>
          <p:nvPr/>
        </p:nvSpPr>
        <p:spPr>
          <a:xfrm>
            <a:off x="475488" y="6547104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66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肖顺康   ·   机器视觉 · 三维成像算法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8503920" y="6547104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  /   50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A23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4A46A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1874520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60" kern="0" dirty="0">
                <a:solidFill>
                  <a:srgbClr val="C4A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 04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58368" y="2267712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7F4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统一公式：q 怎么变成 uₚ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58368" y="3063240"/>
            <a:ext cx="9692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4DDD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全篇只有一条换算。选对 L，峰值 bin 编号本身就是投影仪坐标。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75488" y="6510528"/>
            <a:ext cx="11228832" cy="9144"/>
          </a:xfrm>
          <a:prstGeom prst="rect">
            <a:avLst/>
          </a:prstGeom>
          <a:solidFill>
            <a:srgbClr val="3A4454"/>
          </a:solidFill>
          <a:ln/>
        </p:spPr>
      </p:sp>
      <p:sp>
        <p:nvSpPr>
          <p:cNvPr id="7" name="Text 5"/>
          <p:cNvSpPr/>
          <p:nvPr/>
        </p:nvSpPr>
        <p:spPr>
          <a:xfrm>
            <a:off x="475488" y="6547104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5D0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肖顺康   ·   机器视觉 · 三维成像算法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503920" y="6547104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  /   50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6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256032"/>
            <a:ext cx="11155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9A5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  ·    三个符号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493776"/>
            <a:ext cx="11155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M、N、L 不能混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75488" y="1115568"/>
            <a:ext cx="3675888" cy="2176272"/>
          </a:xfrm>
          <a:prstGeom prst="roundRect">
            <a:avLst>
              <a:gd name="adj" fmla="val 3361"/>
            </a:avLst>
          </a:prstGeom>
          <a:solidFill>
            <a:srgbClr val="FFFDFB"/>
          </a:solidFill>
          <a:ln/>
        </p:spPr>
      </p:sp>
      <p:sp>
        <p:nvSpPr>
          <p:cNvPr id="5" name="Text 3"/>
          <p:cNvSpPr/>
          <p:nvPr/>
        </p:nvSpPr>
        <p:spPr>
          <a:xfrm>
            <a:off x="658368" y="128016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9A5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58368" y="1737360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采集频率数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58368" y="2176272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E66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真实观测样本。151 或 301。决定峰有多尖。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315968" y="1115568"/>
            <a:ext cx="3675888" cy="2176272"/>
          </a:xfrm>
          <a:prstGeom prst="roundRect">
            <a:avLst>
              <a:gd name="adj" fmla="val 3361"/>
            </a:avLst>
          </a:prstGeom>
          <a:solidFill>
            <a:srgbClr val="FFFDFB"/>
          </a:solidFill>
          <a:ln/>
        </p:spPr>
      </p:sp>
      <p:sp>
        <p:nvSpPr>
          <p:cNvPr id="9" name="Text 7"/>
          <p:cNvSpPr/>
          <p:nvPr/>
        </p:nvSpPr>
        <p:spPr>
          <a:xfrm>
            <a:off x="4498848" y="128016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9A5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498848" y="1737360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投影仪分辨率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498848" y="2176272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E66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hor 1080，ver 1920。相位公式的分母。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156448" y="1115568"/>
            <a:ext cx="3675888" cy="2176272"/>
          </a:xfrm>
          <a:prstGeom prst="roundRect">
            <a:avLst>
              <a:gd name="adj" fmla="val 3361"/>
            </a:avLst>
          </a:prstGeom>
          <a:solidFill>
            <a:srgbClr val="FFFDFB"/>
          </a:solidFill>
          <a:ln/>
        </p:spPr>
      </p:sp>
      <p:sp>
        <p:nvSpPr>
          <p:cNvPr id="13" name="Text 11"/>
          <p:cNvSpPr/>
          <p:nvPr/>
        </p:nvSpPr>
        <p:spPr>
          <a:xfrm>
            <a:off x="8339328" y="128016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9A5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8339328" y="1737360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FFT 长度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339328" y="2176272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E66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候选 bin 个数。推荐 N 或 2N。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75488" y="3447288"/>
            <a:ext cx="3675888" cy="2176272"/>
          </a:xfrm>
          <a:prstGeom prst="roundRect">
            <a:avLst>
              <a:gd name="adj" fmla="val 3361"/>
            </a:avLst>
          </a:prstGeom>
          <a:solidFill>
            <a:srgbClr val="FFFDFB"/>
          </a:solidFill>
          <a:ln/>
        </p:spPr>
      </p:sp>
      <p:sp>
        <p:nvSpPr>
          <p:cNvPr id="17" name="Text 15"/>
          <p:cNvSpPr/>
          <p:nvPr/>
        </p:nvSpPr>
        <p:spPr>
          <a:xfrm>
            <a:off x="658368" y="361188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9A5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58368" y="4069080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频率步长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58368" y="4507992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E66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1.0 或 0.5。改了它，L 必须跟着改。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315968" y="3447288"/>
            <a:ext cx="3675888" cy="2176272"/>
          </a:xfrm>
          <a:prstGeom prst="roundRect">
            <a:avLst>
              <a:gd name="adj" fmla="val 3361"/>
            </a:avLst>
          </a:prstGeom>
          <a:solidFill>
            <a:srgbClr val="FFFDFB"/>
          </a:solidFill>
          <a:ln/>
        </p:spPr>
      </p:sp>
      <p:sp>
        <p:nvSpPr>
          <p:cNvPr id="21" name="Text 19"/>
          <p:cNvSpPr/>
          <p:nvPr/>
        </p:nvSpPr>
        <p:spPr>
          <a:xfrm>
            <a:off x="4498848" y="361188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9A5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4498848" y="4069080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峰值 bin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498848" y="4507992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E66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argmax 的结果，范围 0 … L−1。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8156448" y="3447288"/>
            <a:ext cx="3675888" cy="2176272"/>
          </a:xfrm>
          <a:prstGeom prst="roundRect">
            <a:avLst>
              <a:gd name="adj" fmla="val 3361"/>
            </a:avLst>
          </a:prstGeom>
          <a:solidFill>
            <a:srgbClr val="FFFDFB"/>
          </a:solidFill>
          <a:ln/>
        </p:spPr>
      </p:sp>
      <p:sp>
        <p:nvSpPr>
          <p:cNvPr id="25" name="Text 23"/>
          <p:cNvSpPr/>
          <p:nvPr/>
        </p:nvSpPr>
        <p:spPr>
          <a:xfrm>
            <a:off x="8339328" y="361188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9A5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uₚ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8339328" y="4069080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投影仪坐标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339328" y="4507992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E66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待解目标。希望它就等于 q。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475488" y="6510528"/>
            <a:ext cx="11228832" cy="9144"/>
          </a:xfrm>
          <a:prstGeom prst="rect">
            <a:avLst/>
          </a:prstGeom>
          <a:solidFill>
            <a:srgbClr val="E4DDD3"/>
          </a:solidFill>
          <a:ln/>
        </p:spPr>
      </p:sp>
      <p:sp>
        <p:nvSpPr>
          <p:cNvPr id="29" name="Text 27"/>
          <p:cNvSpPr/>
          <p:nvPr/>
        </p:nvSpPr>
        <p:spPr>
          <a:xfrm>
            <a:off x="475488" y="6547104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66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肖顺康   ·   机器视觉 · 三维成像算法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8503920" y="6547104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  /   50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6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256032"/>
            <a:ext cx="11155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9A5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  ·    推导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493776"/>
            <a:ext cx="11155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从斜率相等到坐标换算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75488" y="1097280"/>
            <a:ext cx="2761488" cy="1737360"/>
          </a:xfrm>
          <a:prstGeom prst="roundRect">
            <a:avLst>
              <a:gd name="adj" fmla="val 4211"/>
            </a:avLst>
          </a:prstGeom>
          <a:solidFill>
            <a:srgbClr val="FFFDFB"/>
          </a:solidFill>
          <a:ln/>
        </p:spPr>
      </p:sp>
      <p:sp>
        <p:nvSpPr>
          <p:cNvPr id="5" name="Text 3"/>
          <p:cNvSpPr/>
          <p:nvPr/>
        </p:nvSpPr>
        <p:spPr>
          <a:xfrm>
            <a:off x="621792" y="1225296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A5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21792" y="1554480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理想信号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21792" y="1975104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E66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斜率 α = s·uₚ / N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364992" y="1097280"/>
            <a:ext cx="2761488" cy="1737360"/>
          </a:xfrm>
          <a:prstGeom prst="roundRect">
            <a:avLst>
              <a:gd name="adj" fmla="val 4211"/>
            </a:avLst>
          </a:prstGeom>
          <a:solidFill>
            <a:srgbClr val="FFFDFB"/>
          </a:solidFill>
          <a:ln/>
        </p:spPr>
      </p:sp>
      <p:sp>
        <p:nvSpPr>
          <p:cNvPr id="9" name="Text 7"/>
          <p:cNvSpPr/>
          <p:nvPr/>
        </p:nvSpPr>
        <p:spPr>
          <a:xfrm>
            <a:off x="3511296" y="1225296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A5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511296" y="1554480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FFT 斜率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511296" y="1975104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E66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候选 β_q = q / L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254496" y="1097280"/>
            <a:ext cx="2761488" cy="1737360"/>
          </a:xfrm>
          <a:prstGeom prst="roundRect">
            <a:avLst>
              <a:gd name="adj" fmla="val 4211"/>
            </a:avLst>
          </a:prstGeom>
          <a:solidFill>
            <a:srgbClr val="FFFDFB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0" y="1225296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A5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00800" y="1554480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峰值条件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00800" y="1975104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E66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 / L = s·uₚ / N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9144000" y="1097280"/>
            <a:ext cx="2761488" cy="1737360"/>
          </a:xfrm>
          <a:prstGeom prst="roundRect">
            <a:avLst>
              <a:gd name="adj" fmla="val 4211"/>
            </a:avLst>
          </a:prstGeom>
          <a:solidFill>
            <a:srgbClr val="FFFDFB"/>
          </a:solidFill>
          <a:ln/>
        </p:spPr>
      </p:sp>
      <p:sp>
        <p:nvSpPr>
          <p:cNvPr id="17" name="Text 15"/>
          <p:cNvSpPr/>
          <p:nvPr/>
        </p:nvSpPr>
        <p:spPr>
          <a:xfrm>
            <a:off x="9290304" y="1225296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A5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290304" y="1554480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解出坐标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290304" y="1975104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E66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uₚ = q·N / (L·s)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75488" y="3017520"/>
            <a:ext cx="11228832" cy="1554480"/>
          </a:xfrm>
          <a:prstGeom prst="roundRect">
            <a:avLst>
              <a:gd name="adj" fmla="val 4706"/>
            </a:avLst>
          </a:prstGeom>
          <a:solidFill>
            <a:srgbClr val="1A2330"/>
          </a:solidFill>
          <a:ln/>
        </p:spPr>
      </p:sp>
      <p:sp>
        <p:nvSpPr>
          <p:cNvPr id="21" name="Text 19"/>
          <p:cNvSpPr/>
          <p:nvPr/>
        </p:nvSpPr>
        <p:spPr>
          <a:xfrm>
            <a:off x="676656" y="318211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4A4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希望 q 本身就等于 uₚ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76656" y="3547872"/>
            <a:ext cx="10515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7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coord_scale = N / (L·s) = 1     ⇒     L = N / s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676656" y="4041648"/>
            <a:ext cx="10515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C2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disparity = q · coord_scale。一条公式覆盖 s = 1.0 和 s = 0.5。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75488" y="477316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4E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 的语义清楚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475488" y="5102352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C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argmax 的编号直接是坐标。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315968" y="477316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4E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步长约 1 px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4315968" y="5102352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C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不会把多个像素压进一格。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8156448" y="477316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4E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有效区固定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8156448" y="5102352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C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只在前 N 个 bin 里搜索。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475488" y="6510528"/>
            <a:ext cx="11228832" cy="9144"/>
          </a:xfrm>
          <a:prstGeom prst="rect">
            <a:avLst/>
          </a:prstGeom>
          <a:solidFill>
            <a:srgbClr val="E4DDD3"/>
          </a:solidFill>
          <a:ln/>
        </p:spPr>
      </p:sp>
      <p:sp>
        <p:nvSpPr>
          <p:cNvPr id="31" name="Text 29"/>
          <p:cNvSpPr/>
          <p:nvPr/>
        </p:nvSpPr>
        <p:spPr>
          <a:xfrm>
            <a:off x="475488" y="6547104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66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肖顺康   ·   机器视觉 · 三维成像算法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8503920" y="6547104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  /   50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6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256032"/>
            <a:ext cx="11155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9A5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  ·    推荐策略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493776"/>
            <a:ext cx="11155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为什么让 coord_scale = 1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75488" y="1115568"/>
            <a:ext cx="5623560" cy="2212848"/>
          </a:xfrm>
          <a:prstGeom prst="roundRect">
            <a:avLst>
              <a:gd name="adj" fmla="val 3306"/>
            </a:avLst>
          </a:prstGeom>
          <a:solidFill>
            <a:srgbClr val="FFFDFB"/>
          </a:solidFill>
          <a:ln/>
        </p:spPr>
      </p:sp>
      <p:sp>
        <p:nvSpPr>
          <p:cNvPr id="5" name="Text 3"/>
          <p:cNvSpPr/>
          <p:nvPr/>
        </p:nvSpPr>
        <p:spPr>
          <a:xfrm>
            <a:off x="676656" y="1298448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代码对应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76656" y="1792224"/>
            <a:ext cx="52120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E66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fft_length = round(N / s)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5E66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valid_length = N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5E66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coord_scale = N / (L·s)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327648" y="1115568"/>
            <a:ext cx="5623560" cy="2212848"/>
          </a:xfrm>
          <a:prstGeom prst="roundRect">
            <a:avLst>
              <a:gd name="adj" fmla="val 3306"/>
            </a:avLst>
          </a:prstGeom>
          <a:solidFill>
            <a:srgbClr val="FFFDFB"/>
          </a:solidFill>
          <a:ln/>
        </p:spPr>
      </p:sp>
      <p:sp>
        <p:nvSpPr>
          <p:cNvPr id="8" name="Text 6"/>
          <p:cNvSpPr/>
          <p:nvPr/>
        </p:nvSpPr>
        <p:spPr>
          <a:xfrm>
            <a:off x="6528816" y="1298448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 = 1.0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528816" y="1792224"/>
            <a:ext cx="52120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E66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 = N，比例自然是 1。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5E66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bin 0…N−1 就是像素 0…N−1。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75488" y="3493008"/>
            <a:ext cx="5623560" cy="2212848"/>
          </a:xfrm>
          <a:prstGeom prst="roundRect">
            <a:avLst>
              <a:gd name="adj" fmla="val 3306"/>
            </a:avLst>
          </a:prstGeom>
          <a:solidFill>
            <a:srgbClr val="FFFDFB"/>
          </a:solidFill>
          <a:ln/>
        </p:spPr>
      </p:sp>
      <p:sp>
        <p:nvSpPr>
          <p:cNvPr id="11" name="Text 9"/>
          <p:cNvSpPr/>
          <p:nvPr/>
        </p:nvSpPr>
        <p:spPr>
          <a:xfrm>
            <a:off x="676656" y="3675888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 = 0.5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76656" y="4169664"/>
            <a:ext cx="52120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E66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 = 2N，比例仍是 1。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5E66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后一半必须在 argmax 前裁掉。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327648" y="3493008"/>
            <a:ext cx="5623560" cy="2212848"/>
          </a:xfrm>
          <a:prstGeom prst="roundRect">
            <a:avLst>
              <a:gd name="adj" fmla="val 3306"/>
            </a:avLst>
          </a:prstGeom>
          <a:solidFill>
            <a:srgbClr val="FFFDFB"/>
          </a:solidFill>
          <a:ln/>
        </p:spPr>
      </p:sp>
      <p:sp>
        <p:nvSpPr>
          <p:cNvPr id="14" name="Text 12"/>
          <p:cNvSpPr/>
          <p:nvPr/>
        </p:nvSpPr>
        <p:spPr>
          <a:xfrm>
            <a:off x="6528816" y="3675888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不要写两个物理分支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528816" y="4169664"/>
            <a:ext cx="52120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E66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步长只改变“k 加 1 转多少”。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5E66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公式统一，避免半步长被当成整步。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475488" y="6510528"/>
            <a:ext cx="11228832" cy="9144"/>
          </a:xfrm>
          <a:prstGeom prst="rect">
            <a:avLst/>
          </a:prstGeom>
          <a:solidFill>
            <a:srgbClr val="E4DDD3"/>
          </a:solidFill>
          <a:ln/>
        </p:spPr>
      </p:sp>
      <p:sp>
        <p:nvSpPr>
          <p:cNvPr id="17" name="Text 15"/>
          <p:cNvSpPr/>
          <p:nvPr/>
        </p:nvSpPr>
        <p:spPr>
          <a:xfrm>
            <a:off x="475488" y="6547104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66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肖顺康   ·   机器视觉 · 三维成像算法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503920" y="6547104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  /   50</a:t>
            </a:r>
            <a:endParaRPr lang="en-US" sz="1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6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256032"/>
            <a:ext cx="11155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9A5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  ·    情况 A / B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493776"/>
            <a:ext cx="11155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步长变了，FFT 长度必须跟着变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75488" y="1097280"/>
            <a:ext cx="5623560" cy="3794760"/>
          </a:xfrm>
          <a:prstGeom prst="roundRect">
            <a:avLst>
              <a:gd name="adj" fmla="val 1928"/>
            </a:avLst>
          </a:prstGeom>
          <a:solidFill>
            <a:srgbClr val="E7F0EA"/>
          </a:solidFill>
          <a:ln/>
        </p:spPr>
      </p:sp>
      <p:sp>
        <p:nvSpPr>
          <p:cNvPr id="5" name="Text 3"/>
          <p:cNvSpPr/>
          <p:nvPr/>
        </p:nvSpPr>
        <p:spPr>
          <a:xfrm>
            <a:off x="676656" y="128016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情况 A    s = 1.0，L = 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76656" y="1828800"/>
            <a:ext cx="52120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C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hor：L = 1080，解行坐标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C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ver：L = 1920，解列坐标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C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coord_scale = 1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C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量化约 ±0.5 px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C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最容易讲清，也最好核对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263640" y="1097280"/>
            <a:ext cx="5440680" cy="3794760"/>
          </a:xfrm>
          <a:prstGeom prst="roundRect">
            <a:avLst>
              <a:gd name="adj" fmla="val 1928"/>
            </a:avLst>
          </a:prstGeom>
          <a:solidFill>
            <a:srgbClr val="E7EEF2"/>
          </a:solidFill>
          <a:ln/>
        </p:spPr>
      </p:sp>
      <p:sp>
        <p:nvSpPr>
          <p:cNvPr id="8" name="Text 6"/>
          <p:cNvSpPr/>
          <p:nvPr/>
        </p:nvSpPr>
        <p:spPr>
          <a:xfrm>
            <a:off x="6464808" y="12801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情况 B    s = 0.5，L = 2N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64808" y="1828800"/>
            <a:ext cx="50292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C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ver：L = 3840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C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有效区仍是前 1920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C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bin N…2N−1 是负频率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C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必须裁掉再 argmax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C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coord_scale 仍为 1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C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这是主线当前配置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75488" y="507492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C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若拿 s = 1 的 L = N 去跑 s = 0.5，坐标会系统性偏一倍。步长改的是相位增量，不是一个可以后乘的系数。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75488" y="6510528"/>
            <a:ext cx="11228832" cy="9144"/>
          </a:xfrm>
          <a:prstGeom prst="rect">
            <a:avLst/>
          </a:prstGeom>
          <a:solidFill>
            <a:srgbClr val="E4DDD3"/>
          </a:solidFill>
          <a:ln/>
        </p:spPr>
      </p:sp>
      <p:sp>
        <p:nvSpPr>
          <p:cNvPr id="12" name="Text 10"/>
          <p:cNvSpPr/>
          <p:nvPr/>
        </p:nvSpPr>
        <p:spPr>
          <a:xfrm>
            <a:off x="475488" y="6547104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66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肖顺康   ·   机器视觉 · 三维成像算法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503920" y="6547104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  /   50</a:t>
            </a:r>
            <a:endParaRPr lang="en-US" sz="1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6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256032"/>
            <a:ext cx="11155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9A5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  ·    情况 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493776"/>
            <a:ext cx="11155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旧方案 L = M，点云会出现台阶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75488" y="950976"/>
            <a:ext cx="11155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E66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FFT 长度等于频率个数时，q 只有 M 个等级。乘一个系数改不了格子的疏密。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75488" y="1371600"/>
            <a:ext cx="3931920" cy="3246120"/>
          </a:xfrm>
          <a:prstGeom prst="roundRect">
            <a:avLst>
              <a:gd name="adj" fmla="val 2254"/>
            </a:avLst>
          </a:prstGeom>
          <a:solidFill>
            <a:srgbClr val="F6EBE4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1536192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A5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 = M = 340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58368" y="2011680"/>
            <a:ext cx="35661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C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Δu = N/M ≈ 5.65 px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C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最大偏差约 ±2.65 px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C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半步 M = 301 时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C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ver 约 6.38 px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C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hor 约 3.59 px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617720" y="13716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E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真实坐标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766560" y="13716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E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旧 L=M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052560" y="13716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E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推荐 L=N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617720" y="20116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766560" y="20116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5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101.65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052560" y="20116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F6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617720" y="265176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766560" y="26517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5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502.59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9052560" y="26517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F6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617720" y="32918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957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766560" y="32918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5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954.35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052560" y="32918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F6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957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617720" y="39319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1500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766560" y="39319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5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1502.12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052560" y="39319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F6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1500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75488" y="4846320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C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相邻相机像素被解成同一个投影仪坐标，对应关系不连续，三角化就出现条带、断层或层状结构。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475488" y="6510528"/>
            <a:ext cx="11228832" cy="9144"/>
          </a:xfrm>
          <a:prstGeom prst="rect">
            <a:avLst/>
          </a:prstGeom>
          <a:solidFill>
            <a:srgbClr val="E4DDD3"/>
          </a:solidFill>
          <a:ln/>
        </p:spPr>
      </p:sp>
      <p:sp>
        <p:nvSpPr>
          <p:cNvPr id="25" name="Text 23"/>
          <p:cNvSpPr/>
          <p:nvPr/>
        </p:nvSpPr>
        <p:spPr>
          <a:xfrm>
            <a:off x="475488" y="6547104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66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肖顺康   ·   机器视觉 · 三维成像算法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503920" y="6547104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  /   50</a:t>
            </a:r>
            <a:endParaRPr lang="en-US" sz="1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6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256032"/>
            <a:ext cx="11155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9A5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  ·    补零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493776"/>
            <a:ext cx="11155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补零改的是评价网格，不是信息量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75488" y="950976"/>
            <a:ext cx="11155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E66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np.fft.fft(D, n=L) 在 M &lt; L 时，于序列后面自动补零。后补的 0 不贡献信号。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75488" y="1371600"/>
            <a:ext cx="3675888" cy="2084832"/>
          </a:xfrm>
          <a:prstGeom prst="roundRect">
            <a:avLst>
              <a:gd name="adj" fmla="val 3509"/>
            </a:avLst>
          </a:prstGeom>
          <a:solidFill>
            <a:srgbClr val="FFFDFB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536192"/>
            <a:ext cx="33467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 决定求和项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2121408"/>
            <a:ext cx="334670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E66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真正累加的只有 M 个观测。补进去的零不是新采集。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315968" y="1371600"/>
            <a:ext cx="3675888" cy="2084832"/>
          </a:xfrm>
          <a:prstGeom prst="roundRect">
            <a:avLst>
              <a:gd name="adj" fmla="val 3509"/>
            </a:avLst>
          </a:prstGeom>
          <a:solidFill>
            <a:srgbClr val="FFFDFB"/>
          </a:solidFill>
          <a:ln/>
        </p:spPr>
      </p:sp>
      <p:sp>
        <p:nvSpPr>
          <p:cNvPr id="9" name="Text 7"/>
          <p:cNvSpPr/>
          <p:nvPr/>
        </p:nvSpPr>
        <p:spPr>
          <a:xfrm>
            <a:off x="4480560" y="1536192"/>
            <a:ext cx="33467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 决定评价位置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480560" y="2121408"/>
            <a:ext cx="334670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E66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 q = 0…L−1 上求值，间隔 1/L。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156448" y="1371600"/>
            <a:ext cx="3675888" cy="2084832"/>
          </a:xfrm>
          <a:prstGeom prst="roundRect">
            <a:avLst>
              <a:gd name="adj" fmla="val 3509"/>
            </a:avLst>
          </a:prstGeom>
          <a:solidFill>
            <a:srgbClr val="FFFDFB"/>
          </a:solidFill>
          <a:ln/>
        </p:spPr>
      </p:sp>
      <p:sp>
        <p:nvSpPr>
          <p:cNvPr id="12" name="Text 10"/>
          <p:cNvSpPr/>
          <p:nvPr/>
        </p:nvSpPr>
        <p:spPr>
          <a:xfrm>
            <a:off x="8321040" y="1536192"/>
            <a:ext cx="33467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等价于重采样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321040" y="2121408"/>
            <a:ext cx="334670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E66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对同一条隐含频谱做更密采样，可看成 sinc 插值后再取样。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75488" y="3611880"/>
            <a:ext cx="3675888" cy="2084832"/>
          </a:xfrm>
          <a:prstGeom prst="roundRect">
            <a:avLst>
              <a:gd name="adj" fmla="val 3509"/>
            </a:avLst>
          </a:prstGeom>
          <a:solidFill>
            <a:srgbClr val="FFFDFB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776472"/>
            <a:ext cx="33467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不提高信噪比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40080" y="4361688"/>
            <a:ext cx="334670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E66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也不创造高频。M 太少时峰仍然宽，易被噪声干扰。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315968" y="3611880"/>
            <a:ext cx="3675888" cy="2084832"/>
          </a:xfrm>
          <a:prstGeom prst="roundRect">
            <a:avLst>
              <a:gd name="adj" fmla="val 3509"/>
            </a:avLst>
          </a:prstGeom>
          <a:solidFill>
            <a:srgbClr val="FFFDFB"/>
          </a:solidFill>
          <a:ln/>
        </p:spPr>
      </p:sp>
      <p:sp>
        <p:nvSpPr>
          <p:cNvPr id="18" name="Text 16"/>
          <p:cNvSpPr/>
          <p:nvPr/>
        </p:nvSpPr>
        <p:spPr>
          <a:xfrm>
            <a:off x="4480560" y="3776472"/>
            <a:ext cx="33467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但能消粗量化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480560" y="4361688"/>
            <a:ext cx="334670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E66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对“峰值落在哪个坐标”，网格变密就消除了大台阶。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8156448" y="3611880"/>
            <a:ext cx="3675888" cy="2084832"/>
          </a:xfrm>
          <a:prstGeom prst="roundRect">
            <a:avLst>
              <a:gd name="adj" fmla="val 3509"/>
            </a:avLst>
          </a:prstGeom>
          <a:solidFill>
            <a:srgbClr val="FFFDFB"/>
          </a:solidFill>
          <a:ln/>
        </p:spPr>
      </p:sp>
      <p:sp>
        <p:nvSpPr>
          <p:cNvPr id="21" name="Text 19"/>
          <p:cNvSpPr/>
          <p:nvPr/>
        </p:nvSpPr>
        <p:spPr>
          <a:xfrm>
            <a:off x="8321040" y="3776472"/>
            <a:ext cx="33467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不能替代亚像素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8321040" y="4361688"/>
            <a:ext cx="334670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E66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质心细化是另一件事。补零只把整数格子对齐到 1 px。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75488" y="6510528"/>
            <a:ext cx="11228832" cy="9144"/>
          </a:xfrm>
          <a:prstGeom prst="rect">
            <a:avLst/>
          </a:prstGeom>
          <a:solidFill>
            <a:srgbClr val="E4DDD3"/>
          </a:solidFill>
          <a:ln/>
        </p:spPr>
      </p:sp>
      <p:sp>
        <p:nvSpPr>
          <p:cNvPr id="24" name="Text 22"/>
          <p:cNvSpPr/>
          <p:nvPr/>
        </p:nvSpPr>
        <p:spPr>
          <a:xfrm>
            <a:off x="475488" y="6547104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66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肖顺康   ·   机器视觉 · 三维成像算法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503920" y="6547104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  /   50</a:t>
            </a:r>
            <a:endParaRPr lang="en-US" sz="12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6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256032"/>
            <a:ext cx="11155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9A5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  ·    边界与误区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493776"/>
            <a:ext cx="11155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公式成立的前提，和四条误解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75488" y="1097280"/>
            <a:ext cx="11228832" cy="1005840"/>
          </a:xfrm>
          <a:prstGeom prst="roundRect">
            <a:avLst>
              <a:gd name="adj" fmla="val 7273"/>
            </a:avLst>
          </a:prstGeom>
          <a:solidFill>
            <a:srgbClr val="FFFDFB"/>
          </a:solidFill>
          <a:ln/>
        </p:spPr>
      </p:sp>
      <p:sp>
        <p:nvSpPr>
          <p:cNvPr id="5" name="Text 3"/>
          <p:cNvSpPr/>
          <p:nvPr/>
        </p:nvSpPr>
        <p:spPr>
          <a:xfrm>
            <a:off x="658368" y="138988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A5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417320" y="1225296"/>
            <a:ext cx="9966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补零不增加采集精度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17320" y="1572768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E66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信息量仍由 M 决定。它只避免峰值被压进粗 bin。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75488" y="2212848"/>
            <a:ext cx="11228832" cy="1005840"/>
          </a:xfrm>
          <a:prstGeom prst="roundRect">
            <a:avLst>
              <a:gd name="adj" fmla="val 7273"/>
            </a:avLst>
          </a:prstGeom>
          <a:solidFill>
            <a:srgbClr val="FFFDFB"/>
          </a:solidFill>
          <a:ln/>
        </p:spPr>
      </p:sp>
      <p:sp>
        <p:nvSpPr>
          <p:cNvPr id="9" name="Text 7"/>
          <p:cNvSpPr/>
          <p:nvPr/>
        </p:nvSpPr>
        <p:spPr>
          <a:xfrm>
            <a:off x="658368" y="2505456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A5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417320" y="2340864"/>
            <a:ext cx="9966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步长改了 L 必须改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417320" y="2688336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E66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沿用 L = N 去跑 s = 0.5，坐标系统性偏一倍。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75488" y="3328416"/>
            <a:ext cx="11228832" cy="1005840"/>
          </a:xfrm>
          <a:prstGeom prst="roundRect">
            <a:avLst>
              <a:gd name="adj" fmla="val 7273"/>
            </a:avLst>
          </a:prstGeom>
          <a:solidFill>
            <a:srgbClr val="FFFDFB"/>
          </a:solidFill>
          <a:ln/>
        </p:spPr>
      </p:sp>
      <p:sp>
        <p:nvSpPr>
          <p:cNvPr id="13" name="Text 11"/>
          <p:cNvSpPr/>
          <p:nvPr/>
        </p:nvSpPr>
        <p:spPr>
          <a:xfrm>
            <a:off x="658368" y="3621024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A5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417320" y="3456432"/>
            <a:ext cx="9966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 不是越大越好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417320" y="3803904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E66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超过 N/s 只是更细插值，精度和抗噪不再提升。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75488" y="4443984"/>
            <a:ext cx="11228832" cy="1005840"/>
          </a:xfrm>
          <a:prstGeom prst="roundRect">
            <a:avLst>
              <a:gd name="adj" fmla="val 7273"/>
            </a:avLst>
          </a:prstGeom>
          <a:solidFill>
            <a:srgbClr val="FFFDFB"/>
          </a:solidFill>
          <a:ln/>
        </p:spPr>
      </p:sp>
      <p:sp>
        <p:nvSpPr>
          <p:cNvPr id="17" name="Text 15"/>
          <p:cNvSpPr/>
          <p:nvPr/>
        </p:nvSpPr>
        <p:spPr>
          <a:xfrm>
            <a:off x="658368" y="4736592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A5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417320" y="4572000"/>
            <a:ext cx="9966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负频率不能当坐标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417320" y="4919472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E66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bin ≥ N 是周期重复区，argmax 前必须裁掉。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75488" y="6510528"/>
            <a:ext cx="11228832" cy="9144"/>
          </a:xfrm>
          <a:prstGeom prst="rect">
            <a:avLst/>
          </a:prstGeom>
          <a:solidFill>
            <a:srgbClr val="E4DDD3"/>
          </a:solidFill>
          <a:ln/>
        </p:spPr>
      </p:sp>
      <p:sp>
        <p:nvSpPr>
          <p:cNvPr id="21" name="Text 19"/>
          <p:cNvSpPr/>
          <p:nvPr/>
        </p:nvSpPr>
        <p:spPr>
          <a:xfrm>
            <a:off x="475488" y="6547104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66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肖顺康   ·   机器视觉 · 三维成像算法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503920" y="6547104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   /   50</a:t>
            </a:r>
            <a:endParaRPr lang="en-US" sz="1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A23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4A46A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1874520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60" kern="0" dirty="0">
                <a:solidFill>
                  <a:srgbClr val="C4A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 05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58368" y="2267712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7F4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代码里这些公式落在哪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58368" y="3063240"/>
            <a:ext cx="9692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4DDD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解码和重建只靠四张 .npy 交接。axis = 0 是频率轴。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75488" y="6510528"/>
            <a:ext cx="11228832" cy="9144"/>
          </a:xfrm>
          <a:prstGeom prst="rect">
            <a:avLst/>
          </a:prstGeom>
          <a:solidFill>
            <a:srgbClr val="3A4454"/>
          </a:solidFill>
          <a:ln/>
        </p:spPr>
      </p:sp>
      <p:sp>
        <p:nvSpPr>
          <p:cNvPr id="7" name="Text 5"/>
          <p:cNvSpPr/>
          <p:nvPr/>
        </p:nvSpPr>
        <p:spPr>
          <a:xfrm>
            <a:off x="475488" y="6547104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5D0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肖顺康   ·   机器视觉 · 三维成像算法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503920" y="6547104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  /   50</a:t>
            </a:r>
            <a:endParaRPr lang="en-US" sz="12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6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256032"/>
            <a:ext cx="11155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9A5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  ·    模块地图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493776"/>
            <a:ext cx="11155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六个文件，一条 .npy 契约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75488" y="1115568"/>
            <a:ext cx="3675888" cy="1417320"/>
          </a:xfrm>
          <a:prstGeom prst="roundRect">
            <a:avLst>
              <a:gd name="adj" fmla="val 5161"/>
            </a:avLst>
          </a:prstGeom>
          <a:solidFill>
            <a:srgbClr val="FFFDFB"/>
          </a:solidFill>
          <a:ln/>
        </p:spPr>
      </p:sp>
      <p:sp>
        <p:nvSpPr>
          <p:cNvPr id="5" name="Text 3"/>
          <p:cNvSpPr/>
          <p:nvPr/>
        </p:nvSpPr>
        <p:spPr>
          <a:xfrm>
            <a:off x="621792" y="128016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4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FSM_decode_example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21792" y="173736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C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配置入口。main() 定义全部参数。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315968" y="1115568"/>
            <a:ext cx="3675888" cy="1417320"/>
          </a:xfrm>
          <a:prstGeom prst="roundRect">
            <a:avLst>
              <a:gd name="adj" fmla="val 5161"/>
            </a:avLst>
          </a:prstGeom>
          <a:solidFill>
            <a:srgbClr val="FFFDFB"/>
          </a:solidFill>
          <a:ln/>
        </p:spPr>
      </p:sp>
      <p:sp>
        <p:nvSpPr>
          <p:cNvPr id="8" name="Text 6"/>
          <p:cNvSpPr/>
          <p:nvPr/>
        </p:nvSpPr>
        <p:spPr>
          <a:xfrm>
            <a:off x="4462272" y="128016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4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FSM_decode_core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462272" y="173736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C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加载、FFT 参数、解码、多峰、极线。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156448" y="1115568"/>
            <a:ext cx="3675888" cy="1417320"/>
          </a:xfrm>
          <a:prstGeom prst="roundRect">
            <a:avLst>
              <a:gd name="adj" fmla="val 5161"/>
            </a:avLst>
          </a:prstGeom>
          <a:solidFill>
            <a:srgbClr val="FFFDFB"/>
          </a:solidFill>
          <a:ln/>
        </p:spPr>
      </p:sp>
      <p:sp>
        <p:nvSpPr>
          <p:cNvPr id="11" name="Text 9"/>
          <p:cNvSpPr/>
          <p:nvPr/>
        </p:nvSpPr>
        <p:spPr>
          <a:xfrm>
            <a:off x="8302752" y="128016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4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FSM_visualize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302752" y="173736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C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视差、统计、对应关系、单点频谱。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75488" y="2670048"/>
            <a:ext cx="3675888" cy="1417320"/>
          </a:xfrm>
          <a:prstGeom prst="roundRect">
            <a:avLst>
              <a:gd name="adj" fmla="val 5161"/>
            </a:avLst>
          </a:prstGeom>
          <a:solidFill>
            <a:srgbClr val="FFFDFB"/>
          </a:solidFill>
          <a:ln/>
        </p:spPr>
      </p:sp>
      <p:sp>
        <p:nvSpPr>
          <p:cNvPr id="14" name="Text 12"/>
          <p:cNvSpPr/>
          <p:nvPr/>
        </p:nvSpPr>
        <p:spPr>
          <a:xfrm>
            <a:off x="621792" y="28346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4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FSM_reconstruct_core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21792" y="329184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C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读标定、过滤、三角化、写 PLY。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315968" y="2670048"/>
            <a:ext cx="3675888" cy="1417320"/>
          </a:xfrm>
          <a:prstGeom prst="roundRect">
            <a:avLst>
              <a:gd name="adj" fmla="val 5161"/>
            </a:avLst>
          </a:prstGeom>
          <a:solidFill>
            <a:srgbClr val="FFFDFB"/>
          </a:solidFill>
          <a:ln/>
        </p:spPr>
      </p:sp>
      <p:sp>
        <p:nvSpPr>
          <p:cNvPr id="17" name="Text 15"/>
          <p:cNvSpPr/>
          <p:nvPr/>
        </p:nvSpPr>
        <p:spPr>
          <a:xfrm>
            <a:off x="4462272" y="28346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4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FSM_reconstruct_example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462272" y="329184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C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PEAK_LIMIT、步长、输出路径。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8156448" y="2670048"/>
            <a:ext cx="3675888" cy="1417320"/>
          </a:xfrm>
          <a:prstGeom prst="roundRect">
            <a:avLst>
              <a:gd name="adj" fmla="val 5161"/>
            </a:avLst>
          </a:prstGeom>
          <a:solidFill>
            <a:srgbClr val="FFFDFB"/>
          </a:solidFill>
          <a:ln/>
        </p:spPr>
      </p:sp>
      <p:sp>
        <p:nvSpPr>
          <p:cNvPr id="20" name="Text 18"/>
          <p:cNvSpPr/>
          <p:nvPr/>
        </p:nvSpPr>
        <p:spPr>
          <a:xfrm>
            <a:off x="8302752" y="28346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4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点云后续处理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302752" y="329184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C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坐标系对齐，KD-Tree 误差。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75488" y="4389120"/>
            <a:ext cx="11228832" cy="1783080"/>
          </a:xfrm>
          <a:prstGeom prst="roundRect">
            <a:avLst>
              <a:gd name="adj" fmla="val 4103"/>
            </a:avLst>
          </a:prstGeom>
          <a:solidFill>
            <a:srgbClr val="F3EFE8"/>
          </a:solidFill>
          <a:ln/>
        </p:spPr>
      </p:sp>
      <p:sp>
        <p:nvSpPr>
          <p:cNvPr id="23" name="Text 21"/>
          <p:cNvSpPr/>
          <p:nvPr/>
        </p:nvSpPr>
        <p:spPr>
          <a:xfrm>
            <a:off x="676656" y="4572000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C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交接契约：results/fsa_decode/ 下 disp_hor.npy、disp_ver.npy、peak_hor.npy、peak_ver.npy。两侧可以独立重跑。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76656" y="5120640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E66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DFTProcessor 和 PeakDetector 是教科书式封装，主路径没有调用。真正执行的是 decode_direction 里的内联 FFT。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475488" y="6510528"/>
            <a:ext cx="11228832" cy="9144"/>
          </a:xfrm>
          <a:prstGeom prst="rect">
            <a:avLst/>
          </a:prstGeom>
          <a:solidFill>
            <a:srgbClr val="E4DDD3"/>
          </a:solidFill>
          <a:ln/>
        </p:spPr>
      </p:sp>
      <p:sp>
        <p:nvSpPr>
          <p:cNvPr id="26" name="Text 24"/>
          <p:cNvSpPr/>
          <p:nvPr/>
        </p:nvSpPr>
        <p:spPr>
          <a:xfrm>
            <a:off x="475488" y="6547104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66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肖顺康   ·   机器视觉 · 三维成像算法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503920" y="6547104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   /   50</a:t>
            </a:r>
            <a:endParaRPr lang="en-US" sz="12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6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256032"/>
            <a:ext cx="11155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9A5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  ·    张量形状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493776"/>
            <a:ext cx="11155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第一维始终是频率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75488" y="1097280"/>
            <a:ext cx="11228832" cy="713232"/>
          </a:xfrm>
          <a:prstGeom prst="roundRect">
            <a:avLst>
              <a:gd name="adj" fmla="val 10256"/>
            </a:avLst>
          </a:prstGeom>
          <a:solidFill>
            <a:srgbClr val="FFFDFB"/>
          </a:solidFill>
          <a:ln/>
        </p:spPr>
      </p:sp>
      <p:sp>
        <p:nvSpPr>
          <p:cNvPr id="5" name="Text 3"/>
          <p:cNvSpPr/>
          <p:nvPr/>
        </p:nvSpPr>
        <p:spPr>
          <a:xfrm>
            <a:off x="658368" y="1261872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A5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2834640" y="1261872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(M·4, Hc, Wc)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943600" y="1261872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E66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一次读入的全部灰度图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75488" y="1901952"/>
            <a:ext cx="11228832" cy="713232"/>
          </a:xfrm>
          <a:prstGeom prst="roundRect">
            <a:avLst>
              <a:gd name="adj" fmla="val 10256"/>
            </a:avLst>
          </a:prstGeom>
          <a:solidFill>
            <a:srgbClr val="FFFDFB"/>
          </a:solidFill>
          <a:ln/>
        </p:spPr>
      </p:sp>
      <p:sp>
        <p:nvSpPr>
          <p:cNvPr id="9" name="Text 7"/>
          <p:cNvSpPr/>
          <p:nvPr/>
        </p:nvSpPr>
        <p:spPr>
          <a:xfrm>
            <a:off x="658368" y="2066544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A5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I0 … I3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2834640" y="2066544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(M, Hc, Wc)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943600" y="2066544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E66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步长 4 切片，axis=0 是频率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75488" y="2706624"/>
            <a:ext cx="11228832" cy="713232"/>
          </a:xfrm>
          <a:prstGeom prst="roundRect">
            <a:avLst>
              <a:gd name="adj" fmla="val 10256"/>
            </a:avLst>
          </a:prstGeom>
          <a:solidFill>
            <a:srgbClr val="FFFDFB"/>
          </a:solidFill>
          <a:ln/>
        </p:spPr>
      </p:sp>
      <p:sp>
        <p:nvSpPr>
          <p:cNvPr id="13" name="Text 11"/>
          <p:cNvSpPr/>
          <p:nvPr/>
        </p:nvSpPr>
        <p:spPr>
          <a:xfrm>
            <a:off x="658368" y="2871216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A5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2834640" y="2871216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(M, Hc, Wc)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943600" y="2871216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E66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D[:, y, x] 就是该像素的信号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75488" y="3511296"/>
            <a:ext cx="11228832" cy="713232"/>
          </a:xfrm>
          <a:prstGeom prst="roundRect">
            <a:avLst>
              <a:gd name="adj" fmla="val 10256"/>
            </a:avLst>
          </a:prstGeom>
          <a:solidFill>
            <a:srgbClr val="FFFDFB"/>
          </a:solidFill>
          <a:ln/>
        </p:spPr>
      </p:sp>
      <p:sp>
        <p:nvSpPr>
          <p:cNvPr id="17" name="Text 15"/>
          <p:cNvSpPr/>
          <p:nvPr/>
        </p:nvSpPr>
        <p:spPr>
          <a:xfrm>
            <a:off x="658368" y="3675888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A5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2834640" y="3675888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(L, bh, bw)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943600" y="3675888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E66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沿 axis=0 做 FFT 之后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75488" y="4315968"/>
            <a:ext cx="11228832" cy="713232"/>
          </a:xfrm>
          <a:prstGeom prst="roundRect">
            <a:avLst>
              <a:gd name="adj" fmla="val 10256"/>
            </a:avLst>
          </a:prstGeom>
          <a:solidFill>
            <a:srgbClr val="FFFDFB"/>
          </a:solidFill>
          <a:ln/>
        </p:spPr>
      </p:sp>
      <p:sp>
        <p:nvSpPr>
          <p:cNvPr id="21" name="Text 19"/>
          <p:cNvSpPr/>
          <p:nvPr/>
        </p:nvSpPr>
        <p:spPr>
          <a:xfrm>
            <a:off x="658368" y="448056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A5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C_valid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2834640" y="4480560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(N, bh, bw)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943600" y="4480560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E66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裁掉负频率后的有效频谱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75488" y="5120640"/>
            <a:ext cx="11228832" cy="713232"/>
          </a:xfrm>
          <a:prstGeom prst="roundRect">
            <a:avLst>
              <a:gd name="adj" fmla="val 10256"/>
            </a:avLst>
          </a:prstGeom>
          <a:solidFill>
            <a:srgbClr val="FFFDFB"/>
          </a:solidFill>
          <a:ln/>
        </p:spPr>
      </p:sp>
      <p:sp>
        <p:nvSpPr>
          <p:cNvPr id="25" name="Text 23"/>
          <p:cNvSpPr/>
          <p:nvPr/>
        </p:nvSpPr>
        <p:spPr>
          <a:xfrm>
            <a:off x="658368" y="5285232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A5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 / peak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2834640" y="5285232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(Hc, Wc)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5943600" y="5285232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E66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索引 [y, x]，与相机像素对齐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475488" y="6510528"/>
            <a:ext cx="11228832" cy="9144"/>
          </a:xfrm>
          <a:prstGeom prst="rect">
            <a:avLst/>
          </a:prstGeom>
          <a:solidFill>
            <a:srgbClr val="E4DDD3"/>
          </a:solidFill>
          <a:ln/>
        </p:spPr>
      </p:sp>
      <p:sp>
        <p:nvSpPr>
          <p:cNvPr id="29" name="Text 27"/>
          <p:cNvSpPr/>
          <p:nvPr/>
        </p:nvSpPr>
        <p:spPr>
          <a:xfrm>
            <a:off x="475488" y="6547104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66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肖顺康   ·   机器视觉 · 三维成像算法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8503920" y="6547104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  /   50</a:t>
            </a:r>
            <a:endParaRPr lang="en-US" sz="12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6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256032"/>
            <a:ext cx="11155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9A5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  ·    两条解码路径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493776"/>
            <a:ext cx="11155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分块更快，低内存才做亚像素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75488" y="1097280"/>
            <a:ext cx="5623560" cy="3520440"/>
          </a:xfrm>
          <a:prstGeom prst="roundRect">
            <a:avLst>
              <a:gd name="adj" fmla="val 2078"/>
            </a:avLst>
          </a:prstGeom>
          <a:solidFill>
            <a:srgbClr val="FFFDFB"/>
          </a:solidFill>
          <a:ln/>
        </p:spPr>
      </p:sp>
      <p:sp>
        <p:nvSpPr>
          <p:cNvPr id="5" name="Text 3"/>
          <p:cNvSpPr/>
          <p:nvPr/>
        </p:nvSpPr>
        <p:spPr>
          <a:xfrm>
            <a:off x="676656" y="1261872"/>
            <a:ext cx="5212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分块向量化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76656" y="1737360"/>
            <a:ext cx="5212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C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block_size 默认 100，只影响内存，不影响整数结果。一块三维数组沿 axis=0 做 FFT。输出整数 bin。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76656" y="2926080"/>
            <a:ext cx="5212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E66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内存峰值来自复数体 D，加上一块 C 与 |C|。L = 3840、块 100×100 时，单块频谱约 1.5 亿个复数。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263640" y="1097280"/>
            <a:ext cx="5440680" cy="3520440"/>
          </a:xfrm>
          <a:prstGeom prst="roundRect">
            <a:avLst>
              <a:gd name="adj" fmla="val 2078"/>
            </a:avLst>
          </a:prstGeom>
          <a:solidFill>
            <a:srgbClr val="E7EEF2"/>
          </a:solidFill>
          <a:ln/>
        </p:spPr>
      </p:sp>
      <p:sp>
        <p:nvSpPr>
          <p:cNvPr id="9" name="Text 7"/>
          <p:cNvSpPr/>
          <p:nvPr/>
        </p:nvSpPr>
        <p:spPr>
          <a:xfrm>
            <a:off x="6464808" y="1261872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低内存模式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464808" y="1737360"/>
            <a:ext cx="5029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C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逐行逐列。主线 example 当前 LOW_MEMORY_MODE = True。峰值 &gt; 0.1 时用左右邻点做质心。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64808" y="2926080"/>
            <a:ext cx="5029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E66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peak + 0.5·(vr−vl)/(vl+vc+vr)。邻域用 % L 环绕。两条路径精度不等价。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75488" y="4773168"/>
            <a:ext cx="2761488" cy="1417320"/>
          </a:xfrm>
          <a:prstGeom prst="roundRect">
            <a:avLst>
              <a:gd name="adj" fmla="val 5161"/>
            </a:avLst>
          </a:prstGeom>
          <a:solidFill>
            <a:srgbClr val="FFFDFB"/>
          </a:solidFill>
          <a:ln/>
        </p:spPr>
      </p:sp>
      <p:sp>
        <p:nvSpPr>
          <p:cNvPr id="13" name="Text 11"/>
          <p:cNvSpPr/>
          <p:nvPr/>
        </p:nvSpPr>
        <p:spPr>
          <a:xfrm>
            <a:off x="475488" y="4901184"/>
            <a:ext cx="27614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9A5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1920 × 1080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75488" y="5394960"/>
            <a:ext cx="2761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C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投影仪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364992" y="4773168"/>
            <a:ext cx="2761488" cy="1417320"/>
          </a:xfrm>
          <a:prstGeom prst="roundRect">
            <a:avLst>
              <a:gd name="adj" fmla="val 5161"/>
            </a:avLst>
          </a:prstGeom>
          <a:solidFill>
            <a:srgbClr val="FFFDFB"/>
          </a:solidFill>
          <a:ln/>
        </p:spPr>
      </p:sp>
      <p:sp>
        <p:nvSpPr>
          <p:cNvPr id="16" name="Text 14"/>
          <p:cNvSpPr/>
          <p:nvPr/>
        </p:nvSpPr>
        <p:spPr>
          <a:xfrm>
            <a:off x="3364992" y="4901184"/>
            <a:ext cx="27614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9A5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301 / 0.5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364992" y="5394960"/>
            <a:ext cx="2761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C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频率 / 步长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254496" y="4773168"/>
            <a:ext cx="2761488" cy="1417320"/>
          </a:xfrm>
          <a:prstGeom prst="roundRect">
            <a:avLst>
              <a:gd name="adj" fmla="val 5161"/>
            </a:avLst>
          </a:prstGeom>
          <a:solidFill>
            <a:srgbClr val="FFFDFB"/>
          </a:solidFill>
          <a:ln/>
        </p:spPr>
      </p:sp>
      <p:sp>
        <p:nvSpPr>
          <p:cNvPr id="19" name="Text 17"/>
          <p:cNvSpPr/>
          <p:nvPr/>
        </p:nvSpPr>
        <p:spPr>
          <a:xfrm>
            <a:off x="6254496" y="4901184"/>
            <a:ext cx="27614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9A5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254496" y="5394960"/>
            <a:ext cx="2761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C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解码方向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9144000" y="4773168"/>
            <a:ext cx="2761488" cy="1417320"/>
          </a:xfrm>
          <a:prstGeom prst="roundRect">
            <a:avLst>
              <a:gd name="adj" fmla="val 5161"/>
            </a:avLst>
          </a:prstGeom>
          <a:solidFill>
            <a:srgbClr val="FFFDFB"/>
          </a:solidFill>
          <a:ln/>
        </p:spPr>
      </p:sp>
      <p:sp>
        <p:nvSpPr>
          <p:cNvPr id="22" name="Text 20"/>
          <p:cNvSpPr/>
          <p:nvPr/>
        </p:nvSpPr>
        <p:spPr>
          <a:xfrm>
            <a:off x="9144000" y="4901184"/>
            <a:ext cx="27614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9A5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(1200, 1000)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144000" y="5394960"/>
            <a:ext cx="2761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C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频谱诊断点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75488" y="6510528"/>
            <a:ext cx="11228832" cy="9144"/>
          </a:xfrm>
          <a:prstGeom prst="rect">
            <a:avLst/>
          </a:prstGeom>
          <a:solidFill>
            <a:srgbClr val="E4DDD3"/>
          </a:solidFill>
          <a:ln/>
        </p:spPr>
      </p:sp>
      <p:sp>
        <p:nvSpPr>
          <p:cNvPr id="25" name="Text 23"/>
          <p:cNvSpPr/>
          <p:nvPr/>
        </p:nvSpPr>
        <p:spPr>
          <a:xfrm>
            <a:off x="475488" y="6547104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66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肖顺康   ·   机器视觉 · 三维成像算法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503920" y="6547104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   /   50</a:t>
            </a:r>
            <a:endParaRPr lang="en-US" sz="12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6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256032"/>
            <a:ext cx="11155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9A5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  ·    实配与诊断图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493776"/>
            <a:ext cx="11155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参数来自 example，不是示例值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75488" y="1097280"/>
            <a:ext cx="2761488" cy="1234440"/>
          </a:xfrm>
          <a:prstGeom prst="roundRect">
            <a:avLst>
              <a:gd name="adj" fmla="val 5926"/>
            </a:avLst>
          </a:prstGeom>
          <a:solidFill>
            <a:srgbClr val="FFFDFB"/>
          </a:solidFill>
          <a:ln/>
        </p:spPr>
      </p:sp>
      <p:sp>
        <p:nvSpPr>
          <p:cNvPr id="5" name="Text 3"/>
          <p:cNvSpPr/>
          <p:nvPr/>
        </p:nvSpPr>
        <p:spPr>
          <a:xfrm>
            <a:off x="475488" y="1207008"/>
            <a:ext cx="2761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E66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多峰扫描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75488" y="1591056"/>
            <a:ext cx="27614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默认关闭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364992" y="1097280"/>
            <a:ext cx="2761488" cy="1234440"/>
          </a:xfrm>
          <a:prstGeom prst="roundRect">
            <a:avLst>
              <a:gd name="adj" fmla="val 5926"/>
            </a:avLst>
          </a:prstGeom>
          <a:solidFill>
            <a:srgbClr val="FFFDFB"/>
          </a:solidFill>
          <a:ln/>
        </p:spPr>
      </p:sp>
      <p:sp>
        <p:nvSpPr>
          <p:cNvPr id="8" name="Text 6"/>
          <p:cNvSpPr/>
          <p:nvPr/>
        </p:nvSpPr>
        <p:spPr>
          <a:xfrm>
            <a:off x="3364992" y="1207008"/>
            <a:ext cx="2761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E66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极线校正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364992" y="1591056"/>
            <a:ext cx="27614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默认关闭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254496" y="1097280"/>
            <a:ext cx="2761488" cy="1234440"/>
          </a:xfrm>
          <a:prstGeom prst="roundRect">
            <a:avLst>
              <a:gd name="adj" fmla="val 5926"/>
            </a:avLst>
          </a:prstGeom>
          <a:solidFill>
            <a:srgbClr val="FFFDFB"/>
          </a:solidFill>
          <a:ln/>
        </p:spPr>
      </p:sp>
      <p:sp>
        <p:nvSpPr>
          <p:cNvPr id="11" name="Text 9"/>
          <p:cNvSpPr/>
          <p:nvPr/>
        </p:nvSpPr>
        <p:spPr>
          <a:xfrm>
            <a:off x="6254496" y="1207008"/>
            <a:ext cx="2761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E66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缓存 / 校验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254496" y="1591056"/>
            <a:ext cx="27614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都打开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9144000" y="1097280"/>
            <a:ext cx="2761488" cy="1234440"/>
          </a:xfrm>
          <a:prstGeom prst="roundRect">
            <a:avLst>
              <a:gd name="adj" fmla="val 5926"/>
            </a:avLst>
          </a:prstGeom>
          <a:solidFill>
            <a:srgbClr val="FFFDFB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0" y="1207008"/>
            <a:ext cx="2761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E66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输出目录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144000" y="1591056"/>
            <a:ext cx="27614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results/fsa_decode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75488" y="248716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4E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disparity_*.png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566160" y="2487168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C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行/列坐标伪彩，加峰值强度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75488" y="308152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4E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statistics.png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566160" y="3081528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C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视差与峰值直方图，含 0.5 / 1.0 线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75488" y="367588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4E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correspondence_map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566160" y="3675888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C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R=X，G=Y，B=质量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75488" y="427024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4E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单点频谱 8 张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566160" y="4270248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C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强度、Dc/Ds、线性与对数谱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75488" y="486460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4E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唯一整数过少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3566160" y="4864608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C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少于 100 个不同整数就告警量化阶梯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75488" y="545896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4E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文档可能滞后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566160" y="5458968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C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旧说明仍写 L=M，以代码为准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475488" y="6510528"/>
            <a:ext cx="11228832" cy="9144"/>
          </a:xfrm>
          <a:prstGeom prst="rect">
            <a:avLst/>
          </a:prstGeom>
          <a:solidFill>
            <a:srgbClr val="E4DDD3"/>
          </a:solidFill>
          <a:ln/>
        </p:spPr>
      </p:sp>
      <p:sp>
        <p:nvSpPr>
          <p:cNvPr id="29" name="Text 27"/>
          <p:cNvSpPr/>
          <p:nvPr/>
        </p:nvSpPr>
        <p:spPr>
          <a:xfrm>
            <a:off x="475488" y="6547104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66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肖顺康   ·   机器视觉 · 三维成像算法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8503920" y="6547104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   /   50</a:t>
            </a:r>
            <a:endParaRPr lang="en-US" sz="12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1A23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4A46A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1874520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60" kern="0" dirty="0">
                <a:solidFill>
                  <a:srgbClr val="C4A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 06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58368" y="2267712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7F4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后处理：算得动，也查得清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58368" y="3063240"/>
            <a:ext cx="9692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4DDD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多峰不要靠把 FFT 加长。先把候选找出来，再用极线挑。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75488" y="6510528"/>
            <a:ext cx="11228832" cy="9144"/>
          </a:xfrm>
          <a:prstGeom prst="rect">
            <a:avLst/>
          </a:prstGeom>
          <a:solidFill>
            <a:srgbClr val="3A4454"/>
          </a:solidFill>
          <a:ln/>
        </p:spPr>
      </p:sp>
      <p:sp>
        <p:nvSpPr>
          <p:cNvPr id="7" name="Text 5"/>
          <p:cNvSpPr/>
          <p:nvPr/>
        </p:nvSpPr>
        <p:spPr>
          <a:xfrm>
            <a:off x="475488" y="6547104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5D0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肖顺康   ·   机器视觉 · 三维成像算法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503920" y="6547104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   /   50</a:t>
            </a:r>
            <a:endParaRPr lang="en-US" sz="12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6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256032"/>
            <a:ext cx="11155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9A5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  ·    开销与多峰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493776"/>
            <a:ext cx="11155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主导项是 FFT，多峰来自多条光路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75488" y="1097280"/>
            <a:ext cx="2761488" cy="1554480"/>
          </a:xfrm>
          <a:prstGeom prst="roundRect">
            <a:avLst>
              <a:gd name="adj" fmla="val 4706"/>
            </a:avLst>
          </a:prstGeom>
          <a:solidFill>
            <a:srgbClr val="FFFDFB"/>
          </a:solidFill>
          <a:ln/>
        </p:spPr>
      </p:sp>
      <p:sp>
        <p:nvSpPr>
          <p:cNvPr id="5" name="Text 3"/>
          <p:cNvSpPr/>
          <p:nvPr/>
        </p:nvSpPr>
        <p:spPr>
          <a:xfrm>
            <a:off x="585216" y="1207008"/>
            <a:ext cx="2542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E66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读图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85216" y="1517904"/>
            <a:ext cx="2542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O(M·4·Hc·Wc)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85216" y="1956816"/>
            <a:ext cx="2542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66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首次运行的主要耗时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364992" y="1097280"/>
            <a:ext cx="2761488" cy="1554480"/>
          </a:xfrm>
          <a:prstGeom prst="roundRect">
            <a:avLst>
              <a:gd name="adj" fmla="val 4706"/>
            </a:avLst>
          </a:prstGeom>
          <a:solidFill>
            <a:srgbClr val="FFFDFB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0" y="1207008"/>
            <a:ext cx="2542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E66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构造 D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474720" y="1517904"/>
            <a:ext cx="2542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O(M·Hc·Wc)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474720" y="1956816"/>
            <a:ext cx="2542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66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内存里多一份复数体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254496" y="1097280"/>
            <a:ext cx="2761488" cy="1554480"/>
          </a:xfrm>
          <a:prstGeom prst="roundRect">
            <a:avLst>
              <a:gd name="adj" fmla="val 4706"/>
            </a:avLst>
          </a:prstGeom>
          <a:solidFill>
            <a:srgbClr val="FFFDFB"/>
          </a:solidFill>
          <a:ln/>
        </p:spPr>
      </p:sp>
      <p:sp>
        <p:nvSpPr>
          <p:cNvPr id="13" name="Text 11"/>
          <p:cNvSpPr/>
          <p:nvPr/>
        </p:nvSpPr>
        <p:spPr>
          <a:xfrm>
            <a:off x="6364224" y="1207008"/>
            <a:ext cx="2542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E66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FFT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364224" y="1517904"/>
            <a:ext cx="2542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O(Hc·Wc·L·log L)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364224" y="1956816"/>
            <a:ext cx="2542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66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L=2N 时大约再翻一倍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9144000" y="1097280"/>
            <a:ext cx="2761488" cy="1554480"/>
          </a:xfrm>
          <a:prstGeom prst="roundRect">
            <a:avLst>
              <a:gd name="adj" fmla="val 4706"/>
            </a:avLst>
          </a:prstGeom>
          <a:solidFill>
            <a:srgbClr val="FFFDFB"/>
          </a:solidFill>
          <a:ln/>
        </p:spPr>
      </p:sp>
      <p:sp>
        <p:nvSpPr>
          <p:cNvPr id="17" name="Text 15"/>
          <p:cNvSpPr/>
          <p:nvPr/>
        </p:nvSpPr>
        <p:spPr>
          <a:xfrm>
            <a:off x="9253728" y="1207008"/>
            <a:ext cx="2542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E66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取峰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253728" y="1517904"/>
            <a:ext cx="2542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O(Hc·Wc·L)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253728" y="1956816"/>
            <a:ext cx="2542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66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 FFT 同阶，常数更小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75488" y="2852928"/>
            <a:ext cx="2761488" cy="1965960"/>
          </a:xfrm>
          <a:prstGeom prst="roundRect">
            <a:avLst>
              <a:gd name="adj" fmla="val 3721"/>
            </a:avLst>
          </a:prstGeom>
          <a:solidFill>
            <a:srgbClr val="FFFDFB"/>
          </a:solidFill>
          <a:ln/>
        </p:spPr>
      </p:sp>
      <p:sp>
        <p:nvSpPr>
          <p:cNvPr id="21" name="Text 19"/>
          <p:cNvSpPr/>
          <p:nvPr/>
        </p:nvSpPr>
        <p:spPr>
          <a:xfrm>
            <a:off x="603504" y="2980944"/>
            <a:ext cx="2505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高反光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03504" y="3383280"/>
            <a:ext cx="250545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66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直接光和二次反射叠在同一像素，频谱出现两个坐标。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364992" y="2852928"/>
            <a:ext cx="2761488" cy="1965960"/>
          </a:xfrm>
          <a:prstGeom prst="roundRect">
            <a:avLst>
              <a:gd name="adj" fmla="val 3721"/>
            </a:avLst>
          </a:prstGeom>
          <a:solidFill>
            <a:srgbClr val="FFFDFB"/>
          </a:solidFill>
          <a:ln/>
        </p:spPr>
      </p:sp>
      <p:sp>
        <p:nvSpPr>
          <p:cNvPr id="24" name="Text 22"/>
          <p:cNvSpPr/>
          <p:nvPr/>
        </p:nvSpPr>
        <p:spPr>
          <a:xfrm>
            <a:off x="3493008" y="2980944"/>
            <a:ext cx="2505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遮挡边界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3493008" y="3383280"/>
            <a:ext cx="250545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66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前景和背景的条纹在交界像素上混合。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254496" y="2852928"/>
            <a:ext cx="2761488" cy="1965960"/>
          </a:xfrm>
          <a:prstGeom prst="roundRect">
            <a:avLst>
              <a:gd name="adj" fmla="val 3721"/>
            </a:avLst>
          </a:prstGeom>
          <a:solidFill>
            <a:srgbClr val="FFFDFB"/>
          </a:solidFill>
          <a:ln/>
        </p:spPr>
      </p:sp>
      <p:sp>
        <p:nvSpPr>
          <p:cNvPr id="27" name="Text 25"/>
          <p:cNvSpPr/>
          <p:nvPr/>
        </p:nvSpPr>
        <p:spPr>
          <a:xfrm>
            <a:off x="6382512" y="2980944"/>
            <a:ext cx="2505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多路径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6382512" y="3383280"/>
            <a:ext cx="250545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66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折返光等价于多个 uₚ 叠加。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9144000" y="2852928"/>
            <a:ext cx="2761488" cy="1965960"/>
          </a:xfrm>
          <a:prstGeom prst="roundRect">
            <a:avLst>
              <a:gd name="adj" fmla="val 3721"/>
            </a:avLst>
          </a:prstGeom>
          <a:solidFill>
            <a:srgbClr val="FFFDFB"/>
          </a:solidFill>
          <a:ln/>
        </p:spPr>
      </p:sp>
      <p:sp>
        <p:nvSpPr>
          <p:cNvPr id="30" name="Text 28"/>
          <p:cNvSpPr/>
          <p:nvPr/>
        </p:nvSpPr>
        <p:spPr>
          <a:xfrm>
            <a:off x="9272016" y="2980944"/>
            <a:ext cx="2505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低信噪比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9272016" y="3383280"/>
            <a:ext cx="250545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66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主峰压不住旁瓣，argmax 可能选错，三角化出飞点。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75488" y="498348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C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处理思路不是提高分辨率，而是把候选都找出来，再用几何约束挑选。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475488" y="6510528"/>
            <a:ext cx="11228832" cy="9144"/>
          </a:xfrm>
          <a:prstGeom prst="rect">
            <a:avLst/>
          </a:prstGeom>
          <a:solidFill>
            <a:srgbClr val="E4DDD3"/>
          </a:solidFill>
          <a:ln/>
        </p:spPr>
      </p:sp>
      <p:sp>
        <p:nvSpPr>
          <p:cNvPr id="34" name="Text 32"/>
          <p:cNvSpPr/>
          <p:nvPr/>
        </p:nvSpPr>
        <p:spPr>
          <a:xfrm>
            <a:off x="475488" y="6547104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66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肖顺康   ·   机器视觉 · 三维成像算法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8503920" y="6547104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   /   50</a:t>
            </a:r>
            <a:endParaRPr lang="en-US" sz="12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6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256032"/>
            <a:ext cx="11155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9A5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  ·    多峰与极线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493776"/>
            <a:ext cx="11155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候选先找全，再用极线挑一对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75488" y="1097280"/>
            <a:ext cx="5623560" cy="3794760"/>
          </a:xfrm>
          <a:prstGeom prst="roundRect">
            <a:avLst>
              <a:gd name="adj" fmla="val 1928"/>
            </a:avLst>
          </a:prstGeom>
          <a:solidFill>
            <a:srgbClr val="FFFDFB"/>
          </a:solidFill>
          <a:ln/>
        </p:spPr>
      </p:sp>
      <p:sp>
        <p:nvSpPr>
          <p:cNvPr id="5" name="Text 3"/>
          <p:cNvSpPr/>
          <p:nvPr/>
        </p:nvSpPr>
        <p:spPr>
          <a:xfrm>
            <a:off x="676656" y="1261872"/>
            <a:ext cx="5212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4E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find_peaks 三步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76656" y="1719072"/>
            <a:ext cx="52120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C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阈值去掉弱峰。左右邻域判定局部极大。5 个 bin 内的近峰按幅值加权合并：新位置 = ki·i + (1−ki)·旧位置。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76656" y="3063240"/>
            <a:ext cx="5212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E66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全图扫描先把主峰 ±30 bin 清零，再按次峰/主峰比值排序，最多 200 条。默认关闭。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263640" y="1097280"/>
            <a:ext cx="5440680" cy="3794760"/>
          </a:xfrm>
          <a:prstGeom prst="roundRect">
            <a:avLst>
              <a:gd name="adj" fmla="val 1928"/>
            </a:avLst>
          </a:prstGeom>
          <a:solidFill>
            <a:srgbClr val="F6EBE4"/>
          </a:solidFill>
          <a:ln/>
        </p:spPr>
      </p:sp>
      <p:sp>
        <p:nvSpPr>
          <p:cNvPr id="9" name="Text 7"/>
          <p:cNvSpPr/>
          <p:nvPr/>
        </p:nvSpPr>
        <p:spPr>
          <a:xfrm>
            <a:off x="6464808" y="1261872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A5A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极线校正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64808" y="1719072"/>
            <a:ext cx="5029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C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一个相机像素在投影仪图像上对应一条直线。行候选 × 列候选里，选到这条线距离最小的一对。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64808" y="2971800"/>
            <a:ext cx="5029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E66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某一方向没有候选就回退原视差。只复核指定像素，写出 corrected.npy，不覆盖原图。标定误差会直接变成极线偏置。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75488" y="507492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C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两者都是可选后处理，不替代 argmax 主解码。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75488" y="6510528"/>
            <a:ext cx="11228832" cy="9144"/>
          </a:xfrm>
          <a:prstGeom prst="rect">
            <a:avLst/>
          </a:prstGeom>
          <a:solidFill>
            <a:srgbClr val="E4DDD3"/>
          </a:solidFill>
          <a:ln/>
        </p:spPr>
      </p:sp>
      <p:sp>
        <p:nvSpPr>
          <p:cNvPr id="14" name="Text 12"/>
          <p:cNvSpPr/>
          <p:nvPr/>
        </p:nvSpPr>
        <p:spPr>
          <a:xfrm>
            <a:off x="475488" y="6547104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66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肖顺康   ·   机器视觉 · 三维成像算法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503920" y="6547104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   /   50</a:t>
            </a:r>
            <a:endParaRPr lang="en-US" sz="12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6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256032"/>
            <a:ext cx="11155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9A5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  ·    质量与排查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493776"/>
            <a:ext cx="11155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peak 是置信度，不是概率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75488" y="950976"/>
            <a:ext cx="11155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E66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peak = max|C| / L。分母是 FFT 长度不是 M，所以步长一变，同一物理幅值的数值会掉一截。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75488" y="1389888"/>
            <a:ext cx="3675888" cy="1234440"/>
          </a:xfrm>
          <a:prstGeom prst="roundRect">
            <a:avLst>
              <a:gd name="adj" fmla="val 5926"/>
            </a:avLst>
          </a:prstGeom>
          <a:solidFill>
            <a:srgbClr val="FFFDFB"/>
          </a:solidFill>
          <a:ln/>
        </p:spPr>
      </p:sp>
      <p:sp>
        <p:nvSpPr>
          <p:cNvPr id="6" name="Text 4"/>
          <p:cNvSpPr/>
          <p:nvPr/>
        </p:nvSpPr>
        <p:spPr>
          <a:xfrm>
            <a:off x="475488" y="1481328"/>
            <a:ext cx="36758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9A5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1.0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75488" y="1920240"/>
            <a:ext cx="36758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C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主峰明显，优先保留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315968" y="1389888"/>
            <a:ext cx="3675888" cy="1234440"/>
          </a:xfrm>
          <a:prstGeom prst="roundRect">
            <a:avLst>
              <a:gd name="adj" fmla="val 5926"/>
            </a:avLst>
          </a:prstGeom>
          <a:solidFill>
            <a:srgbClr val="FFFDFB"/>
          </a:solidFill>
          <a:ln/>
        </p:spPr>
      </p:sp>
      <p:sp>
        <p:nvSpPr>
          <p:cNvPr id="9" name="Text 7"/>
          <p:cNvSpPr/>
          <p:nvPr/>
        </p:nvSpPr>
        <p:spPr>
          <a:xfrm>
            <a:off x="4315968" y="1481328"/>
            <a:ext cx="36758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9A5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 – 1.0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315968" y="1920240"/>
            <a:ext cx="36758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C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中等，看邻域和几何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156448" y="1389888"/>
            <a:ext cx="3675888" cy="1234440"/>
          </a:xfrm>
          <a:prstGeom prst="roundRect">
            <a:avLst>
              <a:gd name="adj" fmla="val 5926"/>
            </a:avLst>
          </a:prstGeom>
          <a:solidFill>
            <a:srgbClr val="FFFDFB"/>
          </a:solidFill>
          <a:ln/>
        </p:spPr>
      </p:sp>
      <p:sp>
        <p:nvSpPr>
          <p:cNvPr id="12" name="Text 10"/>
          <p:cNvSpPr/>
          <p:nvPr/>
        </p:nvSpPr>
        <p:spPr>
          <a:xfrm>
            <a:off x="8156448" y="1481328"/>
            <a:ext cx="36758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9A5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 0.5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8156448" y="1920240"/>
            <a:ext cx="36758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C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易误匹配，建议过滤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75488" y="2880360"/>
            <a:ext cx="548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A5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97280" y="2852928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C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核对张数是不是 M×4，命名是不是频率优先。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236208" y="2880360"/>
            <a:ext cx="548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A5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858000" y="2852928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C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打开 VERIFY_SEQUENCE，确认四步没有错位。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75488" y="3840480"/>
            <a:ext cx="548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A5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97280" y="3813048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C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 peak 图，过滤后再重建。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236208" y="3840480"/>
            <a:ext cx="548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A5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858000" y="3813048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C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异常像素设 SPECTRUM_POINTS，直接看是不是多峰。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75488" y="4800600"/>
            <a:ext cx="548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A5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097280" y="4773168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C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点云呈台阶，回查 L 与 frequency_step。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236208" y="4800600"/>
            <a:ext cx="548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A5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858000" y="4773168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C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0.5 / 0.8 是经验值，不要机械套用。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475488" y="6510528"/>
            <a:ext cx="11228832" cy="9144"/>
          </a:xfrm>
          <a:prstGeom prst="rect">
            <a:avLst/>
          </a:prstGeom>
          <a:solidFill>
            <a:srgbClr val="E4DDD3"/>
          </a:solidFill>
          <a:ln/>
        </p:spPr>
      </p:sp>
      <p:sp>
        <p:nvSpPr>
          <p:cNvPr id="27" name="Text 25"/>
          <p:cNvSpPr/>
          <p:nvPr/>
        </p:nvSpPr>
        <p:spPr>
          <a:xfrm>
            <a:off x="475488" y="6547104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66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肖顺康   ·   机器视觉 · 三维成像算法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503920" y="6547104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   /   50</a:t>
            </a:r>
            <a:endParaRPr lang="en-US" sz="12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1A23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4A46A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1874520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60" kern="0" dirty="0">
                <a:solidFill>
                  <a:srgbClr val="C4A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 07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58368" y="2267712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7F4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对应关系如何变成点云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58368" y="3063240"/>
            <a:ext cx="9692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4DDD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解码交出两幅坐标图。放进标定好的三角化里，它才是三维点。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75488" y="6510528"/>
            <a:ext cx="11228832" cy="9144"/>
          </a:xfrm>
          <a:prstGeom prst="rect">
            <a:avLst/>
          </a:prstGeom>
          <a:solidFill>
            <a:srgbClr val="3A4454"/>
          </a:solidFill>
          <a:ln/>
        </p:spPr>
      </p:sp>
      <p:sp>
        <p:nvSpPr>
          <p:cNvPr id="7" name="Text 5"/>
          <p:cNvSpPr/>
          <p:nvPr/>
        </p:nvSpPr>
        <p:spPr>
          <a:xfrm>
            <a:off x="475488" y="6547104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5D0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肖顺康   ·   机器视觉 · 三维成像算法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503920" y="6547104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   /   50</a:t>
            </a:r>
            <a:endParaRPr lang="en-US" sz="12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6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256032"/>
            <a:ext cx="11155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9A5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  ·    数据流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493776"/>
            <a:ext cx="11155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两条射线求交，才有三维点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75488" y="1097280"/>
            <a:ext cx="1810512" cy="1051560"/>
          </a:xfrm>
          <a:prstGeom prst="roundRect">
            <a:avLst>
              <a:gd name="adj" fmla="val 6957"/>
            </a:avLst>
          </a:prstGeom>
          <a:solidFill>
            <a:srgbClr val="FFFDFB"/>
          </a:solidFill>
          <a:ln/>
        </p:spPr>
      </p:sp>
      <p:sp>
        <p:nvSpPr>
          <p:cNvPr id="5" name="Text 3"/>
          <p:cNvSpPr/>
          <p:nvPr/>
        </p:nvSpPr>
        <p:spPr>
          <a:xfrm>
            <a:off x="475488" y="1207008"/>
            <a:ext cx="1810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条纹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75488" y="1572768"/>
            <a:ext cx="18105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E66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M×4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414016" y="1097280"/>
            <a:ext cx="1810512" cy="1051560"/>
          </a:xfrm>
          <a:prstGeom prst="roundRect">
            <a:avLst>
              <a:gd name="adj" fmla="val 6957"/>
            </a:avLst>
          </a:prstGeom>
          <a:solidFill>
            <a:srgbClr val="FFFDFB"/>
          </a:solidFill>
          <a:ln/>
        </p:spPr>
      </p:sp>
      <p:sp>
        <p:nvSpPr>
          <p:cNvPr id="8" name="Text 6"/>
          <p:cNvSpPr/>
          <p:nvPr/>
        </p:nvSpPr>
        <p:spPr>
          <a:xfrm>
            <a:off x="2414016" y="1207008"/>
            <a:ext cx="1810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解码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414016" y="1572768"/>
            <a:ext cx="18105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E66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disp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352544" y="1097280"/>
            <a:ext cx="1810512" cy="1051560"/>
          </a:xfrm>
          <a:prstGeom prst="roundRect">
            <a:avLst>
              <a:gd name="adj" fmla="val 6957"/>
            </a:avLst>
          </a:prstGeom>
          <a:solidFill>
            <a:srgbClr val="FFFDFB"/>
          </a:solidFill>
          <a:ln/>
        </p:spPr>
      </p:sp>
      <p:sp>
        <p:nvSpPr>
          <p:cNvPr id="11" name="Text 9"/>
          <p:cNvSpPr/>
          <p:nvPr/>
        </p:nvSpPr>
        <p:spPr>
          <a:xfrm>
            <a:off x="4352544" y="1207008"/>
            <a:ext cx="1810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过滤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352544" y="1572768"/>
            <a:ext cx="18105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E66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peak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291072" y="1097280"/>
            <a:ext cx="1810512" cy="1051560"/>
          </a:xfrm>
          <a:prstGeom prst="roundRect">
            <a:avLst>
              <a:gd name="adj" fmla="val 6957"/>
            </a:avLst>
          </a:prstGeom>
          <a:solidFill>
            <a:srgbClr val="FFFDFB"/>
          </a:solidFill>
          <a:ln/>
        </p:spPr>
      </p:sp>
      <p:sp>
        <p:nvSpPr>
          <p:cNvPr id="14" name="Text 12"/>
          <p:cNvSpPr/>
          <p:nvPr/>
        </p:nvSpPr>
        <p:spPr>
          <a:xfrm>
            <a:off x="6291072" y="1207008"/>
            <a:ext cx="1810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配对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291072" y="1572768"/>
            <a:ext cx="18105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E66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xₚ, yₚ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229600" y="1097280"/>
            <a:ext cx="1810512" cy="1051560"/>
          </a:xfrm>
          <a:prstGeom prst="roundRect">
            <a:avLst>
              <a:gd name="adj" fmla="val 6957"/>
            </a:avLst>
          </a:prstGeom>
          <a:solidFill>
            <a:srgbClr val="FFFDFB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0" y="1207008"/>
            <a:ext cx="1810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三角化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229600" y="1572768"/>
            <a:ext cx="18105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E66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求交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10168128" y="1097280"/>
            <a:ext cx="1810512" cy="1051560"/>
          </a:xfrm>
          <a:prstGeom prst="roundRect">
            <a:avLst>
              <a:gd name="adj" fmla="val 6957"/>
            </a:avLst>
          </a:prstGeom>
          <a:solidFill>
            <a:srgbClr val="E7EEF2"/>
          </a:solidFill>
          <a:ln/>
        </p:spPr>
      </p:sp>
      <p:sp>
        <p:nvSpPr>
          <p:cNvPr id="20" name="Text 18"/>
          <p:cNvSpPr/>
          <p:nvPr/>
        </p:nvSpPr>
        <p:spPr>
          <a:xfrm>
            <a:off x="10168128" y="1207008"/>
            <a:ext cx="1810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PLY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0168128" y="1572768"/>
            <a:ext cx="18105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E66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点云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75488" y="2331720"/>
            <a:ext cx="3675888" cy="1737360"/>
          </a:xfrm>
          <a:prstGeom prst="roundRect">
            <a:avLst>
              <a:gd name="adj" fmla="val 4211"/>
            </a:avLst>
          </a:prstGeom>
          <a:solidFill>
            <a:srgbClr val="FFFDFB"/>
          </a:solidFill>
          <a:ln/>
        </p:spPr>
      </p:sp>
      <p:sp>
        <p:nvSpPr>
          <p:cNvPr id="23" name="Text 21"/>
          <p:cNvSpPr/>
          <p:nvPr/>
        </p:nvSpPr>
        <p:spPr>
          <a:xfrm>
            <a:off x="621792" y="2468880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相机射线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21792" y="2889504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E66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从相机光心穿过 (xc, yc)，由 Kc 与位姿确定。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315968" y="2331720"/>
            <a:ext cx="3675888" cy="1737360"/>
          </a:xfrm>
          <a:prstGeom prst="roundRect">
            <a:avLst>
              <a:gd name="adj" fmla="val 4211"/>
            </a:avLst>
          </a:prstGeom>
          <a:solidFill>
            <a:srgbClr val="FFFDFB"/>
          </a:solidFill>
          <a:ln/>
        </p:spPr>
      </p:sp>
      <p:sp>
        <p:nvSpPr>
          <p:cNvPr id="26" name="Text 24"/>
          <p:cNvSpPr/>
          <p:nvPr/>
        </p:nvSpPr>
        <p:spPr>
          <a:xfrm>
            <a:off x="4462272" y="2468880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投影仪射线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4462272" y="2889504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E66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穿过 (xp, yp)。xp 来自 disp_ver，yp 来自 disp_hor。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8156448" y="2331720"/>
            <a:ext cx="3675888" cy="1737360"/>
          </a:xfrm>
          <a:prstGeom prst="roundRect">
            <a:avLst>
              <a:gd name="adj" fmla="val 4211"/>
            </a:avLst>
          </a:prstGeom>
          <a:solidFill>
            <a:srgbClr val="FFFDFB"/>
          </a:solidFill>
          <a:ln/>
        </p:spPr>
      </p:sp>
      <p:sp>
        <p:nvSpPr>
          <p:cNvPr id="29" name="Text 27"/>
          <p:cNvSpPr/>
          <p:nvPr/>
        </p:nvSpPr>
        <p:spPr>
          <a:xfrm>
            <a:off x="8302752" y="2468880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最小二乘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8302752" y="2889504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E66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噪声下两条射线通常不相交。triangulatePoints 求齐次最优解。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475488" y="4251960"/>
            <a:ext cx="11228832" cy="1920240"/>
          </a:xfrm>
          <a:prstGeom prst="roundRect">
            <a:avLst>
              <a:gd name="adj" fmla="val 3810"/>
            </a:avLst>
          </a:prstGeom>
          <a:solidFill>
            <a:srgbClr val="F6EBE4"/>
          </a:solidFill>
          <a:ln/>
        </p:spPr>
      </p:sp>
      <p:sp>
        <p:nvSpPr>
          <p:cNvPr id="32" name="Text 30"/>
          <p:cNvSpPr/>
          <p:nvPr/>
        </p:nvSpPr>
        <p:spPr>
          <a:xfrm>
            <a:off x="676656" y="440740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A5A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代码现状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76656" y="4754880"/>
            <a:ext cx="10789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C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先去畸变再三角化，然后用 R、T 变到投影仪坐标系。CorrespondenceReader 与 TriangulationEngine 的方法在主线上没有被调用，真实逻辑内联在 FSAReconstructor 里。重建 example 的 PEAK_LIMIT = 0.8。阈值越松，点越密，飞点也越多。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475488" y="6510528"/>
            <a:ext cx="11228832" cy="9144"/>
          </a:xfrm>
          <a:prstGeom prst="rect">
            <a:avLst/>
          </a:prstGeom>
          <a:solidFill>
            <a:srgbClr val="E4DDD3"/>
          </a:solidFill>
          <a:ln/>
        </p:spPr>
      </p:sp>
      <p:sp>
        <p:nvSpPr>
          <p:cNvPr id="35" name="Text 33"/>
          <p:cNvSpPr/>
          <p:nvPr/>
        </p:nvSpPr>
        <p:spPr>
          <a:xfrm>
            <a:off x="475488" y="6547104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66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肖顺康   ·   机器视觉 · 三维成像算法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8503920" y="6547104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  /   50</a:t>
            </a:r>
            <a:endParaRPr lang="en-US" sz="12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6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256032"/>
            <a:ext cx="11155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9A5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  ·    三件容易看错的事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493776"/>
            <a:ext cx="11155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补偿、坐标系、标定行号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75488" y="1097280"/>
            <a:ext cx="11228832" cy="1572768"/>
          </a:xfrm>
          <a:prstGeom prst="roundRect">
            <a:avLst>
              <a:gd name="adj" fmla="val 4651"/>
            </a:avLst>
          </a:prstGeom>
          <a:solidFill>
            <a:srgbClr val="FFFDFB"/>
          </a:solidFill>
          <a:ln/>
        </p:spPr>
      </p:sp>
      <p:sp>
        <p:nvSpPr>
          <p:cNvPr id="5" name="Text 3"/>
          <p:cNvSpPr/>
          <p:nvPr/>
        </p:nvSpPr>
        <p:spPr>
          <a:xfrm>
            <a:off x="658368" y="1298448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A5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371600" y="1280160"/>
            <a:ext cx="987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峰值补偿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71600" y="1664208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66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解码写出 peak = max|C| / L。s 从 1 改到 0.5 时 L 翻倍，同一幅值的 peak 掉一半。重建侧再乘 L/M，让 0.8 的绝对语义保持一致。水平补偿约 2160/301 ≈ 7.18。未传入频率数时，回退分支会改成相对阈值。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5488" y="2788920"/>
            <a:ext cx="11228832" cy="1572768"/>
          </a:xfrm>
          <a:prstGeom prst="roundRect">
            <a:avLst>
              <a:gd name="adj" fmla="val 4651"/>
            </a:avLst>
          </a:prstGeom>
          <a:solidFill>
            <a:srgbClr val="FFFDFB"/>
          </a:solidFill>
          <a:ln/>
        </p:spPr>
      </p:sp>
      <p:sp>
        <p:nvSpPr>
          <p:cNvPr id="9" name="Text 7"/>
          <p:cNvSpPr/>
          <p:nvPr/>
        </p:nvSpPr>
        <p:spPr>
          <a:xfrm>
            <a:off x="658368" y="2990088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A5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371600" y="2971800"/>
            <a:ext cx="987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坐标系不是同一个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371600" y="3355848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66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FSM 三角化后再变到投影仪坐标系。另一路方法直接输出相机坐标系。不先用 R、T 对齐，KD-Tree 会把整体位姿差当成形状误差。docstring 写相机系，实际返回投影仪系。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75488" y="4480560"/>
            <a:ext cx="11228832" cy="1572768"/>
          </a:xfrm>
          <a:prstGeom prst="roundRect">
            <a:avLst>
              <a:gd name="adj" fmla="val 4651"/>
            </a:avLst>
          </a:prstGeom>
          <a:solidFill>
            <a:srgbClr val="FFFDFB"/>
          </a:solidFill>
          <a:ln/>
        </p:spPr>
      </p:sp>
      <p:sp>
        <p:nvSpPr>
          <p:cNvPr id="13" name="Text 11"/>
          <p:cNvSpPr/>
          <p:nvPr/>
        </p:nvSpPr>
        <p:spPr>
          <a:xfrm>
            <a:off x="658368" y="4681728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A5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371600" y="4663440"/>
            <a:ext cx="987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标定按行号读取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371600" y="5047488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66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Kc、Kp、R、T 写死在固定行。基础矩阵 F 已写出但主线不读。空行错位会静默取错数。解码默认标定结果.txt，重建默认标定结果2.txt。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75488" y="6510528"/>
            <a:ext cx="11228832" cy="9144"/>
          </a:xfrm>
          <a:prstGeom prst="rect">
            <a:avLst/>
          </a:prstGeom>
          <a:solidFill>
            <a:srgbClr val="E4DDD3"/>
          </a:solidFill>
          <a:ln/>
        </p:spPr>
      </p:sp>
      <p:sp>
        <p:nvSpPr>
          <p:cNvPr id="17" name="Text 15"/>
          <p:cNvSpPr/>
          <p:nvPr/>
        </p:nvSpPr>
        <p:spPr>
          <a:xfrm>
            <a:off x="475488" y="6547104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66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肖顺康   ·   机器视觉 · 三维成像算法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503920" y="6547104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   /   50</a:t>
            </a:r>
            <a:endParaRPr lang="en-US" sz="12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6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256032"/>
            <a:ext cx="11155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9A5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  ·    点云怎么比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493776"/>
            <a:ext cx="11155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先对齐坐标系，再看尾部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75488" y="1115568"/>
            <a:ext cx="11228832" cy="1417320"/>
          </a:xfrm>
          <a:prstGeom prst="roundRect">
            <a:avLst>
              <a:gd name="adj" fmla="val 5161"/>
            </a:avLst>
          </a:prstGeom>
          <a:solidFill>
            <a:srgbClr val="E7EEF2"/>
          </a:solidFill>
          <a:ln/>
        </p:spPr>
      </p:sp>
      <p:sp>
        <p:nvSpPr>
          <p:cNvPr id="5" name="Text 3"/>
          <p:cNvSpPr/>
          <p:nvPr/>
        </p:nvSpPr>
        <p:spPr>
          <a:xfrm>
            <a:off x="676656" y="1298448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P_cam = R @ P_proj + T      P_proj = Rᵀ @ (P_cam − T)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76656" y="1810512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E66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不做这一步，最近邻误差会把大约 |T| 的整体偏移当成形状误差。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75488" y="2743200"/>
            <a:ext cx="2761488" cy="1417320"/>
          </a:xfrm>
          <a:prstGeom prst="roundRect">
            <a:avLst>
              <a:gd name="adj" fmla="val 5161"/>
            </a:avLst>
          </a:prstGeom>
          <a:solidFill>
            <a:srgbClr val="FFFDFB"/>
          </a:solidFill>
          <a:ln/>
        </p:spPr>
      </p:sp>
      <p:sp>
        <p:nvSpPr>
          <p:cNvPr id="8" name="Text 6"/>
          <p:cNvSpPr/>
          <p:nvPr/>
        </p:nvSpPr>
        <p:spPr>
          <a:xfrm>
            <a:off x="475488" y="2889504"/>
            <a:ext cx="27614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9A5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/ median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75488" y="3364992"/>
            <a:ext cx="2761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C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平均与中位数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364992" y="2743200"/>
            <a:ext cx="2761488" cy="1417320"/>
          </a:xfrm>
          <a:prstGeom prst="roundRect">
            <a:avLst>
              <a:gd name="adj" fmla="val 5161"/>
            </a:avLst>
          </a:prstGeom>
          <a:solidFill>
            <a:srgbClr val="FFFDFB"/>
          </a:solidFill>
          <a:ln/>
        </p:spPr>
      </p:sp>
      <p:sp>
        <p:nvSpPr>
          <p:cNvPr id="11" name="Text 9"/>
          <p:cNvSpPr/>
          <p:nvPr/>
        </p:nvSpPr>
        <p:spPr>
          <a:xfrm>
            <a:off x="3364992" y="2889504"/>
            <a:ext cx="27614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9A5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 / std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364992" y="3364992"/>
            <a:ext cx="2761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C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均方根与标准差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254496" y="2743200"/>
            <a:ext cx="2761488" cy="1417320"/>
          </a:xfrm>
          <a:prstGeom prst="roundRect">
            <a:avLst>
              <a:gd name="adj" fmla="val 5161"/>
            </a:avLst>
          </a:prstGeom>
          <a:solidFill>
            <a:srgbClr val="FFFDFB"/>
          </a:solidFill>
          <a:ln/>
        </p:spPr>
      </p:sp>
      <p:sp>
        <p:nvSpPr>
          <p:cNvPr id="14" name="Text 12"/>
          <p:cNvSpPr/>
          <p:nvPr/>
        </p:nvSpPr>
        <p:spPr>
          <a:xfrm>
            <a:off x="6254496" y="2889504"/>
            <a:ext cx="27614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9A5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p95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254496" y="3364992"/>
            <a:ext cx="2761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C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尾部，飞点看这里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9144000" y="2743200"/>
            <a:ext cx="2761488" cy="1417320"/>
          </a:xfrm>
          <a:prstGeom prst="roundRect">
            <a:avLst>
              <a:gd name="adj" fmla="val 5161"/>
            </a:avLst>
          </a:prstGeom>
          <a:solidFill>
            <a:srgbClr val="FFFDFB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0" y="2889504"/>
            <a:ext cx="27614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9A5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超阈值占比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144000" y="3364992"/>
            <a:ext cx="2761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C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默认 1.5 mm 标红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75488" y="4389120"/>
            <a:ext cx="11155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C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mean 小但 p95 大，说明整体贴合、少量飞点，往往是多峰误匹配的残留。瓶颈排序：标定精度 &gt; 对应关系质量 &gt; FFT bin 量化。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475488" y="6510528"/>
            <a:ext cx="11228832" cy="9144"/>
          </a:xfrm>
          <a:prstGeom prst="rect">
            <a:avLst/>
          </a:prstGeom>
          <a:solidFill>
            <a:srgbClr val="E4DDD3"/>
          </a:solidFill>
          <a:ln/>
        </p:spPr>
      </p:sp>
      <p:sp>
        <p:nvSpPr>
          <p:cNvPr id="21" name="Text 19"/>
          <p:cNvSpPr/>
          <p:nvPr/>
        </p:nvSpPr>
        <p:spPr>
          <a:xfrm>
            <a:off x="475488" y="6547104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66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肖顺康   ·   机器视觉 · 三维成像算法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503920" y="6547104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   /   50</a:t>
            </a:r>
            <a:endParaRPr lang="en-US" sz="12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1A23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4A46A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1874520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60" kern="0" dirty="0">
                <a:solidFill>
                  <a:srgbClr val="C4A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 08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58368" y="2267712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7F4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同一次仓库运行的实测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58368" y="3063240"/>
            <a:ext cx="9692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4DDD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先看主峰落在哪个 bin，再看坐标图，最后看点云。数字不外推。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75488" y="6510528"/>
            <a:ext cx="11228832" cy="9144"/>
          </a:xfrm>
          <a:prstGeom prst="rect">
            <a:avLst/>
          </a:prstGeom>
          <a:solidFill>
            <a:srgbClr val="3A4454"/>
          </a:solidFill>
          <a:ln/>
        </p:spPr>
      </p:sp>
      <p:sp>
        <p:nvSpPr>
          <p:cNvPr id="7" name="Text 5"/>
          <p:cNvSpPr/>
          <p:nvPr/>
        </p:nvSpPr>
        <p:spPr>
          <a:xfrm>
            <a:off x="475488" y="6547104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5D0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肖顺康   ·   机器视觉 · 三维成像算法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503920" y="6547104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   /   50</a:t>
            </a:r>
            <a:endParaRPr lang="en-US" sz="12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6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256032"/>
            <a:ext cx="11155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9A5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  ·    图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493776"/>
            <a:ext cx="11155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从频率响应到投影坐标</a:t>
            </a:r>
            <a:endParaRPr lang="en-US" sz="2600" dirty="0"/>
          </a:p>
        </p:txBody>
      </p:sp>
      <p:pic>
        <p:nvPicPr>
          <p:cNvPr id="4" name="Image 0" descr="/tmp/fsm_build/imgs/fsm-pipeli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488" y="1060704"/>
            <a:ext cx="11228832" cy="1416515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75488" y="2651760"/>
            <a:ext cx="2761488" cy="1280160"/>
          </a:xfrm>
          <a:prstGeom prst="roundRect">
            <a:avLst>
              <a:gd name="adj" fmla="val 5714"/>
            </a:avLst>
          </a:prstGeom>
          <a:solidFill>
            <a:srgbClr val="FFFDFB"/>
          </a:solidFill>
          <a:ln/>
        </p:spPr>
      </p:sp>
      <p:sp>
        <p:nvSpPr>
          <p:cNvPr id="6" name="Text 3"/>
          <p:cNvSpPr/>
          <p:nvPr/>
        </p:nvSpPr>
        <p:spPr>
          <a:xfrm>
            <a:off x="475488" y="2761488"/>
            <a:ext cx="27614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2048×2448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475488" y="3236976"/>
            <a:ext cx="2761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E66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相机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3364992" y="2651760"/>
            <a:ext cx="2761488" cy="1280160"/>
          </a:xfrm>
          <a:prstGeom prst="roundRect">
            <a:avLst>
              <a:gd name="adj" fmla="val 5714"/>
            </a:avLst>
          </a:prstGeom>
          <a:solidFill>
            <a:srgbClr val="FFFDFB"/>
          </a:solidFill>
          <a:ln/>
        </p:spPr>
      </p:sp>
      <p:sp>
        <p:nvSpPr>
          <p:cNvPr id="9" name="Text 6"/>
          <p:cNvSpPr/>
          <p:nvPr/>
        </p:nvSpPr>
        <p:spPr>
          <a:xfrm>
            <a:off x="3364992" y="2761488"/>
            <a:ext cx="27614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1920×1080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3364992" y="3236976"/>
            <a:ext cx="2761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E66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投影仪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6254496" y="2651760"/>
            <a:ext cx="2761488" cy="1280160"/>
          </a:xfrm>
          <a:prstGeom prst="roundRect">
            <a:avLst>
              <a:gd name="adj" fmla="val 5714"/>
            </a:avLst>
          </a:prstGeom>
          <a:solidFill>
            <a:srgbClr val="FFFDFB"/>
          </a:solidFill>
          <a:ln/>
        </p:spPr>
      </p:sp>
      <p:sp>
        <p:nvSpPr>
          <p:cNvPr id="12" name="Text 9"/>
          <p:cNvSpPr/>
          <p:nvPr/>
        </p:nvSpPr>
        <p:spPr>
          <a:xfrm>
            <a:off x="6254496" y="2761488"/>
            <a:ext cx="27614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301×4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6254496" y="3236976"/>
            <a:ext cx="2761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E66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每方向图像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9144000" y="2651760"/>
            <a:ext cx="2761488" cy="1280160"/>
          </a:xfrm>
          <a:prstGeom prst="roundRect">
            <a:avLst>
              <a:gd name="adj" fmla="val 5714"/>
            </a:avLst>
          </a:prstGeom>
          <a:solidFill>
            <a:srgbClr val="FFFDFB"/>
          </a:solidFill>
          <a:ln/>
        </p:spPr>
      </p:sp>
      <p:sp>
        <p:nvSpPr>
          <p:cNvPr id="15" name="Text 12"/>
          <p:cNvSpPr/>
          <p:nvPr/>
        </p:nvSpPr>
        <p:spPr>
          <a:xfrm>
            <a:off x="9144000" y="2761488"/>
            <a:ext cx="27614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= 0.5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9144000" y="3236976"/>
            <a:ext cx="2761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E66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频率步长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475488" y="4133088"/>
            <a:ext cx="11228832" cy="2029968"/>
          </a:xfrm>
          <a:prstGeom prst="roundRect">
            <a:avLst>
              <a:gd name="adj" fmla="val 3604"/>
            </a:avLst>
          </a:prstGeom>
          <a:solidFill>
            <a:srgbClr val="E7EEF2"/>
          </a:solidFill>
          <a:ln/>
        </p:spPr>
      </p:sp>
      <p:sp>
        <p:nvSpPr>
          <p:cNvPr id="18" name="Text 15"/>
          <p:cNvSpPr/>
          <p:nvPr/>
        </p:nvSpPr>
        <p:spPr>
          <a:xfrm>
            <a:off x="676656" y="429768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4E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读图顺序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676656" y="4681728"/>
            <a:ext cx="10789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C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先确认两方向都解码，再看主峰是否落在合法坐标，最后才看点云密不密。图源为照汗青个人博客，与仓库主路径一致：四步解调 → 频率轴 FFT → 主峰换算 → 峰值过滤 → 三角化 → PLY。</a:t>
            </a:r>
            <a:endParaRPr lang="en-US" sz="1500" dirty="0"/>
          </a:p>
        </p:txBody>
      </p:sp>
      <p:sp>
        <p:nvSpPr>
          <p:cNvPr id="20" name="Shape 17"/>
          <p:cNvSpPr/>
          <p:nvPr/>
        </p:nvSpPr>
        <p:spPr>
          <a:xfrm>
            <a:off x="475488" y="6510528"/>
            <a:ext cx="11228832" cy="9144"/>
          </a:xfrm>
          <a:prstGeom prst="rect">
            <a:avLst/>
          </a:prstGeom>
          <a:solidFill>
            <a:srgbClr val="E4DDD3"/>
          </a:solidFill>
          <a:ln/>
        </p:spPr>
      </p:sp>
      <p:sp>
        <p:nvSpPr>
          <p:cNvPr id="21" name="Text 18"/>
          <p:cNvSpPr/>
          <p:nvPr/>
        </p:nvSpPr>
        <p:spPr>
          <a:xfrm>
            <a:off x="475488" y="6547104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66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肖顺康   ·   机器视觉 · 三维成像算法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8503920" y="6547104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   /   50</a:t>
            </a:r>
            <a:endParaRPr lang="en-US" sz="12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6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256032"/>
            <a:ext cx="11155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9A5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  ·    图 2 / 图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493776"/>
            <a:ext cx="11155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两方向坐标图与质量图</a:t>
            </a:r>
            <a:endParaRPr lang="en-US" sz="2600" dirty="0"/>
          </a:p>
        </p:txBody>
      </p:sp>
      <p:pic>
        <p:nvPicPr>
          <p:cNvPr id="4" name="Image 0" descr="/tmp/fsm_build/imgs/fsm-disparity-h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488" y="1042416"/>
            <a:ext cx="5486400" cy="2351723"/>
          </a:xfrm>
          <a:prstGeom prst="rect">
            <a:avLst/>
          </a:prstGeom>
        </p:spPr>
      </p:pic>
      <p:pic>
        <p:nvPicPr>
          <p:cNvPr id="5" name="Image 1" descr="/tmp/fsm_build/imgs/fsm-disparity-v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042416"/>
            <a:ext cx="5486400" cy="2351723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75488" y="3467291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66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水平：行坐标 yₚ，0…1079。右半为质量。</a:t>
            </a:r>
            <a:endParaRPr lang="en-US" sz="1300" dirty="0"/>
          </a:p>
        </p:txBody>
      </p:sp>
      <p:sp>
        <p:nvSpPr>
          <p:cNvPr id="7" name="Text 3"/>
          <p:cNvSpPr/>
          <p:nvPr/>
        </p:nvSpPr>
        <p:spPr>
          <a:xfrm>
            <a:off x="6217920" y="3467291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66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垂直：列坐标 xₚ，0…1919。亮度连续。</a:t>
            </a:r>
            <a:endParaRPr lang="en-US" sz="1300" dirty="0"/>
          </a:p>
        </p:txBody>
      </p:sp>
      <p:sp>
        <p:nvSpPr>
          <p:cNvPr id="8" name="Shape 4"/>
          <p:cNvSpPr/>
          <p:nvPr/>
        </p:nvSpPr>
        <p:spPr>
          <a:xfrm>
            <a:off x="475488" y="4297680"/>
            <a:ext cx="11228832" cy="1874520"/>
          </a:xfrm>
          <a:prstGeom prst="roundRect">
            <a:avLst>
              <a:gd name="adj" fmla="val 3902"/>
            </a:avLst>
          </a:prstGeom>
          <a:solidFill>
            <a:srgbClr val="FFFDFB"/>
          </a:solidFill>
          <a:ln/>
        </p:spPr>
      </p:sp>
      <p:sp>
        <p:nvSpPr>
          <p:cNvPr id="9" name="Text 5"/>
          <p:cNvSpPr/>
          <p:nvPr/>
        </p:nvSpPr>
        <p:spPr>
          <a:xfrm>
            <a:off x="676656" y="448056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99.98%    5,012,292 / 5,013,504</a:t>
            </a: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676656" y="502920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E66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像素落在投影仪合法坐标。这是本地仓库单次运行，说明直接光主峰可分离。不写成所有 PCB 场景的通用精度。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475488" y="6510528"/>
            <a:ext cx="11228832" cy="9144"/>
          </a:xfrm>
          <a:prstGeom prst="rect">
            <a:avLst/>
          </a:prstGeom>
          <a:solidFill>
            <a:srgbClr val="E4DDD3"/>
          </a:solidFill>
          <a:ln/>
        </p:spPr>
      </p:sp>
      <p:sp>
        <p:nvSpPr>
          <p:cNvPr id="12" name="Text 8"/>
          <p:cNvSpPr/>
          <p:nvPr/>
        </p:nvSpPr>
        <p:spPr>
          <a:xfrm>
            <a:off x="475488" y="6547104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66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肖顺康   ·   机器视觉 · 三维成像算法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8503920" y="6547104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  /   50</a:t>
            </a:r>
            <a:endParaRPr lang="en-US" sz="12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6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256032"/>
            <a:ext cx="11155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9A5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  ·    图 4 / 图 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493776"/>
            <a:ext cx="11155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质量统计与对应关系</a:t>
            </a:r>
            <a:endParaRPr lang="en-US" sz="2600" dirty="0"/>
          </a:p>
        </p:txBody>
      </p:sp>
      <p:pic>
        <p:nvPicPr>
          <p:cNvPr id="4" name="Image 0" descr="/tmp/fsm_build/imgs/fsm-statistic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024128"/>
            <a:ext cx="5212080" cy="3227689"/>
          </a:xfrm>
          <a:prstGeom prst="rect">
            <a:avLst/>
          </a:prstGeom>
        </p:spPr>
      </p:pic>
      <p:pic>
        <p:nvPicPr>
          <p:cNvPr id="5" name="Image 1" descr="/tmp/fsm_build/imgs/fsm-correspondence-ma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1078992"/>
            <a:ext cx="5943600" cy="1984296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760720" y="3218736"/>
            <a:ext cx="5943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C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峰值最大约 18.2（水平）与 30.7（垂直），不是概率。0.5 / 1.0 只是参考线。</a:t>
            </a:r>
            <a:endParaRPr lang="en-US" sz="1400" dirty="0"/>
          </a:p>
        </p:txBody>
      </p:sp>
      <p:sp>
        <p:nvSpPr>
          <p:cNvPr id="7" name="Text 3"/>
          <p:cNvSpPr/>
          <p:nvPr/>
        </p:nvSpPr>
        <p:spPr>
          <a:xfrm>
            <a:off x="5760720" y="4041696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C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右图 R = 投影仪 X，G = Y，B = 质量。黑色为无效或低置信。</a:t>
            </a:r>
            <a:endParaRPr lang="en-US" sz="1400" dirty="0"/>
          </a:p>
        </p:txBody>
      </p:sp>
      <p:sp>
        <p:nvSpPr>
          <p:cNvPr id="8" name="Shape 4"/>
          <p:cNvSpPr/>
          <p:nvPr/>
        </p:nvSpPr>
        <p:spPr>
          <a:xfrm>
            <a:off x="5760720" y="4892040"/>
            <a:ext cx="5943600" cy="1298448"/>
          </a:xfrm>
          <a:prstGeom prst="roundRect">
            <a:avLst>
              <a:gd name="adj" fmla="val 5634"/>
            </a:avLst>
          </a:prstGeom>
          <a:solidFill>
            <a:srgbClr val="E7F0EA"/>
          </a:solidFill>
          <a:ln/>
        </p:spPr>
      </p:sp>
      <p:sp>
        <p:nvSpPr>
          <p:cNvPr id="9" name="Text 5"/>
          <p:cNvSpPr/>
          <p:nvPr/>
        </p:nvSpPr>
        <p:spPr>
          <a:xfrm>
            <a:off x="5943600" y="5029200"/>
            <a:ext cx="5577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F6B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峰值 ≥ 0.5 保留 51.29%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5943600" y="5440680"/>
            <a:ext cx="5577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 257 万像素进入后续。阈值越松，飞点越多。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475488" y="6510528"/>
            <a:ext cx="11228832" cy="9144"/>
          </a:xfrm>
          <a:prstGeom prst="rect">
            <a:avLst/>
          </a:prstGeom>
          <a:solidFill>
            <a:srgbClr val="E4DDD3"/>
          </a:solidFill>
          <a:ln/>
        </p:spPr>
      </p:sp>
      <p:sp>
        <p:nvSpPr>
          <p:cNvPr id="12" name="Text 8"/>
          <p:cNvSpPr/>
          <p:nvPr/>
        </p:nvSpPr>
        <p:spPr>
          <a:xfrm>
            <a:off x="475488" y="6547104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66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肖顺康   ·   机器视觉 · 三维成像算法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8503920" y="6547104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   /   50</a:t>
            </a:r>
            <a:endParaRPr lang="en-US" sz="12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6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256032"/>
            <a:ext cx="11155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9A5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  ·    图 6 / 图 7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493776"/>
            <a:ext cx="11155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单像素频谱：主峰 bin 即坐标</a:t>
            </a:r>
            <a:endParaRPr lang="en-US" sz="2600" dirty="0"/>
          </a:p>
        </p:txBody>
      </p:sp>
      <p:pic>
        <p:nvPicPr>
          <p:cNvPr id="4" name="Image 0" descr="/tmp/fsm_build/imgs/fsm-spectrum-hor-1200-100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1005840"/>
            <a:ext cx="5532120" cy="2734366"/>
          </a:xfrm>
          <a:prstGeom prst="rect">
            <a:avLst/>
          </a:prstGeom>
        </p:spPr>
      </p:pic>
      <p:pic>
        <p:nvPicPr>
          <p:cNvPr id="5" name="Image 1" descr="/tmp/fsm_build/imgs/fsm-spectrum-ver-1200-100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1005840"/>
            <a:ext cx="5532120" cy="2734366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475488" y="3913632"/>
            <a:ext cx="5577840" cy="2267712"/>
          </a:xfrm>
          <a:prstGeom prst="roundRect">
            <a:avLst>
              <a:gd name="adj" fmla="val 3226"/>
            </a:avLst>
          </a:prstGeom>
          <a:solidFill>
            <a:srgbClr val="FFFDFB"/>
          </a:solidFill>
          <a:ln/>
        </p:spPr>
      </p:sp>
      <p:sp>
        <p:nvSpPr>
          <p:cNvPr id="7" name="Text 3"/>
          <p:cNvSpPr/>
          <p:nvPr/>
        </p:nvSpPr>
        <p:spPr>
          <a:xfrm>
            <a:off x="658368" y="4059936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水平  (1200, 1000)</a:t>
            </a:r>
            <a:endParaRPr lang="en-US" sz="1500" dirty="0"/>
          </a:p>
        </p:txBody>
      </p:sp>
      <p:sp>
        <p:nvSpPr>
          <p:cNvPr id="8" name="Text 4"/>
          <p:cNvSpPr/>
          <p:nvPr/>
        </p:nvSpPr>
        <p:spPr>
          <a:xfrm>
            <a:off x="658368" y="4425696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9A5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主峰 bin = 822</a:t>
            </a:r>
            <a:endParaRPr lang="en-US" sz="2200" dirty="0"/>
          </a:p>
        </p:txBody>
      </p:sp>
      <p:sp>
        <p:nvSpPr>
          <p:cNvPr id="9" name="Text 5"/>
          <p:cNvSpPr/>
          <p:nvPr/>
        </p:nvSpPr>
        <p:spPr>
          <a:xfrm>
            <a:off x="658368" y="4892040"/>
            <a:ext cx="5166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66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disp_hor = 822.0。水平 FFT 长度 2160，有效 bin 1080。旁瓣不占主峰，就仍指向直接光对应的行。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6217920" y="3913632"/>
            <a:ext cx="5486400" cy="2267712"/>
          </a:xfrm>
          <a:prstGeom prst="roundRect">
            <a:avLst>
              <a:gd name="adj" fmla="val 3226"/>
            </a:avLst>
          </a:prstGeom>
          <a:solidFill>
            <a:srgbClr val="E7EEF2"/>
          </a:solidFill>
          <a:ln/>
        </p:spPr>
      </p:sp>
      <p:sp>
        <p:nvSpPr>
          <p:cNvPr id="11" name="Text 7"/>
          <p:cNvSpPr/>
          <p:nvPr/>
        </p:nvSpPr>
        <p:spPr>
          <a:xfrm>
            <a:off x="6400800" y="4059936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垂直  同一像素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6400800" y="4425696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4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主峰 bin = 1203</a:t>
            </a:r>
            <a:endParaRPr lang="en-US" sz="2200" dirty="0"/>
          </a:p>
        </p:txBody>
      </p:sp>
      <p:sp>
        <p:nvSpPr>
          <p:cNvPr id="13" name="Text 9"/>
          <p:cNvSpPr/>
          <p:nvPr/>
        </p:nvSpPr>
        <p:spPr>
          <a:xfrm>
            <a:off x="6400800" y="4892040"/>
            <a:ext cx="5074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66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disp_ver = 1203.0。垂直 FFT 长度 3840，有效 bin 1920。bin 与解码坐标 1:1。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475488" y="6510528"/>
            <a:ext cx="11228832" cy="9144"/>
          </a:xfrm>
          <a:prstGeom prst="rect">
            <a:avLst/>
          </a:prstGeom>
          <a:solidFill>
            <a:srgbClr val="E4DDD3"/>
          </a:solidFill>
          <a:ln/>
        </p:spPr>
      </p:sp>
      <p:sp>
        <p:nvSpPr>
          <p:cNvPr id="15" name="Text 11"/>
          <p:cNvSpPr/>
          <p:nvPr/>
        </p:nvSpPr>
        <p:spPr>
          <a:xfrm>
            <a:off x="475488" y="6547104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66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肖顺康   ·   机器视觉 · 三维成像算法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8503920" y="6547104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   /   50</a:t>
            </a:r>
            <a:endParaRPr lang="en-US" sz="12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6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256032"/>
            <a:ext cx="11155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9A5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  ·    图 8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493776"/>
            <a:ext cx="11155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频谱主峰通过后，再生成点云</a:t>
            </a:r>
            <a:endParaRPr lang="en-US" sz="2600" dirty="0"/>
          </a:p>
        </p:txBody>
      </p:sp>
      <p:pic>
        <p:nvPicPr>
          <p:cNvPr id="4" name="Image 0" descr="/tmp/fsm_build/imgs/fsm-pointcloud-vie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1024128"/>
            <a:ext cx="7452360" cy="354763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028432" y="1024128"/>
            <a:ext cx="3675888" cy="1170432"/>
          </a:xfrm>
          <a:prstGeom prst="roundRect">
            <a:avLst>
              <a:gd name="adj" fmla="val 6250"/>
            </a:avLst>
          </a:prstGeom>
          <a:solidFill>
            <a:srgbClr val="FFFDFB"/>
          </a:solidFill>
          <a:ln/>
        </p:spPr>
      </p:sp>
      <p:sp>
        <p:nvSpPr>
          <p:cNvPr id="6" name="Text 3"/>
          <p:cNvSpPr/>
          <p:nvPr/>
        </p:nvSpPr>
        <p:spPr>
          <a:xfrm>
            <a:off x="8119872" y="1115568"/>
            <a:ext cx="34930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2,758,957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8119872" y="1572768"/>
            <a:ext cx="34930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E66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顶点，含 RGB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8028432" y="2304288"/>
            <a:ext cx="3675888" cy="1170432"/>
          </a:xfrm>
          <a:prstGeom prst="roundRect">
            <a:avLst>
              <a:gd name="adj" fmla="val 6250"/>
            </a:avLst>
          </a:prstGeom>
          <a:solidFill>
            <a:srgbClr val="E7F0EA"/>
          </a:solidFill>
          <a:ln/>
        </p:spPr>
      </p:sp>
      <p:sp>
        <p:nvSpPr>
          <p:cNvPr id="9" name="Text 6"/>
          <p:cNvSpPr/>
          <p:nvPr/>
        </p:nvSpPr>
        <p:spPr>
          <a:xfrm>
            <a:off x="8119872" y="2395728"/>
            <a:ext cx="34930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F6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51.29%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8119872" y="2852928"/>
            <a:ext cx="34930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C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峰值 ≥ 0.5 保留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8028432" y="3584448"/>
            <a:ext cx="3675888" cy="1325880"/>
          </a:xfrm>
          <a:prstGeom prst="roundRect">
            <a:avLst>
              <a:gd name="adj" fmla="val 5517"/>
            </a:avLst>
          </a:prstGeom>
          <a:solidFill>
            <a:srgbClr val="F6EBE4"/>
          </a:solidFill>
          <a:ln/>
        </p:spPr>
      </p:sp>
      <p:sp>
        <p:nvSpPr>
          <p:cNvPr id="12" name="Text 9"/>
          <p:cNvSpPr/>
          <p:nvPr/>
        </p:nvSpPr>
        <p:spPr>
          <a:xfrm>
            <a:off x="8119872" y="3712464"/>
            <a:ext cx="34930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9A5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0.031 / 0.500 px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8119872" y="4133088"/>
            <a:ext cx="34930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C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相机 / DLP 反投影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C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该次标定诊断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475488" y="521208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E66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左：正面按深度。右：等轴按顶点颜色。渲染约 12.5 万点，原文件 275 万顶点。不外推成通用精度。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475488" y="6510528"/>
            <a:ext cx="11228832" cy="9144"/>
          </a:xfrm>
          <a:prstGeom prst="rect">
            <a:avLst/>
          </a:prstGeom>
          <a:solidFill>
            <a:srgbClr val="E4DDD3"/>
          </a:solidFill>
          <a:ln/>
        </p:spPr>
      </p:sp>
      <p:sp>
        <p:nvSpPr>
          <p:cNvPr id="16" name="Text 13"/>
          <p:cNvSpPr/>
          <p:nvPr/>
        </p:nvSpPr>
        <p:spPr>
          <a:xfrm>
            <a:off x="475488" y="6547104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66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肖顺康   ·   机器视觉 · 三维成像算法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8503920" y="6547104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   /   50</a:t>
            </a:r>
            <a:endParaRPr lang="en-US" sz="12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6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256032"/>
            <a:ext cx="11155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9A5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493776"/>
            <a:ext cx="11155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三式串联，四条边界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75488" y="1097280"/>
            <a:ext cx="11228832" cy="960120"/>
          </a:xfrm>
          <a:prstGeom prst="roundRect">
            <a:avLst>
              <a:gd name="adj" fmla="val 7619"/>
            </a:avLst>
          </a:prstGeom>
          <a:solidFill>
            <a:srgbClr val="FFFDFB"/>
          </a:solidFill>
          <a:ln/>
        </p:spPr>
      </p:sp>
      <p:sp>
        <p:nvSpPr>
          <p:cNvPr id="5" name="Text 3"/>
          <p:cNvSpPr/>
          <p:nvPr/>
        </p:nvSpPr>
        <p:spPr>
          <a:xfrm>
            <a:off x="658368" y="1353312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A5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371600" y="1243584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信号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880360" y="1243584"/>
            <a:ext cx="8503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C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D[k] = (I0−I2) + j(I3−I1)。差分消直流，只留相位。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75488" y="2148840"/>
            <a:ext cx="11228832" cy="960120"/>
          </a:xfrm>
          <a:prstGeom prst="roundRect">
            <a:avLst>
              <a:gd name="adj" fmla="val 7619"/>
            </a:avLst>
          </a:prstGeom>
          <a:solidFill>
            <a:srgbClr val="FFFDFB"/>
          </a:solidFill>
          <a:ln/>
        </p:spPr>
      </p:sp>
      <p:sp>
        <p:nvSpPr>
          <p:cNvPr id="9" name="Text 7"/>
          <p:cNvSpPr/>
          <p:nvPr/>
        </p:nvSpPr>
        <p:spPr>
          <a:xfrm>
            <a:off x="658368" y="2404872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A5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371600" y="2295144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旋转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880360" y="2295144"/>
            <a:ext cx="8503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C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D[k] ≈ A·exp(j·2π·s·k·uₚ/N)。转得越快，坐标越大。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75488" y="3200400"/>
            <a:ext cx="11228832" cy="960120"/>
          </a:xfrm>
          <a:prstGeom prst="roundRect">
            <a:avLst>
              <a:gd name="adj" fmla="val 7619"/>
            </a:avLst>
          </a:prstGeom>
          <a:solidFill>
            <a:srgbClr val="FFFDFB"/>
          </a:solidFill>
          <a:ln/>
        </p:spPr>
      </p:sp>
      <p:sp>
        <p:nvSpPr>
          <p:cNvPr id="13" name="Text 11"/>
          <p:cNvSpPr/>
          <p:nvPr/>
        </p:nvSpPr>
        <p:spPr>
          <a:xfrm>
            <a:off x="658368" y="3456432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A5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371600" y="3346704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换算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880360" y="3346704"/>
            <a:ext cx="8503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C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uₚ = q·N/(L·s)。取 L = N/s，则 uₚ = q。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75488" y="4389120"/>
            <a:ext cx="2761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4E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 决定信息量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75488" y="4736592"/>
            <a:ext cx="2761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66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观测越多，峰越尖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364992" y="4389120"/>
            <a:ext cx="2761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4E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 决定坐标尺度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364992" y="4736592"/>
            <a:ext cx="2761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66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分母是投影仪分辨率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254496" y="4389120"/>
            <a:ext cx="2761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4E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 决定评价网格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254496" y="4736592"/>
            <a:ext cx="2761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66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由 N 与 s 唯一确定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144000" y="4389120"/>
            <a:ext cx="2761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4E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结果要标边界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144000" y="4736592"/>
            <a:ext cx="2761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66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单次运行 ≠ 通用精度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75488" y="5212080"/>
            <a:ext cx="11228832" cy="987552"/>
          </a:xfrm>
          <a:prstGeom prst="roundRect">
            <a:avLst>
              <a:gd name="adj" fmla="val 7407"/>
            </a:avLst>
          </a:prstGeom>
          <a:solidFill>
            <a:srgbClr val="F3EFE8"/>
          </a:solidFill>
          <a:ln/>
        </p:spPr>
      </p:sp>
      <p:sp>
        <p:nvSpPr>
          <p:cNvPr id="25" name="Text 23"/>
          <p:cNvSpPr/>
          <p:nvPr/>
        </p:nvSpPr>
        <p:spPr>
          <a:xfrm>
            <a:off x="676656" y="5413248"/>
            <a:ext cx="10835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C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瓶颈：标定精度 &gt; 对应关系质量 &gt; FFT 量化。代码跑通、单次运行、验证集指标，三件事不混着说。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475488" y="6510528"/>
            <a:ext cx="11228832" cy="9144"/>
          </a:xfrm>
          <a:prstGeom prst="rect">
            <a:avLst/>
          </a:prstGeom>
          <a:solidFill>
            <a:srgbClr val="E4DDD3"/>
          </a:solidFill>
          <a:ln/>
        </p:spPr>
      </p:sp>
      <p:sp>
        <p:nvSpPr>
          <p:cNvPr id="27" name="Text 25"/>
          <p:cNvSpPr/>
          <p:nvPr/>
        </p:nvSpPr>
        <p:spPr>
          <a:xfrm>
            <a:off x="475488" y="6547104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66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肖顺康   ·   机器视觉 · 三维成像算法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503920" y="6547104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   /   50</a:t>
            </a:r>
            <a:endParaRPr lang="en-US" sz="12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1A23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4A46A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201168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7F4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感谢聆听，欢迎提问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58368" y="278892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C2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可对照仓库：解码视差、单点频谱，以及 pointcloud_fsa.ply。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58368" y="3246120"/>
            <a:ext cx="9144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4A4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图源    照汗青个人博客《FSM 频移结构光》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58368" y="3931920"/>
            <a:ext cx="9144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7E1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肖顺康    ·    机器视觉 · 三维成像算法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75488" y="6510528"/>
            <a:ext cx="11228832" cy="9144"/>
          </a:xfrm>
          <a:prstGeom prst="rect">
            <a:avLst/>
          </a:prstGeom>
          <a:solidFill>
            <a:srgbClr val="3A4454"/>
          </a:solidFill>
          <a:ln/>
        </p:spPr>
      </p:sp>
      <p:sp>
        <p:nvSpPr>
          <p:cNvPr id="8" name="Text 6"/>
          <p:cNvSpPr/>
          <p:nvPr/>
        </p:nvSpPr>
        <p:spPr>
          <a:xfrm>
            <a:off x="475488" y="6547104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5D0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肖顺康   ·   机器视觉 · 三维成像算法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503920" y="6547104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  /   50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50</Slides>
  <Notes>50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50</vt:i4>
      </vt:variant>
    </vt:vector>
  </HeadingPairs>
  <TitlesOfParts>
    <vt:vector size="5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频移法 FSM / FSA · 原理与实现</dc:title>
  <dc:subject>面试稿版式下的完整频移法讲义</dc:subject>
  <dc:creator>肖顺康</dc:creator>
  <cp:lastModifiedBy>肖顺康</cp:lastModifiedBy>
  <cp:revision>1</cp:revision>
  <dcterms:created xsi:type="dcterms:W3CDTF">2026-10-03T04:20:46Z</dcterms:created>
  <dcterms:modified xsi:type="dcterms:W3CDTF">2026-10-03T04:20:46Z</dcterms:modified>
</cp:coreProperties>
</file>