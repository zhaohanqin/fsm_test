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98" r:id="rId30"/>
    <p:sldId id="299" r:id="rId31"/>
    <p:sldId id="300" r:id="rId32"/>
    <p:sldId id="301" r:id="rId33"/>
    <p:sldId id="302" r:id="rId34"/>
    <p:sldId id="303" r:id="rId35"/>
    <p:sldId id="304" r:id="rId36"/>
    <p:sldId id="305"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9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24" y="6356350"/>
            <a:ext cx="2133711" cy="365125"/>
          </a:xfrm>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a:xfrm>
            <a:off x="3124363" y="6356350"/>
            <a:ext cx="2895751" cy="365125"/>
          </a:xfrm>
        </p:spPr>
        <p:txBody>
          <a:bodyPr/>
          <a:lstStyle/>
          <a:p>
            <a:endParaRPr lang="en-US"/>
          </a:p>
        </p:txBody>
      </p:sp>
      <p:sp>
        <p:nvSpPr>
          <p:cNvPr id="4" name="Slide Number Placeholder 3"/>
          <p:cNvSpPr>
            <a:spLocks noGrp="1"/>
          </p:cNvSpPr>
          <p:nvPr>
            <p:ph type="sldNum" sz="quarter" idx="12"/>
          </p:nvPr>
        </p:nvSpPr>
        <p:spPr>
          <a:xfrm>
            <a:off x="6553541" y="6356350"/>
            <a:ext cx="2133711" cy="365125"/>
          </a:xfrm>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68680" y="932688"/>
            <a:ext cx="8229600" cy="365760"/>
          </a:xfrm>
          <a:prstGeom prst="rect">
            <a:avLst/>
          </a:prstGeom>
          <a:noFill/>
        </p:spPr>
        <p:txBody>
          <a:bodyPr wrap="square" lIns="0" tIns="0" rIns="0" bIns="0" rtlCol="0" anchor="ctr"/>
          <a:lstStyle/>
          <a:p>
            <a:pPr marL="0" indent="0">
              <a:buNone/>
            </a:pPr>
            <a:r>
              <a:rPr lang="en-US" sz="1300" b="1" kern="0" spc="300" dirty="0">
                <a:solidFill>
                  <a:srgbClr val="22D3EE"/>
                </a:solidFill>
                <a:latin typeface="Noto Sans CJK SC" pitchFamily="34" charset="0"/>
                <a:ea typeface="Noto Sans CJK SC" pitchFamily="34" charset="-122"/>
                <a:cs typeface="Noto Sans CJK SC" pitchFamily="34" charset="-120"/>
              </a:rPr>
              <a:t>STRUCTURED LIGHT · DECODING</a:t>
            </a:r>
            <a:endParaRPr lang="en-US" sz="1300" dirty="0"/>
          </a:p>
        </p:txBody>
      </p:sp>
      <p:sp>
        <p:nvSpPr>
          <p:cNvPr id="3" name="Text 1"/>
          <p:cNvSpPr/>
          <p:nvPr/>
        </p:nvSpPr>
        <p:spPr>
          <a:xfrm>
            <a:off x="841248" y="1371600"/>
            <a:ext cx="10515600" cy="1097280"/>
          </a:xfrm>
          <a:prstGeom prst="rect">
            <a:avLst/>
          </a:prstGeom>
          <a:noFill/>
        </p:spPr>
        <p:txBody>
          <a:bodyPr wrap="square" lIns="0" tIns="0" rIns="0" bIns="0" rtlCol="0" anchor="ctr"/>
          <a:lstStyle/>
          <a:p>
            <a:pPr marL="0" indent="0">
              <a:buNone/>
            </a:pPr>
            <a:r>
              <a:rPr lang="en-US" sz="5400" b="1" dirty="0">
                <a:solidFill>
                  <a:srgbClr val="FFFFFF"/>
                </a:solidFill>
                <a:latin typeface="Noto Sans CJK SC" pitchFamily="34" charset="0"/>
                <a:ea typeface="Noto Sans CJK SC" pitchFamily="34" charset="-122"/>
                <a:cs typeface="Noto Sans CJK SC" pitchFamily="34" charset="-120"/>
              </a:rPr>
              <a:t>频移法（FSM / FSA）</a:t>
            </a:r>
            <a:endParaRPr lang="en-US" sz="5400" dirty="0"/>
          </a:p>
        </p:txBody>
      </p:sp>
      <p:sp>
        <p:nvSpPr>
          <p:cNvPr id="4" name="Text 2"/>
          <p:cNvSpPr/>
          <p:nvPr/>
        </p:nvSpPr>
        <p:spPr>
          <a:xfrm>
            <a:off x="868680" y="2432304"/>
            <a:ext cx="10515600" cy="868680"/>
          </a:xfrm>
          <a:prstGeom prst="rect">
            <a:avLst/>
          </a:prstGeom>
          <a:noFill/>
        </p:spPr>
        <p:txBody>
          <a:bodyPr wrap="square" lIns="0" tIns="0" rIns="0" bIns="0" rtlCol="0" anchor="ctr"/>
          <a:lstStyle/>
          <a:p>
            <a:pPr marL="0" indent="0">
              <a:buNone/>
            </a:pPr>
            <a:r>
              <a:rPr lang="en-US" sz="4000" b="1" kern="0" spc="600" dirty="0">
                <a:solidFill>
                  <a:srgbClr val="22D3EE"/>
                </a:solidFill>
                <a:latin typeface="Noto Sans CJK SC" pitchFamily="34" charset="0"/>
                <a:ea typeface="Noto Sans CJK SC" pitchFamily="34" charset="-122"/>
                <a:cs typeface="Noto Sans CJK SC" pitchFamily="34" charset="-120"/>
              </a:rPr>
              <a:t>原 理 详 解</a:t>
            </a:r>
            <a:endParaRPr lang="en-US" sz="4000" dirty="0"/>
          </a:p>
        </p:txBody>
      </p:sp>
      <p:sp>
        <p:nvSpPr>
          <p:cNvPr id="5" name="Text 3"/>
          <p:cNvSpPr/>
          <p:nvPr/>
        </p:nvSpPr>
        <p:spPr>
          <a:xfrm>
            <a:off x="877824" y="3401568"/>
            <a:ext cx="10058400" cy="457200"/>
          </a:xfrm>
          <a:prstGeom prst="rect">
            <a:avLst/>
          </a:prstGeom>
          <a:noFill/>
        </p:spPr>
        <p:txBody>
          <a:bodyPr wrap="square" lIns="0" tIns="0" rIns="0" bIns="0" rtlCol="0" anchor="ctr"/>
          <a:lstStyle/>
          <a:p>
            <a:pPr marL="0" indent="0">
              <a:buNone/>
            </a:pPr>
            <a:r>
              <a:rPr lang="en-US" sz="1600" dirty="0">
                <a:solidFill>
                  <a:srgbClr val="CBD5E1"/>
                </a:solidFill>
                <a:latin typeface="Noto Sans CJK SC" pitchFamily="34" charset="0"/>
                <a:ea typeface="Noto Sans CJK SC" pitchFamily="34" charset="-122"/>
                <a:cs typeface="Noto Sans CJK SC" pitchFamily="34" charset="-120"/>
              </a:rPr>
              <a:t>从条纹图像到投影仪坐标对应关系  —  四步相移 + 多频率 FFT 解码</a:t>
            </a:r>
            <a:endParaRPr lang="en-US" sz="1600" dirty="0"/>
          </a:p>
        </p:txBody>
      </p:sp>
      <p:sp>
        <p:nvSpPr>
          <p:cNvPr id="6" name="Shape 4"/>
          <p:cNvSpPr/>
          <p:nvPr/>
        </p:nvSpPr>
        <p:spPr>
          <a:xfrm>
            <a:off x="868680" y="4297680"/>
            <a:ext cx="1478280" cy="566928"/>
          </a:xfrm>
          <a:prstGeom prst="roundRect">
            <a:avLst>
              <a:gd name="adj" fmla="val 12903"/>
            </a:avLst>
          </a:prstGeom>
          <a:solidFill>
            <a:srgbClr val="0F2F4E"/>
          </a:solidFill>
          <a:ln w="12700">
            <a:solidFill>
              <a:srgbClr val="1E466E"/>
            </a:solidFill>
            <a:prstDash val="solid"/>
          </a:ln>
        </p:spPr>
        <p:txBody>
          <a:bodyPr/>
          <a:lstStyle/>
          <a:p>
            <a:endParaRPr lang="zh-CN" altLang="en-US"/>
          </a:p>
        </p:txBody>
      </p:sp>
      <p:sp>
        <p:nvSpPr>
          <p:cNvPr id="7" name="Text 5"/>
          <p:cNvSpPr/>
          <p:nvPr/>
        </p:nvSpPr>
        <p:spPr>
          <a:xfrm>
            <a:off x="822960" y="4297680"/>
            <a:ext cx="1569720"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条纹采集</a:t>
            </a:r>
            <a:endParaRPr lang="en-US" sz="1100" dirty="0"/>
          </a:p>
        </p:txBody>
      </p:sp>
      <p:sp>
        <p:nvSpPr>
          <p:cNvPr id="8" name="Shape 6"/>
          <p:cNvSpPr/>
          <p:nvPr/>
        </p:nvSpPr>
        <p:spPr>
          <a:xfrm>
            <a:off x="2383536" y="4581144"/>
            <a:ext cx="237744" cy="0"/>
          </a:xfrm>
          <a:prstGeom prst="line">
            <a:avLst/>
          </a:prstGeom>
          <a:noFill/>
          <a:ln w="25400">
            <a:solidFill>
              <a:srgbClr val="22D3EE"/>
            </a:solidFill>
            <a:prstDash val="solid"/>
            <a:tailEnd type="triangle"/>
          </a:ln>
        </p:spPr>
        <p:txBody>
          <a:bodyPr/>
          <a:lstStyle/>
          <a:p>
            <a:endParaRPr lang="zh-CN" altLang="en-US"/>
          </a:p>
        </p:txBody>
      </p:sp>
      <p:sp>
        <p:nvSpPr>
          <p:cNvPr id="9" name="Shape 7"/>
          <p:cNvSpPr/>
          <p:nvPr/>
        </p:nvSpPr>
        <p:spPr>
          <a:xfrm>
            <a:off x="2657856" y="4297680"/>
            <a:ext cx="1478280" cy="566928"/>
          </a:xfrm>
          <a:prstGeom prst="roundRect">
            <a:avLst>
              <a:gd name="adj" fmla="val 12903"/>
            </a:avLst>
          </a:prstGeom>
          <a:solidFill>
            <a:srgbClr val="123A5C"/>
          </a:solidFill>
          <a:ln w="12700">
            <a:solidFill>
              <a:srgbClr val="1E466E"/>
            </a:solidFill>
            <a:prstDash val="solid"/>
          </a:ln>
        </p:spPr>
        <p:txBody>
          <a:bodyPr/>
          <a:lstStyle/>
          <a:p>
            <a:endParaRPr lang="zh-CN" altLang="en-US"/>
          </a:p>
        </p:txBody>
      </p:sp>
      <p:sp>
        <p:nvSpPr>
          <p:cNvPr id="10" name="Text 8"/>
          <p:cNvSpPr/>
          <p:nvPr/>
        </p:nvSpPr>
        <p:spPr>
          <a:xfrm>
            <a:off x="2612136" y="4297680"/>
            <a:ext cx="1569720"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四步相移</a:t>
            </a:r>
            <a:endParaRPr lang="en-US" sz="1100" dirty="0"/>
          </a:p>
        </p:txBody>
      </p:sp>
      <p:sp>
        <p:nvSpPr>
          <p:cNvPr id="11" name="Shape 9"/>
          <p:cNvSpPr/>
          <p:nvPr/>
        </p:nvSpPr>
        <p:spPr>
          <a:xfrm>
            <a:off x="4172712" y="4581144"/>
            <a:ext cx="237744" cy="0"/>
          </a:xfrm>
          <a:prstGeom prst="line">
            <a:avLst/>
          </a:prstGeom>
          <a:noFill/>
          <a:ln w="25400">
            <a:solidFill>
              <a:srgbClr val="22D3EE"/>
            </a:solidFill>
            <a:prstDash val="solid"/>
            <a:tailEnd type="triangle"/>
          </a:ln>
        </p:spPr>
        <p:txBody>
          <a:bodyPr/>
          <a:lstStyle/>
          <a:p>
            <a:endParaRPr lang="zh-CN" altLang="en-US"/>
          </a:p>
        </p:txBody>
      </p:sp>
      <p:sp>
        <p:nvSpPr>
          <p:cNvPr id="12" name="Shape 10"/>
          <p:cNvSpPr/>
          <p:nvPr/>
        </p:nvSpPr>
        <p:spPr>
          <a:xfrm>
            <a:off x="4447032" y="4297680"/>
            <a:ext cx="1478280" cy="566928"/>
          </a:xfrm>
          <a:prstGeom prst="roundRect">
            <a:avLst>
              <a:gd name="adj" fmla="val 12903"/>
            </a:avLst>
          </a:prstGeom>
          <a:solidFill>
            <a:srgbClr val="0F2F4E"/>
          </a:solidFill>
          <a:ln w="12700">
            <a:solidFill>
              <a:srgbClr val="1E466E"/>
            </a:solidFill>
            <a:prstDash val="solid"/>
          </a:ln>
        </p:spPr>
        <p:txBody>
          <a:bodyPr/>
          <a:lstStyle/>
          <a:p>
            <a:endParaRPr lang="zh-CN" altLang="en-US"/>
          </a:p>
        </p:txBody>
      </p:sp>
      <p:sp>
        <p:nvSpPr>
          <p:cNvPr id="13" name="Text 11"/>
          <p:cNvSpPr/>
          <p:nvPr/>
        </p:nvSpPr>
        <p:spPr>
          <a:xfrm>
            <a:off x="4401312" y="4297680"/>
            <a:ext cx="1569720"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频率轴信号</a:t>
            </a:r>
            <a:endParaRPr lang="en-US" sz="1100" dirty="0"/>
          </a:p>
        </p:txBody>
      </p:sp>
      <p:sp>
        <p:nvSpPr>
          <p:cNvPr id="14" name="Shape 12"/>
          <p:cNvSpPr/>
          <p:nvPr/>
        </p:nvSpPr>
        <p:spPr>
          <a:xfrm>
            <a:off x="5961888" y="4581144"/>
            <a:ext cx="237744" cy="0"/>
          </a:xfrm>
          <a:prstGeom prst="line">
            <a:avLst/>
          </a:prstGeom>
          <a:noFill/>
          <a:ln w="25400">
            <a:solidFill>
              <a:srgbClr val="22D3EE"/>
            </a:solidFill>
            <a:prstDash val="solid"/>
            <a:tailEnd type="triangle"/>
          </a:ln>
        </p:spPr>
        <p:txBody>
          <a:bodyPr/>
          <a:lstStyle/>
          <a:p>
            <a:endParaRPr lang="zh-CN" altLang="en-US"/>
          </a:p>
        </p:txBody>
      </p:sp>
      <p:sp>
        <p:nvSpPr>
          <p:cNvPr id="15" name="Shape 13"/>
          <p:cNvSpPr/>
          <p:nvPr/>
        </p:nvSpPr>
        <p:spPr>
          <a:xfrm>
            <a:off x="6236208" y="4297680"/>
            <a:ext cx="1478280" cy="566928"/>
          </a:xfrm>
          <a:prstGeom prst="roundRect">
            <a:avLst>
              <a:gd name="adj" fmla="val 12903"/>
            </a:avLst>
          </a:prstGeom>
          <a:solidFill>
            <a:srgbClr val="123A5C"/>
          </a:solidFill>
          <a:ln w="12700">
            <a:solidFill>
              <a:srgbClr val="1E466E"/>
            </a:solidFill>
            <a:prstDash val="solid"/>
          </a:ln>
        </p:spPr>
        <p:txBody>
          <a:bodyPr/>
          <a:lstStyle/>
          <a:p>
            <a:endParaRPr lang="zh-CN" altLang="en-US"/>
          </a:p>
        </p:txBody>
      </p:sp>
      <p:sp>
        <p:nvSpPr>
          <p:cNvPr id="16" name="Text 14"/>
          <p:cNvSpPr/>
          <p:nvPr/>
        </p:nvSpPr>
        <p:spPr>
          <a:xfrm>
            <a:off x="6190488" y="4297680"/>
            <a:ext cx="1569720"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FFT 解码</a:t>
            </a:r>
            <a:endParaRPr lang="en-US" sz="1100" dirty="0"/>
          </a:p>
        </p:txBody>
      </p:sp>
      <p:sp>
        <p:nvSpPr>
          <p:cNvPr id="17" name="Shape 15"/>
          <p:cNvSpPr/>
          <p:nvPr/>
        </p:nvSpPr>
        <p:spPr>
          <a:xfrm>
            <a:off x="7751064" y="4581144"/>
            <a:ext cx="237744" cy="0"/>
          </a:xfrm>
          <a:prstGeom prst="line">
            <a:avLst/>
          </a:prstGeom>
          <a:noFill/>
          <a:ln w="25400">
            <a:solidFill>
              <a:srgbClr val="22D3EE"/>
            </a:solidFill>
            <a:prstDash val="solid"/>
            <a:tailEnd type="triangle"/>
          </a:ln>
        </p:spPr>
        <p:txBody>
          <a:bodyPr/>
          <a:lstStyle/>
          <a:p>
            <a:endParaRPr lang="zh-CN" altLang="en-US"/>
          </a:p>
        </p:txBody>
      </p:sp>
      <p:sp>
        <p:nvSpPr>
          <p:cNvPr id="18" name="Shape 16"/>
          <p:cNvSpPr/>
          <p:nvPr/>
        </p:nvSpPr>
        <p:spPr>
          <a:xfrm>
            <a:off x="8025384" y="4297680"/>
            <a:ext cx="1478280" cy="566928"/>
          </a:xfrm>
          <a:prstGeom prst="roundRect">
            <a:avLst>
              <a:gd name="adj" fmla="val 12903"/>
            </a:avLst>
          </a:prstGeom>
          <a:solidFill>
            <a:srgbClr val="0F2F4E"/>
          </a:solidFill>
          <a:ln w="12700">
            <a:solidFill>
              <a:srgbClr val="1E466E"/>
            </a:solidFill>
            <a:prstDash val="solid"/>
          </a:ln>
        </p:spPr>
        <p:txBody>
          <a:bodyPr/>
          <a:lstStyle/>
          <a:p>
            <a:endParaRPr lang="zh-CN" altLang="en-US"/>
          </a:p>
        </p:txBody>
      </p:sp>
      <p:sp>
        <p:nvSpPr>
          <p:cNvPr id="19" name="Text 17"/>
          <p:cNvSpPr/>
          <p:nvPr/>
        </p:nvSpPr>
        <p:spPr>
          <a:xfrm>
            <a:off x="7979664" y="4297680"/>
            <a:ext cx="1569720"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投影仪坐标</a:t>
            </a:r>
            <a:endParaRPr lang="en-US" sz="1100" dirty="0"/>
          </a:p>
        </p:txBody>
      </p:sp>
      <p:sp>
        <p:nvSpPr>
          <p:cNvPr id="20" name="Shape 18"/>
          <p:cNvSpPr/>
          <p:nvPr/>
        </p:nvSpPr>
        <p:spPr>
          <a:xfrm>
            <a:off x="9540240" y="4581144"/>
            <a:ext cx="237744" cy="0"/>
          </a:xfrm>
          <a:prstGeom prst="line">
            <a:avLst/>
          </a:prstGeom>
          <a:noFill/>
          <a:ln w="25400">
            <a:solidFill>
              <a:srgbClr val="22D3EE"/>
            </a:solidFill>
            <a:prstDash val="solid"/>
            <a:tailEnd type="triangle"/>
          </a:ln>
        </p:spPr>
        <p:txBody>
          <a:bodyPr/>
          <a:lstStyle/>
          <a:p>
            <a:endParaRPr lang="zh-CN" altLang="en-US"/>
          </a:p>
        </p:txBody>
      </p:sp>
      <p:sp>
        <p:nvSpPr>
          <p:cNvPr id="21" name="Shape 19"/>
          <p:cNvSpPr/>
          <p:nvPr/>
        </p:nvSpPr>
        <p:spPr>
          <a:xfrm>
            <a:off x="9814560" y="4297680"/>
            <a:ext cx="1478280" cy="566928"/>
          </a:xfrm>
          <a:prstGeom prst="roundRect">
            <a:avLst>
              <a:gd name="adj" fmla="val 12903"/>
            </a:avLst>
          </a:prstGeom>
          <a:solidFill>
            <a:srgbClr val="123A5C"/>
          </a:solidFill>
          <a:ln w="12700">
            <a:solidFill>
              <a:srgbClr val="1E466E"/>
            </a:solidFill>
            <a:prstDash val="solid"/>
          </a:ln>
        </p:spPr>
        <p:txBody>
          <a:bodyPr/>
          <a:lstStyle/>
          <a:p>
            <a:endParaRPr lang="zh-CN" altLang="en-US"/>
          </a:p>
        </p:txBody>
      </p:sp>
      <p:sp>
        <p:nvSpPr>
          <p:cNvPr id="22" name="Text 20"/>
          <p:cNvSpPr/>
          <p:nvPr/>
        </p:nvSpPr>
        <p:spPr>
          <a:xfrm>
            <a:off x="9768840" y="4297680"/>
            <a:ext cx="1569720"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三维点云</a:t>
            </a:r>
            <a:endParaRPr lang="en-US" sz="1100" dirty="0"/>
          </a:p>
        </p:txBody>
      </p:sp>
      <p:sp>
        <p:nvSpPr>
          <p:cNvPr id="23" name="Text 21"/>
          <p:cNvSpPr/>
          <p:nvPr/>
        </p:nvSpPr>
        <p:spPr>
          <a:xfrm>
            <a:off x="877824" y="6053328"/>
            <a:ext cx="10424160" cy="365760"/>
          </a:xfrm>
          <a:prstGeom prst="rect">
            <a:avLst/>
          </a:prstGeom>
          <a:noFill/>
        </p:spPr>
        <p:txBody>
          <a:bodyPr wrap="square" lIns="0" tIns="0" rIns="0" bIns="0" rtlCol="0" anchor="ctr"/>
          <a:lstStyle/>
          <a:p>
            <a:pPr marL="0" indent="0">
              <a:buNone/>
            </a:pPr>
            <a:r>
              <a:rPr lang="en-US" sz="1150" dirty="0">
                <a:solidFill>
                  <a:srgbClr val="94A3B8"/>
                </a:solidFill>
                <a:latin typeface="Noto Sans CJK SC" pitchFamily="34" charset="0"/>
                <a:ea typeface="Noto Sans CJK SC" pitchFamily="34" charset="-122"/>
                <a:cs typeface="Noto Sans CJK SC" pitchFamily="34" charset="-120"/>
              </a:rPr>
              <a:t>结构光三维重建 · 解码方法专题      |      Frequency Shift Analysis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讲解路线 · ROADMAP</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本次讲解的主线与章节安排</a:t>
            </a:r>
            <a:endParaRPr lang="en-US" sz="2900" dirty="0"/>
          </a:p>
        </p:txBody>
      </p:sp>
      <p:sp>
        <p:nvSpPr>
          <p:cNvPr id="5" name="Text 3"/>
          <p:cNvSpPr/>
          <p:nvPr/>
        </p:nvSpPr>
        <p:spPr>
          <a:xfrm>
            <a:off x="566928" y="1481328"/>
            <a:ext cx="4572000" cy="310896"/>
          </a:xfrm>
          <a:prstGeom prst="rect">
            <a:avLst/>
          </a:prstGeom>
          <a:noFill/>
        </p:spPr>
        <p:txBody>
          <a:bodyPr wrap="square" lIns="0" tIns="0" rIns="0" bIns="0" rtlCol="0" anchor="ctr"/>
          <a:lstStyle/>
          <a:p>
            <a:pPr marL="0" indent="0">
              <a:buNone/>
            </a:pPr>
            <a:r>
              <a:rPr lang="en-US" sz="1300" b="1" dirty="0">
                <a:solidFill>
                  <a:srgbClr val="0E7490"/>
                </a:solidFill>
                <a:latin typeface="Noto Sans CJK SC" pitchFamily="34" charset="0"/>
                <a:ea typeface="Noto Sans CJK SC" pitchFamily="34" charset="-122"/>
                <a:cs typeface="Noto Sans CJK SC" pitchFamily="34" charset="-120"/>
              </a:rPr>
              <a:t>核心叙事主线</a:t>
            </a:r>
            <a:endParaRPr lang="en-US" sz="1300" dirty="0"/>
          </a:p>
        </p:txBody>
      </p:sp>
      <p:sp>
        <p:nvSpPr>
          <p:cNvPr id="6" name="Shape 4"/>
          <p:cNvSpPr/>
          <p:nvPr/>
        </p:nvSpPr>
        <p:spPr>
          <a:xfrm>
            <a:off x="566928" y="1828800"/>
            <a:ext cx="1583436" cy="566928"/>
          </a:xfrm>
          <a:prstGeom prst="roundRect">
            <a:avLst>
              <a:gd name="adj" fmla="val 12903"/>
            </a:avLst>
          </a:prstGeom>
          <a:solidFill>
            <a:srgbClr val="FFFFFF"/>
          </a:solidFill>
          <a:ln w="12700">
            <a:solidFill>
              <a:srgbClr val="E2E8F0"/>
            </a:solidFill>
            <a:prstDash val="solid"/>
          </a:ln>
        </p:spPr>
        <p:txBody>
          <a:bodyPr/>
          <a:lstStyle/>
          <a:p>
            <a:endParaRPr lang="zh-CN" altLang="en-US"/>
          </a:p>
        </p:txBody>
      </p:sp>
      <p:sp>
        <p:nvSpPr>
          <p:cNvPr id="7" name="Text 5"/>
          <p:cNvSpPr/>
          <p:nvPr/>
        </p:nvSpPr>
        <p:spPr>
          <a:xfrm>
            <a:off x="521208" y="1828800"/>
            <a:ext cx="1674876" cy="566928"/>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条纹采集</a:t>
            </a:r>
            <a:endParaRPr lang="en-US" sz="1100" dirty="0"/>
          </a:p>
        </p:txBody>
      </p:sp>
      <p:sp>
        <p:nvSpPr>
          <p:cNvPr id="8" name="Shape 6"/>
          <p:cNvSpPr/>
          <p:nvPr/>
        </p:nvSpPr>
        <p:spPr>
          <a:xfrm>
            <a:off x="2186940" y="2112264"/>
            <a:ext cx="237744" cy="0"/>
          </a:xfrm>
          <a:prstGeom prst="line">
            <a:avLst/>
          </a:prstGeom>
          <a:noFill/>
          <a:ln w="25400">
            <a:solidFill>
              <a:srgbClr val="0E7490"/>
            </a:solidFill>
            <a:prstDash val="solid"/>
            <a:tailEnd type="triangle"/>
          </a:ln>
        </p:spPr>
        <p:txBody>
          <a:bodyPr/>
          <a:lstStyle/>
          <a:p>
            <a:endParaRPr lang="zh-CN" altLang="en-US"/>
          </a:p>
        </p:txBody>
      </p:sp>
      <p:sp>
        <p:nvSpPr>
          <p:cNvPr id="9" name="Shape 7"/>
          <p:cNvSpPr/>
          <p:nvPr/>
        </p:nvSpPr>
        <p:spPr>
          <a:xfrm>
            <a:off x="2461260" y="1828800"/>
            <a:ext cx="1583436" cy="566928"/>
          </a:xfrm>
          <a:prstGeom prst="roundRect">
            <a:avLst>
              <a:gd name="adj" fmla="val 12903"/>
            </a:avLst>
          </a:prstGeom>
          <a:solidFill>
            <a:srgbClr val="EAF0F6"/>
          </a:solidFill>
          <a:ln w="12700">
            <a:solidFill>
              <a:srgbClr val="E2E8F0"/>
            </a:solidFill>
            <a:prstDash val="solid"/>
          </a:ln>
        </p:spPr>
        <p:txBody>
          <a:bodyPr/>
          <a:lstStyle/>
          <a:p>
            <a:endParaRPr lang="zh-CN" altLang="en-US"/>
          </a:p>
        </p:txBody>
      </p:sp>
      <p:sp>
        <p:nvSpPr>
          <p:cNvPr id="10" name="Text 8"/>
          <p:cNvSpPr/>
          <p:nvPr/>
        </p:nvSpPr>
        <p:spPr>
          <a:xfrm>
            <a:off x="2415540" y="1828800"/>
            <a:ext cx="1674876" cy="566928"/>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四步相移</a:t>
            </a:r>
            <a:endParaRPr lang="en-US" sz="1100" dirty="0"/>
          </a:p>
        </p:txBody>
      </p:sp>
      <p:sp>
        <p:nvSpPr>
          <p:cNvPr id="11" name="Shape 9"/>
          <p:cNvSpPr/>
          <p:nvPr/>
        </p:nvSpPr>
        <p:spPr>
          <a:xfrm>
            <a:off x="4081272" y="2112264"/>
            <a:ext cx="237744" cy="0"/>
          </a:xfrm>
          <a:prstGeom prst="line">
            <a:avLst/>
          </a:prstGeom>
          <a:noFill/>
          <a:ln w="25400">
            <a:solidFill>
              <a:srgbClr val="0E7490"/>
            </a:solidFill>
            <a:prstDash val="solid"/>
            <a:tailEnd type="triangle"/>
          </a:ln>
        </p:spPr>
        <p:txBody>
          <a:bodyPr/>
          <a:lstStyle/>
          <a:p>
            <a:endParaRPr lang="zh-CN" altLang="en-US"/>
          </a:p>
        </p:txBody>
      </p:sp>
      <p:sp>
        <p:nvSpPr>
          <p:cNvPr id="12" name="Shape 10"/>
          <p:cNvSpPr/>
          <p:nvPr/>
        </p:nvSpPr>
        <p:spPr>
          <a:xfrm>
            <a:off x="4355592" y="1828800"/>
            <a:ext cx="1583436" cy="566928"/>
          </a:xfrm>
          <a:prstGeom prst="roundRect">
            <a:avLst>
              <a:gd name="adj" fmla="val 12903"/>
            </a:avLst>
          </a:prstGeom>
          <a:solidFill>
            <a:srgbClr val="FFFFFF"/>
          </a:solidFill>
          <a:ln w="12700">
            <a:solidFill>
              <a:srgbClr val="E2E8F0"/>
            </a:solidFill>
            <a:prstDash val="solid"/>
          </a:ln>
        </p:spPr>
        <p:txBody>
          <a:bodyPr/>
          <a:lstStyle/>
          <a:p>
            <a:endParaRPr lang="zh-CN" altLang="en-US"/>
          </a:p>
        </p:txBody>
      </p:sp>
      <p:sp>
        <p:nvSpPr>
          <p:cNvPr id="13" name="Text 11"/>
          <p:cNvSpPr/>
          <p:nvPr/>
        </p:nvSpPr>
        <p:spPr>
          <a:xfrm>
            <a:off x="4309872" y="1828800"/>
            <a:ext cx="1674876" cy="566928"/>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频率轴信号</a:t>
            </a:r>
            <a:endParaRPr lang="en-US" sz="1100" dirty="0"/>
          </a:p>
        </p:txBody>
      </p:sp>
      <p:sp>
        <p:nvSpPr>
          <p:cNvPr id="14" name="Shape 12"/>
          <p:cNvSpPr/>
          <p:nvPr/>
        </p:nvSpPr>
        <p:spPr>
          <a:xfrm>
            <a:off x="5975604" y="2112264"/>
            <a:ext cx="237744" cy="0"/>
          </a:xfrm>
          <a:prstGeom prst="line">
            <a:avLst/>
          </a:prstGeom>
          <a:noFill/>
          <a:ln w="25400">
            <a:solidFill>
              <a:srgbClr val="0E7490"/>
            </a:solidFill>
            <a:prstDash val="solid"/>
            <a:tailEnd type="triangle"/>
          </a:ln>
        </p:spPr>
        <p:txBody>
          <a:bodyPr/>
          <a:lstStyle/>
          <a:p>
            <a:endParaRPr lang="zh-CN" altLang="en-US"/>
          </a:p>
        </p:txBody>
      </p:sp>
      <p:sp>
        <p:nvSpPr>
          <p:cNvPr id="15" name="Shape 13"/>
          <p:cNvSpPr/>
          <p:nvPr/>
        </p:nvSpPr>
        <p:spPr>
          <a:xfrm>
            <a:off x="6249924" y="1828800"/>
            <a:ext cx="1583436" cy="566928"/>
          </a:xfrm>
          <a:prstGeom prst="roundRect">
            <a:avLst>
              <a:gd name="adj" fmla="val 12903"/>
            </a:avLst>
          </a:prstGeom>
          <a:solidFill>
            <a:srgbClr val="EAF0F6"/>
          </a:solidFill>
          <a:ln w="12700">
            <a:solidFill>
              <a:srgbClr val="E2E8F0"/>
            </a:solidFill>
            <a:prstDash val="solid"/>
          </a:ln>
        </p:spPr>
        <p:txBody>
          <a:bodyPr/>
          <a:lstStyle/>
          <a:p>
            <a:endParaRPr lang="zh-CN" altLang="en-US"/>
          </a:p>
        </p:txBody>
      </p:sp>
      <p:sp>
        <p:nvSpPr>
          <p:cNvPr id="16" name="Text 14"/>
          <p:cNvSpPr/>
          <p:nvPr/>
        </p:nvSpPr>
        <p:spPr>
          <a:xfrm>
            <a:off x="6204204" y="1828800"/>
            <a:ext cx="1674876" cy="566928"/>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FFT 解码</a:t>
            </a:r>
            <a:endParaRPr lang="en-US" sz="1100" dirty="0"/>
          </a:p>
        </p:txBody>
      </p:sp>
      <p:sp>
        <p:nvSpPr>
          <p:cNvPr id="17" name="Shape 15"/>
          <p:cNvSpPr/>
          <p:nvPr/>
        </p:nvSpPr>
        <p:spPr>
          <a:xfrm>
            <a:off x="7869936" y="2112264"/>
            <a:ext cx="237744" cy="0"/>
          </a:xfrm>
          <a:prstGeom prst="line">
            <a:avLst/>
          </a:prstGeom>
          <a:noFill/>
          <a:ln w="25400">
            <a:solidFill>
              <a:srgbClr val="0E7490"/>
            </a:solidFill>
            <a:prstDash val="solid"/>
            <a:tailEnd type="triangle"/>
          </a:ln>
        </p:spPr>
        <p:txBody>
          <a:bodyPr/>
          <a:lstStyle/>
          <a:p>
            <a:endParaRPr lang="zh-CN" altLang="en-US"/>
          </a:p>
        </p:txBody>
      </p:sp>
      <p:sp>
        <p:nvSpPr>
          <p:cNvPr id="18" name="Shape 16"/>
          <p:cNvSpPr/>
          <p:nvPr/>
        </p:nvSpPr>
        <p:spPr>
          <a:xfrm>
            <a:off x="8144256" y="1828800"/>
            <a:ext cx="1583436" cy="566928"/>
          </a:xfrm>
          <a:prstGeom prst="roundRect">
            <a:avLst>
              <a:gd name="adj" fmla="val 12903"/>
            </a:avLst>
          </a:prstGeom>
          <a:solidFill>
            <a:srgbClr val="FFFFFF"/>
          </a:solidFill>
          <a:ln w="12700">
            <a:solidFill>
              <a:srgbClr val="E2E8F0"/>
            </a:solidFill>
            <a:prstDash val="solid"/>
          </a:ln>
        </p:spPr>
        <p:txBody>
          <a:bodyPr/>
          <a:lstStyle/>
          <a:p>
            <a:endParaRPr lang="zh-CN" altLang="en-US"/>
          </a:p>
        </p:txBody>
      </p:sp>
      <p:sp>
        <p:nvSpPr>
          <p:cNvPr id="19" name="Text 17"/>
          <p:cNvSpPr/>
          <p:nvPr/>
        </p:nvSpPr>
        <p:spPr>
          <a:xfrm>
            <a:off x="8098536" y="1828800"/>
            <a:ext cx="1674876" cy="566928"/>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投影仪坐标</a:t>
            </a:r>
            <a:endParaRPr lang="en-US" sz="1100" dirty="0"/>
          </a:p>
        </p:txBody>
      </p:sp>
      <p:sp>
        <p:nvSpPr>
          <p:cNvPr id="20" name="Shape 18"/>
          <p:cNvSpPr/>
          <p:nvPr/>
        </p:nvSpPr>
        <p:spPr>
          <a:xfrm>
            <a:off x="9764268" y="2112264"/>
            <a:ext cx="237744" cy="0"/>
          </a:xfrm>
          <a:prstGeom prst="line">
            <a:avLst/>
          </a:prstGeom>
          <a:noFill/>
          <a:ln w="25400">
            <a:solidFill>
              <a:srgbClr val="0E7490"/>
            </a:solidFill>
            <a:prstDash val="solid"/>
            <a:tailEnd type="triangle"/>
          </a:ln>
        </p:spPr>
        <p:txBody>
          <a:bodyPr/>
          <a:lstStyle/>
          <a:p>
            <a:endParaRPr lang="zh-CN" altLang="en-US"/>
          </a:p>
        </p:txBody>
      </p:sp>
      <p:sp>
        <p:nvSpPr>
          <p:cNvPr id="21" name="Shape 19"/>
          <p:cNvSpPr/>
          <p:nvPr/>
        </p:nvSpPr>
        <p:spPr>
          <a:xfrm>
            <a:off x="10038588" y="1828800"/>
            <a:ext cx="1583436" cy="566928"/>
          </a:xfrm>
          <a:prstGeom prst="roundRect">
            <a:avLst>
              <a:gd name="adj" fmla="val 12903"/>
            </a:avLst>
          </a:prstGeom>
          <a:solidFill>
            <a:srgbClr val="EAF0F6"/>
          </a:solidFill>
          <a:ln w="12700">
            <a:solidFill>
              <a:srgbClr val="E2E8F0"/>
            </a:solidFill>
            <a:prstDash val="solid"/>
          </a:ln>
        </p:spPr>
        <p:txBody>
          <a:bodyPr/>
          <a:lstStyle/>
          <a:p>
            <a:endParaRPr lang="zh-CN" altLang="en-US"/>
          </a:p>
        </p:txBody>
      </p:sp>
      <p:sp>
        <p:nvSpPr>
          <p:cNvPr id="22" name="Text 20"/>
          <p:cNvSpPr/>
          <p:nvPr/>
        </p:nvSpPr>
        <p:spPr>
          <a:xfrm>
            <a:off x="9992868" y="1828800"/>
            <a:ext cx="1674876" cy="566928"/>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三维点云</a:t>
            </a:r>
            <a:endParaRPr lang="en-US" sz="1100" dirty="0"/>
          </a:p>
        </p:txBody>
      </p:sp>
      <p:sp>
        <p:nvSpPr>
          <p:cNvPr id="23" name="Shape 21"/>
          <p:cNvSpPr/>
          <p:nvPr/>
        </p:nvSpPr>
        <p:spPr>
          <a:xfrm>
            <a:off x="566928" y="2743200"/>
            <a:ext cx="5358384" cy="768096"/>
          </a:xfrm>
          <a:prstGeom prst="roundRect">
            <a:avLst>
              <a:gd name="adj" fmla="val 10714"/>
            </a:avLst>
          </a:prstGeom>
          <a:solidFill>
            <a:srgbClr val="FFFFFF"/>
          </a:solidFill>
          <a:ln w="12700">
            <a:solidFill>
              <a:srgbClr val="E2E8F0"/>
            </a:solidFill>
            <a:prstDash val="solid"/>
          </a:ln>
          <a:effectLst>
            <a:outerShdw blurRad="76200" dist="25400" dir="8100000" algn="bl" rotWithShape="0">
              <a:srgbClr val="0A1A2F">
                <a:alpha val="10000"/>
              </a:srgbClr>
            </a:outerShdw>
          </a:effectLst>
        </p:spPr>
        <p:txBody>
          <a:bodyPr/>
          <a:lstStyle/>
          <a:p>
            <a:endParaRPr lang="zh-CN" altLang="en-US"/>
          </a:p>
        </p:txBody>
      </p:sp>
      <p:sp>
        <p:nvSpPr>
          <p:cNvPr id="24" name="Shape 22"/>
          <p:cNvSpPr/>
          <p:nvPr/>
        </p:nvSpPr>
        <p:spPr>
          <a:xfrm>
            <a:off x="566928" y="2743200"/>
            <a:ext cx="82296" cy="768096"/>
          </a:xfrm>
          <a:prstGeom prst="rect">
            <a:avLst/>
          </a:prstGeom>
          <a:solidFill>
            <a:srgbClr val="0E7490"/>
          </a:solidFill>
          <a:ln w="12700">
            <a:solidFill>
              <a:srgbClr val="0E7490"/>
            </a:solidFill>
            <a:prstDash val="solid"/>
          </a:ln>
        </p:spPr>
        <p:txBody>
          <a:bodyPr/>
          <a:lstStyle/>
          <a:p>
            <a:endParaRPr lang="zh-CN" altLang="en-US"/>
          </a:p>
        </p:txBody>
      </p:sp>
      <p:sp>
        <p:nvSpPr>
          <p:cNvPr id="25" name="Shape 23"/>
          <p:cNvSpPr/>
          <p:nvPr/>
        </p:nvSpPr>
        <p:spPr>
          <a:xfrm>
            <a:off x="786384" y="2935224"/>
            <a:ext cx="384048" cy="384048"/>
          </a:xfrm>
          <a:prstGeom prst="ellipse">
            <a:avLst/>
          </a:prstGeom>
          <a:solidFill>
            <a:srgbClr val="0E2A47"/>
          </a:solidFill>
          <a:ln w="12700">
            <a:solidFill>
              <a:srgbClr val="0E2A47"/>
            </a:solidFill>
            <a:prstDash val="solid"/>
          </a:ln>
        </p:spPr>
        <p:txBody>
          <a:bodyPr/>
          <a:lstStyle/>
          <a:p>
            <a:endParaRPr lang="zh-CN" altLang="en-US"/>
          </a:p>
        </p:txBody>
      </p:sp>
      <p:sp>
        <p:nvSpPr>
          <p:cNvPr id="26" name="Text 24"/>
          <p:cNvSpPr/>
          <p:nvPr/>
        </p:nvSpPr>
        <p:spPr>
          <a:xfrm>
            <a:off x="786384" y="2935224"/>
            <a:ext cx="384048" cy="384048"/>
          </a:xfrm>
          <a:prstGeom prst="rect">
            <a:avLst/>
          </a:prstGeom>
          <a:noFill/>
        </p:spPr>
        <p:txBody>
          <a:bodyPr wrap="square" lIns="0" tIns="0" rIns="0" bIns="0" rtlCol="0" anchor="ctr"/>
          <a:lstStyle/>
          <a:p>
            <a:pPr marL="0" indent="0" algn="ctr">
              <a:buNone/>
            </a:pPr>
            <a:r>
              <a:rPr lang="en-US" sz="925" b="1" dirty="0">
                <a:solidFill>
                  <a:srgbClr val="FFFFFF"/>
                </a:solidFill>
                <a:latin typeface="Noto Sans CJK SC" pitchFamily="34" charset="0"/>
                <a:ea typeface="Noto Sans CJK SC" pitchFamily="34" charset="-122"/>
                <a:cs typeface="Noto Sans CJK SC" pitchFamily="34" charset="-120"/>
              </a:rPr>
              <a:t>一</a:t>
            </a:r>
            <a:endParaRPr lang="en-US" sz="925" dirty="0"/>
          </a:p>
        </p:txBody>
      </p:sp>
      <p:sp>
        <p:nvSpPr>
          <p:cNvPr id="27" name="Text 25"/>
          <p:cNvSpPr/>
          <p:nvPr/>
        </p:nvSpPr>
        <p:spPr>
          <a:xfrm>
            <a:off x="1316736" y="2852928"/>
            <a:ext cx="4443984" cy="329184"/>
          </a:xfrm>
          <a:prstGeom prst="rect">
            <a:avLst/>
          </a:prstGeom>
          <a:noFill/>
        </p:spPr>
        <p:txBody>
          <a:bodyPr wrap="square" lIns="0" tIns="0" rIns="0" bIns="0" rtlCol="0" anchor="ctr"/>
          <a:lstStyle/>
          <a:p>
            <a:pPr marL="0" indent="0">
              <a:buNone/>
            </a:pPr>
            <a:r>
              <a:rPr lang="en-US" sz="1350" b="1" dirty="0">
                <a:solidFill>
                  <a:srgbClr val="0E2A47"/>
                </a:solidFill>
                <a:latin typeface="Noto Sans CJK SC" pitchFamily="34" charset="0"/>
                <a:ea typeface="Noto Sans CJK SC" pitchFamily="34" charset="-122"/>
                <a:cs typeface="Noto Sans CJK SC" pitchFamily="34" charset="-120"/>
              </a:rPr>
              <a:t>问题背景与方法目标</a:t>
            </a:r>
            <a:endParaRPr lang="en-US" sz="1350" dirty="0"/>
          </a:p>
        </p:txBody>
      </p:sp>
      <p:sp>
        <p:nvSpPr>
          <p:cNvPr id="28" name="Text 26"/>
          <p:cNvSpPr/>
          <p:nvPr/>
        </p:nvSpPr>
        <p:spPr>
          <a:xfrm>
            <a:off x="1316736" y="3145536"/>
            <a:ext cx="4443984" cy="292608"/>
          </a:xfrm>
          <a:prstGeom prst="rect">
            <a:avLst/>
          </a:prstGeom>
          <a:noFill/>
        </p:spPr>
        <p:txBody>
          <a:bodyPr wrap="square" lIns="0" tIns="0" rIns="0" bIns="0" rtlCol="0" anchor="ctr"/>
          <a:lstStyle/>
          <a:p>
            <a:pPr marL="0" indent="0">
              <a:buNone/>
            </a:pPr>
            <a:r>
              <a:rPr lang="en-US" sz="1050" dirty="0">
                <a:solidFill>
                  <a:srgbClr val="64748B"/>
                </a:solidFill>
                <a:latin typeface="Noto Sans CJK SC" pitchFamily="34" charset="0"/>
                <a:ea typeface="Noto Sans CJK SC" pitchFamily="34" charset="-122"/>
                <a:cs typeface="Noto Sans CJK SC" pitchFamily="34" charset="-120"/>
              </a:rPr>
              <a:t>解码要解决什么、输出什么</a:t>
            </a:r>
            <a:endParaRPr lang="en-US" sz="1050" dirty="0"/>
          </a:p>
        </p:txBody>
      </p:sp>
      <p:sp>
        <p:nvSpPr>
          <p:cNvPr id="29" name="Shape 27"/>
          <p:cNvSpPr/>
          <p:nvPr/>
        </p:nvSpPr>
        <p:spPr>
          <a:xfrm>
            <a:off x="6245352" y="2743200"/>
            <a:ext cx="5358384" cy="768096"/>
          </a:xfrm>
          <a:prstGeom prst="roundRect">
            <a:avLst>
              <a:gd name="adj" fmla="val 10714"/>
            </a:avLst>
          </a:prstGeom>
          <a:solidFill>
            <a:srgbClr val="FFFFFF"/>
          </a:solidFill>
          <a:ln w="12700">
            <a:solidFill>
              <a:srgbClr val="E2E8F0"/>
            </a:solidFill>
            <a:prstDash val="solid"/>
          </a:ln>
          <a:effectLst>
            <a:outerShdw blurRad="76200" dist="25400" dir="8100000" algn="bl" rotWithShape="0">
              <a:srgbClr val="0A1A2F">
                <a:alpha val="10000"/>
              </a:srgbClr>
            </a:outerShdw>
          </a:effectLst>
        </p:spPr>
        <p:txBody>
          <a:bodyPr/>
          <a:lstStyle/>
          <a:p>
            <a:endParaRPr lang="zh-CN" altLang="en-US"/>
          </a:p>
        </p:txBody>
      </p:sp>
      <p:sp>
        <p:nvSpPr>
          <p:cNvPr id="30" name="Shape 28"/>
          <p:cNvSpPr/>
          <p:nvPr/>
        </p:nvSpPr>
        <p:spPr>
          <a:xfrm>
            <a:off x="6245352" y="2743200"/>
            <a:ext cx="82296" cy="768096"/>
          </a:xfrm>
          <a:prstGeom prst="rect">
            <a:avLst/>
          </a:prstGeom>
          <a:solidFill>
            <a:srgbClr val="F59E0B"/>
          </a:solidFill>
          <a:ln w="12700">
            <a:solidFill>
              <a:srgbClr val="F59E0B"/>
            </a:solidFill>
            <a:prstDash val="solid"/>
          </a:ln>
        </p:spPr>
        <p:txBody>
          <a:bodyPr/>
          <a:lstStyle/>
          <a:p>
            <a:endParaRPr lang="zh-CN" altLang="en-US"/>
          </a:p>
        </p:txBody>
      </p:sp>
      <p:sp>
        <p:nvSpPr>
          <p:cNvPr id="31" name="Shape 29"/>
          <p:cNvSpPr/>
          <p:nvPr/>
        </p:nvSpPr>
        <p:spPr>
          <a:xfrm>
            <a:off x="6464808" y="2935224"/>
            <a:ext cx="384048" cy="384048"/>
          </a:xfrm>
          <a:prstGeom prst="ellipse">
            <a:avLst/>
          </a:prstGeom>
          <a:solidFill>
            <a:srgbClr val="0E2A47"/>
          </a:solidFill>
          <a:ln w="12700">
            <a:solidFill>
              <a:srgbClr val="0E2A47"/>
            </a:solidFill>
            <a:prstDash val="solid"/>
          </a:ln>
        </p:spPr>
        <p:txBody>
          <a:bodyPr/>
          <a:lstStyle/>
          <a:p>
            <a:endParaRPr lang="zh-CN" altLang="en-US"/>
          </a:p>
        </p:txBody>
      </p:sp>
      <p:sp>
        <p:nvSpPr>
          <p:cNvPr id="32" name="Text 30"/>
          <p:cNvSpPr/>
          <p:nvPr/>
        </p:nvSpPr>
        <p:spPr>
          <a:xfrm>
            <a:off x="6464808" y="2935224"/>
            <a:ext cx="384048" cy="384048"/>
          </a:xfrm>
          <a:prstGeom prst="rect">
            <a:avLst/>
          </a:prstGeom>
          <a:noFill/>
        </p:spPr>
        <p:txBody>
          <a:bodyPr wrap="square" lIns="0" tIns="0" rIns="0" bIns="0" rtlCol="0" anchor="ctr"/>
          <a:lstStyle/>
          <a:p>
            <a:pPr marL="0" indent="0" algn="ctr">
              <a:buNone/>
            </a:pPr>
            <a:r>
              <a:rPr lang="en-US" sz="925" b="1" dirty="0">
                <a:solidFill>
                  <a:srgbClr val="FFFFFF"/>
                </a:solidFill>
                <a:latin typeface="Noto Sans CJK SC" pitchFamily="34" charset="0"/>
                <a:ea typeface="Noto Sans CJK SC" pitchFamily="34" charset="-122"/>
                <a:cs typeface="Noto Sans CJK SC" pitchFamily="34" charset="-120"/>
              </a:rPr>
              <a:t>二</a:t>
            </a:r>
            <a:endParaRPr lang="en-US" sz="925" dirty="0"/>
          </a:p>
        </p:txBody>
      </p:sp>
      <p:sp>
        <p:nvSpPr>
          <p:cNvPr id="33" name="Text 31"/>
          <p:cNvSpPr/>
          <p:nvPr/>
        </p:nvSpPr>
        <p:spPr>
          <a:xfrm>
            <a:off x="6995160" y="2852928"/>
            <a:ext cx="4443984" cy="329184"/>
          </a:xfrm>
          <a:prstGeom prst="rect">
            <a:avLst/>
          </a:prstGeom>
          <a:noFill/>
        </p:spPr>
        <p:txBody>
          <a:bodyPr wrap="square" lIns="0" tIns="0" rIns="0" bIns="0" rtlCol="0" anchor="ctr"/>
          <a:lstStyle/>
          <a:p>
            <a:pPr marL="0" indent="0">
              <a:buNone/>
            </a:pPr>
            <a:r>
              <a:rPr lang="en-US" sz="1350" b="1" dirty="0">
                <a:solidFill>
                  <a:srgbClr val="0E2A47"/>
                </a:solidFill>
                <a:latin typeface="Noto Sans CJK SC" pitchFamily="34" charset="0"/>
                <a:ea typeface="Noto Sans CJK SC" pitchFamily="34" charset="-122"/>
                <a:cs typeface="Noto Sans CJK SC" pitchFamily="34" charset="-120"/>
              </a:rPr>
              <a:t>四步相移与复信号构造</a:t>
            </a:r>
            <a:endParaRPr lang="en-US" sz="1350" dirty="0"/>
          </a:p>
        </p:txBody>
      </p:sp>
      <p:sp>
        <p:nvSpPr>
          <p:cNvPr id="34" name="Text 32"/>
          <p:cNvSpPr/>
          <p:nvPr/>
        </p:nvSpPr>
        <p:spPr>
          <a:xfrm>
            <a:off x="6995160" y="3145536"/>
            <a:ext cx="4443984" cy="292608"/>
          </a:xfrm>
          <a:prstGeom prst="rect">
            <a:avLst/>
          </a:prstGeom>
          <a:noFill/>
        </p:spPr>
        <p:txBody>
          <a:bodyPr wrap="square" lIns="0" tIns="0" rIns="0" bIns="0" rtlCol="0" anchor="ctr"/>
          <a:lstStyle/>
          <a:p>
            <a:pPr marL="0" indent="0">
              <a:buNone/>
            </a:pPr>
            <a:r>
              <a:rPr lang="en-US" sz="1050" dirty="0">
                <a:solidFill>
                  <a:srgbClr val="64748B"/>
                </a:solidFill>
                <a:latin typeface="Noto Sans CJK SC" pitchFamily="34" charset="0"/>
                <a:ea typeface="Noto Sans CJK SC" pitchFamily="34" charset="-122"/>
                <a:cs typeface="Noto Sans CJK SC" pitchFamily="34" charset="-120"/>
              </a:rPr>
              <a:t>从灰度差分到复数 D</a:t>
            </a:r>
            <a:endParaRPr lang="en-US" sz="1050" dirty="0"/>
          </a:p>
        </p:txBody>
      </p:sp>
      <p:sp>
        <p:nvSpPr>
          <p:cNvPr id="35" name="Shape 33"/>
          <p:cNvSpPr/>
          <p:nvPr/>
        </p:nvSpPr>
        <p:spPr>
          <a:xfrm>
            <a:off x="566928" y="3657600"/>
            <a:ext cx="5358384" cy="768096"/>
          </a:xfrm>
          <a:prstGeom prst="roundRect">
            <a:avLst>
              <a:gd name="adj" fmla="val 10714"/>
            </a:avLst>
          </a:prstGeom>
          <a:solidFill>
            <a:srgbClr val="FFFFFF"/>
          </a:solidFill>
          <a:ln w="12700">
            <a:solidFill>
              <a:srgbClr val="E2E8F0"/>
            </a:solidFill>
            <a:prstDash val="solid"/>
          </a:ln>
          <a:effectLst>
            <a:outerShdw blurRad="76200" dist="25400" dir="8100000" algn="bl" rotWithShape="0">
              <a:srgbClr val="0A1A2F">
                <a:alpha val="10000"/>
              </a:srgbClr>
            </a:outerShdw>
          </a:effectLst>
        </p:spPr>
        <p:txBody>
          <a:bodyPr/>
          <a:lstStyle/>
          <a:p>
            <a:endParaRPr lang="zh-CN" altLang="en-US"/>
          </a:p>
        </p:txBody>
      </p:sp>
      <p:sp>
        <p:nvSpPr>
          <p:cNvPr id="36" name="Shape 34"/>
          <p:cNvSpPr/>
          <p:nvPr/>
        </p:nvSpPr>
        <p:spPr>
          <a:xfrm>
            <a:off x="566928" y="3657600"/>
            <a:ext cx="82296" cy="768096"/>
          </a:xfrm>
          <a:prstGeom prst="rect">
            <a:avLst/>
          </a:prstGeom>
          <a:solidFill>
            <a:srgbClr val="0E7490"/>
          </a:solidFill>
          <a:ln w="12700">
            <a:solidFill>
              <a:srgbClr val="0E7490"/>
            </a:solidFill>
            <a:prstDash val="solid"/>
          </a:ln>
        </p:spPr>
        <p:txBody>
          <a:bodyPr/>
          <a:lstStyle/>
          <a:p>
            <a:endParaRPr lang="zh-CN" altLang="en-US"/>
          </a:p>
        </p:txBody>
      </p:sp>
      <p:sp>
        <p:nvSpPr>
          <p:cNvPr id="37" name="Shape 35"/>
          <p:cNvSpPr/>
          <p:nvPr/>
        </p:nvSpPr>
        <p:spPr>
          <a:xfrm>
            <a:off x="786384" y="3849624"/>
            <a:ext cx="384048" cy="384048"/>
          </a:xfrm>
          <a:prstGeom prst="ellipse">
            <a:avLst/>
          </a:prstGeom>
          <a:solidFill>
            <a:srgbClr val="0E2A47"/>
          </a:solidFill>
          <a:ln w="12700">
            <a:solidFill>
              <a:srgbClr val="0E2A47"/>
            </a:solidFill>
            <a:prstDash val="solid"/>
          </a:ln>
        </p:spPr>
        <p:txBody>
          <a:bodyPr/>
          <a:lstStyle/>
          <a:p>
            <a:endParaRPr lang="zh-CN" altLang="en-US"/>
          </a:p>
        </p:txBody>
      </p:sp>
      <p:sp>
        <p:nvSpPr>
          <p:cNvPr id="38" name="Text 36"/>
          <p:cNvSpPr/>
          <p:nvPr/>
        </p:nvSpPr>
        <p:spPr>
          <a:xfrm>
            <a:off x="786384" y="3849624"/>
            <a:ext cx="384048" cy="384048"/>
          </a:xfrm>
          <a:prstGeom prst="rect">
            <a:avLst/>
          </a:prstGeom>
          <a:noFill/>
        </p:spPr>
        <p:txBody>
          <a:bodyPr wrap="square" lIns="0" tIns="0" rIns="0" bIns="0" rtlCol="0" anchor="ctr"/>
          <a:lstStyle/>
          <a:p>
            <a:pPr marL="0" indent="0" algn="ctr">
              <a:buNone/>
            </a:pPr>
            <a:r>
              <a:rPr lang="en-US" sz="925" b="1" dirty="0">
                <a:solidFill>
                  <a:srgbClr val="FFFFFF"/>
                </a:solidFill>
                <a:latin typeface="Noto Sans CJK SC" pitchFamily="34" charset="0"/>
                <a:ea typeface="Noto Sans CJK SC" pitchFamily="34" charset="-122"/>
                <a:cs typeface="Noto Sans CJK SC" pitchFamily="34" charset="-120"/>
              </a:rPr>
              <a:t>三</a:t>
            </a:r>
            <a:endParaRPr lang="en-US" sz="925" dirty="0"/>
          </a:p>
        </p:txBody>
      </p:sp>
      <p:sp>
        <p:nvSpPr>
          <p:cNvPr id="39" name="Text 37"/>
          <p:cNvSpPr/>
          <p:nvPr/>
        </p:nvSpPr>
        <p:spPr>
          <a:xfrm>
            <a:off x="1316736" y="3767328"/>
            <a:ext cx="4443984" cy="329184"/>
          </a:xfrm>
          <a:prstGeom prst="rect">
            <a:avLst/>
          </a:prstGeom>
          <a:noFill/>
        </p:spPr>
        <p:txBody>
          <a:bodyPr wrap="square" lIns="0" tIns="0" rIns="0" bIns="0" rtlCol="0" anchor="ctr"/>
          <a:lstStyle/>
          <a:p>
            <a:pPr marL="0" indent="0">
              <a:buNone/>
            </a:pPr>
            <a:r>
              <a:rPr lang="en-US" sz="1350" b="1" dirty="0">
                <a:solidFill>
                  <a:srgbClr val="0E2A47"/>
                </a:solidFill>
                <a:latin typeface="Noto Sans CJK SC" pitchFamily="34" charset="0"/>
                <a:ea typeface="Noto Sans CJK SC" pitchFamily="34" charset="-122"/>
                <a:cs typeface="Noto Sans CJK SC" pitchFamily="34" charset="-120"/>
              </a:rPr>
              <a:t>频率轴信号与 FFT 解码</a:t>
            </a:r>
            <a:endParaRPr lang="en-US" sz="1350" dirty="0"/>
          </a:p>
        </p:txBody>
      </p:sp>
      <p:sp>
        <p:nvSpPr>
          <p:cNvPr id="40" name="Text 38"/>
          <p:cNvSpPr/>
          <p:nvPr/>
        </p:nvSpPr>
        <p:spPr>
          <a:xfrm>
            <a:off x="1316736" y="4059936"/>
            <a:ext cx="4443984" cy="292608"/>
          </a:xfrm>
          <a:prstGeom prst="rect">
            <a:avLst/>
          </a:prstGeom>
          <a:noFill/>
        </p:spPr>
        <p:txBody>
          <a:bodyPr wrap="square" lIns="0" tIns="0" rIns="0" bIns="0" rtlCol="0" anchor="ctr"/>
          <a:lstStyle/>
          <a:p>
            <a:pPr marL="0" indent="0">
              <a:buNone/>
            </a:pPr>
            <a:r>
              <a:rPr lang="en-US" sz="1050" dirty="0">
                <a:solidFill>
                  <a:srgbClr val="64748B"/>
                </a:solidFill>
                <a:latin typeface="Noto Sans CJK SC" pitchFamily="34" charset="0"/>
                <a:ea typeface="Noto Sans CJK SC" pitchFamily="34" charset="-122"/>
                <a:cs typeface="Noto Sans CJK SC" pitchFamily="34" charset="-120"/>
              </a:rPr>
              <a:t>相位旋转速度即投影仪坐标</a:t>
            </a:r>
            <a:endParaRPr lang="en-US" sz="1050" dirty="0"/>
          </a:p>
        </p:txBody>
      </p:sp>
      <p:sp>
        <p:nvSpPr>
          <p:cNvPr id="41" name="Shape 39"/>
          <p:cNvSpPr/>
          <p:nvPr/>
        </p:nvSpPr>
        <p:spPr>
          <a:xfrm>
            <a:off x="6245352" y="3657600"/>
            <a:ext cx="5358384" cy="768096"/>
          </a:xfrm>
          <a:prstGeom prst="roundRect">
            <a:avLst>
              <a:gd name="adj" fmla="val 10714"/>
            </a:avLst>
          </a:prstGeom>
          <a:solidFill>
            <a:srgbClr val="FFFFFF"/>
          </a:solidFill>
          <a:ln w="12700">
            <a:solidFill>
              <a:srgbClr val="E2E8F0"/>
            </a:solidFill>
            <a:prstDash val="solid"/>
          </a:ln>
          <a:effectLst>
            <a:outerShdw blurRad="76200" dist="25400" dir="8100000" algn="bl" rotWithShape="0">
              <a:srgbClr val="0A1A2F">
                <a:alpha val="10000"/>
              </a:srgbClr>
            </a:outerShdw>
          </a:effectLst>
        </p:spPr>
        <p:txBody>
          <a:bodyPr/>
          <a:lstStyle/>
          <a:p>
            <a:endParaRPr lang="zh-CN" altLang="en-US"/>
          </a:p>
        </p:txBody>
      </p:sp>
      <p:sp>
        <p:nvSpPr>
          <p:cNvPr id="42" name="Shape 40"/>
          <p:cNvSpPr/>
          <p:nvPr/>
        </p:nvSpPr>
        <p:spPr>
          <a:xfrm>
            <a:off x="6245352" y="3657600"/>
            <a:ext cx="82296" cy="768096"/>
          </a:xfrm>
          <a:prstGeom prst="rect">
            <a:avLst/>
          </a:prstGeom>
          <a:solidFill>
            <a:srgbClr val="F59E0B"/>
          </a:solidFill>
          <a:ln w="12700">
            <a:solidFill>
              <a:srgbClr val="F59E0B"/>
            </a:solidFill>
            <a:prstDash val="solid"/>
          </a:ln>
        </p:spPr>
        <p:txBody>
          <a:bodyPr/>
          <a:lstStyle/>
          <a:p>
            <a:endParaRPr lang="zh-CN" altLang="en-US"/>
          </a:p>
        </p:txBody>
      </p:sp>
      <p:sp>
        <p:nvSpPr>
          <p:cNvPr id="43" name="Shape 41"/>
          <p:cNvSpPr/>
          <p:nvPr/>
        </p:nvSpPr>
        <p:spPr>
          <a:xfrm>
            <a:off x="6464808" y="3849624"/>
            <a:ext cx="384048" cy="384048"/>
          </a:xfrm>
          <a:prstGeom prst="ellipse">
            <a:avLst/>
          </a:prstGeom>
          <a:solidFill>
            <a:srgbClr val="0E2A47"/>
          </a:solidFill>
          <a:ln w="12700">
            <a:solidFill>
              <a:srgbClr val="0E2A47"/>
            </a:solidFill>
            <a:prstDash val="solid"/>
          </a:ln>
        </p:spPr>
        <p:txBody>
          <a:bodyPr/>
          <a:lstStyle/>
          <a:p>
            <a:endParaRPr lang="zh-CN" altLang="en-US"/>
          </a:p>
        </p:txBody>
      </p:sp>
      <p:sp>
        <p:nvSpPr>
          <p:cNvPr id="44" name="Text 42"/>
          <p:cNvSpPr/>
          <p:nvPr/>
        </p:nvSpPr>
        <p:spPr>
          <a:xfrm>
            <a:off x="6464808" y="3849624"/>
            <a:ext cx="384048" cy="384048"/>
          </a:xfrm>
          <a:prstGeom prst="rect">
            <a:avLst/>
          </a:prstGeom>
          <a:noFill/>
        </p:spPr>
        <p:txBody>
          <a:bodyPr wrap="square" lIns="0" tIns="0" rIns="0" bIns="0" rtlCol="0" anchor="ctr"/>
          <a:lstStyle/>
          <a:p>
            <a:pPr marL="0" indent="0" algn="ctr">
              <a:buNone/>
            </a:pPr>
            <a:r>
              <a:rPr lang="en-US" sz="925" b="1" dirty="0">
                <a:solidFill>
                  <a:srgbClr val="FFFFFF"/>
                </a:solidFill>
                <a:latin typeface="Noto Sans CJK SC" pitchFamily="34" charset="0"/>
                <a:ea typeface="Noto Sans CJK SC" pitchFamily="34" charset="-122"/>
                <a:cs typeface="Noto Sans CJK SC" pitchFamily="34" charset="-120"/>
              </a:rPr>
              <a:t>四</a:t>
            </a:r>
            <a:endParaRPr lang="en-US" sz="925" dirty="0"/>
          </a:p>
        </p:txBody>
      </p:sp>
      <p:sp>
        <p:nvSpPr>
          <p:cNvPr id="45" name="Text 43"/>
          <p:cNvSpPr/>
          <p:nvPr/>
        </p:nvSpPr>
        <p:spPr>
          <a:xfrm>
            <a:off x="6995160" y="3767328"/>
            <a:ext cx="4443984" cy="329184"/>
          </a:xfrm>
          <a:prstGeom prst="rect">
            <a:avLst/>
          </a:prstGeom>
          <a:noFill/>
        </p:spPr>
        <p:txBody>
          <a:bodyPr wrap="square" lIns="0" tIns="0" rIns="0" bIns="0" rtlCol="0" anchor="ctr"/>
          <a:lstStyle/>
          <a:p>
            <a:pPr marL="0" indent="0">
              <a:buNone/>
            </a:pPr>
            <a:r>
              <a:rPr lang="en-US" sz="1350" b="1" dirty="0">
                <a:solidFill>
                  <a:srgbClr val="0E2A47"/>
                </a:solidFill>
                <a:latin typeface="Noto Sans CJK SC" pitchFamily="34" charset="0"/>
                <a:ea typeface="Noto Sans CJK SC" pitchFamily="34" charset="-122"/>
                <a:cs typeface="Noto Sans CJK SC" pitchFamily="34" charset="-120"/>
              </a:rPr>
              <a:t>主线代码实现与数据形状</a:t>
            </a:r>
            <a:endParaRPr lang="en-US" sz="1350" dirty="0"/>
          </a:p>
        </p:txBody>
      </p:sp>
      <p:sp>
        <p:nvSpPr>
          <p:cNvPr id="46" name="Text 44"/>
          <p:cNvSpPr/>
          <p:nvPr/>
        </p:nvSpPr>
        <p:spPr>
          <a:xfrm>
            <a:off x="6995160" y="4059936"/>
            <a:ext cx="4443984" cy="292608"/>
          </a:xfrm>
          <a:prstGeom prst="rect">
            <a:avLst/>
          </a:prstGeom>
          <a:noFill/>
        </p:spPr>
        <p:txBody>
          <a:bodyPr wrap="square" lIns="0" tIns="0" rIns="0" bIns="0" rtlCol="0" anchor="ctr"/>
          <a:lstStyle/>
          <a:p>
            <a:pPr marL="0" indent="0">
              <a:buNone/>
            </a:pPr>
            <a:r>
              <a:rPr lang="en-US" sz="1050" dirty="0">
                <a:solidFill>
                  <a:srgbClr val="64748B"/>
                </a:solidFill>
                <a:latin typeface="Noto Sans CJK SC" pitchFamily="34" charset="0"/>
                <a:ea typeface="Noto Sans CJK SC" pitchFamily="34" charset="-122"/>
                <a:cs typeface="Noto Sans CJK SC" pitchFamily="34" charset="-120"/>
              </a:rPr>
              <a:t>张量维度与分块处理</a:t>
            </a:r>
            <a:endParaRPr lang="en-US" sz="1050" dirty="0"/>
          </a:p>
        </p:txBody>
      </p:sp>
      <p:sp>
        <p:nvSpPr>
          <p:cNvPr id="47" name="Shape 45"/>
          <p:cNvSpPr/>
          <p:nvPr/>
        </p:nvSpPr>
        <p:spPr>
          <a:xfrm>
            <a:off x="566928" y="4572000"/>
            <a:ext cx="5358384" cy="768096"/>
          </a:xfrm>
          <a:prstGeom prst="roundRect">
            <a:avLst>
              <a:gd name="adj" fmla="val 10714"/>
            </a:avLst>
          </a:prstGeom>
          <a:solidFill>
            <a:srgbClr val="FFFFFF"/>
          </a:solidFill>
          <a:ln w="12700">
            <a:solidFill>
              <a:srgbClr val="E2E8F0"/>
            </a:solidFill>
            <a:prstDash val="solid"/>
          </a:ln>
          <a:effectLst>
            <a:outerShdw blurRad="76200" dist="25400" dir="8100000" algn="bl" rotWithShape="0">
              <a:srgbClr val="0A1A2F">
                <a:alpha val="10000"/>
              </a:srgbClr>
            </a:outerShdw>
          </a:effectLst>
        </p:spPr>
        <p:txBody>
          <a:bodyPr/>
          <a:lstStyle/>
          <a:p>
            <a:endParaRPr lang="zh-CN" altLang="en-US"/>
          </a:p>
        </p:txBody>
      </p:sp>
      <p:sp>
        <p:nvSpPr>
          <p:cNvPr id="48" name="Shape 46"/>
          <p:cNvSpPr/>
          <p:nvPr/>
        </p:nvSpPr>
        <p:spPr>
          <a:xfrm>
            <a:off x="566928" y="4572000"/>
            <a:ext cx="82296" cy="768096"/>
          </a:xfrm>
          <a:prstGeom prst="rect">
            <a:avLst/>
          </a:prstGeom>
          <a:solidFill>
            <a:srgbClr val="0E7490"/>
          </a:solidFill>
          <a:ln w="12700">
            <a:solidFill>
              <a:srgbClr val="0E7490"/>
            </a:solidFill>
            <a:prstDash val="solid"/>
          </a:ln>
        </p:spPr>
        <p:txBody>
          <a:bodyPr/>
          <a:lstStyle/>
          <a:p>
            <a:endParaRPr lang="zh-CN" altLang="en-US"/>
          </a:p>
        </p:txBody>
      </p:sp>
      <p:sp>
        <p:nvSpPr>
          <p:cNvPr id="49" name="Shape 47"/>
          <p:cNvSpPr/>
          <p:nvPr/>
        </p:nvSpPr>
        <p:spPr>
          <a:xfrm>
            <a:off x="786384" y="4764024"/>
            <a:ext cx="384048" cy="384048"/>
          </a:xfrm>
          <a:prstGeom prst="ellipse">
            <a:avLst/>
          </a:prstGeom>
          <a:solidFill>
            <a:srgbClr val="0E2A47"/>
          </a:solidFill>
          <a:ln w="12700">
            <a:solidFill>
              <a:srgbClr val="0E2A47"/>
            </a:solidFill>
            <a:prstDash val="solid"/>
          </a:ln>
        </p:spPr>
        <p:txBody>
          <a:bodyPr/>
          <a:lstStyle/>
          <a:p>
            <a:endParaRPr lang="zh-CN" altLang="en-US"/>
          </a:p>
        </p:txBody>
      </p:sp>
      <p:sp>
        <p:nvSpPr>
          <p:cNvPr id="50" name="Text 48"/>
          <p:cNvSpPr/>
          <p:nvPr/>
        </p:nvSpPr>
        <p:spPr>
          <a:xfrm>
            <a:off x="786384" y="4764024"/>
            <a:ext cx="384048" cy="384048"/>
          </a:xfrm>
          <a:prstGeom prst="rect">
            <a:avLst/>
          </a:prstGeom>
          <a:noFill/>
        </p:spPr>
        <p:txBody>
          <a:bodyPr wrap="square" lIns="0" tIns="0" rIns="0" bIns="0" rtlCol="0" anchor="ctr"/>
          <a:lstStyle/>
          <a:p>
            <a:pPr marL="0" indent="0" algn="ctr">
              <a:buNone/>
            </a:pPr>
            <a:r>
              <a:rPr lang="en-US" sz="925" b="1" dirty="0">
                <a:solidFill>
                  <a:srgbClr val="FFFFFF"/>
                </a:solidFill>
                <a:latin typeface="Noto Sans CJK SC" pitchFamily="34" charset="0"/>
                <a:ea typeface="Noto Sans CJK SC" pitchFamily="34" charset="-122"/>
                <a:cs typeface="Noto Sans CJK SC" pitchFamily="34" charset="-120"/>
              </a:rPr>
              <a:t>五</a:t>
            </a:r>
            <a:endParaRPr lang="en-US" sz="925" dirty="0"/>
          </a:p>
        </p:txBody>
      </p:sp>
      <p:sp>
        <p:nvSpPr>
          <p:cNvPr id="51" name="Text 49"/>
          <p:cNvSpPr/>
          <p:nvPr/>
        </p:nvSpPr>
        <p:spPr>
          <a:xfrm>
            <a:off x="1316736" y="4681728"/>
            <a:ext cx="4443984" cy="329184"/>
          </a:xfrm>
          <a:prstGeom prst="rect">
            <a:avLst/>
          </a:prstGeom>
          <a:noFill/>
        </p:spPr>
        <p:txBody>
          <a:bodyPr wrap="square" lIns="0" tIns="0" rIns="0" bIns="0" rtlCol="0" anchor="ctr"/>
          <a:lstStyle/>
          <a:p>
            <a:pPr marL="0" indent="0">
              <a:buNone/>
            </a:pPr>
            <a:r>
              <a:rPr lang="en-US" sz="1350" b="1" dirty="0">
                <a:solidFill>
                  <a:srgbClr val="0E2A47"/>
                </a:solidFill>
                <a:latin typeface="Noto Sans CJK SC" pitchFamily="34" charset="0"/>
                <a:ea typeface="Noto Sans CJK SC" pitchFamily="34" charset="-122"/>
                <a:cs typeface="Noto Sans CJK SC" pitchFamily="34" charset="-120"/>
              </a:rPr>
              <a:t>FFT 长度策略与 frequency_step</a:t>
            </a:r>
            <a:endParaRPr lang="en-US" sz="1350" dirty="0"/>
          </a:p>
        </p:txBody>
      </p:sp>
      <p:sp>
        <p:nvSpPr>
          <p:cNvPr id="52" name="Text 50"/>
          <p:cNvSpPr/>
          <p:nvPr/>
        </p:nvSpPr>
        <p:spPr>
          <a:xfrm>
            <a:off x="1316736" y="4974336"/>
            <a:ext cx="4443984" cy="292608"/>
          </a:xfrm>
          <a:prstGeom prst="rect">
            <a:avLst/>
          </a:prstGeom>
          <a:noFill/>
        </p:spPr>
        <p:txBody>
          <a:bodyPr wrap="square" lIns="0" tIns="0" rIns="0" bIns="0" rtlCol="0" anchor="ctr"/>
          <a:lstStyle/>
          <a:p>
            <a:pPr marL="0" indent="0">
              <a:buNone/>
            </a:pPr>
            <a:r>
              <a:rPr lang="en-US" sz="1050" dirty="0">
                <a:solidFill>
                  <a:srgbClr val="64748B"/>
                </a:solidFill>
                <a:latin typeface="Noto Sans CJK SC" pitchFamily="34" charset="0"/>
                <a:ea typeface="Noto Sans CJK SC" pitchFamily="34" charset="-122"/>
                <a:cs typeface="Noto Sans CJK SC" pitchFamily="34" charset="-120"/>
              </a:rPr>
              <a:t>量化阶梯与 0.5 步长改进</a:t>
            </a:r>
            <a:endParaRPr lang="en-US" sz="1050" dirty="0"/>
          </a:p>
        </p:txBody>
      </p:sp>
      <p:sp>
        <p:nvSpPr>
          <p:cNvPr id="53" name="Shape 51"/>
          <p:cNvSpPr/>
          <p:nvPr/>
        </p:nvSpPr>
        <p:spPr>
          <a:xfrm>
            <a:off x="6245352" y="4572000"/>
            <a:ext cx="5358384" cy="768096"/>
          </a:xfrm>
          <a:prstGeom prst="roundRect">
            <a:avLst>
              <a:gd name="adj" fmla="val 10714"/>
            </a:avLst>
          </a:prstGeom>
          <a:solidFill>
            <a:srgbClr val="FFFFFF"/>
          </a:solidFill>
          <a:ln w="12700">
            <a:solidFill>
              <a:srgbClr val="E2E8F0"/>
            </a:solidFill>
            <a:prstDash val="solid"/>
          </a:ln>
          <a:effectLst>
            <a:outerShdw blurRad="76200" dist="25400" dir="8100000" algn="bl" rotWithShape="0">
              <a:srgbClr val="0A1A2F">
                <a:alpha val="10000"/>
              </a:srgbClr>
            </a:outerShdw>
          </a:effectLst>
        </p:spPr>
        <p:txBody>
          <a:bodyPr/>
          <a:lstStyle/>
          <a:p>
            <a:endParaRPr lang="zh-CN" altLang="en-US"/>
          </a:p>
        </p:txBody>
      </p:sp>
      <p:sp>
        <p:nvSpPr>
          <p:cNvPr id="54" name="Shape 52"/>
          <p:cNvSpPr/>
          <p:nvPr/>
        </p:nvSpPr>
        <p:spPr>
          <a:xfrm>
            <a:off x="6245352" y="4572000"/>
            <a:ext cx="82296" cy="768096"/>
          </a:xfrm>
          <a:prstGeom prst="rect">
            <a:avLst/>
          </a:prstGeom>
          <a:solidFill>
            <a:srgbClr val="F59E0B"/>
          </a:solidFill>
          <a:ln w="12700">
            <a:solidFill>
              <a:srgbClr val="F59E0B"/>
            </a:solidFill>
            <a:prstDash val="solid"/>
          </a:ln>
        </p:spPr>
        <p:txBody>
          <a:bodyPr/>
          <a:lstStyle/>
          <a:p>
            <a:endParaRPr lang="zh-CN" altLang="en-US"/>
          </a:p>
        </p:txBody>
      </p:sp>
      <p:sp>
        <p:nvSpPr>
          <p:cNvPr id="55" name="Shape 53"/>
          <p:cNvSpPr/>
          <p:nvPr/>
        </p:nvSpPr>
        <p:spPr>
          <a:xfrm>
            <a:off x="6464808" y="4764024"/>
            <a:ext cx="384048" cy="384048"/>
          </a:xfrm>
          <a:prstGeom prst="ellipse">
            <a:avLst/>
          </a:prstGeom>
          <a:solidFill>
            <a:srgbClr val="0E2A47"/>
          </a:solidFill>
          <a:ln w="12700">
            <a:solidFill>
              <a:srgbClr val="0E2A47"/>
            </a:solidFill>
            <a:prstDash val="solid"/>
          </a:ln>
        </p:spPr>
        <p:txBody>
          <a:bodyPr/>
          <a:lstStyle/>
          <a:p>
            <a:endParaRPr lang="zh-CN" altLang="en-US"/>
          </a:p>
        </p:txBody>
      </p:sp>
      <p:sp>
        <p:nvSpPr>
          <p:cNvPr id="56" name="Text 54"/>
          <p:cNvSpPr/>
          <p:nvPr/>
        </p:nvSpPr>
        <p:spPr>
          <a:xfrm>
            <a:off x="6464808" y="4764024"/>
            <a:ext cx="384048" cy="384048"/>
          </a:xfrm>
          <a:prstGeom prst="rect">
            <a:avLst/>
          </a:prstGeom>
          <a:noFill/>
        </p:spPr>
        <p:txBody>
          <a:bodyPr wrap="square" lIns="0" tIns="0" rIns="0" bIns="0" rtlCol="0" anchor="ctr"/>
          <a:lstStyle/>
          <a:p>
            <a:pPr marL="0" indent="0" algn="ctr">
              <a:buNone/>
            </a:pPr>
            <a:r>
              <a:rPr lang="en-US" sz="925" b="1" dirty="0">
                <a:solidFill>
                  <a:srgbClr val="FFFFFF"/>
                </a:solidFill>
                <a:latin typeface="Noto Sans CJK SC" pitchFamily="34" charset="0"/>
                <a:ea typeface="Noto Sans CJK SC" pitchFamily="34" charset="-122"/>
                <a:cs typeface="Noto Sans CJK SC" pitchFamily="34" charset="-120"/>
              </a:rPr>
              <a:t>六</a:t>
            </a:r>
            <a:endParaRPr lang="en-US" sz="925" dirty="0"/>
          </a:p>
        </p:txBody>
      </p:sp>
      <p:sp>
        <p:nvSpPr>
          <p:cNvPr id="57" name="Text 55"/>
          <p:cNvSpPr/>
          <p:nvPr/>
        </p:nvSpPr>
        <p:spPr>
          <a:xfrm>
            <a:off x="6995160" y="4681728"/>
            <a:ext cx="4443984" cy="329184"/>
          </a:xfrm>
          <a:prstGeom prst="rect">
            <a:avLst/>
          </a:prstGeom>
          <a:noFill/>
        </p:spPr>
        <p:txBody>
          <a:bodyPr wrap="square" lIns="0" tIns="0" rIns="0" bIns="0" rtlCol="0" anchor="ctr"/>
          <a:lstStyle/>
          <a:p>
            <a:pPr marL="0" indent="0">
              <a:buNone/>
            </a:pPr>
            <a:r>
              <a:rPr lang="en-US" sz="1350" b="1" dirty="0">
                <a:solidFill>
                  <a:srgbClr val="0E2A47"/>
                </a:solidFill>
                <a:latin typeface="Noto Sans CJK SC" pitchFamily="34" charset="0"/>
                <a:ea typeface="Noto Sans CJK SC" pitchFamily="34" charset="-122"/>
                <a:cs typeface="Noto Sans CJK SC" pitchFamily="34" charset="-120"/>
              </a:rPr>
              <a:t>工程实现 · 后处理 · 排查</a:t>
            </a:r>
            <a:endParaRPr lang="en-US" sz="1350" dirty="0"/>
          </a:p>
        </p:txBody>
      </p:sp>
      <p:sp>
        <p:nvSpPr>
          <p:cNvPr id="58" name="Text 56"/>
          <p:cNvSpPr/>
          <p:nvPr/>
        </p:nvSpPr>
        <p:spPr>
          <a:xfrm>
            <a:off x="6995160" y="4974336"/>
            <a:ext cx="4443984" cy="292608"/>
          </a:xfrm>
          <a:prstGeom prst="rect">
            <a:avLst/>
          </a:prstGeom>
          <a:noFill/>
        </p:spPr>
        <p:txBody>
          <a:bodyPr wrap="square" lIns="0" tIns="0" rIns="0" bIns="0" rtlCol="0" anchor="ctr"/>
          <a:lstStyle/>
          <a:p>
            <a:pPr marL="0" indent="0">
              <a:buNone/>
            </a:pPr>
            <a:r>
              <a:rPr lang="en-US" sz="1050" dirty="0">
                <a:solidFill>
                  <a:srgbClr val="64748B"/>
                </a:solidFill>
                <a:latin typeface="Noto Sans CJK SC" pitchFamily="34" charset="0"/>
                <a:ea typeface="Noto Sans CJK SC" pitchFamily="34" charset="-122"/>
                <a:cs typeface="Noto Sans CJK SC" pitchFamily="34" charset="-120"/>
              </a:rPr>
              <a:t>内存、多峰检测、极线校正</a:t>
            </a:r>
            <a:endParaRPr lang="en-US" sz="1050" dirty="0"/>
          </a:p>
        </p:txBody>
      </p:sp>
      <p:sp>
        <p:nvSpPr>
          <p:cNvPr id="59" name="Shape 57"/>
          <p:cNvSpPr/>
          <p:nvPr/>
        </p:nvSpPr>
        <p:spPr>
          <a:xfrm>
            <a:off x="566928" y="5486400"/>
            <a:ext cx="5358384" cy="768096"/>
          </a:xfrm>
          <a:prstGeom prst="roundRect">
            <a:avLst>
              <a:gd name="adj" fmla="val 10714"/>
            </a:avLst>
          </a:prstGeom>
          <a:solidFill>
            <a:srgbClr val="FFFFFF"/>
          </a:solidFill>
          <a:ln w="12700">
            <a:solidFill>
              <a:srgbClr val="E2E8F0"/>
            </a:solidFill>
            <a:prstDash val="solid"/>
          </a:ln>
          <a:effectLst>
            <a:outerShdw blurRad="76200" dist="25400" dir="8100000" algn="bl" rotWithShape="0">
              <a:srgbClr val="0A1A2F">
                <a:alpha val="10000"/>
              </a:srgbClr>
            </a:outerShdw>
          </a:effectLst>
        </p:spPr>
        <p:txBody>
          <a:bodyPr/>
          <a:lstStyle/>
          <a:p>
            <a:endParaRPr lang="zh-CN" altLang="en-US"/>
          </a:p>
        </p:txBody>
      </p:sp>
      <p:sp>
        <p:nvSpPr>
          <p:cNvPr id="60" name="Shape 58"/>
          <p:cNvSpPr/>
          <p:nvPr/>
        </p:nvSpPr>
        <p:spPr>
          <a:xfrm>
            <a:off x="566928" y="5486400"/>
            <a:ext cx="82296" cy="768096"/>
          </a:xfrm>
          <a:prstGeom prst="rect">
            <a:avLst/>
          </a:prstGeom>
          <a:solidFill>
            <a:srgbClr val="0E7490"/>
          </a:solidFill>
          <a:ln w="12700">
            <a:solidFill>
              <a:srgbClr val="0E7490"/>
            </a:solidFill>
            <a:prstDash val="solid"/>
          </a:ln>
        </p:spPr>
        <p:txBody>
          <a:bodyPr/>
          <a:lstStyle/>
          <a:p>
            <a:endParaRPr lang="zh-CN" altLang="en-US"/>
          </a:p>
        </p:txBody>
      </p:sp>
      <p:sp>
        <p:nvSpPr>
          <p:cNvPr id="61" name="Shape 59"/>
          <p:cNvSpPr/>
          <p:nvPr/>
        </p:nvSpPr>
        <p:spPr>
          <a:xfrm>
            <a:off x="786384" y="5678424"/>
            <a:ext cx="384048" cy="384048"/>
          </a:xfrm>
          <a:prstGeom prst="ellipse">
            <a:avLst/>
          </a:prstGeom>
          <a:solidFill>
            <a:srgbClr val="0E2A47"/>
          </a:solidFill>
          <a:ln w="12700">
            <a:solidFill>
              <a:srgbClr val="0E2A47"/>
            </a:solidFill>
            <a:prstDash val="solid"/>
          </a:ln>
        </p:spPr>
        <p:txBody>
          <a:bodyPr/>
          <a:lstStyle/>
          <a:p>
            <a:endParaRPr lang="zh-CN" altLang="en-US"/>
          </a:p>
        </p:txBody>
      </p:sp>
      <p:sp>
        <p:nvSpPr>
          <p:cNvPr id="62" name="Text 60"/>
          <p:cNvSpPr/>
          <p:nvPr/>
        </p:nvSpPr>
        <p:spPr>
          <a:xfrm>
            <a:off x="786384" y="5678424"/>
            <a:ext cx="384048" cy="384048"/>
          </a:xfrm>
          <a:prstGeom prst="rect">
            <a:avLst/>
          </a:prstGeom>
          <a:noFill/>
        </p:spPr>
        <p:txBody>
          <a:bodyPr wrap="square" lIns="0" tIns="0" rIns="0" bIns="0" rtlCol="0" anchor="ctr"/>
          <a:lstStyle/>
          <a:p>
            <a:pPr marL="0" indent="0" algn="ctr">
              <a:buNone/>
            </a:pPr>
            <a:r>
              <a:rPr lang="en-US" sz="925" b="1" dirty="0">
                <a:solidFill>
                  <a:srgbClr val="FFFFFF"/>
                </a:solidFill>
                <a:latin typeface="Noto Sans CJK SC" pitchFamily="34" charset="0"/>
                <a:ea typeface="Noto Sans CJK SC" pitchFamily="34" charset="-122"/>
                <a:cs typeface="Noto Sans CJK SC" pitchFamily="34" charset="-120"/>
              </a:rPr>
              <a:t>七</a:t>
            </a:r>
            <a:endParaRPr lang="en-US" sz="925" dirty="0"/>
          </a:p>
        </p:txBody>
      </p:sp>
      <p:sp>
        <p:nvSpPr>
          <p:cNvPr id="63" name="Text 61"/>
          <p:cNvSpPr/>
          <p:nvPr/>
        </p:nvSpPr>
        <p:spPr>
          <a:xfrm>
            <a:off x="1316736" y="5596128"/>
            <a:ext cx="4443984" cy="329184"/>
          </a:xfrm>
          <a:prstGeom prst="rect">
            <a:avLst/>
          </a:prstGeom>
          <a:noFill/>
        </p:spPr>
        <p:txBody>
          <a:bodyPr wrap="square" lIns="0" tIns="0" rIns="0" bIns="0" rtlCol="0" anchor="ctr"/>
          <a:lstStyle/>
          <a:p>
            <a:pPr marL="0" indent="0">
              <a:buNone/>
            </a:pPr>
            <a:r>
              <a:rPr lang="en-US" sz="1350" b="1" dirty="0">
                <a:solidFill>
                  <a:srgbClr val="0E2A47"/>
                </a:solidFill>
                <a:latin typeface="Noto Sans CJK SC" pitchFamily="34" charset="0"/>
                <a:ea typeface="Noto Sans CJK SC" pitchFamily="34" charset="-122"/>
                <a:cs typeface="Noto Sans CJK SC" pitchFamily="34" charset="-120"/>
              </a:rPr>
              <a:t>与三维重建的关系</a:t>
            </a:r>
            <a:endParaRPr lang="en-US" sz="1350" dirty="0"/>
          </a:p>
        </p:txBody>
      </p:sp>
      <p:sp>
        <p:nvSpPr>
          <p:cNvPr id="64" name="Text 62"/>
          <p:cNvSpPr/>
          <p:nvPr/>
        </p:nvSpPr>
        <p:spPr>
          <a:xfrm>
            <a:off x="1316736" y="5888736"/>
            <a:ext cx="4443984" cy="292608"/>
          </a:xfrm>
          <a:prstGeom prst="rect">
            <a:avLst/>
          </a:prstGeom>
          <a:noFill/>
        </p:spPr>
        <p:txBody>
          <a:bodyPr wrap="square" lIns="0" tIns="0" rIns="0" bIns="0" rtlCol="0" anchor="ctr"/>
          <a:lstStyle/>
          <a:p>
            <a:pPr marL="0" indent="0">
              <a:buNone/>
            </a:pPr>
            <a:r>
              <a:rPr lang="en-US" sz="1050" dirty="0">
                <a:solidFill>
                  <a:srgbClr val="64748B"/>
                </a:solidFill>
                <a:latin typeface="Noto Sans CJK SC" pitchFamily="34" charset="0"/>
                <a:ea typeface="Noto Sans CJK SC" pitchFamily="34" charset="-122"/>
                <a:cs typeface="Noto Sans CJK SC" pitchFamily="34" charset="-120"/>
              </a:rPr>
              <a:t>对应关系如何进入三角化</a:t>
            </a:r>
            <a:endParaRPr lang="en-US" sz="1050" dirty="0"/>
          </a:p>
        </p:txBody>
      </p:sp>
      <p:sp>
        <p:nvSpPr>
          <p:cNvPr id="65" name="Text 6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66" name="Text 6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讲解路线</a:t>
            </a:r>
            <a:endParaRPr lang="en-US" sz="850" dirty="0"/>
          </a:p>
        </p:txBody>
      </p:sp>
      <p:sp>
        <p:nvSpPr>
          <p:cNvPr id="67" name="Text 6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02 / 42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874520"/>
            <a:ext cx="4572000" cy="365760"/>
          </a:xfrm>
          <a:prstGeom prst="rect">
            <a:avLst/>
          </a:prstGeom>
          <a:noFill/>
        </p:spPr>
        <p:txBody>
          <a:bodyPr wrap="square" lIns="0" tIns="0" rIns="0" bIns="0" rtlCol="0" anchor="ctr"/>
          <a:lstStyle/>
          <a:p>
            <a:pPr marL="0" indent="0">
              <a:buNone/>
            </a:pPr>
            <a:r>
              <a:rPr lang="en-US" sz="1400" b="1" kern="0" spc="500" dirty="0">
                <a:solidFill>
                  <a:srgbClr val="22D3EE"/>
                </a:solidFill>
                <a:latin typeface="Noto Sans CJK SC" pitchFamily="34" charset="0"/>
                <a:ea typeface="Noto Sans CJK SC" pitchFamily="34" charset="-122"/>
                <a:cs typeface="Noto Sans CJK SC" pitchFamily="34" charset="-120"/>
              </a:rPr>
              <a:t>CHAPTER</a:t>
            </a:r>
            <a:endParaRPr lang="en-US" sz="1400" dirty="0"/>
          </a:p>
        </p:txBody>
      </p:sp>
      <p:sp>
        <p:nvSpPr>
          <p:cNvPr id="3" name="Text 1"/>
          <p:cNvSpPr/>
          <p:nvPr/>
        </p:nvSpPr>
        <p:spPr>
          <a:xfrm>
            <a:off x="822960" y="2103120"/>
            <a:ext cx="3108960" cy="2103120"/>
          </a:xfrm>
          <a:prstGeom prst="rect">
            <a:avLst/>
          </a:prstGeom>
          <a:noFill/>
        </p:spPr>
        <p:txBody>
          <a:bodyPr wrap="square" lIns="0" tIns="0" rIns="0" bIns="0" rtlCol="0" anchor="ctr"/>
          <a:lstStyle/>
          <a:p>
            <a:pPr marL="0" indent="0">
              <a:buNone/>
            </a:pPr>
            <a:r>
              <a:rPr lang="en-US" sz="15000" b="1" dirty="0">
                <a:solidFill>
                  <a:srgbClr val="13395E"/>
                </a:solidFill>
                <a:latin typeface="Noto Sans CJK SC" pitchFamily="34" charset="0"/>
                <a:ea typeface="Noto Sans CJK SC" pitchFamily="34" charset="-122"/>
                <a:cs typeface="Noto Sans CJK SC" pitchFamily="34" charset="-120"/>
              </a:rPr>
              <a:t>一</a:t>
            </a:r>
            <a:endParaRPr lang="en-US" sz="15000" dirty="0"/>
          </a:p>
        </p:txBody>
      </p:sp>
      <p:sp>
        <p:nvSpPr>
          <p:cNvPr id="4" name="Text 2"/>
          <p:cNvSpPr/>
          <p:nvPr/>
        </p:nvSpPr>
        <p:spPr>
          <a:xfrm>
            <a:off x="3246120" y="2395728"/>
            <a:ext cx="7863840" cy="914400"/>
          </a:xfrm>
          <a:prstGeom prst="rect">
            <a:avLst/>
          </a:prstGeom>
          <a:noFill/>
        </p:spPr>
        <p:txBody>
          <a:bodyPr wrap="square" lIns="0" tIns="0" rIns="0" bIns="0" rtlCol="0" anchor="ctr"/>
          <a:lstStyle/>
          <a:p>
            <a:pPr marL="0" indent="0">
              <a:buNone/>
            </a:pPr>
            <a:r>
              <a:rPr lang="en-US" sz="4000" b="1" dirty="0">
                <a:solidFill>
                  <a:srgbClr val="FFFFFF"/>
                </a:solidFill>
                <a:latin typeface="Noto Sans CJK SC" pitchFamily="34" charset="0"/>
                <a:ea typeface="Noto Sans CJK SC" pitchFamily="34" charset="-122"/>
                <a:cs typeface="Noto Sans CJK SC" pitchFamily="34" charset="-120"/>
              </a:rPr>
              <a:t>问题背景与方法目标</a:t>
            </a:r>
            <a:endParaRPr lang="en-US" sz="4000" dirty="0"/>
          </a:p>
        </p:txBody>
      </p:sp>
      <p:sp>
        <p:nvSpPr>
          <p:cNvPr id="5" name="Text 3"/>
          <p:cNvSpPr/>
          <p:nvPr/>
        </p:nvSpPr>
        <p:spPr>
          <a:xfrm>
            <a:off x="3291840" y="3310128"/>
            <a:ext cx="7863840" cy="502920"/>
          </a:xfrm>
          <a:prstGeom prst="rect">
            <a:avLst/>
          </a:prstGeom>
          <a:noFill/>
        </p:spPr>
        <p:txBody>
          <a:bodyPr wrap="square" lIns="0" tIns="0" rIns="0" bIns="0" rtlCol="0" anchor="ctr"/>
          <a:lstStyle/>
          <a:p>
            <a:pPr marL="0" indent="0">
              <a:buNone/>
            </a:pPr>
            <a:r>
              <a:rPr lang="en-US" sz="1700" dirty="0">
                <a:solidFill>
                  <a:srgbClr val="22D3EE"/>
                </a:solidFill>
                <a:latin typeface="Noto Sans CJK SC" pitchFamily="34" charset="0"/>
                <a:ea typeface="Noto Sans CJK SC" pitchFamily="34" charset="-122"/>
                <a:cs typeface="Noto Sans CJK SC" pitchFamily="34" charset="-120"/>
              </a:rPr>
              <a:t>Problem Background &amp; Method Goal</a:t>
            </a:r>
            <a:endParaRPr lang="en-US" sz="1700" dirty="0"/>
          </a:p>
        </p:txBody>
      </p:sp>
      <p:sp>
        <p:nvSpPr>
          <p:cNvPr id="6" name="Shape 4"/>
          <p:cNvSpPr/>
          <p:nvPr/>
        </p:nvSpPr>
        <p:spPr>
          <a:xfrm>
            <a:off x="3310128" y="3950208"/>
            <a:ext cx="2743200" cy="0"/>
          </a:xfrm>
          <a:prstGeom prst="line">
            <a:avLst/>
          </a:prstGeom>
          <a:noFill/>
          <a:ln w="19050">
            <a:solidFill>
              <a:srgbClr val="1E466E"/>
            </a:solidFill>
            <a:prstDash val="solid"/>
          </a:ln>
        </p:spPr>
        <p:txBody>
          <a:bodyPr/>
          <a:lstStyle/>
          <a:p>
            <a:endParaRPr lang="zh-CN" altLang="en-US"/>
          </a:p>
        </p:txBody>
      </p:sp>
      <p:sp>
        <p:nvSpPr>
          <p:cNvPr id="7" name="Text 5"/>
          <p:cNvSpPr/>
          <p:nvPr/>
        </p:nvSpPr>
        <p:spPr>
          <a:xfrm>
            <a:off x="3310128" y="4078224"/>
            <a:ext cx="7680960" cy="822960"/>
          </a:xfrm>
          <a:prstGeom prst="rect">
            <a:avLst/>
          </a:prstGeom>
          <a:noFill/>
        </p:spPr>
        <p:txBody>
          <a:bodyPr wrap="square" lIns="0" tIns="0" rIns="0" bIns="0" rtlCol="0" anchor="ctr"/>
          <a:lstStyle/>
          <a:p>
            <a:pPr marL="0" indent="0">
              <a:buNone/>
            </a:pPr>
            <a:r>
              <a:rPr lang="en-US" sz="1250" dirty="0">
                <a:solidFill>
                  <a:srgbClr val="CBD5E1"/>
                </a:solidFill>
                <a:latin typeface="Noto Sans CJK SC" pitchFamily="34" charset="0"/>
                <a:ea typeface="Noto Sans CJK SC" pitchFamily="34" charset="-122"/>
                <a:cs typeface="Noto Sans CJK SC" pitchFamily="34" charset="-120"/>
              </a:rPr>
              <a:t>结构光三维重建为何需要解码，FSM 解码的目标是什么、输出哪些结果。</a:t>
            </a:r>
            <a:endParaRPr lang="en-US" sz="1250" dirty="0"/>
          </a:p>
        </p:txBody>
      </p:sp>
      <p:sp>
        <p:nvSpPr>
          <p:cNvPr id="8" name="Text 6"/>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9" name="Text 7"/>
          <p:cNvSpPr/>
          <p:nvPr/>
        </p:nvSpPr>
        <p:spPr>
          <a:xfrm>
            <a:off x="5029200" y="6446520"/>
            <a:ext cx="4572000" cy="274320"/>
          </a:xfrm>
          <a:prstGeom prst="rect">
            <a:avLst/>
          </a:prstGeom>
          <a:noFill/>
        </p:spPr>
        <p:txBody>
          <a:bodyPr wrap="square" lIns="0" tIns="0" rIns="0" bIns="0" rtlCol="0" anchor="ctr"/>
          <a:lstStyle/>
          <a:p>
            <a:pPr marL="0" indent="0" algn="ctr">
              <a:buNone/>
            </a:pPr>
            <a:endParaRPr lang="en-US" sz="850" dirty="0"/>
          </a:p>
        </p:txBody>
      </p:sp>
      <p:sp>
        <p:nvSpPr>
          <p:cNvPr id="10" name="Text 8"/>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03 / 42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一 · 问题背景</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结构光三维重建的核心难题</a:t>
            </a:r>
            <a:endParaRPr lang="en-US" sz="2900" dirty="0"/>
          </a:p>
        </p:txBody>
      </p:sp>
      <p:sp>
        <p:nvSpPr>
          <p:cNvPr id="5" name="Text 3"/>
          <p:cNvSpPr/>
          <p:nvPr/>
        </p:nvSpPr>
        <p:spPr>
          <a:xfrm>
            <a:off x="566928" y="1627632"/>
            <a:ext cx="5486400" cy="2103120"/>
          </a:xfrm>
          <a:prstGeom prst="rect">
            <a:avLst/>
          </a:prstGeom>
          <a:noFill/>
        </p:spPr>
        <p:txBody>
          <a:bodyPr wrap="square" lIns="0" tIns="0" rIns="0" bIns="0" rtlCol="0" anchor="t"/>
          <a:lstStyle/>
          <a:p>
            <a:pPr marL="177800" indent="-177800">
              <a:spcAft>
                <a:spcPts val="1100"/>
              </a:spcAft>
              <a:buSzPct val="100000"/>
              <a:buChar char="•"/>
            </a:pPr>
            <a:r>
              <a:rPr lang="en-US" sz="1350" b="1" dirty="0">
                <a:solidFill>
                  <a:srgbClr val="1E293B"/>
                </a:solidFill>
                <a:latin typeface="Noto Sans CJK SC" pitchFamily="34" charset="0"/>
                <a:ea typeface="Noto Sans CJK SC" pitchFamily="34" charset="-122"/>
                <a:cs typeface="Noto Sans CJK SC" pitchFamily="34" charset="-120"/>
              </a:rPr>
              <a:t>三维重建需要知道：每个相机像素对应投影仪上的哪个像素。</a:t>
            </a:r>
            <a:endParaRPr lang="en-US" sz="1350" dirty="0"/>
          </a:p>
          <a:p>
            <a:pPr marL="177800" indent="-177800">
              <a:spcAft>
                <a:spcPts val="1100"/>
              </a:spcAft>
              <a:buSzPct val="100000"/>
              <a:buChar char="•"/>
            </a:pPr>
            <a:r>
              <a:rPr lang="en-US" sz="1350" dirty="0">
                <a:solidFill>
                  <a:srgbClr val="1E293B"/>
                </a:solidFill>
                <a:latin typeface="Noto Sans CJK SC" pitchFamily="34" charset="0"/>
                <a:ea typeface="Noto Sans CJK SC" pitchFamily="34" charset="-122"/>
                <a:cs typeface="Noto Sans CJK SC" pitchFamily="34" charset="-120"/>
              </a:rPr>
              <a:t>相机拍到的只是物体表面反射回来的条纹图像，而不是投影仪坐标本身。</a:t>
            </a:r>
            <a:endParaRPr lang="en-US" sz="1350" dirty="0"/>
          </a:p>
          <a:p>
            <a:pPr marL="177800" indent="-177800">
              <a:spcAft>
                <a:spcPts val="1100"/>
              </a:spcAft>
              <a:buSzPct val="100000"/>
              <a:buChar char="•"/>
            </a:pPr>
            <a:r>
              <a:rPr lang="en-US" sz="1350" dirty="0">
                <a:solidFill>
                  <a:srgbClr val="1E293B"/>
                </a:solidFill>
                <a:latin typeface="Noto Sans CJK SC" pitchFamily="34" charset="0"/>
                <a:ea typeface="Noto Sans CJK SC" pitchFamily="34" charset="-122"/>
                <a:cs typeface="Noto Sans CJK SC" pitchFamily="34" charset="-120"/>
              </a:rPr>
              <a:t>因此必须有一个「解码」步骤，把相机看到的图像翻译回投影仪坐标。</a:t>
            </a:r>
            <a:endParaRPr lang="en-US" sz="1350" dirty="0"/>
          </a:p>
          <a:p>
            <a:pPr marL="177800" indent="-177800">
              <a:spcAft>
                <a:spcPts val="1100"/>
              </a:spcAft>
              <a:buSzPct val="100000"/>
              <a:buChar char="•"/>
            </a:pPr>
            <a:r>
              <a:rPr lang="en-US" sz="1350" b="1" dirty="0">
                <a:solidFill>
                  <a:srgbClr val="0E7490"/>
                </a:solidFill>
                <a:latin typeface="Noto Sans CJK SC" pitchFamily="34" charset="0"/>
                <a:ea typeface="Noto Sans CJK SC" pitchFamily="34" charset="-122"/>
                <a:cs typeface="Noto Sans CJK SC" pitchFamily="34" charset="-120"/>
              </a:rPr>
              <a:t>频移法（FSM / FSA）正是完成这一步的解码方法。</a:t>
            </a:r>
            <a:endParaRPr lang="en-US" sz="1350" dirty="0"/>
          </a:p>
        </p:txBody>
      </p:sp>
      <p:sp>
        <p:nvSpPr>
          <p:cNvPr id="6" name="Shape 4"/>
          <p:cNvSpPr/>
          <p:nvPr/>
        </p:nvSpPr>
        <p:spPr>
          <a:xfrm>
            <a:off x="566928" y="3840480"/>
            <a:ext cx="5486400" cy="786384"/>
          </a:xfrm>
          <a:prstGeom prst="roundRect">
            <a:avLst>
              <a:gd name="adj" fmla="val 814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3840480"/>
            <a:ext cx="5303520" cy="786384"/>
          </a:xfrm>
          <a:prstGeom prst="rect">
            <a:avLst/>
          </a:prstGeom>
          <a:noFill/>
        </p:spPr>
        <p:txBody>
          <a:bodyPr wrap="square" lIns="0" tIns="0" rIns="0" bIns="0" rtlCol="0" anchor="ctr"/>
          <a:lstStyle/>
          <a:p>
            <a:pPr marL="0" indent="0" algn="ctr">
              <a:buNone/>
            </a:pPr>
            <a:r>
              <a:rPr lang="en-US" sz="1500" b="1" dirty="0">
                <a:solidFill>
                  <a:srgbClr val="22D3EE"/>
                </a:solidFill>
                <a:latin typeface="Noto Sans CJK SC" pitchFamily="34" charset="0"/>
                <a:ea typeface="Noto Sans CJK SC" pitchFamily="34" charset="-122"/>
                <a:cs typeface="Noto Sans CJK SC" pitchFamily="34" charset="-120"/>
              </a:rPr>
              <a:t>相机像素 (xc, yc)   ⟶   投影仪像素 (xp, yp)</a:t>
            </a:r>
            <a:endParaRPr lang="en-US" sz="1500" dirty="0"/>
          </a:p>
        </p:txBody>
      </p:sp>
      <p:sp>
        <p:nvSpPr>
          <p:cNvPr id="8" name="Shape 6"/>
          <p:cNvSpPr/>
          <p:nvPr/>
        </p:nvSpPr>
        <p:spPr>
          <a:xfrm>
            <a:off x="566928" y="4882896"/>
            <a:ext cx="5486400" cy="1078992"/>
          </a:xfrm>
          <a:prstGeom prst="roundRect">
            <a:avLst>
              <a:gd name="adj" fmla="val 7627"/>
            </a:avLst>
          </a:prstGeom>
          <a:solidFill>
            <a:srgbClr val="F2F5F9"/>
          </a:solidFill>
          <a:ln w="12700">
            <a:solidFill>
              <a:srgbClr val="E2E8F0"/>
            </a:solidFill>
            <a:prstDash val="solid"/>
          </a:ln>
        </p:spPr>
        <p:txBody>
          <a:bodyPr/>
          <a:lstStyle/>
          <a:p>
            <a:endParaRPr lang="zh-CN" altLang="en-US"/>
          </a:p>
        </p:txBody>
      </p:sp>
      <p:sp>
        <p:nvSpPr>
          <p:cNvPr id="9" name="Text 7"/>
          <p:cNvSpPr/>
          <p:nvPr/>
        </p:nvSpPr>
        <p:spPr>
          <a:xfrm>
            <a:off x="768096" y="4992624"/>
            <a:ext cx="2743200" cy="274320"/>
          </a:xfrm>
          <a:prstGeom prst="rect">
            <a:avLst/>
          </a:prstGeom>
          <a:noFill/>
        </p:spPr>
        <p:txBody>
          <a:bodyPr wrap="square" lIns="0" tIns="0" rIns="0" bIns="0" rtlCol="0" anchor="ctr"/>
          <a:lstStyle/>
          <a:p>
            <a:pPr marL="0" indent="0">
              <a:buNone/>
            </a:pPr>
            <a:r>
              <a:rPr lang="en-US" sz="1100" b="1" dirty="0">
                <a:solidFill>
                  <a:srgbClr val="0E7490"/>
                </a:solidFill>
                <a:latin typeface="Noto Sans CJK SC" pitchFamily="34" charset="0"/>
                <a:ea typeface="Noto Sans CJK SC" pitchFamily="34" charset="-122"/>
                <a:cs typeface="Noto Sans CJK SC" pitchFamily="34" charset="-120"/>
              </a:rPr>
              <a:t>一句话定位</a:t>
            </a:r>
            <a:endParaRPr lang="en-US" sz="1100" dirty="0"/>
          </a:p>
        </p:txBody>
      </p:sp>
      <p:sp>
        <p:nvSpPr>
          <p:cNvPr id="10" name="Text 8"/>
          <p:cNvSpPr/>
          <p:nvPr/>
        </p:nvSpPr>
        <p:spPr>
          <a:xfrm>
            <a:off x="768096" y="5248656"/>
            <a:ext cx="5120640" cy="640080"/>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FSM 把「相机看到的反射条纹」反解为「投影仪上的像素坐标」——</a:t>
            </a:r>
            <a:endParaRPr lang="en-US" sz="1150" dirty="0"/>
          </a:p>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它是几何三角化之前不可或缺的对应关系建立环节。</a:t>
            </a:r>
            <a:endParaRPr lang="en-US" sz="1150" dirty="0"/>
          </a:p>
        </p:txBody>
      </p:sp>
      <p:sp>
        <p:nvSpPr>
          <p:cNvPr id="11" name="Shape 9"/>
          <p:cNvSpPr/>
          <p:nvPr/>
        </p:nvSpPr>
        <p:spPr>
          <a:xfrm>
            <a:off x="6446520" y="1627632"/>
            <a:ext cx="5175504" cy="4334256"/>
          </a:xfrm>
          <a:prstGeom prst="roundRect">
            <a:avLst>
              <a:gd name="adj" fmla="val 189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720840" y="1792224"/>
            <a:ext cx="4626864" cy="310896"/>
          </a:xfrm>
          <a:prstGeom prst="rect">
            <a:avLst/>
          </a:prstGeom>
          <a:noFill/>
        </p:spPr>
        <p:txBody>
          <a:bodyPr wrap="square" lIns="0" tIns="0" rIns="0" bIns="0" rtlCol="0" anchor="ctr"/>
          <a:lstStyle/>
          <a:p>
            <a:pPr marL="0" indent="0">
              <a:buNone/>
            </a:pPr>
            <a:r>
              <a:rPr lang="en-US" sz="1200" b="1" dirty="0">
                <a:solidFill>
                  <a:srgbClr val="22D3EE"/>
                </a:solidFill>
                <a:latin typeface="Noto Sans CJK SC" pitchFamily="34" charset="0"/>
                <a:ea typeface="Noto Sans CJK SC" pitchFamily="34" charset="-122"/>
                <a:cs typeface="Noto Sans CJK SC" pitchFamily="34" charset="-120"/>
              </a:rPr>
              <a:t>光路与未知对应关系</a:t>
            </a:r>
            <a:endParaRPr lang="en-US" sz="1200" dirty="0"/>
          </a:p>
        </p:txBody>
      </p:sp>
      <p:sp>
        <p:nvSpPr>
          <p:cNvPr id="13" name="Shape 11"/>
          <p:cNvSpPr/>
          <p:nvPr/>
        </p:nvSpPr>
        <p:spPr>
          <a:xfrm>
            <a:off x="6949440" y="2496312"/>
            <a:ext cx="1371600" cy="868680"/>
          </a:xfrm>
          <a:prstGeom prst="roundRect">
            <a:avLst>
              <a:gd name="adj" fmla="val 6316"/>
            </a:avLst>
          </a:prstGeom>
          <a:solidFill>
            <a:srgbClr val="3B82F6"/>
          </a:solidFill>
          <a:ln w="12700">
            <a:solidFill>
              <a:srgbClr val="3B82F6"/>
            </a:solidFill>
            <a:prstDash val="solid"/>
          </a:ln>
        </p:spPr>
        <p:txBody>
          <a:bodyPr/>
          <a:lstStyle/>
          <a:p>
            <a:endParaRPr lang="zh-CN" altLang="en-US"/>
          </a:p>
        </p:txBody>
      </p:sp>
      <p:sp>
        <p:nvSpPr>
          <p:cNvPr id="14" name="Text 12"/>
          <p:cNvSpPr/>
          <p:nvPr/>
        </p:nvSpPr>
        <p:spPr>
          <a:xfrm>
            <a:off x="6949440" y="2496312"/>
            <a:ext cx="1371600" cy="868680"/>
          </a:xfrm>
          <a:prstGeom prst="rect">
            <a:avLst/>
          </a:prstGeom>
          <a:noFill/>
        </p:spPr>
        <p:txBody>
          <a:bodyPr wrap="square" lIns="0" tIns="0" rIns="0" bIns="0" rtlCol="0" anchor="ctr"/>
          <a:lstStyle/>
          <a:p>
            <a:pPr marL="0" indent="0" algn="ctr">
              <a:buNone/>
            </a:pPr>
            <a:r>
              <a:rPr lang="en-US" sz="1200" b="1" dirty="0">
                <a:solidFill>
                  <a:srgbClr val="FFFFFF"/>
                </a:solidFill>
                <a:latin typeface="Noto Sans CJK SC" pitchFamily="34" charset="0"/>
                <a:ea typeface="Noto Sans CJK SC" pitchFamily="34" charset="-122"/>
                <a:cs typeface="Noto Sans CJK SC" pitchFamily="34" charset="-120"/>
              </a:rPr>
              <a:t>投影仪</a:t>
            </a:r>
            <a:endParaRPr lang="en-US" sz="1200" dirty="0"/>
          </a:p>
        </p:txBody>
      </p:sp>
      <p:sp>
        <p:nvSpPr>
          <p:cNvPr id="15" name="Shape 13"/>
          <p:cNvSpPr/>
          <p:nvPr/>
        </p:nvSpPr>
        <p:spPr>
          <a:xfrm>
            <a:off x="9747504" y="2496312"/>
            <a:ext cx="1371600" cy="868680"/>
          </a:xfrm>
          <a:prstGeom prst="roundRect">
            <a:avLst>
              <a:gd name="adj" fmla="val 6316"/>
            </a:avLst>
          </a:prstGeom>
          <a:solidFill>
            <a:srgbClr val="F59E0B"/>
          </a:solidFill>
          <a:ln w="12700">
            <a:solidFill>
              <a:srgbClr val="F59E0B"/>
            </a:solidFill>
            <a:prstDash val="solid"/>
          </a:ln>
        </p:spPr>
        <p:txBody>
          <a:bodyPr/>
          <a:lstStyle/>
          <a:p>
            <a:endParaRPr lang="zh-CN" altLang="en-US"/>
          </a:p>
        </p:txBody>
      </p:sp>
      <p:sp>
        <p:nvSpPr>
          <p:cNvPr id="16" name="Text 14"/>
          <p:cNvSpPr/>
          <p:nvPr/>
        </p:nvSpPr>
        <p:spPr>
          <a:xfrm>
            <a:off x="9747504" y="2496312"/>
            <a:ext cx="1371600" cy="868680"/>
          </a:xfrm>
          <a:prstGeom prst="rect">
            <a:avLst/>
          </a:prstGeom>
          <a:noFill/>
        </p:spPr>
        <p:txBody>
          <a:bodyPr wrap="square" lIns="0" tIns="0" rIns="0" bIns="0" rtlCol="0" anchor="ctr"/>
          <a:lstStyle/>
          <a:p>
            <a:pPr marL="0" indent="0" algn="ctr">
              <a:buNone/>
            </a:pPr>
            <a:r>
              <a:rPr lang="en-US" sz="1200" b="1" dirty="0">
                <a:solidFill>
                  <a:srgbClr val="FFFFFF"/>
                </a:solidFill>
                <a:latin typeface="Noto Sans CJK SC" pitchFamily="34" charset="0"/>
                <a:ea typeface="Noto Sans CJK SC" pitchFamily="34" charset="-122"/>
                <a:cs typeface="Noto Sans CJK SC" pitchFamily="34" charset="-120"/>
              </a:rPr>
              <a:t>相机</a:t>
            </a:r>
            <a:endParaRPr lang="en-US" sz="1200" dirty="0"/>
          </a:p>
        </p:txBody>
      </p:sp>
      <p:sp>
        <p:nvSpPr>
          <p:cNvPr id="17" name="Shape 15"/>
          <p:cNvSpPr/>
          <p:nvPr/>
        </p:nvSpPr>
        <p:spPr>
          <a:xfrm>
            <a:off x="8165592" y="4416552"/>
            <a:ext cx="1737360" cy="1005840"/>
          </a:xfrm>
          <a:prstGeom prst="ellipse">
            <a:avLst/>
          </a:prstGeom>
          <a:solidFill>
            <a:srgbClr val="1C405F"/>
          </a:solidFill>
          <a:ln w="19050">
            <a:solidFill>
              <a:srgbClr val="22D3EE"/>
            </a:solidFill>
            <a:prstDash val="solid"/>
          </a:ln>
        </p:spPr>
        <p:txBody>
          <a:bodyPr/>
          <a:lstStyle/>
          <a:p>
            <a:endParaRPr lang="zh-CN" altLang="en-US"/>
          </a:p>
        </p:txBody>
      </p:sp>
      <p:sp>
        <p:nvSpPr>
          <p:cNvPr id="18" name="Text 16"/>
          <p:cNvSpPr/>
          <p:nvPr/>
        </p:nvSpPr>
        <p:spPr>
          <a:xfrm>
            <a:off x="8028432" y="4681728"/>
            <a:ext cx="2011680" cy="365760"/>
          </a:xfrm>
          <a:prstGeom prst="rect">
            <a:avLst/>
          </a:prstGeom>
          <a:noFill/>
        </p:spPr>
        <p:txBody>
          <a:bodyPr wrap="square" lIns="0" tIns="0" rIns="0" bIns="0" rtlCol="0" anchor="ctr"/>
          <a:lstStyle/>
          <a:p>
            <a:pPr marL="0" indent="0" algn="ctr">
              <a:buNone/>
            </a:pPr>
            <a:r>
              <a:rPr lang="en-US" sz="1100" dirty="0">
                <a:solidFill>
                  <a:srgbClr val="CBD5E1"/>
                </a:solidFill>
                <a:latin typeface="Noto Sans CJK SC" pitchFamily="34" charset="0"/>
                <a:ea typeface="Noto Sans CJK SC" pitchFamily="34" charset="-122"/>
                <a:cs typeface="Noto Sans CJK SC" pitchFamily="34" charset="-120"/>
              </a:rPr>
              <a:t>物体表面</a:t>
            </a:r>
            <a:endParaRPr lang="en-US" sz="1100" dirty="0"/>
          </a:p>
        </p:txBody>
      </p:sp>
      <p:sp>
        <p:nvSpPr>
          <p:cNvPr id="19" name="Shape 17"/>
          <p:cNvSpPr/>
          <p:nvPr/>
        </p:nvSpPr>
        <p:spPr>
          <a:xfrm>
            <a:off x="7635240" y="3364992"/>
            <a:ext cx="1399032" cy="1097280"/>
          </a:xfrm>
          <a:prstGeom prst="line">
            <a:avLst/>
          </a:prstGeom>
          <a:noFill/>
          <a:ln w="25400">
            <a:solidFill>
              <a:srgbClr val="3B82F6"/>
            </a:solidFill>
            <a:prstDash val="solid"/>
            <a:tailEnd type="triangle"/>
          </a:ln>
        </p:spPr>
        <p:txBody>
          <a:bodyPr/>
          <a:lstStyle/>
          <a:p>
            <a:endParaRPr lang="zh-CN" altLang="en-US"/>
          </a:p>
        </p:txBody>
      </p:sp>
      <p:sp>
        <p:nvSpPr>
          <p:cNvPr id="20" name="Shape 18"/>
          <p:cNvSpPr/>
          <p:nvPr/>
        </p:nvSpPr>
        <p:spPr>
          <a:xfrm flipV="1">
            <a:off x="9582912" y="3401568"/>
            <a:ext cx="896112" cy="1060704"/>
          </a:xfrm>
          <a:prstGeom prst="line">
            <a:avLst/>
          </a:prstGeom>
          <a:noFill/>
          <a:ln w="25400">
            <a:solidFill>
              <a:srgbClr val="F59E0B"/>
            </a:solidFill>
            <a:prstDash val="solid"/>
            <a:tailEnd type="triangle"/>
          </a:ln>
        </p:spPr>
        <p:txBody>
          <a:bodyPr/>
          <a:lstStyle/>
          <a:p>
            <a:endParaRPr lang="zh-CN" altLang="en-US"/>
          </a:p>
        </p:txBody>
      </p:sp>
      <p:sp>
        <p:nvSpPr>
          <p:cNvPr id="21" name="Shape 19"/>
          <p:cNvSpPr/>
          <p:nvPr/>
        </p:nvSpPr>
        <p:spPr>
          <a:xfrm>
            <a:off x="8321040" y="2926080"/>
            <a:ext cx="1426464" cy="0"/>
          </a:xfrm>
          <a:prstGeom prst="line">
            <a:avLst/>
          </a:prstGeom>
          <a:noFill/>
          <a:ln w="20320">
            <a:solidFill>
              <a:srgbClr val="22D3EE"/>
            </a:solidFill>
            <a:prstDash val="dash"/>
          </a:ln>
        </p:spPr>
        <p:txBody>
          <a:bodyPr/>
          <a:lstStyle/>
          <a:p>
            <a:endParaRPr lang="zh-CN" altLang="en-US"/>
          </a:p>
        </p:txBody>
      </p:sp>
      <p:sp>
        <p:nvSpPr>
          <p:cNvPr id="22" name="Shape 20"/>
          <p:cNvSpPr/>
          <p:nvPr/>
        </p:nvSpPr>
        <p:spPr>
          <a:xfrm>
            <a:off x="8787384" y="2660904"/>
            <a:ext cx="493776" cy="493776"/>
          </a:xfrm>
          <a:prstGeom prst="ellipse">
            <a:avLst/>
          </a:prstGeom>
          <a:solidFill>
            <a:srgbClr val="EF4444"/>
          </a:solidFill>
          <a:ln w="12700">
            <a:solidFill>
              <a:srgbClr val="EF4444"/>
            </a:solidFill>
            <a:prstDash val="solid"/>
          </a:ln>
        </p:spPr>
        <p:txBody>
          <a:bodyPr/>
          <a:lstStyle/>
          <a:p>
            <a:endParaRPr lang="zh-CN" altLang="en-US"/>
          </a:p>
        </p:txBody>
      </p:sp>
      <p:sp>
        <p:nvSpPr>
          <p:cNvPr id="23" name="Text 21"/>
          <p:cNvSpPr/>
          <p:nvPr/>
        </p:nvSpPr>
        <p:spPr>
          <a:xfrm>
            <a:off x="8787384" y="2660904"/>
            <a:ext cx="493776" cy="493776"/>
          </a:xfrm>
          <a:prstGeom prst="rect">
            <a:avLst/>
          </a:prstGeom>
          <a:noFill/>
        </p:spPr>
        <p:txBody>
          <a:bodyPr wrap="square" lIns="0" tIns="0" rIns="0" bIns="0" rtlCol="0" anchor="ctr"/>
          <a:lstStyle/>
          <a:p>
            <a:pPr marL="0" indent="0" algn="ctr">
              <a:buNone/>
            </a:pPr>
            <a:r>
              <a:rPr lang="en-US" sz="1190" b="1" dirty="0">
                <a:solidFill>
                  <a:srgbClr val="FFFFFF"/>
                </a:solidFill>
                <a:latin typeface="Noto Sans CJK SC" pitchFamily="34" charset="0"/>
                <a:ea typeface="Noto Sans CJK SC" pitchFamily="34" charset="-122"/>
                <a:cs typeface="Noto Sans CJK SC" pitchFamily="34" charset="-120"/>
              </a:rPr>
              <a:t>?</a:t>
            </a:r>
            <a:endParaRPr lang="en-US" sz="1190" dirty="0"/>
          </a:p>
        </p:txBody>
      </p:sp>
      <p:sp>
        <p:nvSpPr>
          <p:cNvPr id="24" name="Text 22"/>
          <p:cNvSpPr/>
          <p:nvPr/>
        </p:nvSpPr>
        <p:spPr>
          <a:xfrm>
            <a:off x="6720840" y="5413248"/>
            <a:ext cx="4626864" cy="365760"/>
          </a:xfrm>
          <a:prstGeom prst="rect">
            <a:avLst/>
          </a:prstGeom>
          <a:noFill/>
        </p:spPr>
        <p:txBody>
          <a:bodyPr wrap="square" lIns="0" tIns="0" rIns="0" bIns="0" rtlCol="0" anchor="ctr"/>
          <a:lstStyle/>
          <a:p>
            <a:pPr marL="0" indent="0" algn="ctr">
              <a:buNone/>
            </a:pPr>
            <a:r>
              <a:rPr lang="en-US" sz="1050" i="1" dirty="0">
                <a:solidFill>
                  <a:srgbClr val="94A3B8"/>
                </a:solidFill>
                <a:latin typeface="Noto Sans CJK SC" pitchFamily="34" charset="0"/>
                <a:ea typeface="Noto Sans CJK SC" pitchFamily="34" charset="-122"/>
                <a:cs typeface="Noto Sans CJK SC" pitchFamily="34" charset="-120"/>
              </a:rPr>
              <a:t>相机像素 ↔ 投影仪像素 的对应关系未知</a:t>
            </a:r>
            <a:endParaRPr lang="en-US" sz="1050" dirty="0"/>
          </a:p>
        </p:txBody>
      </p:sp>
      <p:sp>
        <p:nvSpPr>
          <p:cNvPr id="25" name="Text 2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6" name="Text 2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一 · 问题背景与方法目标</a:t>
            </a:r>
            <a:endParaRPr lang="en-US" sz="850" dirty="0"/>
          </a:p>
        </p:txBody>
      </p:sp>
      <p:sp>
        <p:nvSpPr>
          <p:cNvPr id="27" name="Text 2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04 / 42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一 · 方法目标</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两个方向分别恢复投影仪坐标</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二维对应关系被拆成两个方向独立解码 —— 各自负责一个坐标分量。</a:t>
            </a:r>
            <a:endParaRPr lang="en-US" sz="1250" dirty="0"/>
          </a:p>
        </p:txBody>
      </p:sp>
      <p:sp>
        <p:nvSpPr>
          <p:cNvPr id="6" name="Shape 4"/>
          <p:cNvSpPr/>
          <p:nvPr/>
        </p:nvSpPr>
        <p:spPr>
          <a:xfrm>
            <a:off x="566928" y="1901952"/>
            <a:ext cx="5376672" cy="2505456"/>
          </a:xfrm>
          <a:prstGeom prst="roundRect">
            <a:avLst>
              <a:gd name="adj" fmla="val 3285"/>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Shape 5"/>
          <p:cNvSpPr/>
          <p:nvPr/>
        </p:nvSpPr>
        <p:spPr>
          <a:xfrm>
            <a:off x="566928" y="1901952"/>
            <a:ext cx="5376672" cy="91440"/>
          </a:xfrm>
          <a:prstGeom prst="rect">
            <a:avLst/>
          </a:prstGeom>
          <a:solidFill>
            <a:srgbClr val="3B82F6"/>
          </a:solidFill>
          <a:ln w="12700">
            <a:solidFill>
              <a:srgbClr val="3B82F6"/>
            </a:solidFill>
            <a:prstDash val="solid"/>
          </a:ln>
        </p:spPr>
        <p:txBody>
          <a:bodyPr/>
          <a:lstStyle/>
          <a:p>
            <a:endParaRPr lang="zh-CN" altLang="en-US"/>
          </a:p>
        </p:txBody>
      </p:sp>
      <p:pic>
        <p:nvPicPr>
          <p:cNvPr id="8" name="Image 0" descr="/home/claude/work/assets/fringe_hor.png"/>
          <p:cNvPicPr>
            <a:picLocks noChangeAspect="1"/>
          </p:cNvPicPr>
          <p:nvPr/>
        </p:nvPicPr>
        <p:blipFill>
          <a:blip r:embed="rId1"/>
          <a:stretch>
            <a:fillRect/>
          </a:stretch>
        </p:blipFill>
        <p:spPr>
          <a:xfrm>
            <a:off x="804672" y="2194560"/>
            <a:ext cx="1874520" cy="1298448"/>
          </a:xfrm>
          <a:prstGeom prst="ellipse">
            <a:avLst/>
          </a:prstGeom>
        </p:spPr>
      </p:pic>
      <p:sp>
        <p:nvSpPr>
          <p:cNvPr id="9" name="Text 6"/>
          <p:cNvSpPr/>
          <p:nvPr/>
        </p:nvSpPr>
        <p:spPr>
          <a:xfrm>
            <a:off x="2852928" y="2212848"/>
            <a:ext cx="2907792" cy="365760"/>
          </a:xfrm>
          <a:prstGeom prst="rect">
            <a:avLst/>
          </a:prstGeom>
          <a:noFill/>
        </p:spPr>
        <p:txBody>
          <a:bodyPr wrap="square" lIns="0" tIns="0" rIns="0" bIns="0" rtlCol="0" anchor="ctr"/>
          <a:lstStyle/>
          <a:p>
            <a:pPr marL="0" indent="0">
              <a:buNone/>
            </a:pPr>
            <a:r>
              <a:rPr lang="en-US" sz="1600" b="1" dirty="0">
                <a:solidFill>
                  <a:srgbClr val="0E2A47"/>
                </a:solidFill>
                <a:latin typeface="Noto Sans CJK SC" pitchFamily="34" charset="0"/>
                <a:ea typeface="Noto Sans CJK SC" pitchFamily="34" charset="-122"/>
                <a:cs typeface="Noto Sans CJK SC" pitchFamily="34" charset="-120"/>
              </a:rPr>
              <a:t>水平条纹  hor</a:t>
            </a:r>
            <a:endParaRPr lang="en-US" sz="1600" dirty="0"/>
          </a:p>
        </p:txBody>
      </p:sp>
      <p:sp>
        <p:nvSpPr>
          <p:cNvPr id="10" name="Text 7"/>
          <p:cNvSpPr/>
          <p:nvPr/>
        </p:nvSpPr>
        <p:spPr>
          <a:xfrm>
            <a:off x="2852928" y="2615184"/>
            <a:ext cx="2862072" cy="731520"/>
          </a:xfrm>
          <a:prstGeom prst="rect">
            <a:avLst/>
          </a:prstGeom>
          <a:noFill/>
        </p:spPr>
        <p:txBody>
          <a:bodyPr wrap="square" lIns="0" tIns="0" rIns="0" bIns="0" rtlCol="0" anchor="ctr"/>
          <a:lstStyle/>
          <a:p>
            <a:pPr marL="0" indent="0">
              <a:lnSpc>
                <a:spcPts val="1500"/>
              </a:lnSpc>
              <a:buNone/>
            </a:pPr>
            <a:r>
              <a:rPr lang="en-US" sz="1150" dirty="0">
                <a:solidFill>
                  <a:srgbClr val="1E293B"/>
                </a:solidFill>
                <a:latin typeface="Noto Sans CJK SC" pitchFamily="34" charset="0"/>
                <a:ea typeface="Noto Sans CJK SC" pitchFamily="34" charset="-122"/>
                <a:cs typeface="Noto Sans CJK SC" pitchFamily="34" charset="-120"/>
              </a:rPr>
              <a:t>条纹沿水平方向延伸，灰度沿投影仪纵向变化。</a:t>
            </a:r>
            <a:endParaRPr lang="en-US" sz="1150" dirty="0"/>
          </a:p>
        </p:txBody>
      </p:sp>
      <p:sp>
        <p:nvSpPr>
          <p:cNvPr id="11" name="Shape 8"/>
          <p:cNvSpPr/>
          <p:nvPr/>
        </p:nvSpPr>
        <p:spPr>
          <a:xfrm>
            <a:off x="2852928" y="3251304"/>
            <a:ext cx="2834640" cy="457200"/>
          </a:xfrm>
          <a:prstGeom prst="roundRect">
            <a:avLst>
              <a:gd name="adj" fmla="val 12000"/>
            </a:avLst>
          </a:prstGeom>
          <a:solidFill>
            <a:srgbClr val="3B82F6"/>
          </a:solidFill>
          <a:ln w="12700">
            <a:solidFill>
              <a:srgbClr val="3B82F6"/>
            </a:solidFill>
            <a:prstDash val="solid"/>
          </a:ln>
        </p:spPr>
        <p:txBody>
          <a:bodyPr/>
          <a:lstStyle/>
          <a:p>
            <a:endParaRPr lang="zh-CN" altLang="en-US"/>
          </a:p>
        </p:txBody>
      </p:sp>
      <p:sp>
        <p:nvSpPr>
          <p:cNvPr id="12" name="Text 9"/>
          <p:cNvSpPr/>
          <p:nvPr/>
        </p:nvSpPr>
        <p:spPr>
          <a:xfrm>
            <a:off x="2761488" y="3251304"/>
            <a:ext cx="3017520" cy="457200"/>
          </a:xfrm>
          <a:prstGeom prst="rect">
            <a:avLst/>
          </a:prstGeom>
          <a:noFill/>
        </p:spPr>
        <p:txBody>
          <a:bodyPr wrap="square" lIns="0" tIns="0" rIns="0" bIns="0" rtlCol="0" anchor="ctr"/>
          <a:lstStyle/>
          <a:p>
            <a:pPr marL="0" indent="0" algn="ctr">
              <a:buNone/>
            </a:pPr>
            <a:r>
              <a:rPr lang="en-US" sz="1200" b="1" dirty="0">
                <a:solidFill>
                  <a:srgbClr val="FFFFFF"/>
                </a:solidFill>
                <a:latin typeface="Noto Sans CJK SC" pitchFamily="34" charset="0"/>
                <a:ea typeface="Noto Sans CJK SC" pitchFamily="34" charset="-122"/>
                <a:cs typeface="Noto Sans CJK SC" pitchFamily="34" charset="-120"/>
              </a:rPr>
              <a:t>解码投影仪行坐标  yp</a:t>
            </a:r>
            <a:endParaRPr lang="en-US" sz="1200" dirty="0"/>
          </a:p>
        </p:txBody>
      </p:sp>
      <p:sp>
        <p:nvSpPr>
          <p:cNvPr id="13" name="Text 10"/>
          <p:cNvSpPr/>
          <p:nvPr/>
        </p:nvSpPr>
        <p:spPr>
          <a:xfrm>
            <a:off x="804672" y="3657600"/>
            <a:ext cx="4919472" cy="548640"/>
          </a:xfrm>
          <a:prstGeom prst="rect">
            <a:avLst/>
          </a:prstGeom>
          <a:noFill/>
        </p:spPr>
        <p:txBody>
          <a:bodyPr wrap="square" lIns="0" tIns="0" rIns="0" bIns="0" rtlCol="0" anchor="ctr"/>
          <a:lstStyle/>
          <a:p>
            <a:pPr marL="0" indent="0">
              <a:lnSpc>
                <a:spcPts val="1400"/>
              </a:lnSpc>
              <a:buNone/>
            </a:pPr>
            <a:r>
              <a:rPr lang="en-US" sz="1050" dirty="0">
                <a:solidFill>
                  <a:srgbClr val="64748B"/>
                </a:solidFill>
                <a:latin typeface="Noto Sans CJK SC" pitchFamily="34" charset="0"/>
                <a:ea typeface="Noto Sans CJK SC" pitchFamily="34" charset="-122"/>
                <a:cs typeface="Noto Sans CJK SC" pitchFamily="34" charset="-120"/>
              </a:rPr>
              <a:t>方向决定灰度沿哪条投影仪轴变化，从而决定解出哪个坐标分量。</a:t>
            </a:r>
            <a:endParaRPr lang="en-US" sz="1050" dirty="0"/>
          </a:p>
        </p:txBody>
      </p:sp>
      <p:sp>
        <p:nvSpPr>
          <p:cNvPr id="14" name="Shape 11"/>
          <p:cNvSpPr/>
          <p:nvPr/>
        </p:nvSpPr>
        <p:spPr>
          <a:xfrm>
            <a:off x="6245352" y="1901952"/>
            <a:ext cx="5376672" cy="2505456"/>
          </a:xfrm>
          <a:prstGeom prst="roundRect">
            <a:avLst>
              <a:gd name="adj" fmla="val 3285"/>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5" name="Shape 12"/>
          <p:cNvSpPr/>
          <p:nvPr/>
        </p:nvSpPr>
        <p:spPr>
          <a:xfrm>
            <a:off x="6245352" y="1901952"/>
            <a:ext cx="5376672" cy="91440"/>
          </a:xfrm>
          <a:prstGeom prst="rect">
            <a:avLst/>
          </a:prstGeom>
          <a:solidFill>
            <a:srgbClr val="F59E0B"/>
          </a:solidFill>
          <a:ln w="12700">
            <a:solidFill>
              <a:srgbClr val="F59E0B"/>
            </a:solidFill>
            <a:prstDash val="solid"/>
          </a:ln>
        </p:spPr>
        <p:txBody>
          <a:bodyPr/>
          <a:lstStyle/>
          <a:p>
            <a:endParaRPr lang="zh-CN" altLang="en-US"/>
          </a:p>
        </p:txBody>
      </p:sp>
      <p:pic>
        <p:nvPicPr>
          <p:cNvPr id="16" name="Image 1" descr="/home/claude/work/assets/fringe_ver.png"/>
          <p:cNvPicPr>
            <a:picLocks noChangeAspect="1"/>
          </p:cNvPicPr>
          <p:nvPr/>
        </p:nvPicPr>
        <p:blipFill>
          <a:blip r:embed="rId2"/>
          <a:stretch>
            <a:fillRect/>
          </a:stretch>
        </p:blipFill>
        <p:spPr>
          <a:xfrm>
            <a:off x="6483096" y="2194560"/>
            <a:ext cx="1874520" cy="1298448"/>
          </a:xfrm>
          <a:prstGeom prst="ellipse">
            <a:avLst/>
          </a:prstGeom>
        </p:spPr>
      </p:pic>
      <p:sp>
        <p:nvSpPr>
          <p:cNvPr id="17" name="Text 13"/>
          <p:cNvSpPr/>
          <p:nvPr/>
        </p:nvSpPr>
        <p:spPr>
          <a:xfrm>
            <a:off x="8531352" y="2212848"/>
            <a:ext cx="2907792" cy="365760"/>
          </a:xfrm>
          <a:prstGeom prst="rect">
            <a:avLst/>
          </a:prstGeom>
          <a:noFill/>
        </p:spPr>
        <p:txBody>
          <a:bodyPr wrap="square" lIns="0" tIns="0" rIns="0" bIns="0" rtlCol="0" anchor="ctr"/>
          <a:lstStyle/>
          <a:p>
            <a:pPr marL="0" indent="0">
              <a:buNone/>
            </a:pPr>
            <a:r>
              <a:rPr lang="en-US" sz="1600" b="1" dirty="0">
                <a:solidFill>
                  <a:srgbClr val="0E2A47"/>
                </a:solidFill>
                <a:latin typeface="Noto Sans CJK SC" pitchFamily="34" charset="0"/>
                <a:ea typeface="Noto Sans CJK SC" pitchFamily="34" charset="-122"/>
                <a:cs typeface="Noto Sans CJK SC" pitchFamily="34" charset="-120"/>
              </a:rPr>
              <a:t>垂直条纹  ver</a:t>
            </a:r>
            <a:endParaRPr lang="en-US" sz="1600" dirty="0"/>
          </a:p>
        </p:txBody>
      </p:sp>
      <p:sp>
        <p:nvSpPr>
          <p:cNvPr id="18" name="Text 14"/>
          <p:cNvSpPr/>
          <p:nvPr/>
        </p:nvSpPr>
        <p:spPr>
          <a:xfrm>
            <a:off x="8531352" y="2615184"/>
            <a:ext cx="2862072" cy="731520"/>
          </a:xfrm>
          <a:prstGeom prst="rect">
            <a:avLst/>
          </a:prstGeom>
          <a:noFill/>
        </p:spPr>
        <p:txBody>
          <a:bodyPr wrap="square" lIns="0" tIns="0" rIns="0" bIns="0" rtlCol="0" anchor="ctr"/>
          <a:lstStyle/>
          <a:p>
            <a:pPr marL="0" indent="0">
              <a:lnSpc>
                <a:spcPts val="1500"/>
              </a:lnSpc>
              <a:buNone/>
            </a:pPr>
            <a:r>
              <a:rPr lang="en-US" sz="1150" dirty="0">
                <a:solidFill>
                  <a:srgbClr val="1E293B"/>
                </a:solidFill>
                <a:latin typeface="Noto Sans CJK SC" pitchFamily="34" charset="0"/>
                <a:ea typeface="Noto Sans CJK SC" pitchFamily="34" charset="-122"/>
                <a:cs typeface="Noto Sans CJK SC" pitchFamily="34" charset="-120"/>
              </a:rPr>
              <a:t>条纹沿垂直方向延伸，灰度沿投影仪横向变化。</a:t>
            </a:r>
            <a:endParaRPr lang="en-US" sz="1150" dirty="0"/>
          </a:p>
        </p:txBody>
      </p:sp>
      <p:sp>
        <p:nvSpPr>
          <p:cNvPr id="19" name="Shape 15"/>
          <p:cNvSpPr/>
          <p:nvPr/>
        </p:nvSpPr>
        <p:spPr>
          <a:xfrm>
            <a:off x="8513064" y="3227832"/>
            <a:ext cx="2834640" cy="457200"/>
          </a:xfrm>
          <a:prstGeom prst="roundRect">
            <a:avLst>
              <a:gd name="adj" fmla="val 12000"/>
            </a:avLst>
          </a:prstGeom>
          <a:solidFill>
            <a:srgbClr val="F59E0B"/>
          </a:solidFill>
          <a:ln w="12700">
            <a:solidFill>
              <a:srgbClr val="F59E0B"/>
            </a:solidFill>
            <a:prstDash val="solid"/>
          </a:ln>
        </p:spPr>
        <p:txBody>
          <a:bodyPr/>
          <a:lstStyle/>
          <a:p>
            <a:endParaRPr lang="zh-CN" altLang="en-US"/>
          </a:p>
        </p:txBody>
      </p:sp>
      <p:sp>
        <p:nvSpPr>
          <p:cNvPr id="20" name="Text 16"/>
          <p:cNvSpPr/>
          <p:nvPr/>
        </p:nvSpPr>
        <p:spPr>
          <a:xfrm>
            <a:off x="8421624" y="3227832"/>
            <a:ext cx="3017520" cy="457200"/>
          </a:xfrm>
          <a:prstGeom prst="rect">
            <a:avLst/>
          </a:prstGeom>
          <a:noFill/>
        </p:spPr>
        <p:txBody>
          <a:bodyPr wrap="square" lIns="0" tIns="0" rIns="0" bIns="0" rtlCol="0" anchor="ctr"/>
          <a:lstStyle/>
          <a:p>
            <a:pPr marL="0" indent="0" algn="ctr">
              <a:buNone/>
            </a:pPr>
            <a:r>
              <a:rPr lang="en-US" sz="1200" b="1" dirty="0">
                <a:solidFill>
                  <a:srgbClr val="FFFFFF"/>
                </a:solidFill>
                <a:latin typeface="Noto Sans CJK SC" pitchFamily="34" charset="0"/>
                <a:ea typeface="Noto Sans CJK SC" pitchFamily="34" charset="-122"/>
                <a:cs typeface="Noto Sans CJK SC" pitchFamily="34" charset="-120"/>
              </a:rPr>
              <a:t>解码投影仪列坐标  xp</a:t>
            </a:r>
            <a:endParaRPr lang="en-US" sz="1200" dirty="0"/>
          </a:p>
        </p:txBody>
      </p:sp>
      <p:sp>
        <p:nvSpPr>
          <p:cNvPr id="21" name="Text 17"/>
          <p:cNvSpPr/>
          <p:nvPr/>
        </p:nvSpPr>
        <p:spPr>
          <a:xfrm>
            <a:off x="6483096" y="3657600"/>
            <a:ext cx="4919472" cy="548640"/>
          </a:xfrm>
          <a:prstGeom prst="rect">
            <a:avLst/>
          </a:prstGeom>
          <a:noFill/>
        </p:spPr>
        <p:txBody>
          <a:bodyPr wrap="square" lIns="0" tIns="0" rIns="0" bIns="0" rtlCol="0" anchor="ctr"/>
          <a:lstStyle/>
          <a:p>
            <a:pPr marL="0" indent="0">
              <a:lnSpc>
                <a:spcPts val="1400"/>
              </a:lnSpc>
              <a:buNone/>
            </a:pPr>
            <a:r>
              <a:rPr lang="en-US" sz="1050" dirty="0">
                <a:solidFill>
                  <a:srgbClr val="64748B"/>
                </a:solidFill>
                <a:latin typeface="Noto Sans CJK SC" pitchFamily="34" charset="0"/>
                <a:ea typeface="Noto Sans CJK SC" pitchFamily="34" charset="-122"/>
                <a:cs typeface="Noto Sans CJK SC" pitchFamily="34" charset="-120"/>
              </a:rPr>
              <a:t>方向决定灰度沿哪条投影仪轴变化，从而决定解出哪个坐标分量。</a:t>
            </a:r>
            <a:endParaRPr lang="en-US" sz="1050" dirty="0"/>
          </a:p>
        </p:txBody>
      </p:sp>
      <p:sp>
        <p:nvSpPr>
          <p:cNvPr id="22" name="Text 18"/>
          <p:cNvSpPr/>
          <p:nvPr/>
        </p:nvSpPr>
        <p:spPr>
          <a:xfrm>
            <a:off x="566928" y="4572000"/>
            <a:ext cx="5486400" cy="292608"/>
          </a:xfrm>
          <a:prstGeom prst="rect">
            <a:avLst/>
          </a:prstGeom>
          <a:noFill/>
        </p:spPr>
        <p:txBody>
          <a:bodyPr wrap="square" lIns="0" tIns="0" rIns="0" bIns="0" rtlCol="0" anchor="ctr"/>
          <a:lstStyle/>
          <a:p>
            <a:pPr marL="0" indent="0">
              <a:buNone/>
            </a:pPr>
            <a:r>
              <a:rPr lang="en-US" sz="1300" b="1" dirty="0">
                <a:solidFill>
                  <a:srgbClr val="0E7490"/>
                </a:solidFill>
                <a:latin typeface="Noto Sans CJK SC" pitchFamily="34" charset="0"/>
                <a:ea typeface="Noto Sans CJK SC" pitchFamily="34" charset="-122"/>
                <a:cs typeface="Noto Sans CJK SC" pitchFamily="34" charset="-120"/>
              </a:rPr>
              <a:t>解码主线输出 4 个文件</a:t>
            </a:r>
            <a:endParaRPr lang="en-US" sz="1300" dirty="0"/>
          </a:p>
        </p:txBody>
      </p:sp>
      <p:sp>
        <p:nvSpPr>
          <p:cNvPr id="23" name="Shape 19"/>
          <p:cNvSpPr/>
          <p:nvPr/>
        </p:nvSpPr>
        <p:spPr>
          <a:xfrm>
            <a:off x="566928" y="4901184"/>
            <a:ext cx="2670048" cy="1024128"/>
          </a:xfrm>
          <a:prstGeom prst="roundRect">
            <a:avLst>
              <a:gd name="adj" fmla="val 8036"/>
            </a:avLst>
          </a:prstGeom>
          <a:solidFill>
            <a:srgbClr val="F2F5F9"/>
          </a:solidFill>
          <a:ln w="12700">
            <a:solidFill>
              <a:srgbClr val="E2E8F0"/>
            </a:solidFill>
            <a:prstDash val="solid"/>
          </a:ln>
        </p:spPr>
        <p:txBody>
          <a:bodyPr/>
          <a:lstStyle/>
          <a:p>
            <a:endParaRPr lang="zh-CN" altLang="en-US"/>
          </a:p>
        </p:txBody>
      </p:sp>
      <p:sp>
        <p:nvSpPr>
          <p:cNvPr id="24" name="Shape 20"/>
          <p:cNvSpPr/>
          <p:nvPr/>
        </p:nvSpPr>
        <p:spPr>
          <a:xfrm>
            <a:off x="749808" y="5230368"/>
            <a:ext cx="365760" cy="365760"/>
          </a:xfrm>
          <a:prstGeom prst="ellipse">
            <a:avLst/>
          </a:prstGeom>
          <a:solidFill>
            <a:srgbClr val="3B82F6"/>
          </a:solidFill>
          <a:ln w="12700">
            <a:solidFill>
              <a:srgbClr val="3B82F6"/>
            </a:solidFill>
            <a:prstDash val="solid"/>
          </a:ln>
        </p:spPr>
        <p:txBody>
          <a:bodyPr/>
          <a:lstStyle/>
          <a:p>
            <a:endParaRPr lang="zh-CN" altLang="en-US"/>
          </a:p>
        </p:txBody>
      </p:sp>
      <p:sp>
        <p:nvSpPr>
          <p:cNvPr id="25" name="Text 21"/>
          <p:cNvSpPr/>
          <p:nvPr/>
        </p:nvSpPr>
        <p:spPr>
          <a:xfrm>
            <a:off x="1243584" y="5065776"/>
            <a:ext cx="1847088" cy="329184"/>
          </a:xfrm>
          <a:prstGeom prst="rect">
            <a:avLst/>
          </a:prstGeom>
          <a:noFill/>
        </p:spPr>
        <p:txBody>
          <a:bodyPr wrap="square" lIns="0" tIns="0" rIns="0" bIns="0" rtlCol="0" anchor="ctr"/>
          <a:lstStyle/>
          <a:p>
            <a:pPr marL="0" indent="0">
              <a:buNone/>
            </a:pPr>
            <a:r>
              <a:rPr lang="en-US" sz="1200" b="1" dirty="0">
                <a:solidFill>
                  <a:srgbClr val="0E2A47"/>
                </a:solidFill>
                <a:latin typeface="DejaVu Sans Mono" pitchFamily="34" charset="0"/>
                <a:ea typeface="DejaVu Sans Mono" pitchFamily="34" charset="-122"/>
                <a:cs typeface="DejaVu Sans Mono" pitchFamily="34" charset="-120"/>
              </a:rPr>
              <a:t>disp_hor.npy</a:t>
            </a:r>
            <a:endParaRPr lang="en-US" sz="1200" dirty="0"/>
          </a:p>
        </p:txBody>
      </p:sp>
      <p:sp>
        <p:nvSpPr>
          <p:cNvPr id="26" name="Text 22"/>
          <p:cNvSpPr/>
          <p:nvPr/>
        </p:nvSpPr>
        <p:spPr>
          <a:xfrm>
            <a:off x="1243584" y="5394960"/>
            <a:ext cx="1847088" cy="329184"/>
          </a:xfrm>
          <a:prstGeom prst="rect">
            <a:avLst/>
          </a:prstGeom>
          <a:noFill/>
        </p:spPr>
        <p:txBody>
          <a:bodyPr wrap="square" lIns="0" tIns="0" rIns="0" bIns="0" rtlCol="0" anchor="ctr"/>
          <a:lstStyle/>
          <a:p>
            <a:pPr marL="0" indent="0">
              <a:buNone/>
            </a:pPr>
            <a:r>
              <a:rPr lang="en-US" sz="1000" dirty="0">
                <a:solidFill>
                  <a:srgbClr val="64748B"/>
                </a:solidFill>
                <a:latin typeface="Noto Sans CJK SC" pitchFamily="34" charset="0"/>
                <a:ea typeface="Noto Sans CJK SC" pitchFamily="34" charset="-122"/>
                <a:cs typeface="Noto Sans CJK SC" pitchFamily="34" charset="-120"/>
              </a:rPr>
              <a:t>投影仪行坐标 yp 图</a:t>
            </a:r>
            <a:endParaRPr lang="en-US" sz="1000" dirty="0"/>
          </a:p>
        </p:txBody>
      </p:sp>
      <p:sp>
        <p:nvSpPr>
          <p:cNvPr id="27" name="Shape 23"/>
          <p:cNvSpPr/>
          <p:nvPr/>
        </p:nvSpPr>
        <p:spPr>
          <a:xfrm>
            <a:off x="3355848" y="4901184"/>
            <a:ext cx="2670048" cy="1024128"/>
          </a:xfrm>
          <a:prstGeom prst="roundRect">
            <a:avLst>
              <a:gd name="adj" fmla="val 8036"/>
            </a:avLst>
          </a:prstGeom>
          <a:solidFill>
            <a:srgbClr val="F2F5F9"/>
          </a:solidFill>
          <a:ln w="12700">
            <a:solidFill>
              <a:srgbClr val="E2E8F0"/>
            </a:solidFill>
            <a:prstDash val="solid"/>
          </a:ln>
        </p:spPr>
        <p:txBody>
          <a:bodyPr/>
          <a:lstStyle/>
          <a:p>
            <a:endParaRPr lang="zh-CN" altLang="en-US"/>
          </a:p>
        </p:txBody>
      </p:sp>
      <p:sp>
        <p:nvSpPr>
          <p:cNvPr id="28" name="Shape 24"/>
          <p:cNvSpPr/>
          <p:nvPr/>
        </p:nvSpPr>
        <p:spPr>
          <a:xfrm>
            <a:off x="3538728" y="5230368"/>
            <a:ext cx="365760" cy="365760"/>
          </a:xfrm>
          <a:prstGeom prst="ellipse">
            <a:avLst/>
          </a:prstGeom>
          <a:solidFill>
            <a:srgbClr val="F59E0B"/>
          </a:solidFill>
          <a:ln w="12700">
            <a:solidFill>
              <a:srgbClr val="F59E0B"/>
            </a:solidFill>
            <a:prstDash val="solid"/>
          </a:ln>
        </p:spPr>
        <p:txBody>
          <a:bodyPr/>
          <a:lstStyle/>
          <a:p>
            <a:endParaRPr lang="zh-CN" altLang="en-US"/>
          </a:p>
        </p:txBody>
      </p:sp>
      <p:sp>
        <p:nvSpPr>
          <p:cNvPr id="29" name="Text 25"/>
          <p:cNvSpPr/>
          <p:nvPr/>
        </p:nvSpPr>
        <p:spPr>
          <a:xfrm>
            <a:off x="4032504" y="5065776"/>
            <a:ext cx="1847088" cy="329184"/>
          </a:xfrm>
          <a:prstGeom prst="rect">
            <a:avLst/>
          </a:prstGeom>
          <a:noFill/>
        </p:spPr>
        <p:txBody>
          <a:bodyPr wrap="square" lIns="0" tIns="0" rIns="0" bIns="0" rtlCol="0" anchor="ctr"/>
          <a:lstStyle/>
          <a:p>
            <a:pPr marL="0" indent="0">
              <a:buNone/>
            </a:pPr>
            <a:r>
              <a:rPr lang="en-US" sz="1200" b="1" dirty="0">
                <a:solidFill>
                  <a:srgbClr val="0E2A47"/>
                </a:solidFill>
                <a:latin typeface="DejaVu Sans Mono" pitchFamily="34" charset="0"/>
                <a:ea typeface="DejaVu Sans Mono" pitchFamily="34" charset="-122"/>
                <a:cs typeface="DejaVu Sans Mono" pitchFamily="34" charset="-120"/>
              </a:rPr>
              <a:t>disp_ver.npy</a:t>
            </a:r>
            <a:endParaRPr lang="en-US" sz="1200" dirty="0"/>
          </a:p>
        </p:txBody>
      </p:sp>
      <p:sp>
        <p:nvSpPr>
          <p:cNvPr id="30" name="Text 26"/>
          <p:cNvSpPr/>
          <p:nvPr/>
        </p:nvSpPr>
        <p:spPr>
          <a:xfrm>
            <a:off x="4032504" y="5394960"/>
            <a:ext cx="1847088" cy="329184"/>
          </a:xfrm>
          <a:prstGeom prst="rect">
            <a:avLst/>
          </a:prstGeom>
          <a:noFill/>
        </p:spPr>
        <p:txBody>
          <a:bodyPr wrap="square" lIns="0" tIns="0" rIns="0" bIns="0" rtlCol="0" anchor="ctr"/>
          <a:lstStyle/>
          <a:p>
            <a:pPr marL="0" indent="0">
              <a:buNone/>
            </a:pPr>
            <a:r>
              <a:rPr lang="en-US" sz="1000" dirty="0">
                <a:solidFill>
                  <a:srgbClr val="64748B"/>
                </a:solidFill>
                <a:latin typeface="Noto Sans CJK SC" pitchFamily="34" charset="0"/>
                <a:ea typeface="Noto Sans CJK SC" pitchFamily="34" charset="-122"/>
                <a:cs typeface="Noto Sans CJK SC" pitchFamily="34" charset="-120"/>
              </a:rPr>
              <a:t>投影仪列坐标 xp 图</a:t>
            </a:r>
            <a:endParaRPr lang="en-US" sz="1000" dirty="0"/>
          </a:p>
        </p:txBody>
      </p:sp>
      <p:sp>
        <p:nvSpPr>
          <p:cNvPr id="31" name="Shape 27"/>
          <p:cNvSpPr/>
          <p:nvPr/>
        </p:nvSpPr>
        <p:spPr>
          <a:xfrm>
            <a:off x="6144768" y="4901184"/>
            <a:ext cx="2670048" cy="1024128"/>
          </a:xfrm>
          <a:prstGeom prst="roundRect">
            <a:avLst>
              <a:gd name="adj" fmla="val 8036"/>
            </a:avLst>
          </a:prstGeom>
          <a:solidFill>
            <a:srgbClr val="F2F5F9"/>
          </a:solidFill>
          <a:ln w="12700">
            <a:solidFill>
              <a:srgbClr val="E2E8F0"/>
            </a:solidFill>
            <a:prstDash val="solid"/>
          </a:ln>
        </p:spPr>
        <p:txBody>
          <a:bodyPr/>
          <a:lstStyle/>
          <a:p>
            <a:endParaRPr lang="zh-CN" altLang="en-US"/>
          </a:p>
        </p:txBody>
      </p:sp>
      <p:sp>
        <p:nvSpPr>
          <p:cNvPr id="32" name="Shape 28"/>
          <p:cNvSpPr/>
          <p:nvPr/>
        </p:nvSpPr>
        <p:spPr>
          <a:xfrm>
            <a:off x="6327648" y="5230368"/>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33" name="Text 29"/>
          <p:cNvSpPr/>
          <p:nvPr/>
        </p:nvSpPr>
        <p:spPr>
          <a:xfrm>
            <a:off x="6821424" y="5065776"/>
            <a:ext cx="1847088" cy="329184"/>
          </a:xfrm>
          <a:prstGeom prst="rect">
            <a:avLst/>
          </a:prstGeom>
          <a:noFill/>
        </p:spPr>
        <p:txBody>
          <a:bodyPr wrap="square" lIns="0" tIns="0" rIns="0" bIns="0" rtlCol="0" anchor="ctr"/>
          <a:lstStyle/>
          <a:p>
            <a:pPr marL="0" indent="0">
              <a:buNone/>
            </a:pPr>
            <a:r>
              <a:rPr lang="en-US" sz="1200" b="1" dirty="0">
                <a:solidFill>
                  <a:srgbClr val="0E2A47"/>
                </a:solidFill>
                <a:latin typeface="DejaVu Sans Mono" pitchFamily="34" charset="0"/>
                <a:ea typeface="DejaVu Sans Mono" pitchFamily="34" charset="-122"/>
                <a:cs typeface="DejaVu Sans Mono" pitchFamily="34" charset="-120"/>
              </a:rPr>
              <a:t>peak_hor.npy</a:t>
            </a:r>
            <a:endParaRPr lang="en-US" sz="1200" dirty="0"/>
          </a:p>
        </p:txBody>
      </p:sp>
      <p:sp>
        <p:nvSpPr>
          <p:cNvPr id="34" name="Text 30"/>
          <p:cNvSpPr/>
          <p:nvPr/>
        </p:nvSpPr>
        <p:spPr>
          <a:xfrm>
            <a:off x="6821424" y="5394960"/>
            <a:ext cx="1847088" cy="329184"/>
          </a:xfrm>
          <a:prstGeom prst="rect">
            <a:avLst/>
          </a:prstGeom>
          <a:noFill/>
        </p:spPr>
        <p:txBody>
          <a:bodyPr wrap="square" lIns="0" tIns="0" rIns="0" bIns="0" rtlCol="0" anchor="ctr"/>
          <a:lstStyle/>
          <a:p>
            <a:pPr marL="0" indent="0">
              <a:buNone/>
            </a:pPr>
            <a:r>
              <a:rPr lang="en-US" sz="1000" dirty="0">
                <a:solidFill>
                  <a:srgbClr val="64748B"/>
                </a:solidFill>
                <a:latin typeface="Noto Sans CJK SC" pitchFamily="34" charset="0"/>
                <a:ea typeface="Noto Sans CJK SC" pitchFamily="34" charset="-122"/>
                <a:cs typeface="Noto Sans CJK SC" pitchFamily="34" charset="-120"/>
              </a:rPr>
              <a:t>水平方向峰值强度</a:t>
            </a:r>
            <a:endParaRPr lang="en-US" sz="1000" dirty="0"/>
          </a:p>
        </p:txBody>
      </p:sp>
      <p:sp>
        <p:nvSpPr>
          <p:cNvPr id="35" name="Shape 31"/>
          <p:cNvSpPr/>
          <p:nvPr/>
        </p:nvSpPr>
        <p:spPr>
          <a:xfrm>
            <a:off x="8933688" y="4901184"/>
            <a:ext cx="2670048" cy="1024128"/>
          </a:xfrm>
          <a:prstGeom prst="roundRect">
            <a:avLst>
              <a:gd name="adj" fmla="val 8036"/>
            </a:avLst>
          </a:prstGeom>
          <a:solidFill>
            <a:srgbClr val="F2F5F9"/>
          </a:solidFill>
          <a:ln w="12700">
            <a:solidFill>
              <a:srgbClr val="E2E8F0"/>
            </a:solidFill>
            <a:prstDash val="solid"/>
          </a:ln>
        </p:spPr>
        <p:txBody>
          <a:bodyPr/>
          <a:lstStyle/>
          <a:p>
            <a:endParaRPr lang="zh-CN" altLang="en-US"/>
          </a:p>
        </p:txBody>
      </p:sp>
      <p:sp>
        <p:nvSpPr>
          <p:cNvPr id="36" name="Shape 32"/>
          <p:cNvSpPr/>
          <p:nvPr/>
        </p:nvSpPr>
        <p:spPr>
          <a:xfrm>
            <a:off x="9116568" y="5230368"/>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37" name="Text 33"/>
          <p:cNvSpPr/>
          <p:nvPr/>
        </p:nvSpPr>
        <p:spPr>
          <a:xfrm>
            <a:off x="9610344" y="5065776"/>
            <a:ext cx="1847088" cy="329184"/>
          </a:xfrm>
          <a:prstGeom prst="rect">
            <a:avLst/>
          </a:prstGeom>
          <a:noFill/>
        </p:spPr>
        <p:txBody>
          <a:bodyPr wrap="square" lIns="0" tIns="0" rIns="0" bIns="0" rtlCol="0" anchor="ctr"/>
          <a:lstStyle/>
          <a:p>
            <a:pPr marL="0" indent="0">
              <a:buNone/>
            </a:pPr>
            <a:r>
              <a:rPr lang="en-US" sz="1200" b="1" dirty="0">
                <a:solidFill>
                  <a:srgbClr val="0E2A47"/>
                </a:solidFill>
                <a:latin typeface="DejaVu Sans Mono" pitchFamily="34" charset="0"/>
                <a:ea typeface="DejaVu Sans Mono" pitchFamily="34" charset="-122"/>
                <a:cs typeface="DejaVu Sans Mono" pitchFamily="34" charset="-120"/>
              </a:rPr>
              <a:t>peak_ver.npy</a:t>
            </a:r>
            <a:endParaRPr lang="en-US" sz="1200" dirty="0"/>
          </a:p>
        </p:txBody>
      </p:sp>
      <p:sp>
        <p:nvSpPr>
          <p:cNvPr id="38" name="Text 34"/>
          <p:cNvSpPr/>
          <p:nvPr/>
        </p:nvSpPr>
        <p:spPr>
          <a:xfrm>
            <a:off x="9610344" y="5394960"/>
            <a:ext cx="1847088" cy="329184"/>
          </a:xfrm>
          <a:prstGeom prst="rect">
            <a:avLst/>
          </a:prstGeom>
          <a:noFill/>
        </p:spPr>
        <p:txBody>
          <a:bodyPr wrap="square" lIns="0" tIns="0" rIns="0" bIns="0" rtlCol="0" anchor="ctr"/>
          <a:lstStyle/>
          <a:p>
            <a:pPr marL="0" indent="0">
              <a:buNone/>
            </a:pPr>
            <a:r>
              <a:rPr lang="en-US" sz="1000" dirty="0">
                <a:solidFill>
                  <a:srgbClr val="64748B"/>
                </a:solidFill>
                <a:latin typeface="Noto Sans CJK SC" pitchFamily="34" charset="0"/>
                <a:ea typeface="Noto Sans CJK SC" pitchFamily="34" charset="-122"/>
                <a:cs typeface="Noto Sans CJK SC" pitchFamily="34" charset="-120"/>
              </a:rPr>
              <a:t>垂直方向峰值强度</a:t>
            </a:r>
            <a:endParaRPr lang="en-US" sz="1000" dirty="0"/>
          </a:p>
        </p:txBody>
      </p:sp>
      <p:sp>
        <p:nvSpPr>
          <p:cNvPr id="39" name="Text 35"/>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0" name="Text 36"/>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一 · 问题背景与方法目标</a:t>
            </a:r>
            <a:endParaRPr lang="en-US" sz="850" dirty="0"/>
          </a:p>
        </p:txBody>
      </p:sp>
      <p:sp>
        <p:nvSpPr>
          <p:cNvPr id="41" name="Text 37"/>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05 / 42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一 · 问题分析</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单张条纹图为什么不能定位</a:t>
            </a:r>
            <a:endParaRPr lang="en-US" sz="2900" dirty="0"/>
          </a:p>
        </p:txBody>
      </p:sp>
      <p:sp>
        <p:nvSpPr>
          <p:cNvPr id="5" name="Shape 3"/>
          <p:cNvSpPr/>
          <p:nvPr/>
        </p:nvSpPr>
        <p:spPr>
          <a:xfrm>
            <a:off x="566928" y="1645920"/>
            <a:ext cx="5989320" cy="3200400"/>
          </a:xfrm>
          <a:prstGeom prst="roundRect">
            <a:avLst>
              <a:gd name="adj" fmla="val 2571"/>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749808" y="1773936"/>
            <a:ext cx="548640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正弦条纹的周期性 → 多义性</a:t>
            </a:r>
            <a:endParaRPr lang="en-US" sz="1200" dirty="0"/>
          </a:p>
        </p:txBody>
      </p:sp>
      <p:pic>
        <p:nvPicPr>
          <p:cNvPr id="7" name="Image 0" descr="/home/claude/work/assets/fig_sine_ambiguity.png"/>
          <p:cNvPicPr>
            <a:picLocks noChangeAspect="1"/>
          </p:cNvPicPr>
          <p:nvPr/>
        </p:nvPicPr>
        <p:blipFill>
          <a:blip r:embed="rId1"/>
          <a:stretch>
            <a:fillRect/>
          </a:stretch>
        </p:blipFill>
        <p:spPr>
          <a:xfrm>
            <a:off x="822960" y="2121408"/>
            <a:ext cx="5440680" cy="2949394"/>
          </a:xfrm>
          <a:prstGeom prst="rect">
            <a:avLst/>
          </a:prstGeom>
        </p:spPr>
      </p:pic>
      <p:sp>
        <p:nvSpPr>
          <p:cNvPr id="8" name="Text 5"/>
          <p:cNvSpPr/>
          <p:nvPr/>
        </p:nvSpPr>
        <p:spPr>
          <a:xfrm>
            <a:off x="6858000" y="1737360"/>
            <a:ext cx="4754880" cy="1554480"/>
          </a:xfrm>
          <a:prstGeom prst="rect">
            <a:avLst/>
          </a:prstGeom>
          <a:noFill/>
        </p:spPr>
        <p:txBody>
          <a:bodyPr wrap="square" lIns="0" tIns="0" rIns="0" bIns="0" rtlCol="0" anchor="t"/>
          <a:lstStyle/>
          <a:p>
            <a:pPr marL="177800" indent="-177800">
              <a:spcAft>
                <a:spcPts val="9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单张正弦条纹中，</a:t>
            </a:r>
            <a:r>
              <a:rPr lang="en-US" sz="1300" dirty="0">
                <a:solidFill>
                  <a:srgbClr val="FF0000"/>
                </a:solidFill>
                <a:latin typeface="Noto Sans CJK SC" pitchFamily="34" charset="0"/>
                <a:ea typeface="Noto Sans CJK SC" pitchFamily="34" charset="-122"/>
                <a:cs typeface="Noto Sans CJK SC" pitchFamily="34" charset="-120"/>
              </a:rPr>
              <a:t>许多位置灰度完全相同</a:t>
            </a:r>
            <a:r>
              <a:rPr lang="en-US" sz="1300" dirty="0">
                <a:solidFill>
                  <a:srgbClr val="1E293B"/>
                </a:solidFill>
                <a:latin typeface="Noto Sans CJK SC" pitchFamily="34" charset="0"/>
                <a:ea typeface="Noto Sans CJK SC" pitchFamily="34" charset="-122"/>
                <a:cs typeface="Noto Sans CJK SC" pitchFamily="34" charset="-120"/>
              </a:rPr>
              <a:t> —— </a:t>
            </a:r>
            <a:r>
              <a:rPr lang="en-US" sz="1300" dirty="0">
                <a:solidFill>
                  <a:srgbClr val="FF0000"/>
                </a:solidFill>
                <a:latin typeface="Noto Sans CJK SC" pitchFamily="34" charset="0"/>
                <a:ea typeface="Noto Sans CJK SC" pitchFamily="34" charset="-122"/>
                <a:cs typeface="Noto Sans CJK SC" pitchFamily="34" charset="-120"/>
              </a:rPr>
              <a:t>无法唯一确定</a:t>
            </a:r>
            <a:r>
              <a:rPr lang="en-US" sz="1300" dirty="0">
                <a:solidFill>
                  <a:srgbClr val="1E293B"/>
                </a:solidFill>
                <a:latin typeface="Noto Sans CJK SC" pitchFamily="34" charset="0"/>
                <a:ea typeface="Noto Sans CJK SC" pitchFamily="34" charset="-122"/>
                <a:cs typeface="Noto Sans CJK SC" pitchFamily="34" charset="-120"/>
              </a:rPr>
              <a:t>来自投影仪哪个位置。</a:t>
            </a:r>
            <a:endParaRPr lang="en-US" sz="1300" dirty="0"/>
          </a:p>
          <a:p>
            <a:pPr marL="177800" indent="-177800">
              <a:spcAft>
                <a:spcPts val="9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灰度还会被多种因素扰动，</a:t>
            </a:r>
            <a:r>
              <a:rPr lang="en-US" sz="1300" dirty="0">
                <a:solidFill>
                  <a:srgbClr val="FF0000"/>
                </a:solidFill>
                <a:latin typeface="Noto Sans CJK SC" pitchFamily="34" charset="0"/>
                <a:ea typeface="Noto Sans CJK SC" pitchFamily="34" charset="-122"/>
                <a:cs typeface="Noto Sans CJK SC" pitchFamily="34" charset="-120"/>
              </a:rPr>
              <a:t>绝对亮度不可靠</a:t>
            </a:r>
            <a:r>
              <a:rPr lang="en-US" sz="1300" dirty="0">
                <a:solidFill>
                  <a:srgbClr val="1E293B"/>
                </a:solidFill>
                <a:latin typeface="Noto Sans CJK SC" pitchFamily="34" charset="0"/>
                <a:ea typeface="Noto Sans CJK SC" pitchFamily="34" charset="-122"/>
                <a:cs typeface="Noto Sans CJK SC" pitchFamily="34" charset="-120"/>
              </a:rPr>
              <a:t>。</a:t>
            </a:r>
            <a:endParaRPr lang="en-US" sz="1300" dirty="0"/>
          </a:p>
        </p:txBody>
      </p:sp>
      <p:sp>
        <p:nvSpPr>
          <p:cNvPr id="9" name="Text 6"/>
          <p:cNvSpPr/>
          <p:nvPr/>
        </p:nvSpPr>
        <p:spPr>
          <a:xfrm>
            <a:off x="6858000" y="3200400"/>
            <a:ext cx="45720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叠加的干扰因素</a:t>
            </a:r>
            <a:endParaRPr lang="en-US" sz="1200" dirty="0"/>
          </a:p>
        </p:txBody>
      </p:sp>
      <p:sp>
        <p:nvSpPr>
          <p:cNvPr id="10" name="Shape 7"/>
          <p:cNvSpPr/>
          <p:nvPr/>
        </p:nvSpPr>
        <p:spPr>
          <a:xfrm>
            <a:off x="6858000" y="3529584"/>
            <a:ext cx="1517904" cy="402336"/>
          </a:xfrm>
          <a:prstGeom prst="roundRect">
            <a:avLst>
              <a:gd name="adj" fmla="val 13636"/>
            </a:avLst>
          </a:prstGeom>
          <a:solidFill>
            <a:srgbClr val="EAF0F6"/>
          </a:solidFill>
          <a:ln w="12700">
            <a:solidFill>
              <a:srgbClr val="EAF0F6"/>
            </a:solidFill>
            <a:prstDash val="solid"/>
          </a:ln>
        </p:spPr>
        <p:txBody>
          <a:bodyPr/>
          <a:lstStyle/>
          <a:p>
            <a:endParaRPr lang="zh-CN" altLang="en-US"/>
          </a:p>
        </p:txBody>
      </p:sp>
      <p:sp>
        <p:nvSpPr>
          <p:cNvPr id="11" name="Text 8"/>
          <p:cNvSpPr/>
          <p:nvPr/>
        </p:nvSpPr>
        <p:spPr>
          <a:xfrm>
            <a:off x="6766560" y="3529584"/>
            <a:ext cx="1700784" cy="40233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环境光</a:t>
            </a:r>
            <a:endParaRPr lang="en-US" sz="1100" dirty="0"/>
          </a:p>
        </p:txBody>
      </p:sp>
      <p:sp>
        <p:nvSpPr>
          <p:cNvPr id="12" name="Shape 9"/>
          <p:cNvSpPr/>
          <p:nvPr/>
        </p:nvSpPr>
        <p:spPr>
          <a:xfrm>
            <a:off x="8485632" y="3529584"/>
            <a:ext cx="1517904" cy="402336"/>
          </a:xfrm>
          <a:prstGeom prst="roundRect">
            <a:avLst>
              <a:gd name="adj" fmla="val 13636"/>
            </a:avLst>
          </a:prstGeom>
          <a:solidFill>
            <a:srgbClr val="EAF0F6"/>
          </a:solidFill>
          <a:ln w="12700">
            <a:solidFill>
              <a:srgbClr val="EAF0F6"/>
            </a:solidFill>
            <a:prstDash val="solid"/>
          </a:ln>
        </p:spPr>
        <p:txBody>
          <a:bodyPr/>
          <a:lstStyle/>
          <a:p>
            <a:endParaRPr lang="zh-CN" altLang="en-US"/>
          </a:p>
        </p:txBody>
      </p:sp>
      <p:sp>
        <p:nvSpPr>
          <p:cNvPr id="13" name="Text 10"/>
          <p:cNvSpPr/>
          <p:nvPr/>
        </p:nvSpPr>
        <p:spPr>
          <a:xfrm>
            <a:off x="8394192" y="3529584"/>
            <a:ext cx="1700784" cy="40233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物体颜色</a:t>
            </a:r>
            <a:endParaRPr lang="en-US" sz="1100" dirty="0"/>
          </a:p>
        </p:txBody>
      </p:sp>
      <p:sp>
        <p:nvSpPr>
          <p:cNvPr id="14" name="Shape 11"/>
          <p:cNvSpPr/>
          <p:nvPr/>
        </p:nvSpPr>
        <p:spPr>
          <a:xfrm>
            <a:off x="10113264" y="3529584"/>
            <a:ext cx="1517904" cy="402336"/>
          </a:xfrm>
          <a:prstGeom prst="roundRect">
            <a:avLst>
              <a:gd name="adj" fmla="val 13636"/>
            </a:avLst>
          </a:prstGeom>
          <a:solidFill>
            <a:srgbClr val="EAF0F6"/>
          </a:solidFill>
          <a:ln w="12700">
            <a:solidFill>
              <a:srgbClr val="EAF0F6"/>
            </a:solidFill>
            <a:prstDash val="solid"/>
          </a:ln>
        </p:spPr>
        <p:txBody>
          <a:bodyPr/>
          <a:lstStyle/>
          <a:p>
            <a:endParaRPr lang="zh-CN" altLang="en-US"/>
          </a:p>
        </p:txBody>
      </p:sp>
      <p:sp>
        <p:nvSpPr>
          <p:cNvPr id="15" name="Text 12"/>
          <p:cNvSpPr/>
          <p:nvPr/>
        </p:nvSpPr>
        <p:spPr>
          <a:xfrm>
            <a:off x="10021824" y="3529584"/>
            <a:ext cx="1700784" cy="40233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表面反射率</a:t>
            </a:r>
            <a:endParaRPr lang="en-US" sz="1100" dirty="0"/>
          </a:p>
        </p:txBody>
      </p:sp>
      <p:sp>
        <p:nvSpPr>
          <p:cNvPr id="16" name="Shape 13"/>
          <p:cNvSpPr/>
          <p:nvPr/>
        </p:nvSpPr>
        <p:spPr>
          <a:xfrm>
            <a:off x="6858000" y="4041648"/>
            <a:ext cx="1517904" cy="402336"/>
          </a:xfrm>
          <a:prstGeom prst="roundRect">
            <a:avLst>
              <a:gd name="adj" fmla="val 13636"/>
            </a:avLst>
          </a:prstGeom>
          <a:solidFill>
            <a:srgbClr val="EAF0F6"/>
          </a:solidFill>
          <a:ln w="12700">
            <a:solidFill>
              <a:srgbClr val="EAF0F6"/>
            </a:solidFill>
            <a:prstDash val="solid"/>
          </a:ln>
        </p:spPr>
        <p:txBody>
          <a:bodyPr/>
          <a:lstStyle/>
          <a:p>
            <a:endParaRPr lang="zh-CN" altLang="en-US"/>
          </a:p>
        </p:txBody>
      </p:sp>
      <p:sp>
        <p:nvSpPr>
          <p:cNvPr id="17" name="Text 14"/>
          <p:cNvSpPr/>
          <p:nvPr/>
        </p:nvSpPr>
        <p:spPr>
          <a:xfrm>
            <a:off x="6766560" y="4041648"/>
            <a:ext cx="1700784" cy="40233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曝光设置</a:t>
            </a:r>
            <a:endParaRPr lang="en-US" sz="1100" dirty="0"/>
          </a:p>
        </p:txBody>
      </p:sp>
      <p:sp>
        <p:nvSpPr>
          <p:cNvPr id="18" name="Shape 15"/>
          <p:cNvSpPr/>
          <p:nvPr/>
        </p:nvSpPr>
        <p:spPr>
          <a:xfrm>
            <a:off x="8485632" y="4041648"/>
            <a:ext cx="1517904" cy="402336"/>
          </a:xfrm>
          <a:prstGeom prst="roundRect">
            <a:avLst>
              <a:gd name="adj" fmla="val 13636"/>
            </a:avLst>
          </a:prstGeom>
          <a:solidFill>
            <a:srgbClr val="EAF0F6"/>
          </a:solidFill>
          <a:ln w="12700">
            <a:solidFill>
              <a:srgbClr val="EAF0F6"/>
            </a:solidFill>
            <a:prstDash val="solid"/>
          </a:ln>
        </p:spPr>
        <p:txBody>
          <a:bodyPr/>
          <a:lstStyle/>
          <a:p>
            <a:endParaRPr lang="zh-CN" altLang="en-US"/>
          </a:p>
        </p:txBody>
      </p:sp>
      <p:sp>
        <p:nvSpPr>
          <p:cNvPr id="19" name="Text 16"/>
          <p:cNvSpPr/>
          <p:nvPr/>
        </p:nvSpPr>
        <p:spPr>
          <a:xfrm>
            <a:off x="8394192" y="4041648"/>
            <a:ext cx="1700784" cy="40233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传感器噪声</a:t>
            </a:r>
            <a:endParaRPr lang="en-US" sz="1100" dirty="0"/>
          </a:p>
        </p:txBody>
      </p:sp>
      <p:sp>
        <p:nvSpPr>
          <p:cNvPr id="20" name="Shape 17"/>
          <p:cNvSpPr/>
          <p:nvPr/>
        </p:nvSpPr>
        <p:spPr>
          <a:xfrm>
            <a:off x="6858000" y="4626864"/>
            <a:ext cx="4754880" cy="1078992"/>
          </a:xfrm>
          <a:prstGeom prst="roundRect">
            <a:avLst>
              <a:gd name="adj" fmla="val 7627"/>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1" name="Text 18"/>
          <p:cNvSpPr/>
          <p:nvPr/>
        </p:nvSpPr>
        <p:spPr>
          <a:xfrm>
            <a:off x="7059168" y="4736592"/>
            <a:ext cx="2743200" cy="274320"/>
          </a:xfrm>
          <a:prstGeom prst="rect">
            <a:avLst/>
          </a:prstGeom>
          <a:noFill/>
        </p:spPr>
        <p:txBody>
          <a:bodyPr wrap="square" lIns="0" tIns="0" rIns="0" bIns="0" rtlCol="0" anchor="ctr"/>
          <a:lstStyle/>
          <a:p>
            <a:pPr marL="0" indent="0">
              <a:buNone/>
            </a:pPr>
            <a:r>
              <a:rPr lang="en-US" sz="1100" b="1" dirty="0">
                <a:solidFill>
                  <a:srgbClr val="22D3EE"/>
                </a:solidFill>
                <a:latin typeface="Noto Sans CJK SC" pitchFamily="34" charset="0"/>
                <a:ea typeface="Noto Sans CJK SC" pitchFamily="34" charset="-122"/>
                <a:cs typeface="Noto Sans CJK SC" pitchFamily="34" charset="-120"/>
              </a:rPr>
              <a:t>结论</a:t>
            </a:r>
            <a:endParaRPr lang="en-US" sz="1100" dirty="0"/>
          </a:p>
        </p:txBody>
      </p:sp>
      <p:sp>
        <p:nvSpPr>
          <p:cNvPr id="22" name="Text 19"/>
          <p:cNvSpPr/>
          <p:nvPr/>
        </p:nvSpPr>
        <p:spPr>
          <a:xfrm>
            <a:off x="7059168" y="4992624"/>
            <a:ext cx="4389120" cy="640080"/>
          </a:xfrm>
          <a:prstGeom prst="rect">
            <a:avLst/>
          </a:prstGeom>
          <a:noFill/>
        </p:spPr>
        <p:txBody>
          <a:bodyPr wrap="square" lIns="0" tIns="0" rIns="0" bIns="0" rtlCol="0" anchor="ctr"/>
          <a:lstStyle/>
          <a:p>
            <a:pPr marL="0" indent="0">
              <a:lnSpc>
                <a:spcPts val="1600"/>
              </a:lnSpc>
              <a:buNone/>
            </a:pPr>
            <a:r>
              <a:rPr lang="en-US" sz="1150" dirty="0">
                <a:solidFill>
                  <a:srgbClr val="CBD5E1"/>
                </a:solidFill>
                <a:latin typeface="Noto Sans CJK SC" pitchFamily="34" charset="0"/>
                <a:ea typeface="Noto Sans CJK SC" pitchFamily="34" charset="-122"/>
                <a:cs typeface="Noto Sans CJK SC" pitchFamily="34" charset="-120"/>
              </a:rPr>
              <a:t>一张图只给出「此处灰度」，</a:t>
            </a:r>
            <a:r>
              <a:rPr lang="en-US" sz="1150" dirty="0">
                <a:solidFill>
                  <a:srgbClr val="FF0000"/>
                </a:solidFill>
                <a:latin typeface="Noto Sans CJK SC" pitchFamily="34" charset="0"/>
                <a:ea typeface="Noto Sans CJK SC" pitchFamily="34" charset="-122"/>
                <a:cs typeface="Noto Sans CJK SC" pitchFamily="34" charset="-120"/>
              </a:rPr>
              <a:t>给不出「此处来自投影仪何处</a:t>
            </a:r>
            <a:r>
              <a:rPr lang="en-US" sz="1150" dirty="0">
                <a:solidFill>
                  <a:srgbClr val="CBD5E1"/>
                </a:solidFill>
                <a:latin typeface="Noto Sans CJK SC" pitchFamily="34" charset="0"/>
                <a:ea typeface="Noto Sans CJK SC" pitchFamily="34" charset="-122"/>
                <a:cs typeface="Noto Sans CJK SC" pitchFamily="34" charset="-120"/>
              </a:rPr>
              <a:t>」——</a:t>
            </a:r>
            <a:endParaRPr lang="en-US" sz="1150" dirty="0"/>
          </a:p>
          <a:p>
            <a:pPr marL="0" indent="0">
              <a:lnSpc>
                <a:spcPts val="1600"/>
              </a:lnSpc>
              <a:buNone/>
            </a:pPr>
            <a:r>
              <a:rPr lang="en-US" sz="1150" dirty="0">
                <a:solidFill>
                  <a:srgbClr val="CBD5E1"/>
                </a:solidFill>
                <a:latin typeface="Noto Sans CJK SC" pitchFamily="34" charset="0"/>
                <a:ea typeface="Noto Sans CJK SC" pitchFamily="34" charset="-122"/>
                <a:cs typeface="Noto Sans CJK SC" pitchFamily="34" charset="-120"/>
              </a:rPr>
              <a:t>必须用一组图像序列消除多义性。</a:t>
            </a:r>
            <a:endParaRPr lang="en-US" sz="1150" dirty="0"/>
          </a:p>
        </p:txBody>
      </p:sp>
      <p:sp>
        <p:nvSpPr>
          <p:cNvPr id="23" name="Text 20"/>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4" name="Text 21"/>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一 · 问题背景与方法目标</a:t>
            </a:r>
            <a:endParaRPr lang="en-US" sz="850" dirty="0"/>
          </a:p>
        </p:txBody>
      </p:sp>
      <p:sp>
        <p:nvSpPr>
          <p:cNvPr id="25" name="Text 22"/>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06 / 42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874520"/>
            <a:ext cx="4572000" cy="365760"/>
          </a:xfrm>
          <a:prstGeom prst="rect">
            <a:avLst/>
          </a:prstGeom>
          <a:noFill/>
        </p:spPr>
        <p:txBody>
          <a:bodyPr wrap="square" lIns="0" tIns="0" rIns="0" bIns="0" rtlCol="0" anchor="ctr"/>
          <a:lstStyle/>
          <a:p>
            <a:pPr marL="0" indent="0">
              <a:buNone/>
            </a:pPr>
            <a:r>
              <a:rPr lang="en-US" sz="1400" b="1" kern="0" spc="500" dirty="0">
                <a:solidFill>
                  <a:srgbClr val="22D3EE"/>
                </a:solidFill>
                <a:latin typeface="Noto Sans CJK SC" pitchFamily="34" charset="0"/>
                <a:ea typeface="Noto Sans CJK SC" pitchFamily="34" charset="-122"/>
                <a:cs typeface="Noto Sans CJK SC" pitchFamily="34" charset="-120"/>
              </a:rPr>
              <a:t>CHAPTER</a:t>
            </a:r>
            <a:endParaRPr lang="en-US" sz="1400" dirty="0"/>
          </a:p>
        </p:txBody>
      </p:sp>
      <p:sp>
        <p:nvSpPr>
          <p:cNvPr id="3" name="Text 1"/>
          <p:cNvSpPr/>
          <p:nvPr/>
        </p:nvSpPr>
        <p:spPr>
          <a:xfrm>
            <a:off x="822960" y="2103120"/>
            <a:ext cx="3108960" cy="2103120"/>
          </a:xfrm>
          <a:prstGeom prst="rect">
            <a:avLst/>
          </a:prstGeom>
          <a:noFill/>
        </p:spPr>
        <p:txBody>
          <a:bodyPr wrap="square" lIns="0" tIns="0" rIns="0" bIns="0" rtlCol="0" anchor="ctr"/>
          <a:lstStyle/>
          <a:p>
            <a:pPr marL="0" indent="0">
              <a:buNone/>
            </a:pPr>
            <a:r>
              <a:rPr lang="en-US" sz="15000" b="1" dirty="0">
                <a:solidFill>
                  <a:srgbClr val="13395E"/>
                </a:solidFill>
                <a:latin typeface="Noto Sans CJK SC" pitchFamily="34" charset="0"/>
                <a:ea typeface="Noto Sans CJK SC" pitchFamily="34" charset="-122"/>
                <a:cs typeface="Noto Sans CJK SC" pitchFamily="34" charset="-120"/>
              </a:rPr>
              <a:t>二</a:t>
            </a:r>
            <a:endParaRPr lang="en-US" sz="15000" dirty="0"/>
          </a:p>
        </p:txBody>
      </p:sp>
      <p:sp>
        <p:nvSpPr>
          <p:cNvPr id="4" name="Text 2"/>
          <p:cNvSpPr/>
          <p:nvPr/>
        </p:nvSpPr>
        <p:spPr>
          <a:xfrm>
            <a:off x="3246120" y="2395728"/>
            <a:ext cx="7863840" cy="914400"/>
          </a:xfrm>
          <a:prstGeom prst="rect">
            <a:avLst/>
          </a:prstGeom>
          <a:noFill/>
        </p:spPr>
        <p:txBody>
          <a:bodyPr wrap="square" lIns="0" tIns="0" rIns="0" bIns="0" rtlCol="0" anchor="ctr"/>
          <a:lstStyle/>
          <a:p>
            <a:pPr marL="0" indent="0">
              <a:buNone/>
            </a:pPr>
            <a:r>
              <a:rPr lang="en-US" sz="4000" b="1" dirty="0">
                <a:solidFill>
                  <a:srgbClr val="FFFFFF"/>
                </a:solidFill>
                <a:latin typeface="Noto Sans CJK SC" pitchFamily="34" charset="0"/>
                <a:ea typeface="Noto Sans CJK SC" pitchFamily="34" charset="-122"/>
                <a:cs typeface="Noto Sans CJK SC" pitchFamily="34" charset="-120"/>
              </a:rPr>
              <a:t>四步相移与复信号构造</a:t>
            </a:r>
            <a:endParaRPr lang="en-US" sz="4000" dirty="0"/>
          </a:p>
        </p:txBody>
      </p:sp>
      <p:sp>
        <p:nvSpPr>
          <p:cNvPr id="5" name="Text 3"/>
          <p:cNvSpPr/>
          <p:nvPr/>
        </p:nvSpPr>
        <p:spPr>
          <a:xfrm>
            <a:off x="3291840" y="3310128"/>
            <a:ext cx="7863840" cy="502920"/>
          </a:xfrm>
          <a:prstGeom prst="rect">
            <a:avLst/>
          </a:prstGeom>
          <a:noFill/>
        </p:spPr>
        <p:txBody>
          <a:bodyPr wrap="square" lIns="0" tIns="0" rIns="0" bIns="0" rtlCol="0" anchor="ctr"/>
          <a:lstStyle/>
          <a:p>
            <a:pPr marL="0" indent="0">
              <a:buNone/>
            </a:pPr>
            <a:r>
              <a:rPr lang="en-US" sz="1700" dirty="0">
                <a:solidFill>
                  <a:srgbClr val="22D3EE"/>
                </a:solidFill>
                <a:latin typeface="Noto Sans CJK SC" pitchFamily="34" charset="0"/>
                <a:ea typeface="Noto Sans CJK SC" pitchFamily="34" charset="-122"/>
                <a:cs typeface="Noto Sans CJK SC" pitchFamily="34" charset="-120"/>
              </a:rPr>
              <a:t>Four-Step Phase Shift &amp; Complex Signal</a:t>
            </a:r>
            <a:endParaRPr lang="en-US" sz="1700" dirty="0"/>
          </a:p>
        </p:txBody>
      </p:sp>
      <p:sp>
        <p:nvSpPr>
          <p:cNvPr id="6" name="Shape 4"/>
          <p:cNvSpPr/>
          <p:nvPr/>
        </p:nvSpPr>
        <p:spPr>
          <a:xfrm>
            <a:off x="3310128" y="3950208"/>
            <a:ext cx="2743200" cy="0"/>
          </a:xfrm>
          <a:prstGeom prst="line">
            <a:avLst/>
          </a:prstGeom>
          <a:noFill/>
          <a:ln w="19050">
            <a:solidFill>
              <a:srgbClr val="1E466E"/>
            </a:solidFill>
            <a:prstDash val="solid"/>
          </a:ln>
        </p:spPr>
        <p:txBody>
          <a:bodyPr/>
          <a:lstStyle/>
          <a:p>
            <a:endParaRPr lang="zh-CN" altLang="en-US"/>
          </a:p>
        </p:txBody>
      </p:sp>
      <p:sp>
        <p:nvSpPr>
          <p:cNvPr id="7" name="Text 5"/>
          <p:cNvSpPr/>
          <p:nvPr/>
        </p:nvSpPr>
        <p:spPr>
          <a:xfrm>
            <a:off x="3310128" y="4078224"/>
            <a:ext cx="7680960" cy="822960"/>
          </a:xfrm>
          <a:prstGeom prst="rect">
            <a:avLst/>
          </a:prstGeom>
          <a:noFill/>
        </p:spPr>
        <p:txBody>
          <a:bodyPr wrap="square" lIns="0" tIns="0" rIns="0" bIns="0" rtlCol="0" anchor="ctr"/>
          <a:lstStyle/>
          <a:p>
            <a:pPr marL="0" indent="0">
              <a:buNone/>
            </a:pPr>
            <a:r>
              <a:rPr lang="en-US" sz="1250" dirty="0">
                <a:solidFill>
                  <a:srgbClr val="CBD5E1"/>
                </a:solidFill>
                <a:latin typeface="Noto Sans CJK SC" pitchFamily="34" charset="0"/>
                <a:ea typeface="Noto Sans CJK SC" pitchFamily="34" charset="-122"/>
                <a:cs typeface="Noto Sans CJK SC" pitchFamily="34" charset="-120"/>
              </a:rPr>
              <a:t>如何用</a:t>
            </a:r>
            <a:r>
              <a:rPr lang="en-US" sz="1250" dirty="0">
                <a:solidFill>
                  <a:srgbClr val="FF0000"/>
                </a:solidFill>
                <a:latin typeface="Noto Sans CJK SC" pitchFamily="34" charset="0"/>
                <a:ea typeface="Noto Sans CJK SC" pitchFamily="34" charset="-122"/>
                <a:cs typeface="Noto Sans CJK SC" pitchFamily="34" charset="-120"/>
              </a:rPr>
              <a:t>四步相移</a:t>
            </a:r>
            <a:r>
              <a:rPr lang="en-US" sz="1250" dirty="0">
                <a:solidFill>
                  <a:srgbClr val="CBD5E1"/>
                </a:solidFill>
                <a:latin typeface="Noto Sans CJK SC" pitchFamily="34" charset="0"/>
                <a:ea typeface="Noto Sans CJK SC" pitchFamily="34" charset="-122"/>
                <a:cs typeface="Noto Sans CJK SC" pitchFamily="34" charset="-120"/>
              </a:rPr>
              <a:t>差分抵消直流亮度干扰，</a:t>
            </a:r>
            <a:r>
              <a:rPr lang="en-US" sz="1250" dirty="0">
                <a:solidFill>
                  <a:srgbClr val="FF0000"/>
                </a:solidFill>
                <a:latin typeface="Noto Sans CJK SC" pitchFamily="34" charset="0"/>
                <a:ea typeface="Noto Sans CJK SC" pitchFamily="34" charset="-122"/>
                <a:cs typeface="Noto Sans CJK SC" pitchFamily="34" charset="-120"/>
              </a:rPr>
              <a:t>并把实数灰度</a:t>
            </a:r>
            <a:r>
              <a:rPr lang="en-US" sz="1250" dirty="0">
                <a:solidFill>
                  <a:schemeClr val="bg1"/>
                </a:solidFill>
                <a:latin typeface="Noto Sans CJK SC" pitchFamily="34" charset="0"/>
                <a:ea typeface="Noto Sans CJK SC" pitchFamily="34" charset="-122"/>
                <a:cs typeface="Noto Sans CJK SC" pitchFamily="34" charset="-120"/>
              </a:rPr>
              <a:t>转化为</a:t>
            </a:r>
            <a:r>
              <a:rPr lang="en-US" sz="1250" dirty="0">
                <a:solidFill>
                  <a:srgbClr val="FF0000"/>
                </a:solidFill>
                <a:latin typeface="Noto Sans CJK SC" pitchFamily="34" charset="0"/>
                <a:ea typeface="Noto Sans CJK SC" pitchFamily="34" charset="-122"/>
                <a:cs typeface="Noto Sans CJK SC" pitchFamily="34" charset="-120"/>
              </a:rPr>
              <a:t>携带相位的复数 D</a:t>
            </a:r>
            <a:r>
              <a:rPr lang="en-US" sz="1250" dirty="0">
                <a:solidFill>
                  <a:srgbClr val="CBD5E1"/>
                </a:solidFill>
                <a:latin typeface="Noto Sans CJK SC" pitchFamily="34" charset="0"/>
                <a:ea typeface="Noto Sans CJK SC" pitchFamily="34" charset="-122"/>
                <a:cs typeface="Noto Sans CJK SC" pitchFamily="34" charset="-120"/>
              </a:rPr>
              <a:t>。</a:t>
            </a:r>
            <a:endParaRPr lang="en-US" sz="1250" dirty="0"/>
          </a:p>
        </p:txBody>
      </p:sp>
      <p:sp>
        <p:nvSpPr>
          <p:cNvPr id="8" name="Text 6"/>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9" name="Text 7"/>
          <p:cNvSpPr/>
          <p:nvPr/>
        </p:nvSpPr>
        <p:spPr>
          <a:xfrm>
            <a:off x="5029200" y="6446520"/>
            <a:ext cx="4572000" cy="274320"/>
          </a:xfrm>
          <a:prstGeom prst="rect">
            <a:avLst/>
          </a:prstGeom>
          <a:noFill/>
        </p:spPr>
        <p:txBody>
          <a:bodyPr wrap="square" lIns="0" tIns="0" rIns="0" bIns="0" rtlCol="0" anchor="ctr"/>
          <a:lstStyle/>
          <a:p>
            <a:pPr marL="0" indent="0" algn="ctr">
              <a:buNone/>
            </a:pPr>
            <a:endParaRPr lang="en-US" sz="850" dirty="0"/>
          </a:p>
        </p:txBody>
      </p:sp>
      <p:sp>
        <p:nvSpPr>
          <p:cNvPr id="10" name="Text 8"/>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07 / 42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总体方案</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FSM 的两层序列方案</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FSM 用「</a:t>
            </a:r>
            <a:r>
              <a:rPr lang="en-US" sz="1250" dirty="0">
                <a:solidFill>
                  <a:srgbClr val="FF0000"/>
                </a:solidFill>
                <a:latin typeface="Noto Sans CJK SC" pitchFamily="34" charset="0"/>
                <a:ea typeface="Noto Sans CJK SC" pitchFamily="34" charset="-122"/>
                <a:cs typeface="Noto Sans CJK SC" pitchFamily="34" charset="-120"/>
              </a:rPr>
              <a:t>频率序列 ⊃ 相移序列</a:t>
            </a:r>
            <a:r>
              <a:rPr lang="en-US" sz="1250" dirty="0">
                <a:solidFill>
                  <a:srgbClr val="64748B"/>
                </a:solidFill>
                <a:latin typeface="Noto Sans CJK SC" pitchFamily="34" charset="0"/>
                <a:ea typeface="Noto Sans CJK SC" pitchFamily="34" charset="-122"/>
                <a:cs typeface="Noto Sans CJK SC" pitchFamily="34" charset="-120"/>
              </a:rPr>
              <a:t>」的嵌套结构，从根本上解决单图多义性。</a:t>
            </a:r>
            <a:endParaRPr lang="en-US" sz="1250" dirty="0"/>
          </a:p>
        </p:txBody>
      </p:sp>
      <p:sp>
        <p:nvSpPr>
          <p:cNvPr id="6" name="Shape 4"/>
          <p:cNvSpPr/>
          <p:nvPr/>
        </p:nvSpPr>
        <p:spPr>
          <a:xfrm>
            <a:off x="6400800" y="1901952"/>
            <a:ext cx="5230368" cy="3931920"/>
          </a:xfrm>
          <a:prstGeom prst="roundRect">
            <a:avLst>
              <a:gd name="adj" fmla="val 2093"/>
            </a:avLst>
          </a:prstGeom>
          <a:solidFill>
            <a:srgbClr val="F2F5F9"/>
          </a:solidFill>
          <a:ln w="12700">
            <a:solidFill>
              <a:srgbClr val="E2E8F0"/>
            </a:solidFill>
            <a:prstDash val="solid"/>
          </a:ln>
        </p:spPr>
        <p:txBody>
          <a:bodyPr/>
          <a:lstStyle/>
          <a:p>
            <a:endParaRPr lang="zh-CN" altLang="en-US"/>
          </a:p>
        </p:txBody>
      </p:sp>
      <p:sp>
        <p:nvSpPr>
          <p:cNvPr id="7" name="Text 5"/>
          <p:cNvSpPr/>
          <p:nvPr/>
        </p:nvSpPr>
        <p:spPr>
          <a:xfrm>
            <a:off x="6638544" y="2066544"/>
            <a:ext cx="4773168" cy="310896"/>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外层：频率序列（多个投影频率）</a:t>
            </a:r>
            <a:endParaRPr lang="en-US" sz="1200" dirty="0"/>
          </a:p>
        </p:txBody>
      </p:sp>
      <p:sp>
        <p:nvSpPr>
          <p:cNvPr id="8" name="Shape 6"/>
          <p:cNvSpPr/>
          <p:nvPr/>
        </p:nvSpPr>
        <p:spPr>
          <a:xfrm>
            <a:off x="6675120" y="2450592"/>
            <a:ext cx="4681728" cy="914400"/>
          </a:xfrm>
          <a:prstGeom prst="roundRect">
            <a:avLst>
              <a:gd name="adj" fmla="val 9000"/>
            </a:avLst>
          </a:prstGeom>
          <a:solidFill>
            <a:srgbClr val="FFFFFF"/>
          </a:solidFill>
          <a:ln w="12700">
            <a:solidFill>
              <a:srgbClr val="1E466E"/>
            </a:solidFill>
            <a:prstDash val="solid"/>
          </a:ln>
        </p:spPr>
        <p:txBody>
          <a:bodyPr/>
          <a:lstStyle/>
          <a:p>
            <a:endParaRPr lang="zh-CN" altLang="en-US"/>
          </a:p>
        </p:txBody>
      </p:sp>
      <p:sp>
        <p:nvSpPr>
          <p:cNvPr id="9" name="Text 7"/>
          <p:cNvSpPr/>
          <p:nvPr/>
        </p:nvSpPr>
        <p:spPr>
          <a:xfrm>
            <a:off x="6858000" y="2505456"/>
            <a:ext cx="4315968" cy="310896"/>
          </a:xfrm>
          <a:prstGeom prst="rect">
            <a:avLst/>
          </a:prstGeom>
          <a:noFill/>
        </p:spPr>
        <p:txBody>
          <a:bodyPr wrap="square" lIns="0" tIns="0" rIns="0" bIns="0" rtlCol="0" anchor="ctr"/>
          <a:lstStyle/>
          <a:p>
            <a:pPr marL="0" indent="0">
              <a:buNone/>
            </a:pPr>
            <a:r>
              <a:rPr lang="en-US" sz="1100" b="1" dirty="0">
                <a:solidFill>
                  <a:srgbClr val="0E2A47"/>
                </a:solidFill>
                <a:latin typeface="Noto Sans CJK SC" pitchFamily="34" charset="0"/>
                <a:ea typeface="Noto Sans CJK SC" pitchFamily="34" charset="-122"/>
                <a:cs typeface="Noto Sans CJK SC" pitchFamily="34" charset="-120"/>
              </a:rPr>
              <a:t>频率 0 ：4 张相移图  0°/90°/180°/270°</a:t>
            </a:r>
            <a:endParaRPr lang="en-US" sz="1100" dirty="0"/>
          </a:p>
        </p:txBody>
      </p:sp>
      <p:sp>
        <p:nvSpPr>
          <p:cNvPr id="10" name="Shape 8"/>
          <p:cNvSpPr/>
          <p:nvPr/>
        </p:nvSpPr>
        <p:spPr>
          <a:xfrm>
            <a:off x="6858000" y="2871216"/>
            <a:ext cx="914400" cy="365760"/>
          </a:xfrm>
          <a:prstGeom prst="roundRect">
            <a:avLst>
              <a:gd name="adj" fmla="val 15000"/>
            </a:avLst>
          </a:prstGeom>
          <a:solidFill>
            <a:srgbClr val="3B82F6"/>
          </a:solidFill>
          <a:ln w="12700">
            <a:solidFill>
              <a:srgbClr val="3B82F6"/>
            </a:solidFill>
            <a:prstDash val="solid"/>
          </a:ln>
        </p:spPr>
        <p:txBody>
          <a:bodyPr/>
          <a:lstStyle/>
          <a:p>
            <a:endParaRPr lang="zh-CN" altLang="en-US"/>
          </a:p>
        </p:txBody>
      </p:sp>
      <p:sp>
        <p:nvSpPr>
          <p:cNvPr id="11" name="Text 9"/>
          <p:cNvSpPr/>
          <p:nvPr/>
        </p:nvSpPr>
        <p:spPr>
          <a:xfrm>
            <a:off x="6766560" y="287121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0°</a:t>
            </a:r>
            <a:endParaRPr lang="en-US" sz="1000" dirty="0"/>
          </a:p>
        </p:txBody>
      </p:sp>
      <p:sp>
        <p:nvSpPr>
          <p:cNvPr id="12" name="Shape 10"/>
          <p:cNvSpPr/>
          <p:nvPr/>
        </p:nvSpPr>
        <p:spPr>
          <a:xfrm>
            <a:off x="7936992" y="2871216"/>
            <a:ext cx="914400" cy="365760"/>
          </a:xfrm>
          <a:prstGeom prst="roundRect">
            <a:avLst>
              <a:gd name="adj" fmla="val 15000"/>
            </a:avLst>
          </a:prstGeom>
          <a:solidFill>
            <a:srgbClr val="2DD4BF"/>
          </a:solidFill>
          <a:ln w="12700">
            <a:solidFill>
              <a:srgbClr val="2DD4BF"/>
            </a:solidFill>
            <a:prstDash val="solid"/>
          </a:ln>
        </p:spPr>
        <p:txBody>
          <a:bodyPr/>
          <a:lstStyle/>
          <a:p>
            <a:endParaRPr lang="zh-CN" altLang="en-US"/>
          </a:p>
        </p:txBody>
      </p:sp>
      <p:sp>
        <p:nvSpPr>
          <p:cNvPr id="13" name="Text 11"/>
          <p:cNvSpPr/>
          <p:nvPr/>
        </p:nvSpPr>
        <p:spPr>
          <a:xfrm>
            <a:off x="7845552" y="287121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90°</a:t>
            </a:r>
            <a:endParaRPr lang="en-US" sz="1000" dirty="0"/>
          </a:p>
        </p:txBody>
      </p:sp>
      <p:sp>
        <p:nvSpPr>
          <p:cNvPr id="14" name="Shape 12"/>
          <p:cNvSpPr/>
          <p:nvPr/>
        </p:nvSpPr>
        <p:spPr>
          <a:xfrm>
            <a:off x="9015984" y="2871216"/>
            <a:ext cx="914400" cy="365760"/>
          </a:xfrm>
          <a:prstGeom prst="roundRect">
            <a:avLst>
              <a:gd name="adj" fmla="val 15000"/>
            </a:avLst>
          </a:prstGeom>
          <a:solidFill>
            <a:srgbClr val="F59E0B"/>
          </a:solidFill>
          <a:ln w="12700">
            <a:solidFill>
              <a:srgbClr val="F59E0B"/>
            </a:solidFill>
            <a:prstDash val="solid"/>
          </a:ln>
        </p:spPr>
        <p:txBody>
          <a:bodyPr/>
          <a:lstStyle/>
          <a:p>
            <a:endParaRPr lang="zh-CN" altLang="en-US"/>
          </a:p>
        </p:txBody>
      </p:sp>
      <p:sp>
        <p:nvSpPr>
          <p:cNvPr id="15" name="Text 13"/>
          <p:cNvSpPr/>
          <p:nvPr/>
        </p:nvSpPr>
        <p:spPr>
          <a:xfrm>
            <a:off x="8924544" y="287121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180°</a:t>
            </a:r>
            <a:endParaRPr lang="en-US" sz="1000" dirty="0"/>
          </a:p>
        </p:txBody>
      </p:sp>
      <p:sp>
        <p:nvSpPr>
          <p:cNvPr id="16" name="Shape 14"/>
          <p:cNvSpPr/>
          <p:nvPr/>
        </p:nvSpPr>
        <p:spPr>
          <a:xfrm>
            <a:off x="10094976" y="2871216"/>
            <a:ext cx="914400" cy="365760"/>
          </a:xfrm>
          <a:prstGeom prst="roundRect">
            <a:avLst>
              <a:gd name="adj" fmla="val 15000"/>
            </a:avLst>
          </a:prstGeom>
          <a:solidFill>
            <a:srgbClr val="0E7490"/>
          </a:solidFill>
          <a:ln w="12700">
            <a:solidFill>
              <a:srgbClr val="0E7490"/>
            </a:solidFill>
            <a:prstDash val="solid"/>
          </a:ln>
        </p:spPr>
        <p:txBody>
          <a:bodyPr/>
          <a:lstStyle/>
          <a:p>
            <a:endParaRPr lang="zh-CN" altLang="en-US"/>
          </a:p>
        </p:txBody>
      </p:sp>
      <p:sp>
        <p:nvSpPr>
          <p:cNvPr id="17" name="Text 15"/>
          <p:cNvSpPr/>
          <p:nvPr/>
        </p:nvSpPr>
        <p:spPr>
          <a:xfrm>
            <a:off x="10003536" y="287121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270°</a:t>
            </a:r>
            <a:endParaRPr lang="en-US" sz="1000" dirty="0"/>
          </a:p>
        </p:txBody>
      </p:sp>
      <p:sp>
        <p:nvSpPr>
          <p:cNvPr id="18" name="Shape 16"/>
          <p:cNvSpPr/>
          <p:nvPr/>
        </p:nvSpPr>
        <p:spPr>
          <a:xfrm>
            <a:off x="6675120" y="3511296"/>
            <a:ext cx="4681728" cy="914400"/>
          </a:xfrm>
          <a:prstGeom prst="roundRect">
            <a:avLst>
              <a:gd name="adj" fmla="val 9000"/>
            </a:avLst>
          </a:prstGeom>
          <a:solidFill>
            <a:srgbClr val="FFFFFF"/>
          </a:solidFill>
          <a:ln w="12700">
            <a:solidFill>
              <a:srgbClr val="1E466E"/>
            </a:solidFill>
            <a:prstDash val="solid"/>
          </a:ln>
        </p:spPr>
        <p:txBody>
          <a:bodyPr/>
          <a:lstStyle/>
          <a:p>
            <a:endParaRPr lang="zh-CN" altLang="en-US"/>
          </a:p>
        </p:txBody>
      </p:sp>
      <p:sp>
        <p:nvSpPr>
          <p:cNvPr id="19" name="Text 17"/>
          <p:cNvSpPr/>
          <p:nvPr/>
        </p:nvSpPr>
        <p:spPr>
          <a:xfrm>
            <a:off x="6858000" y="3566160"/>
            <a:ext cx="4315968" cy="310896"/>
          </a:xfrm>
          <a:prstGeom prst="rect">
            <a:avLst/>
          </a:prstGeom>
          <a:noFill/>
        </p:spPr>
        <p:txBody>
          <a:bodyPr wrap="square" lIns="0" tIns="0" rIns="0" bIns="0" rtlCol="0" anchor="ctr"/>
          <a:lstStyle/>
          <a:p>
            <a:pPr marL="0" indent="0">
              <a:buNone/>
            </a:pPr>
            <a:r>
              <a:rPr lang="en-US" sz="1100" b="1" dirty="0">
                <a:solidFill>
                  <a:srgbClr val="0E2A47"/>
                </a:solidFill>
                <a:latin typeface="Noto Sans CJK SC" pitchFamily="34" charset="0"/>
                <a:ea typeface="Noto Sans CJK SC" pitchFamily="34" charset="-122"/>
                <a:cs typeface="Noto Sans CJK SC" pitchFamily="34" charset="-120"/>
              </a:rPr>
              <a:t>频率 1 ：4 张相移图  0°/90°/180°/270°</a:t>
            </a:r>
            <a:endParaRPr lang="en-US" sz="1100" dirty="0"/>
          </a:p>
        </p:txBody>
      </p:sp>
      <p:sp>
        <p:nvSpPr>
          <p:cNvPr id="20" name="Shape 18"/>
          <p:cNvSpPr/>
          <p:nvPr/>
        </p:nvSpPr>
        <p:spPr>
          <a:xfrm>
            <a:off x="6858000" y="3931920"/>
            <a:ext cx="914400" cy="365760"/>
          </a:xfrm>
          <a:prstGeom prst="roundRect">
            <a:avLst>
              <a:gd name="adj" fmla="val 15000"/>
            </a:avLst>
          </a:prstGeom>
          <a:solidFill>
            <a:srgbClr val="3B82F6"/>
          </a:solidFill>
          <a:ln w="12700">
            <a:solidFill>
              <a:srgbClr val="3B82F6"/>
            </a:solidFill>
            <a:prstDash val="solid"/>
          </a:ln>
        </p:spPr>
        <p:txBody>
          <a:bodyPr/>
          <a:lstStyle/>
          <a:p>
            <a:endParaRPr lang="zh-CN" altLang="en-US"/>
          </a:p>
        </p:txBody>
      </p:sp>
      <p:sp>
        <p:nvSpPr>
          <p:cNvPr id="21" name="Text 19"/>
          <p:cNvSpPr/>
          <p:nvPr/>
        </p:nvSpPr>
        <p:spPr>
          <a:xfrm>
            <a:off x="6766560" y="3931920"/>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0°</a:t>
            </a:r>
            <a:endParaRPr lang="en-US" sz="1000" dirty="0"/>
          </a:p>
        </p:txBody>
      </p:sp>
      <p:sp>
        <p:nvSpPr>
          <p:cNvPr id="22" name="Shape 20"/>
          <p:cNvSpPr/>
          <p:nvPr/>
        </p:nvSpPr>
        <p:spPr>
          <a:xfrm>
            <a:off x="7936992" y="3931920"/>
            <a:ext cx="914400" cy="365760"/>
          </a:xfrm>
          <a:prstGeom prst="roundRect">
            <a:avLst>
              <a:gd name="adj" fmla="val 15000"/>
            </a:avLst>
          </a:prstGeom>
          <a:solidFill>
            <a:srgbClr val="2DD4BF"/>
          </a:solidFill>
          <a:ln w="12700">
            <a:solidFill>
              <a:srgbClr val="2DD4BF"/>
            </a:solidFill>
            <a:prstDash val="solid"/>
          </a:ln>
        </p:spPr>
        <p:txBody>
          <a:bodyPr/>
          <a:lstStyle/>
          <a:p>
            <a:endParaRPr lang="zh-CN" altLang="en-US"/>
          </a:p>
        </p:txBody>
      </p:sp>
      <p:sp>
        <p:nvSpPr>
          <p:cNvPr id="23" name="Text 21"/>
          <p:cNvSpPr/>
          <p:nvPr/>
        </p:nvSpPr>
        <p:spPr>
          <a:xfrm>
            <a:off x="7845552" y="3931920"/>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90°</a:t>
            </a:r>
            <a:endParaRPr lang="en-US" sz="1000" dirty="0"/>
          </a:p>
        </p:txBody>
      </p:sp>
      <p:sp>
        <p:nvSpPr>
          <p:cNvPr id="24" name="Shape 22"/>
          <p:cNvSpPr/>
          <p:nvPr/>
        </p:nvSpPr>
        <p:spPr>
          <a:xfrm>
            <a:off x="9015984" y="3931920"/>
            <a:ext cx="914400" cy="365760"/>
          </a:xfrm>
          <a:prstGeom prst="roundRect">
            <a:avLst>
              <a:gd name="adj" fmla="val 15000"/>
            </a:avLst>
          </a:prstGeom>
          <a:solidFill>
            <a:srgbClr val="F59E0B"/>
          </a:solidFill>
          <a:ln w="12700">
            <a:solidFill>
              <a:srgbClr val="F59E0B"/>
            </a:solidFill>
            <a:prstDash val="solid"/>
          </a:ln>
        </p:spPr>
        <p:txBody>
          <a:bodyPr/>
          <a:lstStyle/>
          <a:p>
            <a:endParaRPr lang="zh-CN" altLang="en-US"/>
          </a:p>
        </p:txBody>
      </p:sp>
      <p:sp>
        <p:nvSpPr>
          <p:cNvPr id="25" name="Text 23"/>
          <p:cNvSpPr/>
          <p:nvPr/>
        </p:nvSpPr>
        <p:spPr>
          <a:xfrm>
            <a:off x="8924544" y="3931920"/>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180°</a:t>
            </a:r>
            <a:endParaRPr lang="en-US" sz="1000" dirty="0"/>
          </a:p>
        </p:txBody>
      </p:sp>
      <p:sp>
        <p:nvSpPr>
          <p:cNvPr id="26" name="Shape 24"/>
          <p:cNvSpPr/>
          <p:nvPr/>
        </p:nvSpPr>
        <p:spPr>
          <a:xfrm>
            <a:off x="10094976" y="3931920"/>
            <a:ext cx="914400" cy="365760"/>
          </a:xfrm>
          <a:prstGeom prst="roundRect">
            <a:avLst>
              <a:gd name="adj" fmla="val 15000"/>
            </a:avLst>
          </a:prstGeom>
          <a:solidFill>
            <a:srgbClr val="0E7490"/>
          </a:solidFill>
          <a:ln w="12700">
            <a:solidFill>
              <a:srgbClr val="0E7490"/>
            </a:solidFill>
            <a:prstDash val="solid"/>
          </a:ln>
        </p:spPr>
        <p:txBody>
          <a:bodyPr/>
          <a:lstStyle/>
          <a:p>
            <a:endParaRPr lang="zh-CN" altLang="en-US"/>
          </a:p>
        </p:txBody>
      </p:sp>
      <p:sp>
        <p:nvSpPr>
          <p:cNvPr id="27" name="Text 25"/>
          <p:cNvSpPr/>
          <p:nvPr/>
        </p:nvSpPr>
        <p:spPr>
          <a:xfrm>
            <a:off x="10003536" y="3931920"/>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270°</a:t>
            </a:r>
            <a:endParaRPr lang="en-US" sz="1000" dirty="0"/>
          </a:p>
        </p:txBody>
      </p:sp>
      <p:sp>
        <p:nvSpPr>
          <p:cNvPr id="28" name="Shape 26"/>
          <p:cNvSpPr/>
          <p:nvPr/>
        </p:nvSpPr>
        <p:spPr>
          <a:xfrm>
            <a:off x="6675120" y="4572000"/>
            <a:ext cx="4681728" cy="914400"/>
          </a:xfrm>
          <a:prstGeom prst="roundRect">
            <a:avLst>
              <a:gd name="adj" fmla="val 9000"/>
            </a:avLst>
          </a:prstGeom>
          <a:solidFill>
            <a:srgbClr val="FFFFFF"/>
          </a:solidFill>
          <a:ln w="12700">
            <a:solidFill>
              <a:srgbClr val="1E466E"/>
            </a:solidFill>
            <a:prstDash val="solid"/>
          </a:ln>
        </p:spPr>
        <p:txBody>
          <a:bodyPr/>
          <a:lstStyle/>
          <a:p>
            <a:endParaRPr lang="zh-CN" altLang="en-US"/>
          </a:p>
        </p:txBody>
      </p:sp>
      <p:sp>
        <p:nvSpPr>
          <p:cNvPr id="29" name="Text 27"/>
          <p:cNvSpPr/>
          <p:nvPr/>
        </p:nvSpPr>
        <p:spPr>
          <a:xfrm>
            <a:off x="6858000" y="4626864"/>
            <a:ext cx="4315968" cy="310896"/>
          </a:xfrm>
          <a:prstGeom prst="rect">
            <a:avLst/>
          </a:prstGeom>
          <a:noFill/>
        </p:spPr>
        <p:txBody>
          <a:bodyPr wrap="square" lIns="0" tIns="0" rIns="0" bIns="0" rtlCol="0" anchor="ctr"/>
          <a:lstStyle/>
          <a:p>
            <a:pPr marL="0" indent="0">
              <a:buNone/>
            </a:pPr>
            <a:r>
              <a:rPr lang="en-US" sz="1100" b="1" dirty="0">
                <a:solidFill>
                  <a:srgbClr val="0E2A47"/>
                </a:solidFill>
                <a:latin typeface="Noto Sans CJK SC" pitchFamily="34" charset="0"/>
                <a:ea typeface="Noto Sans CJK SC" pitchFamily="34" charset="-122"/>
                <a:cs typeface="Noto Sans CJK SC" pitchFamily="34" charset="-120"/>
              </a:rPr>
              <a:t>频率 2 ：4 张相移图  0°/90°/180°/270°</a:t>
            </a:r>
            <a:endParaRPr lang="en-US" sz="1100" dirty="0"/>
          </a:p>
        </p:txBody>
      </p:sp>
      <p:sp>
        <p:nvSpPr>
          <p:cNvPr id="30" name="Shape 28"/>
          <p:cNvSpPr/>
          <p:nvPr/>
        </p:nvSpPr>
        <p:spPr>
          <a:xfrm>
            <a:off x="6858000" y="4992624"/>
            <a:ext cx="914400" cy="365760"/>
          </a:xfrm>
          <a:prstGeom prst="roundRect">
            <a:avLst>
              <a:gd name="adj" fmla="val 15000"/>
            </a:avLst>
          </a:prstGeom>
          <a:solidFill>
            <a:srgbClr val="3B82F6"/>
          </a:solidFill>
          <a:ln w="12700">
            <a:solidFill>
              <a:srgbClr val="3B82F6"/>
            </a:solidFill>
            <a:prstDash val="solid"/>
          </a:ln>
        </p:spPr>
        <p:txBody>
          <a:bodyPr/>
          <a:lstStyle/>
          <a:p>
            <a:endParaRPr lang="zh-CN" altLang="en-US"/>
          </a:p>
        </p:txBody>
      </p:sp>
      <p:sp>
        <p:nvSpPr>
          <p:cNvPr id="31" name="Text 29"/>
          <p:cNvSpPr/>
          <p:nvPr/>
        </p:nvSpPr>
        <p:spPr>
          <a:xfrm>
            <a:off x="6766560" y="499262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0°</a:t>
            </a:r>
            <a:endParaRPr lang="en-US" sz="1000" dirty="0"/>
          </a:p>
        </p:txBody>
      </p:sp>
      <p:sp>
        <p:nvSpPr>
          <p:cNvPr id="32" name="Shape 30"/>
          <p:cNvSpPr/>
          <p:nvPr/>
        </p:nvSpPr>
        <p:spPr>
          <a:xfrm>
            <a:off x="7936992" y="4992624"/>
            <a:ext cx="914400" cy="365760"/>
          </a:xfrm>
          <a:prstGeom prst="roundRect">
            <a:avLst>
              <a:gd name="adj" fmla="val 15000"/>
            </a:avLst>
          </a:prstGeom>
          <a:solidFill>
            <a:srgbClr val="2DD4BF"/>
          </a:solidFill>
          <a:ln w="12700">
            <a:solidFill>
              <a:srgbClr val="2DD4BF"/>
            </a:solidFill>
            <a:prstDash val="solid"/>
          </a:ln>
        </p:spPr>
        <p:txBody>
          <a:bodyPr/>
          <a:lstStyle/>
          <a:p>
            <a:endParaRPr lang="zh-CN" altLang="en-US"/>
          </a:p>
        </p:txBody>
      </p:sp>
      <p:sp>
        <p:nvSpPr>
          <p:cNvPr id="33" name="Text 31"/>
          <p:cNvSpPr/>
          <p:nvPr/>
        </p:nvSpPr>
        <p:spPr>
          <a:xfrm>
            <a:off x="7845552" y="499262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90°</a:t>
            </a:r>
            <a:endParaRPr lang="en-US" sz="1000" dirty="0"/>
          </a:p>
        </p:txBody>
      </p:sp>
      <p:sp>
        <p:nvSpPr>
          <p:cNvPr id="34" name="Shape 32"/>
          <p:cNvSpPr/>
          <p:nvPr/>
        </p:nvSpPr>
        <p:spPr>
          <a:xfrm>
            <a:off x="9015984" y="4992624"/>
            <a:ext cx="914400" cy="365760"/>
          </a:xfrm>
          <a:prstGeom prst="roundRect">
            <a:avLst>
              <a:gd name="adj" fmla="val 15000"/>
            </a:avLst>
          </a:prstGeom>
          <a:solidFill>
            <a:srgbClr val="F59E0B"/>
          </a:solidFill>
          <a:ln w="12700">
            <a:solidFill>
              <a:srgbClr val="F59E0B"/>
            </a:solidFill>
            <a:prstDash val="solid"/>
          </a:ln>
        </p:spPr>
        <p:txBody>
          <a:bodyPr/>
          <a:lstStyle/>
          <a:p>
            <a:endParaRPr lang="zh-CN" altLang="en-US"/>
          </a:p>
        </p:txBody>
      </p:sp>
      <p:sp>
        <p:nvSpPr>
          <p:cNvPr id="35" name="Text 33"/>
          <p:cNvSpPr/>
          <p:nvPr/>
        </p:nvSpPr>
        <p:spPr>
          <a:xfrm>
            <a:off x="8924544" y="499262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180°</a:t>
            </a:r>
            <a:endParaRPr lang="en-US" sz="1000" dirty="0"/>
          </a:p>
        </p:txBody>
      </p:sp>
      <p:sp>
        <p:nvSpPr>
          <p:cNvPr id="36" name="Shape 34"/>
          <p:cNvSpPr/>
          <p:nvPr/>
        </p:nvSpPr>
        <p:spPr>
          <a:xfrm>
            <a:off x="10094976" y="4992624"/>
            <a:ext cx="914400" cy="365760"/>
          </a:xfrm>
          <a:prstGeom prst="roundRect">
            <a:avLst>
              <a:gd name="adj" fmla="val 15000"/>
            </a:avLst>
          </a:prstGeom>
          <a:solidFill>
            <a:srgbClr val="0E7490"/>
          </a:solidFill>
          <a:ln w="12700">
            <a:solidFill>
              <a:srgbClr val="0E7490"/>
            </a:solidFill>
            <a:prstDash val="solid"/>
          </a:ln>
        </p:spPr>
        <p:txBody>
          <a:bodyPr/>
          <a:lstStyle/>
          <a:p>
            <a:endParaRPr lang="zh-CN" altLang="en-US"/>
          </a:p>
        </p:txBody>
      </p:sp>
      <p:sp>
        <p:nvSpPr>
          <p:cNvPr id="37" name="Text 35"/>
          <p:cNvSpPr/>
          <p:nvPr/>
        </p:nvSpPr>
        <p:spPr>
          <a:xfrm>
            <a:off x="10003536" y="499262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270°</a:t>
            </a:r>
            <a:endParaRPr lang="en-US" sz="1000" dirty="0"/>
          </a:p>
        </p:txBody>
      </p:sp>
      <p:sp>
        <p:nvSpPr>
          <p:cNvPr id="38" name="Text 36"/>
          <p:cNvSpPr/>
          <p:nvPr/>
        </p:nvSpPr>
        <p:spPr>
          <a:xfrm>
            <a:off x="6675120" y="5449824"/>
            <a:ext cx="4681728" cy="292608"/>
          </a:xfrm>
          <a:prstGeom prst="rect">
            <a:avLst/>
          </a:prstGeom>
          <a:noFill/>
        </p:spPr>
        <p:txBody>
          <a:bodyPr wrap="square" lIns="0" tIns="0" rIns="0" bIns="0" rtlCol="0" anchor="ctr"/>
          <a:lstStyle/>
          <a:p>
            <a:pPr marL="0" indent="0" algn="ctr">
              <a:buNone/>
            </a:pPr>
            <a:r>
              <a:rPr lang="en-US" sz="1050" i="1" dirty="0">
                <a:solidFill>
                  <a:srgbClr val="64748B"/>
                </a:solidFill>
                <a:latin typeface="Noto Sans CJK SC" pitchFamily="34" charset="0"/>
                <a:ea typeface="Noto Sans CJK SC" pitchFamily="34" charset="-122"/>
                <a:cs typeface="Noto Sans CJK SC" pitchFamily="34" charset="-120"/>
              </a:rPr>
              <a:t>⋯ 频率递增 ⋯</a:t>
            </a:r>
            <a:endParaRPr lang="en-US" sz="1050" dirty="0"/>
          </a:p>
        </p:txBody>
      </p:sp>
      <p:sp>
        <p:nvSpPr>
          <p:cNvPr id="39" name="Shape 37"/>
          <p:cNvSpPr/>
          <p:nvPr/>
        </p:nvSpPr>
        <p:spPr>
          <a:xfrm>
            <a:off x="566928" y="1901952"/>
            <a:ext cx="5486400" cy="1828800"/>
          </a:xfrm>
          <a:prstGeom prst="roundRect">
            <a:avLst>
              <a:gd name="adj" fmla="val 45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0" name="Shape 38"/>
          <p:cNvSpPr/>
          <p:nvPr/>
        </p:nvSpPr>
        <p:spPr>
          <a:xfrm>
            <a:off x="566928" y="1901952"/>
            <a:ext cx="91440" cy="1828800"/>
          </a:xfrm>
          <a:prstGeom prst="rect">
            <a:avLst/>
          </a:prstGeom>
          <a:solidFill>
            <a:srgbClr val="0E7490"/>
          </a:solidFill>
          <a:ln w="12700">
            <a:solidFill>
              <a:srgbClr val="0E7490"/>
            </a:solidFill>
            <a:prstDash val="solid"/>
          </a:ln>
        </p:spPr>
        <p:txBody>
          <a:bodyPr/>
          <a:lstStyle/>
          <a:p>
            <a:endParaRPr lang="zh-CN" altLang="en-US"/>
          </a:p>
        </p:txBody>
      </p:sp>
      <p:sp>
        <p:nvSpPr>
          <p:cNvPr id="41" name="Shape 39"/>
          <p:cNvSpPr/>
          <p:nvPr/>
        </p:nvSpPr>
        <p:spPr>
          <a:xfrm>
            <a:off x="786384" y="2121408"/>
            <a:ext cx="457200" cy="457200"/>
          </a:xfrm>
          <a:prstGeom prst="ellipse">
            <a:avLst/>
          </a:prstGeom>
          <a:solidFill>
            <a:srgbClr val="0E7490"/>
          </a:solidFill>
          <a:ln w="12700">
            <a:solidFill>
              <a:srgbClr val="0E7490"/>
            </a:solidFill>
            <a:prstDash val="solid"/>
          </a:ln>
        </p:spPr>
        <p:txBody>
          <a:bodyPr/>
          <a:lstStyle/>
          <a:p>
            <a:endParaRPr lang="zh-CN" altLang="en-US"/>
          </a:p>
        </p:txBody>
      </p:sp>
      <p:sp>
        <p:nvSpPr>
          <p:cNvPr id="42" name="Text 40"/>
          <p:cNvSpPr/>
          <p:nvPr/>
        </p:nvSpPr>
        <p:spPr>
          <a:xfrm>
            <a:off x="786384" y="2121408"/>
            <a:ext cx="457200" cy="457200"/>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1</a:t>
            </a:r>
            <a:endParaRPr lang="en-US" sz="1100" dirty="0"/>
          </a:p>
        </p:txBody>
      </p:sp>
      <p:sp>
        <p:nvSpPr>
          <p:cNvPr id="43" name="Text 41"/>
          <p:cNvSpPr/>
          <p:nvPr/>
        </p:nvSpPr>
        <p:spPr>
          <a:xfrm>
            <a:off x="1371600" y="2084832"/>
            <a:ext cx="3931920" cy="329184"/>
          </a:xfrm>
          <a:prstGeom prst="rect">
            <a:avLst/>
          </a:prstGeom>
          <a:noFill/>
        </p:spPr>
        <p:txBody>
          <a:bodyPr wrap="square" lIns="0" tIns="0" rIns="0" bIns="0" rtlCol="0" anchor="ctr"/>
          <a:lstStyle/>
          <a:p>
            <a:pPr marL="0" indent="0">
              <a:buNone/>
            </a:pPr>
            <a:r>
              <a:rPr lang="en-US" sz="1450" b="1" dirty="0">
                <a:solidFill>
                  <a:srgbClr val="0E2A47"/>
                </a:solidFill>
                <a:latin typeface="Noto Sans CJK SC" pitchFamily="34" charset="0"/>
                <a:ea typeface="Noto Sans CJK SC" pitchFamily="34" charset="-122"/>
                <a:cs typeface="Noto Sans CJK SC" pitchFamily="34" charset="-120"/>
              </a:rPr>
              <a:t>第一层 · </a:t>
            </a:r>
            <a:r>
              <a:rPr lang="en-US" sz="1450" b="1" dirty="0">
                <a:solidFill>
                  <a:srgbClr val="FF0000"/>
                </a:solidFill>
                <a:latin typeface="Noto Sans CJK SC" pitchFamily="34" charset="0"/>
                <a:ea typeface="Noto Sans CJK SC" pitchFamily="34" charset="-122"/>
                <a:cs typeface="Noto Sans CJK SC" pitchFamily="34" charset="-120"/>
              </a:rPr>
              <a:t>相移序列</a:t>
            </a:r>
            <a:endParaRPr lang="en-US" sz="1450" dirty="0">
              <a:solidFill>
                <a:srgbClr val="FF0000"/>
              </a:solidFill>
            </a:endParaRPr>
          </a:p>
        </p:txBody>
      </p:sp>
      <p:sp>
        <p:nvSpPr>
          <p:cNvPr id="44" name="Text 42"/>
          <p:cNvSpPr/>
          <p:nvPr/>
        </p:nvSpPr>
        <p:spPr>
          <a:xfrm>
            <a:off x="1371600" y="2414016"/>
            <a:ext cx="3931920" cy="329184"/>
          </a:xfrm>
          <a:prstGeom prst="rect">
            <a:avLst/>
          </a:prstGeom>
          <a:noFill/>
        </p:spPr>
        <p:txBody>
          <a:bodyPr wrap="square" lIns="0" tIns="0" rIns="0" bIns="0" rtlCol="0" anchor="ctr"/>
          <a:lstStyle/>
          <a:p>
            <a:pPr marL="0" indent="0">
              <a:buNone/>
            </a:pPr>
            <a:r>
              <a:rPr lang="en-US" sz="1150" b="1" dirty="0">
                <a:solidFill>
                  <a:srgbClr val="0E7490"/>
                </a:solidFill>
                <a:latin typeface="Noto Sans CJK SC" pitchFamily="34" charset="0"/>
                <a:ea typeface="Noto Sans CJK SC" pitchFamily="34" charset="-122"/>
                <a:cs typeface="Noto Sans CJK SC" pitchFamily="34" charset="-120"/>
              </a:rPr>
              <a:t>对每个频率投影 4 张相移图像</a:t>
            </a:r>
            <a:endParaRPr lang="en-US" sz="1150" dirty="0"/>
          </a:p>
        </p:txBody>
      </p:sp>
      <p:sp>
        <p:nvSpPr>
          <p:cNvPr id="45" name="Text 43"/>
          <p:cNvSpPr/>
          <p:nvPr/>
        </p:nvSpPr>
        <p:spPr>
          <a:xfrm>
            <a:off x="786384" y="2816352"/>
            <a:ext cx="5029200" cy="786384"/>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用</a:t>
            </a:r>
            <a:r>
              <a:rPr lang="en-US" sz="1150" dirty="0">
                <a:solidFill>
                  <a:srgbClr val="FF0000"/>
                </a:solidFill>
                <a:latin typeface="Noto Sans CJK SC" pitchFamily="34" charset="0"/>
                <a:ea typeface="Noto Sans CJK SC" pitchFamily="34" charset="-122"/>
                <a:cs typeface="Noto Sans CJK SC" pitchFamily="34" charset="-120"/>
              </a:rPr>
              <a:t>差分</a:t>
            </a:r>
            <a:r>
              <a:rPr lang="en-US" sz="1150" dirty="0">
                <a:solidFill>
                  <a:srgbClr val="1E293B"/>
                </a:solidFill>
                <a:latin typeface="Noto Sans CJK SC" pitchFamily="34" charset="0"/>
                <a:ea typeface="Noto Sans CJK SC" pitchFamily="34" charset="-122"/>
                <a:cs typeface="Noto Sans CJK SC" pitchFamily="34" charset="-120"/>
              </a:rPr>
              <a:t>抵消</a:t>
            </a:r>
            <a:r>
              <a:rPr lang="en-US" sz="1150" dirty="0">
                <a:solidFill>
                  <a:srgbClr val="FF0000"/>
                </a:solidFill>
                <a:latin typeface="Noto Sans CJK SC" pitchFamily="34" charset="0"/>
                <a:ea typeface="Noto Sans CJK SC" pitchFamily="34" charset="-122"/>
                <a:cs typeface="Noto Sans CJK SC" pitchFamily="34" charset="-120"/>
              </a:rPr>
              <a:t>环境光</a:t>
            </a:r>
            <a:r>
              <a:rPr lang="en-US" sz="1150" dirty="0">
                <a:solidFill>
                  <a:srgbClr val="1E293B"/>
                </a:solidFill>
                <a:latin typeface="Noto Sans CJK SC" pitchFamily="34" charset="0"/>
                <a:ea typeface="Noto Sans CJK SC" pitchFamily="34" charset="-122"/>
                <a:cs typeface="Noto Sans CJK SC" pitchFamily="34" charset="-120"/>
              </a:rPr>
              <a:t>、</a:t>
            </a:r>
            <a:r>
              <a:rPr lang="en-US" sz="1150" dirty="0">
                <a:solidFill>
                  <a:srgbClr val="FF0000"/>
                </a:solidFill>
                <a:latin typeface="Noto Sans CJK SC" pitchFamily="34" charset="0"/>
                <a:ea typeface="Noto Sans CJK SC" pitchFamily="34" charset="-122"/>
                <a:cs typeface="Noto Sans CJK SC" pitchFamily="34" charset="-120"/>
              </a:rPr>
              <a:t>背景灰度</a:t>
            </a:r>
            <a:r>
              <a:rPr lang="en-US" sz="1150" dirty="0">
                <a:solidFill>
                  <a:srgbClr val="1E293B"/>
                </a:solidFill>
                <a:latin typeface="Noto Sans CJK SC" pitchFamily="34" charset="0"/>
                <a:ea typeface="Noto Sans CJK SC" pitchFamily="34" charset="-122"/>
                <a:cs typeface="Noto Sans CJK SC" pitchFamily="34" charset="-120"/>
              </a:rPr>
              <a:t>、</a:t>
            </a:r>
            <a:r>
              <a:rPr lang="en-US" sz="1150" dirty="0">
                <a:solidFill>
                  <a:srgbClr val="FF0000"/>
                </a:solidFill>
                <a:latin typeface="Noto Sans CJK SC" pitchFamily="34" charset="0"/>
                <a:ea typeface="Noto Sans CJK SC" pitchFamily="34" charset="-122"/>
                <a:cs typeface="Noto Sans CJK SC" pitchFamily="34" charset="-120"/>
              </a:rPr>
              <a:t>局部反射率</a:t>
            </a:r>
            <a:r>
              <a:rPr lang="en-US" sz="1150" dirty="0">
                <a:solidFill>
                  <a:srgbClr val="1E293B"/>
                </a:solidFill>
                <a:latin typeface="Noto Sans CJK SC" pitchFamily="34" charset="0"/>
                <a:ea typeface="Noto Sans CJK SC" pitchFamily="34" charset="-122"/>
                <a:cs typeface="Noto Sans CJK SC" pitchFamily="34" charset="-120"/>
              </a:rPr>
              <a:t>造成的</a:t>
            </a:r>
            <a:r>
              <a:rPr lang="en-US" sz="1150" dirty="0">
                <a:solidFill>
                  <a:srgbClr val="FF0000"/>
                </a:solidFill>
                <a:latin typeface="Noto Sans CJK SC" pitchFamily="34" charset="0"/>
                <a:ea typeface="Noto Sans CJK SC" pitchFamily="34" charset="-122"/>
                <a:cs typeface="Noto Sans CJK SC" pitchFamily="34" charset="-120"/>
              </a:rPr>
              <a:t>直流亮度干扰</a:t>
            </a:r>
            <a:r>
              <a:rPr lang="en-US" sz="1150" dirty="0">
                <a:solidFill>
                  <a:srgbClr val="1E293B"/>
                </a:solidFill>
                <a:latin typeface="Noto Sans CJK SC" pitchFamily="34" charset="0"/>
                <a:ea typeface="Noto Sans CJK SC" pitchFamily="34" charset="-122"/>
                <a:cs typeface="Noto Sans CJK SC" pitchFamily="34" charset="-120"/>
              </a:rPr>
              <a:t>；</a:t>
            </a:r>
            <a:r>
              <a:rPr lang="en-US" sz="1150" dirty="0">
                <a:latin typeface="Noto Sans CJK SC" pitchFamily="34" charset="0"/>
                <a:ea typeface="Noto Sans CJK SC" pitchFamily="34" charset="-122"/>
                <a:cs typeface="Noto Sans CJK SC" pitchFamily="34" charset="-120"/>
              </a:rPr>
              <a:t>并构造复信号 D。</a:t>
            </a:r>
            <a:endParaRPr lang="en-US" sz="1150" dirty="0"/>
          </a:p>
        </p:txBody>
      </p:sp>
      <p:sp>
        <p:nvSpPr>
          <p:cNvPr id="46" name="Shape 44"/>
          <p:cNvSpPr/>
          <p:nvPr/>
        </p:nvSpPr>
        <p:spPr>
          <a:xfrm>
            <a:off x="566928" y="3877056"/>
            <a:ext cx="5486400" cy="1828800"/>
          </a:xfrm>
          <a:prstGeom prst="roundRect">
            <a:avLst>
              <a:gd name="adj" fmla="val 45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7" name="Shape 45"/>
          <p:cNvSpPr/>
          <p:nvPr/>
        </p:nvSpPr>
        <p:spPr>
          <a:xfrm>
            <a:off x="566928" y="3877056"/>
            <a:ext cx="91440" cy="1828800"/>
          </a:xfrm>
          <a:prstGeom prst="rect">
            <a:avLst/>
          </a:prstGeom>
          <a:solidFill>
            <a:srgbClr val="F59E0B"/>
          </a:solidFill>
          <a:ln w="12700">
            <a:solidFill>
              <a:srgbClr val="F59E0B"/>
            </a:solidFill>
            <a:prstDash val="solid"/>
          </a:ln>
        </p:spPr>
        <p:txBody>
          <a:bodyPr/>
          <a:lstStyle/>
          <a:p>
            <a:endParaRPr lang="zh-CN" altLang="en-US"/>
          </a:p>
        </p:txBody>
      </p:sp>
      <p:sp>
        <p:nvSpPr>
          <p:cNvPr id="48" name="Shape 46"/>
          <p:cNvSpPr/>
          <p:nvPr/>
        </p:nvSpPr>
        <p:spPr>
          <a:xfrm>
            <a:off x="786384" y="4096512"/>
            <a:ext cx="457200" cy="457200"/>
          </a:xfrm>
          <a:prstGeom prst="ellipse">
            <a:avLst/>
          </a:prstGeom>
          <a:solidFill>
            <a:srgbClr val="F59E0B"/>
          </a:solidFill>
          <a:ln w="12700">
            <a:solidFill>
              <a:srgbClr val="F59E0B"/>
            </a:solidFill>
            <a:prstDash val="solid"/>
          </a:ln>
        </p:spPr>
        <p:txBody>
          <a:bodyPr/>
          <a:lstStyle/>
          <a:p>
            <a:endParaRPr lang="zh-CN" altLang="en-US"/>
          </a:p>
        </p:txBody>
      </p:sp>
      <p:sp>
        <p:nvSpPr>
          <p:cNvPr id="49" name="Text 47"/>
          <p:cNvSpPr/>
          <p:nvPr/>
        </p:nvSpPr>
        <p:spPr>
          <a:xfrm>
            <a:off x="786384" y="4096512"/>
            <a:ext cx="457200" cy="457200"/>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2</a:t>
            </a:r>
            <a:endParaRPr lang="en-US" sz="1100" dirty="0"/>
          </a:p>
        </p:txBody>
      </p:sp>
      <p:sp>
        <p:nvSpPr>
          <p:cNvPr id="50" name="Text 48"/>
          <p:cNvSpPr/>
          <p:nvPr/>
        </p:nvSpPr>
        <p:spPr>
          <a:xfrm>
            <a:off x="1371600" y="4059936"/>
            <a:ext cx="3931920" cy="329184"/>
          </a:xfrm>
          <a:prstGeom prst="rect">
            <a:avLst/>
          </a:prstGeom>
          <a:noFill/>
        </p:spPr>
        <p:txBody>
          <a:bodyPr wrap="square" lIns="0" tIns="0" rIns="0" bIns="0" rtlCol="0" anchor="ctr"/>
          <a:lstStyle/>
          <a:p>
            <a:pPr marL="0" indent="0">
              <a:buNone/>
            </a:pPr>
            <a:r>
              <a:rPr lang="en-US" sz="1450" b="1" dirty="0">
                <a:solidFill>
                  <a:srgbClr val="0E2A47"/>
                </a:solidFill>
                <a:latin typeface="Noto Sans CJK SC" pitchFamily="34" charset="0"/>
                <a:ea typeface="Noto Sans CJK SC" pitchFamily="34" charset="-122"/>
                <a:cs typeface="Noto Sans CJK SC" pitchFamily="34" charset="-120"/>
              </a:rPr>
              <a:t>第二层 · </a:t>
            </a:r>
            <a:r>
              <a:rPr lang="en-US" sz="1450" b="1" dirty="0">
                <a:solidFill>
                  <a:srgbClr val="FF0000"/>
                </a:solidFill>
                <a:latin typeface="Noto Sans CJK SC" pitchFamily="34" charset="0"/>
                <a:ea typeface="Noto Sans CJK SC" pitchFamily="34" charset="-122"/>
                <a:cs typeface="Noto Sans CJK SC" pitchFamily="34" charset="-120"/>
              </a:rPr>
              <a:t>频率序列</a:t>
            </a:r>
            <a:endParaRPr lang="en-US" sz="1450" dirty="0">
              <a:solidFill>
                <a:srgbClr val="FF0000"/>
              </a:solidFill>
            </a:endParaRPr>
          </a:p>
        </p:txBody>
      </p:sp>
      <p:sp>
        <p:nvSpPr>
          <p:cNvPr id="51" name="Text 49"/>
          <p:cNvSpPr/>
          <p:nvPr/>
        </p:nvSpPr>
        <p:spPr>
          <a:xfrm>
            <a:off x="1371600" y="4389120"/>
            <a:ext cx="3931920" cy="329184"/>
          </a:xfrm>
          <a:prstGeom prst="rect">
            <a:avLst/>
          </a:prstGeom>
          <a:noFill/>
        </p:spPr>
        <p:txBody>
          <a:bodyPr wrap="square" lIns="0" tIns="0" rIns="0" bIns="0" rtlCol="0" anchor="ctr"/>
          <a:lstStyle/>
          <a:p>
            <a:pPr marL="0" indent="0">
              <a:buNone/>
            </a:pPr>
            <a:r>
              <a:rPr lang="en-US" sz="1150" b="1" dirty="0">
                <a:solidFill>
                  <a:srgbClr val="F59E0B"/>
                </a:solidFill>
                <a:latin typeface="Noto Sans CJK SC" pitchFamily="34" charset="0"/>
                <a:ea typeface="Noto Sans CJK SC" pitchFamily="34" charset="-122"/>
                <a:cs typeface="Noto Sans CJK SC" pitchFamily="34" charset="-120"/>
              </a:rPr>
              <a:t>投影多个不同频率的条纹图像</a:t>
            </a:r>
            <a:endParaRPr lang="en-US" sz="1150" dirty="0"/>
          </a:p>
        </p:txBody>
      </p:sp>
      <p:sp>
        <p:nvSpPr>
          <p:cNvPr id="52" name="Text 50"/>
          <p:cNvSpPr/>
          <p:nvPr/>
        </p:nvSpPr>
        <p:spPr>
          <a:xfrm>
            <a:off x="786384" y="4791456"/>
            <a:ext cx="5029200" cy="786384"/>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让同一相机像素形成</a:t>
            </a:r>
            <a:r>
              <a:rPr lang="en-US" sz="1150" dirty="0">
                <a:solidFill>
                  <a:srgbClr val="FF0000"/>
                </a:solidFill>
                <a:latin typeface="Noto Sans CJK SC" pitchFamily="34" charset="0"/>
                <a:ea typeface="Noto Sans CJK SC" pitchFamily="34" charset="-122"/>
                <a:cs typeface="Noto Sans CJK SC" pitchFamily="34" charset="-120"/>
              </a:rPr>
              <a:t>沿频率轴</a:t>
            </a:r>
            <a:r>
              <a:rPr lang="en-US" sz="1150" dirty="0">
                <a:solidFill>
                  <a:srgbClr val="1E293B"/>
                </a:solidFill>
                <a:latin typeface="Noto Sans CJK SC" pitchFamily="34" charset="0"/>
                <a:ea typeface="Noto Sans CJK SC" pitchFamily="34" charset="-122"/>
                <a:cs typeface="Noto Sans CJK SC" pitchFamily="34" charset="-120"/>
              </a:rPr>
              <a:t>排列的复数序列，把投影仪坐标编码进相位变化率。</a:t>
            </a:r>
            <a:endParaRPr lang="en-US" sz="1150" dirty="0"/>
          </a:p>
        </p:txBody>
      </p:sp>
      <p:sp>
        <p:nvSpPr>
          <p:cNvPr id="53" name="Text 51"/>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54" name="Text 52"/>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55" name="Text 53"/>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08 / 42</a:t>
            </a:r>
            <a:endParaRPr lang="en-US" sz="850" dirty="0"/>
          </a:p>
        </p:txBody>
      </p:sp>
      <p:sp>
        <p:nvSpPr>
          <p:cNvPr id="56" name="文本框 55"/>
          <p:cNvSpPr txBox="1"/>
          <p:nvPr/>
        </p:nvSpPr>
        <p:spPr>
          <a:xfrm>
            <a:off x="1103803" y="1278821"/>
            <a:ext cx="4015672" cy="276999"/>
          </a:xfrm>
          <a:prstGeom prst="rect">
            <a:avLst/>
          </a:prstGeom>
          <a:noFill/>
        </p:spPr>
        <p:txBody>
          <a:bodyPr wrap="square" rtlCol="0">
            <a:spAutoFit/>
          </a:bodyPr>
          <a:lstStyle/>
          <a:p>
            <a:r>
              <a:rPr lang="zh-CN" altLang="en-US" sz="1200" dirty="0">
                <a:solidFill>
                  <a:srgbClr val="FF0000"/>
                </a:solidFill>
                <a:latin typeface="Cambria" panose="02040503050406030204" pitchFamily="18" charset="0"/>
                <a:cs typeface="ADLaM Display" panose="02010000000000000000" pitchFamily="2" charset="0"/>
              </a:rPr>
              <a:t>每个频率都有不同的相移，所以是相移序列属于频率序列</a:t>
            </a:r>
            <a:endParaRPr lang="zh-CN" altLang="en-US" sz="1200" dirty="0">
              <a:solidFill>
                <a:srgbClr val="FF0000"/>
              </a:solidFill>
              <a:latin typeface="Cambria" panose="02040503050406030204" pitchFamily="18" charset="0"/>
              <a:cs typeface="ADLaM Display" panose="02010000000000000000"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图像组织</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四步相移的图像组织与命名</a:t>
            </a:r>
            <a:endParaRPr lang="en-US" sz="2900" dirty="0"/>
          </a:p>
        </p:txBody>
      </p:sp>
      <p:sp>
        <p:nvSpPr>
          <p:cNvPr id="5" name="Text 3"/>
          <p:cNvSpPr/>
          <p:nvPr/>
        </p:nvSpPr>
        <p:spPr>
          <a:xfrm>
            <a:off x="566928" y="1591056"/>
            <a:ext cx="10972800" cy="822960"/>
          </a:xfrm>
          <a:prstGeom prst="rect">
            <a:avLst/>
          </a:prstGeom>
          <a:noFill/>
        </p:spPr>
        <p:txBody>
          <a:bodyPr wrap="square" lIns="0" tIns="0" rIns="0" bIns="0" rtlCol="0" anchor="t"/>
          <a:lstStyle/>
          <a:p>
            <a:pPr marL="177800" indent="-177800">
              <a:spcAft>
                <a:spcPts val="900"/>
              </a:spcAft>
              <a:buSzPct val="100000"/>
              <a:buChar char="•"/>
            </a:pPr>
            <a:r>
              <a:rPr lang="en-US" sz="1300" b="1" dirty="0">
                <a:solidFill>
                  <a:srgbClr val="1E293B"/>
                </a:solidFill>
                <a:latin typeface="Noto Sans CJK SC" pitchFamily="34" charset="0"/>
                <a:ea typeface="Noto Sans CJK SC" pitchFamily="34" charset="-122"/>
                <a:cs typeface="Noto Sans CJK SC" pitchFamily="34" charset="-120"/>
              </a:rPr>
              <a:t>每个频率包含 0°、90°、180°、270° 四张相移图；图像按「频率优先」命名。</a:t>
            </a:r>
            <a:endParaRPr lang="en-US" sz="1300" dirty="0"/>
          </a:p>
        </p:txBody>
      </p:sp>
      <p:sp>
        <p:nvSpPr>
          <p:cNvPr id="6" name="Text 4"/>
          <p:cNvSpPr/>
          <p:nvPr/>
        </p:nvSpPr>
        <p:spPr>
          <a:xfrm>
            <a:off x="566928" y="1993392"/>
            <a:ext cx="10972800" cy="310896"/>
          </a:xfrm>
          <a:prstGeom prst="rect">
            <a:avLst/>
          </a:prstGeom>
          <a:noFill/>
        </p:spPr>
        <p:txBody>
          <a:bodyPr wrap="square" lIns="0" tIns="0" rIns="0" bIns="0" rtlCol="0" anchor="ctr"/>
          <a:lstStyle/>
          <a:p>
            <a:pPr marL="0" indent="0">
              <a:buNone/>
            </a:pPr>
            <a:r>
              <a:rPr lang="en-US" sz="1150" dirty="0">
                <a:solidFill>
                  <a:srgbClr val="0E7490"/>
                </a:solidFill>
                <a:latin typeface="DejaVu Sans Mono" pitchFamily="34" charset="0"/>
                <a:ea typeface="DejaVu Sans Mono" pitchFamily="34" charset="-122"/>
                <a:cs typeface="DejaVu Sans Mono" pitchFamily="34" charset="-120"/>
              </a:rPr>
              <a:t>0,1,2,3 → 频率 0    |    4,5,6,7 → 频率 1    |    8,9,10,11 → 频率 2    |    依此类推</a:t>
            </a:r>
            <a:endParaRPr lang="en-US" sz="1150" dirty="0"/>
          </a:p>
        </p:txBody>
      </p:sp>
      <p:sp>
        <p:nvSpPr>
          <p:cNvPr id="7" name="Shape 5"/>
          <p:cNvSpPr/>
          <p:nvPr/>
        </p:nvSpPr>
        <p:spPr>
          <a:xfrm>
            <a:off x="566928" y="2432304"/>
            <a:ext cx="11055096" cy="1682496"/>
          </a:xfrm>
          <a:prstGeom prst="roundRect">
            <a:avLst>
              <a:gd name="adj" fmla="val 4891"/>
            </a:avLst>
          </a:prstGeom>
          <a:solidFill>
            <a:srgbClr val="F2F5F9"/>
          </a:solidFill>
          <a:ln w="12700">
            <a:solidFill>
              <a:srgbClr val="E2E8F0"/>
            </a:solidFill>
            <a:prstDash val="solid"/>
          </a:ln>
        </p:spPr>
        <p:txBody>
          <a:bodyPr/>
          <a:lstStyle/>
          <a:p>
            <a:endParaRPr lang="zh-CN" altLang="en-US"/>
          </a:p>
        </p:txBody>
      </p:sp>
      <p:sp>
        <p:nvSpPr>
          <p:cNvPr id="8" name="Shape 6"/>
          <p:cNvSpPr/>
          <p:nvPr/>
        </p:nvSpPr>
        <p:spPr>
          <a:xfrm>
            <a:off x="868680" y="2743200"/>
            <a:ext cx="749808" cy="713232"/>
          </a:xfrm>
          <a:prstGeom prst="roundRect">
            <a:avLst>
              <a:gd name="adj" fmla="val 6410"/>
            </a:avLst>
          </a:prstGeom>
          <a:solidFill>
            <a:srgbClr val="3B82F6"/>
          </a:solidFill>
          <a:ln w="12700">
            <a:solidFill>
              <a:srgbClr val="FFFFFF"/>
            </a:solidFill>
            <a:prstDash val="solid"/>
          </a:ln>
        </p:spPr>
        <p:txBody>
          <a:bodyPr/>
          <a:lstStyle/>
          <a:p>
            <a:endParaRPr lang="zh-CN" altLang="en-US"/>
          </a:p>
        </p:txBody>
      </p:sp>
      <p:sp>
        <p:nvSpPr>
          <p:cNvPr id="9" name="Text 7"/>
          <p:cNvSpPr/>
          <p:nvPr/>
        </p:nvSpPr>
        <p:spPr>
          <a:xfrm>
            <a:off x="868680"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0</a:t>
            </a:r>
            <a:endParaRPr lang="en-US" sz="1500" dirty="0"/>
          </a:p>
        </p:txBody>
      </p:sp>
      <p:sp>
        <p:nvSpPr>
          <p:cNvPr id="10" name="Text 8"/>
          <p:cNvSpPr/>
          <p:nvPr/>
        </p:nvSpPr>
        <p:spPr>
          <a:xfrm>
            <a:off x="868680"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0°</a:t>
            </a:r>
            <a:endParaRPr lang="en-US" sz="850" dirty="0"/>
          </a:p>
        </p:txBody>
      </p:sp>
      <p:sp>
        <p:nvSpPr>
          <p:cNvPr id="11" name="Shape 9"/>
          <p:cNvSpPr/>
          <p:nvPr/>
        </p:nvSpPr>
        <p:spPr>
          <a:xfrm>
            <a:off x="1673352" y="2743200"/>
            <a:ext cx="749808" cy="713232"/>
          </a:xfrm>
          <a:prstGeom prst="roundRect">
            <a:avLst>
              <a:gd name="adj" fmla="val 6410"/>
            </a:avLst>
          </a:prstGeom>
          <a:solidFill>
            <a:srgbClr val="2DD4BF"/>
          </a:solidFill>
          <a:ln w="12700">
            <a:solidFill>
              <a:srgbClr val="FFFFFF"/>
            </a:solidFill>
            <a:prstDash val="solid"/>
          </a:ln>
        </p:spPr>
        <p:txBody>
          <a:bodyPr/>
          <a:lstStyle/>
          <a:p>
            <a:endParaRPr lang="zh-CN" altLang="en-US"/>
          </a:p>
        </p:txBody>
      </p:sp>
      <p:sp>
        <p:nvSpPr>
          <p:cNvPr id="12" name="Text 10"/>
          <p:cNvSpPr/>
          <p:nvPr/>
        </p:nvSpPr>
        <p:spPr>
          <a:xfrm>
            <a:off x="1673352"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1</a:t>
            </a:r>
            <a:endParaRPr lang="en-US" sz="1500" dirty="0"/>
          </a:p>
        </p:txBody>
      </p:sp>
      <p:sp>
        <p:nvSpPr>
          <p:cNvPr id="13" name="Text 11"/>
          <p:cNvSpPr/>
          <p:nvPr/>
        </p:nvSpPr>
        <p:spPr>
          <a:xfrm>
            <a:off x="1673352"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90°</a:t>
            </a:r>
            <a:endParaRPr lang="en-US" sz="850" dirty="0"/>
          </a:p>
        </p:txBody>
      </p:sp>
      <p:sp>
        <p:nvSpPr>
          <p:cNvPr id="14" name="Shape 12"/>
          <p:cNvSpPr/>
          <p:nvPr/>
        </p:nvSpPr>
        <p:spPr>
          <a:xfrm>
            <a:off x="2478024" y="2743200"/>
            <a:ext cx="749808" cy="713232"/>
          </a:xfrm>
          <a:prstGeom prst="roundRect">
            <a:avLst>
              <a:gd name="adj" fmla="val 6410"/>
            </a:avLst>
          </a:prstGeom>
          <a:solidFill>
            <a:srgbClr val="F59E0B"/>
          </a:solidFill>
          <a:ln w="12700">
            <a:solidFill>
              <a:srgbClr val="FFFFFF"/>
            </a:solidFill>
            <a:prstDash val="solid"/>
          </a:ln>
        </p:spPr>
        <p:txBody>
          <a:bodyPr/>
          <a:lstStyle/>
          <a:p>
            <a:endParaRPr lang="zh-CN" altLang="en-US"/>
          </a:p>
        </p:txBody>
      </p:sp>
      <p:sp>
        <p:nvSpPr>
          <p:cNvPr id="15" name="Text 13"/>
          <p:cNvSpPr/>
          <p:nvPr/>
        </p:nvSpPr>
        <p:spPr>
          <a:xfrm>
            <a:off x="2478024"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2</a:t>
            </a:r>
            <a:endParaRPr lang="en-US" sz="1500" dirty="0"/>
          </a:p>
        </p:txBody>
      </p:sp>
      <p:sp>
        <p:nvSpPr>
          <p:cNvPr id="16" name="Text 14"/>
          <p:cNvSpPr/>
          <p:nvPr/>
        </p:nvSpPr>
        <p:spPr>
          <a:xfrm>
            <a:off x="2478024"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180°</a:t>
            </a:r>
            <a:endParaRPr lang="en-US" sz="850" dirty="0"/>
          </a:p>
        </p:txBody>
      </p:sp>
      <p:sp>
        <p:nvSpPr>
          <p:cNvPr id="17" name="Shape 15"/>
          <p:cNvSpPr/>
          <p:nvPr/>
        </p:nvSpPr>
        <p:spPr>
          <a:xfrm>
            <a:off x="3282696" y="2743200"/>
            <a:ext cx="749808" cy="713232"/>
          </a:xfrm>
          <a:prstGeom prst="roundRect">
            <a:avLst>
              <a:gd name="adj" fmla="val 6410"/>
            </a:avLst>
          </a:prstGeom>
          <a:solidFill>
            <a:srgbClr val="0E7490"/>
          </a:solidFill>
          <a:ln w="12700">
            <a:solidFill>
              <a:srgbClr val="FFFFFF"/>
            </a:solidFill>
            <a:prstDash val="solid"/>
          </a:ln>
        </p:spPr>
        <p:txBody>
          <a:bodyPr/>
          <a:lstStyle/>
          <a:p>
            <a:endParaRPr lang="zh-CN" altLang="en-US"/>
          </a:p>
        </p:txBody>
      </p:sp>
      <p:sp>
        <p:nvSpPr>
          <p:cNvPr id="18" name="Text 16"/>
          <p:cNvSpPr/>
          <p:nvPr/>
        </p:nvSpPr>
        <p:spPr>
          <a:xfrm>
            <a:off x="3282696"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3</a:t>
            </a:r>
            <a:endParaRPr lang="en-US" sz="1500" dirty="0"/>
          </a:p>
        </p:txBody>
      </p:sp>
      <p:sp>
        <p:nvSpPr>
          <p:cNvPr id="19" name="Text 17"/>
          <p:cNvSpPr/>
          <p:nvPr/>
        </p:nvSpPr>
        <p:spPr>
          <a:xfrm>
            <a:off x="3282696"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270°</a:t>
            </a:r>
            <a:endParaRPr lang="en-US" sz="850" dirty="0"/>
          </a:p>
        </p:txBody>
      </p:sp>
      <p:sp>
        <p:nvSpPr>
          <p:cNvPr id="20" name="Shape 18"/>
          <p:cNvSpPr/>
          <p:nvPr/>
        </p:nvSpPr>
        <p:spPr>
          <a:xfrm>
            <a:off x="4087368" y="2743200"/>
            <a:ext cx="749808" cy="713232"/>
          </a:xfrm>
          <a:prstGeom prst="roundRect">
            <a:avLst>
              <a:gd name="adj" fmla="val 6410"/>
            </a:avLst>
          </a:prstGeom>
          <a:solidFill>
            <a:srgbClr val="3B82F6"/>
          </a:solidFill>
          <a:ln w="12700">
            <a:solidFill>
              <a:srgbClr val="FFFFFF"/>
            </a:solidFill>
            <a:prstDash val="solid"/>
          </a:ln>
        </p:spPr>
        <p:txBody>
          <a:bodyPr/>
          <a:lstStyle/>
          <a:p>
            <a:endParaRPr lang="zh-CN" altLang="en-US"/>
          </a:p>
        </p:txBody>
      </p:sp>
      <p:sp>
        <p:nvSpPr>
          <p:cNvPr id="21" name="Text 19"/>
          <p:cNvSpPr/>
          <p:nvPr/>
        </p:nvSpPr>
        <p:spPr>
          <a:xfrm>
            <a:off x="4087368"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4</a:t>
            </a:r>
            <a:endParaRPr lang="en-US" sz="1500" dirty="0"/>
          </a:p>
        </p:txBody>
      </p:sp>
      <p:sp>
        <p:nvSpPr>
          <p:cNvPr id="22" name="Text 20"/>
          <p:cNvSpPr/>
          <p:nvPr/>
        </p:nvSpPr>
        <p:spPr>
          <a:xfrm>
            <a:off x="4087368"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0°</a:t>
            </a:r>
            <a:endParaRPr lang="en-US" sz="850" dirty="0"/>
          </a:p>
        </p:txBody>
      </p:sp>
      <p:sp>
        <p:nvSpPr>
          <p:cNvPr id="23" name="Shape 21"/>
          <p:cNvSpPr/>
          <p:nvPr/>
        </p:nvSpPr>
        <p:spPr>
          <a:xfrm>
            <a:off x="4892040" y="2743200"/>
            <a:ext cx="749808" cy="713232"/>
          </a:xfrm>
          <a:prstGeom prst="roundRect">
            <a:avLst>
              <a:gd name="adj" fmla="val 6410"/>
            </a:avLst>
          </a:prstGeom>
          <a:solidFill>
            <a:srgbClr val="2DD4BF"/>
          </a:solidFill>
          <a:ln w="12700">
            <a:solidFill>
              <a:srgbClr val="FFFFFF"/>
            </a:solidFill>
            <a:prstDash val="solid"/>
          </a:ln>
        </p:spPr>
        <p:txBody>
          <a:bodyPr/>
          <a:lstStyle/>
          <a:p>
            <a:endParaRPr lang="zh-CN" altLang="en-US"/>
          </a:p>
        </p:txBody>
      </p:sp>
      <p:sp>
        <p:nvSpPr>
          <p:cNvPr id="24" name="Text 22"/>
          <p:cNvSpPr/>
          <p:nvPr/>
        </p:nvSpPr>
        <p:spPr>
          <a:xfrm>
            <a:off x="4892040"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5</a:t>
            </a:r>
            <a:endParaRPr lang="en-US" sz="1500" dirty="0"/>
          </a:p>
        </p:txBody>
      </p:sp>
      <p:sp>
        <p:nvSpPr>
          <p:cNvPr id="25" name="Text 23"/>
          <p:cNvSpPr/>
          <p:nvPr/>
        </p:nvSpPr>
        <p:spPr>
          <a:xfrm>
            <a:off x="4892040"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90°</a:t>
            </a:r>
            <a:endParaRPr lang="en-US" sz="850" dirty="0"/>
          </a:p>
        </p:txBody>
      </p:sp>
      <p:sp>
        <p:nvSpPr>
          <p:cNvPr id="26" name="Shape 24"/>
          <p:cNvSpPr/>
          <p:nvPr/>
        </p:nvSpPr>
        <p:spPr>
          <a:xfrm>
            <a:off x="5696712" y="2743200"/>
            <a:ext cx="749808" cy="713232"/>
          </a:xfrm>
          <a:prstGeom prst="roundRect">
            <a:avLst>
              <a:gd name="adj" fmla="val 6410"/>
            </a:avLst>
          </a:prstGeom>
          <a:solidFill>
            <a:srgbClr val="F59E0B"/>
          </a:solidFill>
          <a:ln w="12700">
            <a:solidFill>
              <a:srgbClr val="FFFFFF"/>
            </a:solidFill>
            <a:prstDash val="solid"/>
          </a:ln>
        </p:spPr>
        <p:txBody>
          <a:bodyPr/>
          <a:lstStyle/>
          <a:p>
            <a:endParaRPr lang="zh-CN" altLang="en-US"/>
          </a:p>
        </p:txBody>
      </p:sp>
      <p:sp>
        <p:nvSpPr>
          <p:cNvPr id="27" name="Text 25"/>
          <p:cNvSpPr/>
          <p:nvPr/>
        </p:nvSpPr>
        <p:spPr>
          <a:xfrm>
            <a:off x="5696712"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6</a:t>
            </a:r>
            <a:endParaRPr lang="en-US" sz="1500" dirty="0"/>
          </a:p>
        </p:txBody>
      </p:sp>
      <p:sp>
        <p:nvSpPr>
          <p:cNvPr id="28" name="Text 26"/>
          <p:cNvSpPr/>
          <p:nvPr/>
        </p:nvSpPr>
        <p:spPr>
          <a:xfrm>
            <a:off x="5696712"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180°</a:t>
            </a:r>
            <a:endParaRPr lang="en-US" sz="850" dirty="0"/>
          </a:p>
        </p:txBody>
      </p:sp>
      <p:sp>
        <p:nvSpPr>
          <p:cNvPr id="29" name="Shape 27"/>
          <p:cNvSpPr/>
          <p:nvPr/>
        </p:nvSpPr>
        <p:spPr>
          <a:xfrm>
            <a:off x="6501384" y="2743200"/>
            <a:ext cx="749808" cy="713232"/>
          </a:xfrm>
          <a:prstGeom prst="roundRect">
            <a:avLst>
              <a:gd name="adj" fmla="val 6410"/>
            </a:avLst>
          </a:prstGeom>
          <a:solidFill>
            <a:srgbClr val="0E7490"/>
          </a:solidFill>
          <a:ln w="12700">
            <a:solidFill>
              <a:srgbClr val="FFFFFF"/>
            </a:solidFill>
            <a:prstDash val="solid"/>
          </a:ln>
        </p:spPr>
        <p:txBody>
          <a:bodyPr/>
          <a:lstStyle/>
          <a:p>
            <a:endParaRPr lang="zh-CN" altLang="en-US"/>
          </a:p>
        </p:txBody>
      </p:sp>
      <p:sp>
        <p:nvSpPr>
          <p:cNvPr id="30" name="Text 28"/>
          <p:cNvSpPr/>
          <p:nvPr/>
        </p:nvSpPr>
        <p:spPr>
          <a:xfrm>
            <a:off x="6501384"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7</a:t>
            </a:r>
            <a:endParaRPr lang="en-US" sz="1500" dirty="0"/>
          </a:p>
        </p:txBody>
      </p:sp>
      <p:sp>
        <p:nvSpPr>
          <p:cNvPr id="31" name="Text 29"/>
          <p:cNvSpPr/>
          <p:nvPr/>
        </p:nvSpPr>
        <p:spPr>
          <a:xfrm>
            <a:off x="6501384"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270°</a:t>
            </a:r>
            <a:endParaRPr lang="en-US" sz="850" dirty="0"/>
          </a:p>
        </p:txBody>
      </p:sp>
      <p:sp>
        <p:nvSpPr>
          <p:cNvPr id="32" name="Shape 30"/>
          <p:cNvSpPr/>
          <p:nvPr/>
        </p:nvSpPr>
        <p:spPr>
          <a:xfrm>
            <a:off x="7306056" y="2743200"/>
            <a:ext cx="749808" cy="713232"/>
          </a:xfrm>
          <a:prstGeom prst="roundRect">
            <a:avLst>
              <a:gd name="adj" fmla="val 6410"/>
            </a:avLst>
          </a:prstGeom>
          <a:solidFill>
            <a:srgbClr val="3B82F6"/>
          </a:solidFill>
          <a:ln w="12700">
            <a:solidFill>
              <a:srgbClr val="FFFFFF"/>
            </a:solidFill>
            <a:prstDash val="solid"/>
          </a:ln>
        </p:spPr>
        <p:txBody>
          <a:bodyPr/>
          <a:lstStyle/>
          <a:p>
            <a:endParaRPr lang="zh-CN" altLang="en-US"/>
          </a:p>
        </p:txBody>
      </p:sp>
      <p:sp>
        <p:nvSpPr>
          <p:cNvPr id="33" name="Text 31"/>
          <p:cNvSpPr/>
          <p:nvPr/>
        </p:nvSpPr>
        <p:spPr>
          <a:xfrm>
            <a:off x="7306056"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8</a:t>
            </a:r>
            <a:endParaRPr lang="en-US" sz="1500" dirty="0"/>
          </a:p>
        </p:txBody>
      </p:sp>
      <p:sp>
        <p:nvSpPr>
          <p:cNvPr id="34" name="Text 32"/>
          <p:cNvSpPr/>
          <p:nvPr/>
        </p:nvSpPr>
        <p:spPr>
          <a:xfrm>
            <a:off x="7306056"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0°</a:t>
            </a:r>
            <a:endParaRPr lang="en-US" sz="850" dirty="0"/>
          </a:p>
        </p:txBody>
      </p:sp>
      <p:sp>
        <p:nvSpPr>
          <p:cNvPr id="35" name="Shape 33"/>
          <p:cNvSpPr/>
          <p:nvPr/>
        </p:nvSpPr>
        <p:spPr>
          <a:xfrm>
            <a:off x="8110728" y="2743200"/>
            <a:ext cx="749808" cy="713232"/>
          </a:xfrm>
          <a:prstGeom prst="roundRect">
            <a:avLst>
              <a:gd name="adj" fmla="val 6410"/>
            </a:avLst>
          </a:prstGeom>
          <a:solidFill>
            <a:srgbClr val="2DD4BF"/>
          </a:solidFill>
          <a:ln w="12700">
            <a:solidFill>
              <a:srgbClr val="FFFFFF"/>
            </a:solidFill>
            <a:prstDash val="solid"/>
          </a:ln>
        </p:spPr>
        <p:txBody>
          <a:bodyPr/>
          <a:lstStyle/>
          <a:p>
            <a:endParaRPr lang="zh-CN" altLang="en-US"/>
          </a:p>
        </p:txBody>
      </p:sp>
      <p:sp>
        <p:nvSpPr>
          <p:cNvPr id="36" name="Text 34"/>
          <p:cNvSpPr/>
          <p:nvPr/>
        </p:nvSpPr>
        <p:spPr>
          <a:xfrm>
            <a:off x="8110728"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9</a:t>
            </a:r>
            <a:endParaRPr lang="en-US" sz="1500" dirty="0"/>
          </a:p>
        </p:txBody>
      </p:sp>
      <p:sp>
        <p:nvSpPr>
          <p:cNvPr id="37" name="Text 35"/>
          <p:cNvSpPr/>
          <p:nvPr/>
        </p:nvSpPr>
        <p:spPr>
          <a:xfrm>
            <a:off x="8110728"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90°</a:t>
            </a:r>
            <a:endParaRPr lang="en-US" sz="850" dirty="0"/>
          </a:p>
        </p:txBody>
      </p:sp>
      <p:sp>
        <p:nvSpPr>
          <p:cNvPr id="38" name="Shape 36"/>
          <p:cNvSpPr/>
          <p:nvPr/>
        </p:nvSpPr>
        <p:spPr>
          <a:xfrm>
            <a:off x="8915400" y="2743200"/>
            <a:ext cx="749808" cy="713232"/>
          </a:xfrm>
          <a:prstGeom prst="roundRect">
            <a:avLst>
              <a:gd name="adj" fmla="val 6410"/>
            </a:avLst>
          </a:prstGeom>
          <a:solidFill>
            <a:srgbClr val="F59E0B"/>
          </a:solidFill>
          <a:ln w="12700">
            <a:solidFill>
              <a:srgbClr val="FFFFFF"/>
            </a:solidFill>
            <a:prstDash val="solid"/>
          </a:ln>
        </p:spPr>
        <p:txBody>
          <a:bodyPr/>
          <a:lstStyle/>
          <a:p>
            <a:endParaRPr lang="zh-CN" altLang="en-US"/>
          </a:p>
        </p:txBody>
      </p:sp>
      <p:sp>
        <p:nvSpPr>
          <p:cNvPr id="39" name="Text 37"/>
          <p:cNvSpPr/>
          <p:nvPr/>
        </p:nvSpPr>
        <p:spPr>
          <a:xfrm>
            <a:off x="8915400"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10</a:t>
            </a:r>
            <a:endParaRPr lang="en-US" sz="1500" dirty="0"/>
          </a:p>
        </p:txBody>
      </p:sp>
      <p:sp>
        <p:nvSpPr>
          <p:cNvPr id="40" name="Text 38"/>
          <p:cNvSpPr/>
          <p:nvPr/>
        </p:nvSpPr>
        <p:spPr>
          <a:xfrm>
            <a:off x="8915400"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180°</a:t>
            </a:r>
            <a:endParaRPr lang="en-US" sz="850" dirty="0"/>
          </a:p>
        </p:txBody>
      </p:sp>
      <p:sp>
        <p:nvSpPr>
          <p:cNvPr id="41" name="Shape 39"/>
          <p:cNvSpPr/>
          <p:nvPr/>
        </p:nvSpPr>
        <p:spPr>
          <a:xfrm>
            <a:off x="9720072" y="2743200"/>
            <a:ext cx="749808" cy="713232"/>
          </a:xfrm>
          <a:prstGeom prst="roundRect">
            <a:avLst>
              <a:gd name="adj" fmla="val 6410"/>
            </a:avLst>
          </a:prstGeom>
          <a:solidFill>
            <a:srgbClr val="0E7490"/>
          </a:solidFill>
          <a:ln w="12700">
            <a:solidFill>
              <a:srgbClr val="FFFFFF"/>
            </a:solidFill>
            <a:prstDash val="solid"/>
          </a:ln>
        </p:spPr>
        <p:txBody>
          <a:bodyPr/>
          <a:lstStyle/>
          <a:p>
            <a:endParaRPr lang="zh-CN" altLang="en-US"/>
          </a:p>
        </p:txBody>
      </p:sp>
      <p:sp>
        <p:nvSpPr>
          <p:cNvPr id="42" name="Text 40"/>
          <p:cNvSpPr/>
          <p:nvPr/>
        </p:nvSpPr>
        <p:spPr>
          <a:xfrm>
            <a:off x="9720072"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11</a:t>
            </a:r>
            <a:endParaRPr lang="en-US" sz="1500" dirty="0"/>
          </a:p>
        </p:txBody>
      </p:sp>
      <p:sp>
        <p:nvSpPr>
          <p:cNvPr id="43" name="Text 41"/>
          <p:cNvSpPr/>
          <p:nvPr/>
        </p:nvSpPr>
        <p:spPr>
          <a:xfrm>
            <a:off x="9720072"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270°</a:t>
            </a:r>
            <a:endParaRPr lang="en-US" sz="850" dirty="0"/>
          </a:p>
        </p:txBody>
      </p:sp>
      <p:sp>
        <p:nvSpPr>
          <p:cNvPr id="44" name="Text 42"/>
          <p:cNvSpPr/>
          <p:nvPr/>
        </p:nvSpPr>
        <p:spPr>
          <a:xfrm>
            <a:off x="868680" y="3785616"/>
            <a:ext cx="3163824" cy="256032"/>
          </a:xfrm>
          <a:prstGeom prst="rect">
            <a:avLst/>
          </a:prstGeom>
          <a:noFill/>
        </p:spPr>
        <p:txBody>
          <a:bodyPr wrap="square" lIns="0" tIns="0" rIns="0" bIns="0" rtlCol="0" anchor="ctr"/>
          <a:lstStyle/>
          <a:p>
            <a:pPr marL="0" indent="0" algn="ctr">
              <a:buNone/>
            </a:pPr>
            <a:r>
              <a:rPr lang="en-US" sz="1000" b="1" dirty="0">
                <a:solidFill>
                  <a:srgbClr val="0E2A47"/>
                </a:solidFill>
                <a:latin typeface="Noto Sans CJK SC" pitchFamily="34" charset="0"/>
                <a:ea typeface="Noto Sans CJK SC" pitchFamily="34" charset="-122"/>
                <a:cs typeface="Noto Sans CJK SC" pitchFamily="34" charset="-120"/>
              </a:rPr>
              <a:t>频率 0</a:t>
            </a:r>
            <a:endParaRPr lang="en-US" sz="1000" dirty="0"/>
          </a:p>
        </p:txBody>
      </p:sp>
      <p:sp>
        <p:nvSpPr>
          <p:cNvPr id="45" name="Shape 43"/>
          <p:cNvSpPr/>
          <p:nvPr/>
        </p:nvSpPr>
        <p:spPr>
          <a:xfrm>
            <a:off x="914400" y="3767328"/>
            <a:ext cx="3072384" cy="0"/>
          </a:xfrm>
          <a:prstGeom prst="line">
            <a:avLst/>
          </a:prstGeom>
          <a:noFill/>
          <a:ln w="15240">
            <a:solidFill>
              <a:srgbClr val="1E466E"/>
            </a:solidFill>
            <a:prstDash val="solid"/>
          </a:ln>
        </p:spPr>
        <p:txBody>
          <a:bodyPr/>
          <a:lstStyle/>
          <a:p>
            <a:endParaRPr lang="zh-CN" altLang="en-US"/>
          </a:p>
        </p:txBody>
      </p:sp>
      <p:sp>
        <p:nvSpPr>
          <p:cNvPr id="46" name="Text 44"/>
          <p:cNvSpPr/>
          <p:nvPr/>
        </p:nvSpPr>
        <p:spPr>
          <a:xfrm>
            <a:off x="4087368" y="3785616"/>
            <a:ext cx="3163824" cy="256032"/>
          </a:xfrm>
          <a:prstGeom prst="rect">
            <a:avLst/>
          </a:prstGeom>
          <a:noFill/>
        </p:spPr>
        <p:txBody>
          <a:bodyPr wrap="square" lIns="0" tIns="0" rIns="0" bIns="0" rtlCol="0" anchor="ctr"/>
          <a:lstStyle/>
          <a:p>
            <a:pPr marL="0" indent="0" algn="ctr">
              <a:buNone/>
            </a:pPr>
            <a:r>
              <a:rPr lang="en-US" sz="1000" b="1" dirty="0">
                <a:solidFill>
                  <a:srgbClr val="0E2A47"/>
                </a:solidFill>
                <a:latin typeface="Noto Sans CJK SC" pitchFamily="34" charset="0"/>
                <a:ea typeface="Noto Sans CJK SC" pitchFamily="34" charset="-122"/>
                <a:cs typeface="Noto Sans CJK SC" pitchFamily="34" charset="-120"/>
              </a:rPr>
              <a:t>频率 1</a:t>
            </a:r>
            <a:endParaRPr lang="en-US" sz="1000" dirty="0"/>
          </a:p>
        </p:txBody>
      </p:sp>
      <p:sp>
        <p:nvSpPr>
          <p:cNvPr id="47" name="Shape 45"/>
          <p:cNvSpPr/>
          <p:nvPr/>
        </p:nvSpPr>
        <p:spPr>
          <a:xfrm>
            <a:off x="4133088" y="3767328"/>
            <a:ext cx="3072384" cy="0"/>
          </a:xfrm>
          <a:prstGeom prst="line">
            <a:avLst/>
          </a:prstGeom>
          <a:noFill/>
          <a:ln w="15240">
            <a:solidFill>
              <a:srgbClr val="1E466E"/>
            </a:solidFill>
            <a:prstDash val="solid"/>
          </a:ln>
        </p:spPr>
        <p:txBody>
          <a:bodyPr/>
          <a:lstStyle/>
          <a:p>
            <a:endParaRPr lang="zh-CN" altLang="en-US"/>
          </a:p>
        </p:txBody>
      </p:sp>
      <p:sp>
        <p:nvSpPr>
          <p:cNvPr id="48" name="Text 46"/>
          <p:cNvSpPr/>
          <p:nvPr/>
        </p:nvSpPr>
        <p:spPr>
          <a:xfrm>
            <a:off x="7306056" y="3785616"/>
            <a:ext cx="3163824" cy="256032"/>
          </a:xfrm>
          <a:prstGeom prst="rect">
            <a:avLst/>
          </a:prstGeom>
          <a:noFill/>
        </p:spPr>
        <p:txBody>
          <a:bodyPr wrap="square" lIns="0" tIns="0" rIns="0" bIns="0" rtlCol="0" anchor="ctr"/>
          <a:lstStyle/>
          <a:p>
            <a:pPr marL="0" indent="0" algn="ctr">
              <a:buNone/>
            </a:pPr>
            <a:r>
              <a:rPr lang="en-US" sz="1000" b="1" dirty="0">
                <a:solidFill>
                  <a:srgbClr val="0E2A47"/>
                </a:solidFill>
                <a:latin typeface="Noto Sans CJK SC" pitchFamily="34" charset="0"/>
                <a:ea typeface="Noto Sans CJK SC" pitchFamily="34" charset="-122"/>
                <a:cs typeface="Noto Sans CJK SC" pitchFamily="34" charset="-120"/>
              </a:rPr>
              <a:t>频率 2</a:t>
            </a:r>
            <a:endParaRPr lang="en-US" sz="1000" dirty="0"/>
          </a:p>
        </p:txBody>
      </p:sp>
      <p:sp>
        <p:nvSpPr>
          <p:cNvPr id="49" name="Shape 47"/>
          <p:cNvSpPr/>
          <p:nvPr/>
        </p:nvSpPr>
        <p:spPr>
          <a:xfrm>
            <a:off x="7351776" y="3767328"/>
            <a:ext cx="3072384" cy="0"/>
          </a:xfrm>
          <a:prstGeom prst="line">
            <a:avLst/>
          </a:prstGeom>
          <a:noFill/>
          <a:ln w="15240">
            <a:solidFill>
              <a:srgbClr val="1E466E"/>
            </a:solidFill>
            <a:prstDash val="solid"/>
          </a:ln>
        </p:spPr>
        <p:txBody>
          <a:bodyPr/>
          <a:lstStyle/>
          <a:p>
            <a:endParaRPr lang="zh-CN" altLang="en-US"/>
          </a:p>
        </p:txBody>
      </p:sp>
      <p:sp>
        <p:nvSpPr>
          <p:cNvPr id="50" name="Text 48"/>
          <p:cNvSpPr/>
          <p:nvPr/>
        </p:nvSpPr>
        <p:spPr>
          <a:xfrm>
            <a:off x="566928" y="4261104"/>
            <a:ext cx="109728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解码时按相位切片重组为四个子序列</a:t>
            </a:r>
            <a:endParaRPr lang="en-US" sz="1200" dirty="0"/>
          </a:p>
        </p:txBody>
      </p:sp>
      <p:sp>
        <p:nvSpPr>
          <p:cNvPr id="51" name="Shape 49"/>
          <p:cNvSpPr/>
          <p:nvPr/>
        </p:nvSpPr>
        <p:spPr>
          <a:xfrm>
            <a:off x="566928" y="4590288"/>
            <a:ext cx="2670048" cy="1078992"/>
          </a:xfrm>
          <a:prstGeom prst="roundRect">
            <a:avLst>
              <a:gd name="adj" fmla="val 762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52" name="Shape 50"/>
          <p:cNvSpPr/>
          <p:nvPr/>
        </p:nvSpPr>
        <p:spPr>
          <a:xfrm>
            <a:off x="566928" y="4590288"/>
            <a:ext cx="2670048" cy="73152"/>
          </a:xfrm>
          <a:prstGeom prst="rect">
            <a:avLst/>
          </a:prstGeom>
          <a:solidFill>
            <a:srgbClr val="3B82F6"/>
          </a:solidFill>
          <a:ln w="12700">
            <a:solidFill>
              <a:srgbClr val="3B82F6"/>
            </a:solidFill>
            <a:prstDash val="solid"/>
          </a:ln>
        </p:spPr>
        <p:txBody>
          <a:bodyPr/>
          <a:lstStyle/>
          <a:p>
            <a:endParaRPr lang="zh-CN" altLang="en-US"/>
          </a:p>
        </p:txBody>
      </p:sp>
      <p:sp>
        <p:nvSpPr>
          <p:cNvPr id="53" name="Text 51"/>
          <p:cNvSpPr/>
          <p:nvPr/>
        </p:nvSpPr>
        <p:spPr>
          <a:xfrm>
            <a:off x="713232" y="4773168"/>
            <a:ext cx="2395728" cy="310896"/>
          </a:xfrm>
          <a:prstGeom prst="rect">
            <a:avLst/>
          </a:prstGeom>
          <a:noFill/>
        </p:spPr>
        <p:txBody>
          <a:bodyPr wrap="square" lIns="0" tIns="0" rIns="0" bIns="0" rtlCol="0" anchor="ctr"/>
          <a:lstStyle/>
          <a:p>
            <a:pPr marL="0" indent="0">
              <a:buNone/>
            </a:pPr>
            <a:r>
              <a:rPr lang="en-US" sz="1150" b="1" dirty="0">
                <a:solidFill>
                  <a:srgbClr val="0E2A47"/>
                </a:solidFill>
                <a:latin typeface="DejaVu Sans Mono" pitchFamily="34" charset="0"/>
                <a:ea typeface="DejaVu Sans Mono" pitchFamily="34" charset="-122"/>
                <a:cs typeface="DejaVu Sans Mono" pitchFamily="34" charset="-120"/>
              </a:rPr>
              <a:t>I0 = images[0::4]</a:t>
            </a:r>
            <a:endParaRPr lang="en-US" sz="1150" dirty="0"/>
          </a:p>
        </p:txBody>
      </p:sp>
      <p:sp>
        <p:nvSpPr>
          <p:cNvPr id="54" name="Text 52"/>
          <p:cNvSpPr/>
          <p:nvPr/>
        </p:nvSpPr>
        <p:spPr>
          <a:xfrm>
            <a:off x="713232" y="5120640"/>
            <a:ext cx="2395728" cy="310896"/>
          </a:xfrm>
          <a:prstGeom prst="rect">
            <a:avLst/>
          </a:prstGeom>
          <a:noFill/>
        </p:spPr>
        <p:txBody>
          <a:bodyPr wrap="square" lIns="0" tIns="0" rIns="0" bIns="0" rtlCol="0" anchor="ctr"/>
          <a:lstStyle/>
          <a:p>
            <a:pPr marL="0" indent="0">
              <a:buNone/>
            </a:pPr>
            <a:r>
              <a:rPr lang="en-US" sz="1050" dirty="0">
                <a:solidFill>
                  <a:srgbClr val="FF0000"/>
                </a:solidFill>
                <a:latin typeface="Noto Sans CJK SC" pitchFamily="34" charset="0"/>
                <a:ea typeface="Noto Sans CJK SC" pitchFamily="34" charset="-122"/>
                <a:cs typeface="Noto Sans CJK SC" pitchFamily="34" charset="-120"/>
              </a:rPr>
              <a:t>全部 0° 相移图</a:t>
            </a:r>
            <a:endParaRPr lang="en-US" sz="1050" dirty="0">
              <a:solidFill>
                <a:srgbClr val="FF0000"/>
              </a:solidFill>
            </a:endParaRPr>
          </a:p>
        </p:txBody>
      </p:sp>
      <p:sp>
        <p:nvSpPr>
          <p:cNvPr id="55" name="Text 53"/>
          <p:cNvSpPr/>
          <p:nvPr/>
        </p:nvSpPr>
        <p:spPr>
          <a:xfrm>
            <a:off x="713232" y="5358384"/>
            <a:ext cx="2395728" cy="274320"/>
          </a:xfrm>
          <a:prstGeom prst="rect">
            <a:avLst/>
          </a:prstGeom>
          <a:noFill/>
        </p:spPr>
        <p:txBody>
          <a:bodyPr wrap="square" lIns="0" tIns="0" rIns="0" bIns="0" rtlCol="0" anchor="ctr"/>
          <a:lstStyle/>
          <a:p>
            <a:pPr marL="0" indent="0">
              <a:buNone/>
            </a:pPr>
            <a:r>
              <a:rPr lang="en-US" sz="950" dirty="0">
                <a:solidFill>
                  <a:srgbClr val="0E7490"/>
                </a:solidFill>
                <a:latin typeface="DejaVu Sans Mono" pitchFamily="34" charset="0"/>
                <a:ea typeface="DejaVu Sans Mono" pitchFamily="34" charset="-122"/>
                <a:cs typeface="DejaVu Sans Mono" pitchFamily="34" charset="-120"/>
              </a:rPr>
              <a:t>→ (M, Hc, Wc)</a:t>
            </a:r>
            <a:endParaRPr lang="en-US" sz="950" dirty="0"/>
          </a:p>
        </p:txBody>
      </p:sp>
      <p:sp>
        <p:nvSpPr>
          <p:cNvPr id="56" name="Shape 54"/>
          <p:cNvSpPr/>
          <p:nvPr/>
        </p:nvSpPr>
        <p:spPr>
          <a:xfrm>
            <a:off x="3355848" y="4590288"/>
            <a:ext cx="2670048" cy="1078992"/>
          </a:xfrm>
          <a:prstGeom prst="roundRect">
            <a:avLst>
              <a:gd name="adj" fmla="val 762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57" name="Shape 55"/>
          <p:cNvSpPr/>
          <p:nvPr/>
        </p:nvSpPr>
        <p:spPr>
          <a:xfrm>
            <a:off x="3355848" y="4590288"/>
            <a:ext cx="2670048" cy="73152"/>
          </a:xfrm>
          <a:prstGeom prst="rect">
            <a:avLst/>
          </a:prstGeom>
          <a:solidFill>
            <a:srgbClr val="2DD4BF"/>
          </a:solidFill>
          <a:ln w="12700">
            <a:solidFill>
              <a:srgbClr val="2DD4BF"/>
            </a:solidFill>
            <a:prstDash val="solid"/>
          </a:ln>
        </p:spPr>
        <p:txBody>
          <a:bodyPr/>
          <a:lstStyle/>
          <a:p>
            <a:endParaRPr lang="zh-CN" altLang="en-US"/>
          </a:p>
        </p:txBody>
      </p:sp>
      <p:sp>
        <p:nvSpPr>
          <p:cNvPr id="58" name="Text 56"/>
          <p:cNvSpPr/>
          <p:nvPr/>
        </p:nvSpPr>
        <p:spPr>
          <a:xfrm>
            <a:off x="3502152" y="4773168"/>
            <a:ext cx="2395728" cy="310896"/>
          </a:xfrm>
          <a:prstGeom prst="rect">
            <a:avLst/>
          </a:prstGeom>
          <a:noFill/>
        </p:spPr>
        <p:txBody>
          <a:bodyPr wrap="square" lIns="0" tIns="0" rIns="0" bIns="0" rtlCol="0" anchor="ctr"/>
          <a:lstStyle/>
          <a:p>
            <a:pPr marL="0" indent="0">
              <a:buNone/>
            </a:pPr>
            <a:r>
              <a:rPr lang="en-US" sz="1150" b="1" dirty="0">
                <a:solidFill>
                  <a:srgbClr val="0E2A47"/>
                </a:solidFill>
                <a:latin typeface="DejaVu Sans Mono" pitchFamily="34" charset="0"/>
                <a:ea typeface="DejaVu Sans Mono" pitchFamily="34" charset="-122"/>
                <a:cs typeface="DejaVu Sans Mono" pitchFamily="34" charset="-120"/>
              </a:rPr>
              <a:t>I1 = images[1::4]</a:t>
            </a:r>
            <a:endParaRPr lang="en-US" sz="1150" dirty="0"/>
          </a:p>
        </p:txBody>
      </p:sp>
      <p:sp>
        <p:nvSpPr>
          <p:cNvPr id="59" name="Text 57"/>
          <p:cNvSpPr/>
          <p:nvPr/>
        </p:nvSpPr>
        <p:spPr>
          <a:xfrm>
            <a:off x="3502152" y="5120640"/>
            <a:ext cx="2395728" cy="310896"/>
          </a:xfrm>
          <a:prstGeom prst="rect">
            <a:avLst/>
          </a:prstGeom>
          <a:noFill/>
        </p:spPr>
        <p:txBody>
          <a:bodyPr wrap="square" lIns="0" tIns="0" rIns="0" bIns="0" rtlCol="0" anchor="ctr"/>
          <a:lstStyle/>
          <a:p>
            <a:pPr marL="0" indent="0">
              <a:buNone/>
            </a:pPr>
            <a:r>
              <a:rPr lang="en-US" sz="1050" dirty="0">
                <a:solidFill>
                  <a:srgbClr val="FF0000"/>
                </a:solidFill>
                <a:latin typeface="Noto Sans CJK SC" pitchFamily="34" charset="0"/>
                <a:ea typeface="Noto Sans CJK SC" pitchFamily="34" charset="-122"/>
                <a:cs typeface="Noto Sans CJK SC" pitchFamily="34" charset="-120"/>
              </a:rPr>
              <a:t>全部 90° 相移图</a:t>
            </a:r>
            <a:endParaRPr lang="en-US" sz="1050" dirty="0">
              <a:solidFill>
                <a:srgbClr val="FF0000"/>
              </a:solidFill>
            </a:endParaRPr>
          </a:p>
        </p:txBody>
      </p:sp>
      <p:sp>
        <p:nvSpPr>
          <p:cNvPr id="60" name="Text 58"/>
          <p:cNvSpPr/>
          <p:nvPr/>
        </p:nvSpPr>
        <p:spPr>
          <a:xfrm>
            <a:off x="3502152" y="5358384"/>
            <a:ext cx="2395728" cy="274320"/>
          </a:xfrm>
          <a:prstGeom prst="rect">
            <a:avLst/>
          </a:prstGeom>
          <a:noFill/>
        </p:spPr>
        <p:txBody>
          <a:bodyPr wrap="square" lIns="0" tIns="0" rIns="0" bIns="0" rtlCol="0" anchor="ctr"/>
          <a:lstStyle/>
          <a:p>
            <a:pPr marL="0" indent="0">
              <a:buNone/>
            </a:pPr>
            <a:r>
              <a:rPr lang="en-US" sz="950" dirty="0">
                <a:solidFill>
                  <a:srgbClr val="0E7490"/>
                </a:solidFill>
                <a:latin typeface="DejaVu Sans Mono" pitchFamily="34" charset="0"/>
                <a:ea typeface="DejaVu Sans Mono" pitchFamily="34" charset="-122"/>
                <a:cs typeface="DejaVu Sans Mono" pitchFamily="34" charset="-120"/>
              </a:rPr>
              <a:t>→ (M, Hc, Wc)</a:t>
            </a:r>
            <a:endParaRPr lang="en-US" sz="950" dirty="0"/>
          </a:p>
        </p:txBody>
      </p:sp>
      <p:sp>
        <p:nvSpPr>
          <p:cNvPr id="61" name="Shape 59"/>
          <p:cNvSpPr/>
          <p:nvPr/>
        </p:nvSpPr>
        <p:spPr>
          <a:xfrm>
            <a:off x="6144768" y="4590288"/>
            <a:ext cx="2670048" cy="1078992"/>
          </a:xfrm>
          <a:prstGeom prst="roundRect">
            <a:avLst>
              <a:gd name="adj" fmla="val 762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2" name="Shape 60"/>
          <p:cNvSpPr/>
          <p:nvPr/>
        </p:nvSpPr>
        <p:spPr>
          <a:xfrm>
            <a:off x="6144768" y="4590288"/>
            <a:ext cx="2670048" cy="73152"/>
          </a:xfrm>
          <a:prstGeom prst="rect">
            <a:avLst/>
          </a:prstGeom>
          <a:solidFill>
            <a:srgbClr val="F59E0B"/>
          </a:solidFill>
          <a:ln w="12700">
            <a:solidFill>
              <a:srgbClr val="F59E0B"/>
            </a:solidFill>
            <a:prstDash val="solid"/>
          </a:ln>
        </p:spPr>
        <p:txBody>
          <a:bodyPr/>
          <a:lstStyle/>
          <a:p>
            <a:endParaRPr lang="zh-CN" altLang="en-US"/>
          </a:p>
        </p:txBody>
      </p:sp>
      <p:sp>
        <p:nvSpPr>
          <p:cNvPr id="63" name="Text 61"/>
          <p:cNvSpPr/>
          <p:nvPr/>
        </p:nvSpPr>
        <p:spPr>
          <a:xfrm>
            <a:off x="6291072" y="4773168"/>
            <a:ext cx="2395728" cy="310896"/>
          </a:xfrm>
          <a:prstGeom prst="rect">
            <a:avLst/>
          </a:prstGeom>
          <a:noFill/>
        </p:spPr>
        <p:txBody>
          <a:bodyPr wrap="square" lIns="0" tIns="0" rIns="0" bIns="0" rtlCol="0" anchor="ctr"/>
          <a:lstStyle/>
          <a:p>
            <a:pPr marL="0" indent="0">
              <a:buNone/>
            </a:pPr>
            <a:r>
              <a:rPr lang="en-US" sz="1150" b="1" dirty="0">
                <a:solidFill>
                  <a:srgbClr val="0E2A47"/>
                </a:solidFill>
                <a:latin typeface="DejaVu Sans Mono" pitchFamily="34" charset="0"/>
                <a:ea typeface="DejaVu Sans Mono" pitchFamily="34" charset="-122"/>
                <a:cs typeface="DejaVu Sans Mono" pitchFamily="34" charset="-120"/>
              </a:rPr>
              <a:t>I2 = images[2::4]</a:t>
            </a:r>
            <a:endParaRPr lang="en-US" sz="1150" dirty="0"/>
          </a:p>
        </p:txBody>
      </p:sp>
      <p:sp>
        <p:nvSpPr>
          <p:cNvPr id="64" name="Text 62"/>
          <p:cNvSpPr/>
          <p:nvPr/>
        </p:nvSpPr>
        <p:spPr>
          <a:xfrm>
            <a:off x="6291072" y="5120640"/>
            <a:ext cx="2395728" cy="310896"/>
          </a:xfrm>
          <a:prstGeom prst="rect">
            <a:avLst/>
          </a:prstGeom>
          <a:noFill/>
        </p:spPr>
        <p:txBody>
          <a:bodyPr wrap="square" lIns="0" tIns="0" rIns="0" bIns="0" rtlCol="0" anchor="ctr"/>
          <a:lstStyle/>
          <a:p>
            <a:pPr marL="0" indent="0">
              <a:buNone/>
            </a:pPr>
            <a:r>
              <a:rPr lang="en-US" sz="1050" dirty="0">
                <a:solidFill>
                  <a:srgbClr val="FF0000"/>
                </a:solidFill>
                <a:latin typeface="Noto Sans CJK SC" pitchFamily="34" charset="0"/>
                <a:ea typeface="Noto Sans CJK SC" pitchFamily="34" charset="-122"/>
                <a:cs typeface="Noto Sans CJK SC" pitchFamily="34" charset="-120"/>
              </a:rPr>
              <a:t>全部 180° 相移图</a:t>
            </a:r>
            <a:endParaRPr lang="en-US" sz="1050" dirty="0">
              <a:solidFill>
                <a:srgbClr val="FF0000"/>
              </a:solidFill>
            </a:endParaRPr>
          </a:p>
        </p:txBody>
      </p:sp>
      <p:sp>
        <p:nvSpPr>
          <p:cNvPr id="65" name="Text 63"/>
          <p:cNvSpPr/>
          <p:nvPr/>
        </p:nvSpPr>
        <p:spPr>
          <a:xfrm>
            <a:off x="6291072" y="5358384"/>
            <a:ext cx="2395728" cy="274320"/>
          </a:xfrm>
          <a:prstGeom prst="rect">
            <a:avLst/>
          </a:prstGeom>
          <a:noFill/>
        </p:spPr>
        <p:txBody>
          <a:bodyPr wrap="square" lIns="0" tIns="0" rIns="0" bIns="0" rtlCol="0" anchor="ctr"/>
          <a:lstStyle/>
          <a:p>
            <a:pPr marL="0" indent="0">
              <a:buNone/>
            </a:pPr>
            <a:r>
              <a:rPr lang="en-US" sz="950" dirty="0">
                <a:solidFill>
                  <a:srgbClr val="0E7490"/>
                </a:solidFill>
                <a:latin typeface="DejaVu Sans Mono" pitchFamily="34" charset="0"/>
                <a:ea typeface="DejaVu Sans Mono" pitchFamily="34" charset="-122"/>
                <a:cs typeface="DejaVu Sans Mono" pitchFamily="34" charset="-120"/>
              </a:rPr>
              <a:t>→ (M, Hc, Wc)</a:t>
            </a:r>
            <a:endParaRPr lang="en-US" sz="950" dirty="0"/>
          </a:p>
        </p:txBody>
      </p:sp>
      <p:sp>
        <p:nvSpPr>
          <p:cNvPr id="66" name="Shape 64"/>
          <p:cNvSpPr/>
          <p:nvPr/>
        </p:nvSpPr>
        <p:spPr>
          <a:xfrm>
            <a:off x="8933688" y="4590288"/>
            <a:ext cx="2670048" cy="1078992"/>
          </a:xfrm>
          <a:prstGeom prst="roundRect">
            <a:avLst>
              <a:gd name="adj" fmla="val 762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7" name="Shape 65"/>
          <p:cNvSpPr/>
          <p:nvPr/>
        </p:nvSpPr>
        <p:spPr>
          <a:xfrm>
            <a:off x="8933688" y="4590288"/>
            <a:ext cx="2670048" cy="73152"/>
          </a:xfrm>
          <a:prstGeom prst="rect">
            <a:avLst/>
          </a:prstGeom>
          <a:solidFill>
            <a:srgbClr val="0E7490"/>
          </a:solidFill>
          <a:ln w="12700">
            <a:solidFill>
              <a:srgbClr val="0E7490"/>
            </a:solidFill>
            <a:prstDash val="solid"/>
          </a:ln>
        </p:spPr>
        <p:txBody>
          <a:bodyPr/>
          <a:lstStyle/>
          <a:p>
            <a:endParaRPr lang="zh-CN" altLang="en-US"/>
          </a:p>
        </p:txBody>
      </p:sp>
      <p:sp>
        <p:nvSpPr>
          <p:cNvPr id="68" name="Text 66"/>
          <p:cNvSpPr/>
          <p:nvPr/>
        </p:nvSpPr>
        <p:spPr>
          <a:xfrm>
            <a:off x="9079992" y="4773168"/>
            <a:ext cx="2395728" cy="310896"/>
          </a:xfrm>
          <a:prstGeom prst="rect">
            <a:avLst/>
          </a:prstGeom>
          <a:noFill/>
        </p:spPr>
        <p:txBody>
          <a:bodyPr wrap="square" lIns="0" tIns="0" rIns="0" bIns="0" rtlCol="0" anchor="ctr"/>
          <a:lstStyle/>
          <a:p>
            <a:pPr marL="0" indent="0">
              <a:buNone/>
            </a:pPr>
            <a:r>
              <a:rPr lang="en-US" sz="1150" b="1" dirty="0">
                <a:solidFill>
                  <a:srgbClr val="0E2A47"/>
                </a:solidFill>
                <a:latin typeface="DejaVu Sans Mono" pitchFamily="34" charset="0"/>
                <a:ea typeface="DejaVu Sans Mono" pitchFamily="34" charset="-122"/>
                <a:cs typeface="DejaVu Sans Mono" pitchFamily="34" charset="-120"/>
              </a:rPr>
              <a:t>I3 = images[3::4]</a:t>
            </a:r>
            <a:endParaRPr lang="en-US" sz="1150" dirty="0"/>
          </a:p>
        </p:txBody>
      </p:sp>
      <p:sp>
        <p:nvSpPr>
          <p:cNvPr id="69" name="Text 67"/>
          <p:cNvSpPr/>
          <p:nvPr/>
        </p:nvSpPr>
        <p:spPr>
          <a:xfrm>
            <a:off x="9079992" y="5120640"/>
            <a:ext cx="2395728" cy="310896"/>
          </a:xfrm>
          <a:prstGeom prst="rect">
            <a:avLst/>
          </a:prstGeom>
          <a:noFill/>
        </p:spPr>
        <p:txBody>
          <a:bodyPr wrap="square" lIns="0" tIns="0" rIns="0" bIns="0" rtlCol="0" anchor="ctr"/>
          <a:lstStyle/>
          <a:p>
            <a:pPr marL="0" indent="0">
              <a:buNone/>
            </a:pPr>
            <a:r>
              <a:rPr lang="en-US" sz="1050" dirty="0">
                <a:solidFill>
                  <a:srgbClr val="FF0000"/>
                </a:solidFill>
                <a:latin typeface="Noto Sans CJK SC" pitchFamily="34" charset="0"/>
                <a:ea typeface="Noto Sans CJK SC" pitchFamily="34" charset="-122"/>
                <a:cs typeface="Noto Sans CJK SC" pitchFamily="34" charset="-120"/>
              </a:rPr>
              <a:t>全部 270° 相移图</a:t>
            </a:r>
            <a:endParaRPr lang="en-US" sz="1050" dirty="0">
              <a:solidFill>
                <a:srgbClr val="FF0000"/>
              </a:solidFill>
            </a:endParaRPr>
          </a:p>
        </p:txBody>
      </p:sp>
      <p:sp>
        <p:nvSpPr>
          <p:cNvPr id="70" name="Text 68"/>
          <p:cNvSpPr/>
          <p:nvPr/>
        </p:nvSpPr>
        <p:spPr>
          <a:xfrm>
            <a:off x="9079992" y="5358384"/>
            <a:ext cx="2395728" cy="274320"/>
          </a:xfrm>
          <a:prstGeom prst="rect">
            <a:avLst/>
          </a:prstGeom>
          <a:noFill/>
        </p:spPr>
        <p:txBody>
          <a:bodyPr wrap="square" lIns="0" tIns="0" rIns="0" bIns="0" rtlCol="0" anchor="ctr"/>
          <a:lstStyle/>
          <a:p>
            <a:pPr marL="0" indent="0">
              <a:buNone/>
            </a:pPr>
            <a:r>
              <a:rPr lang="en-US" sz="950" dirty="0">
                <a:solidFill>
                  <a:srgbClr val="0E7490"/>
                </a:solidFill>
                <a:latin typeface="DejaVu Sans Mono" pitchFamily="34" charset="0"/>
                <a:ea typeface="DejaVu Sans Mono" pitchFamily="34" charset="-122"/>
                <a:cs typeface="DejaVu Sans Mono" pitchFamily="34" charset="-120"/>
              </a:rPr>
              <a:t>→ (M, Hc, Wc)</a:t>
            </a:r>
            <a:endParaRPr lang="en-US" sz="950" dirty="0"/>
          </a:p>
        </p:txBody>
      </p:sp>
      <p:sp>
        <p:nvSpPr>
          <p:cNvPr id="71" name="Text 6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72" name="Text 7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73" name="Text 7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09 / 42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841248" y="414406"/>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复信号构造</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FF0000"/>
                </a:solidFill>
                <a:latin typeface="Noto Sans CJK SC" pitchFamily="34" charset="0"/>
                <a:ea typeface="Noto Sans CJK SC" pitchFamily="34" charset="-122"/>
                <a:cs typeface="Noto Sans CJK SC" pitchFamily="34" charset="-120"/>
              </a:rPr>
              <a:t>从灰度到复数 D</a:t>
            </a:r>
            <a:endParaRPr lang="en-US" sz="2900" dirty="0">
              <a:solidFill>
                <a:srgbClr val="FF0000"/>
              </a:solidFill>
            </a:endParaRPr>
          </a:p>
        </p:txBody>
      </p:sp>
      <p:sp>
        <p:nvSpPr>
          <p:cNvPr id="5" name="Text 3"/>
          <p:cNvSpPr/>
          <p:nvPr/>
        </p:nvSpPr>
        <p:spPr>
          <a:xfrm>
            <a:off x="566928" y="1627632"/>
            <a:ext cx="5577840" cy="1371600"/>
          </a:xfrm>
          <a:prstGeom prst="rect">
            <a:avLst/>
          </a:prstGeom>
          <a:noFill/>
        </p:spPr>
        <p:txBody>
          <a:bodyPr wrap="square" lIns="0" tIns="0" rIns="0" bIns="0" rtlCol="0" anchor="t"/>
          <a:lstStyle/>
          <a:p>
            <a:pPr marL="177800" indent="-177800">
              <a:spcAft>
                <a:spcPts val="9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对同一相机像素、同一频率，取得四个灰度值 I0、I1、I2、I3。</a:t>
            </a:r>
            <a:endParaRPr lang="en-US" sz="1300" dirty="0"/>
          </a:p>
          <a:p>
            <a:pPr marL="177800" indent="-177800">
              <a:spcAft>
                <a:spcPts val="900"/>
              </a:spcAft>
              <a:buSzPct val="100000"/>
              <a:buChar char="•"/>
            </a:pPr>
            <a:r>
              <a:rPr lang="en-US" sz="1300" b="1" dirty="0">
                <a:solidFill>
                  <a:srgbClr val="1E293B"/>
                </a:solidFill>
                <a:latin typeface="Noto Sans CJK SC" pitchFamily="34" charset="0"/>
                <a:ea typeface="Noto Sans CJK SC" pitchFamily="34" charset="-122"/>
                <a:cs typeface="Noto Sans CJK SC" pitchFamily="34" charset="-120"/>
              </a:rPr>
              <a:t>两次差分得到余弦/正弦分量，再组合成一个复数。</a:t>
            </a:r>
            <a:endParaRPr lang="en-US" sz="1300" dirty="0"/>
          </a:p>
        </p:txBody>
      </p:sp>
      <p:sp>
        <p:nvSpPr>
          <p:cNvPr id="6" name="Shape 4"/>
          <p:cNvSpPr/>
          <p:nvPr/>
        </p:nvSpPr>
        <p:spPr>
          <a:xfrm>
            <a:off x="566928" y="2907792"/>
            <a:ext cx="5577840" cy="658368"/>
          </a:xfrm>
          <a:prstGeom prst="roundRect">
            <a:avLst>
              <a:gd name="adj" fmla="val 12500"/>
            </a:avLst>
          </a:prstGeom>
          <a:solidFill>
            <a:srgbClr val="F2F5F9"/>
          </a:solidFill>
          <a:ln w="12700">
            <a:solidFill>
              <a:srgbClr val="E2E8F0"/>
            </a:solidFill>
            <a:prstDash val="solid"/>
          </a:ln>
        </p:spPr>
        <p:txBody>
          <a:bodyPr/>
          <a:lstStyle/>
          <a:p>
            <a:endParaRPr lang="zh-CN" altLang="en-US"/>
          </a:p>
        </p:txBody>
      </p:sp>
      <p:sp>
        <p:nvSpPr>
          <p:cNvPr id="7" name="Text 5"/>
          <p:cNvSpPr/>
          <p:nvPr/>
        </p:nvSpPr>
        <p:spPr>
          <a:xfrm>
            <a:off x="768096" y="2907792"/>
            <a:ext cx="2560320" cy="658368"/>
          </a:xfrm>
          <a:prstGeom prst="rect">
            <a:avLst/>
          </a:prstGeom>
          <a:noFill/>
        </p:spPr>
        <p:txBody>
          <a:bodyPr wrap="square" lIns="0" tIns="0" rIns="0" bIns="0" rtlCol="0" anchor="ctr"/>
          <a:lstStyle/>
          <a:p>
            <a:pPr marL="0" indent="0">
              <a:buNone/>
            </a:pPr>
            <a:r>
              <a:rPr lang="en-US" sz="1400" b="1" dirty="0">
                <a:solidFill>
                  <a:srgbClr val="0E2A47"/>
                </a:solidFill>
                <a:latin typeface="DejaVu Sans Mono" pitchFamily="34" charset="0"/>
                <a:ea typeface="DejaVu Sans Mono" pitchFamily="34" charset="-122"/>
                <a:cs typeface="DejaVu Sans Mono" pitchFamily="34" charset="-120"/>
              </a:rPr>
              <a:t>Dc = I0 − I2</a:t>
            </a:r>
            <a:endParaRPr lang="en-US" sz="1400" dirty="0"/>
          </a:p>
        </p:txBody>
      </p:sp>
      <p:sp>
        <p:nvSpPr>
          <p:cNvPr id="8" name="Shape 6"/>
          <p:cNvSpPr/>
          <p:nvPr/>
        </p:nvSpPr>
        <p:spPr>
          <a:xfrm>
            <a:off x="3291840" y="3017520"/>
            <a:ext cx="0" cy="438912"/>
          </a:xfrm>
          <a:prstGeom prst="line">
            <a:avLst/>
          </a:prstGeom>
          <a:noFill/>
          <a:ln w="12700">
            <a:solidFill>
              <a:srgbClr val="E2E8F0"/>
            </a:solidFill>
            <a:prstDash val="solid"/>
          </a:ln>
        </p:spPr>
        <p:txBody>
          <a:bodyPr/>
          <a:lstStyle/>
          <a:p>
            <a:endParaRPr lang="zh-CN" altLang="en-US"/>
          </a:p>
        </p:txBody>
      </p:sp>
      <p:sp>
        <p:nvSpPr>
          <p:cNvPr id="9" name="Text 7"/>
          <p:cNvSpPr/>
          <p:nvPr/>
        </p:nvSpPr>
        <p:spPr>
          <a:xfrm>
            <a:off x="3474720" y="2907792"/>
            <a:ext cx="2560320" cy="658368"/>
          </a:xfrm>
          <a:prstGeom prst="rect">
            <a:avLst/>
          </a:prstGeom>
          <a:noFill/>
        </p:spPr>
        <p:txBody>
          <a:bodyPr wrap="square" lIns="0" tIns="0" rIns="0" bIns="0" rtlCol="0" anchor="ctr"/>
          <a:lstStyle/>
          <a:p>
            <a:pPr marL="0" indent="0">
              <a:buNone/>
            </a:pPr>
            <a:r>
              <a:rPr lang="en-US" sz="1100" dirty="0">
                <a:solidFill>
                  <a:srgbClr val="64748B"/>
                </a:solidFill>
                <a:latin typeface="Noto Sans CJK SC" pitchFamily="34" charset="0"/>
                <a:ea typeface="Noto Sans CJK SC" pitchFamily="34" charset="-122"/>
                <a:cs typeface="Noto Sans CJK SC" pitchFamily="34" charset="-120"/>
              </a:rPr>
              <a:t>余弦分量 ≈ 2R·cosθ</a:t>
            </a:r>
            <a:endParaRPr lang="en-US" sz="1100" dirty="0"/>
          </a:p>
        </p:txBody>
      </p:sp>
      <p:sp>
        <p:nvSpPr>
          <p:cNvPr id="10" name="Shape 8"/>
          <p:cNvSpPr/>
          <p:nvPr/>
        </p:nvSpPr>
        <p:spPr>
          <a:xfrm>
            <a:off x="566928" y="3694176"/>
            <a:ext cx="5577840" cy="658368"/>
          </a:xfrm>
          <a:prstGeom prst="roundRect">
            <a:avLst>
              <a:gd name="adj" fmla="val 12500"/>
            </a:avLst>
          </a:prstGeom>
          <a:solidFill>
            <a:srgbClr val="F2F5F9"/>
          </a:solidFill>
          <a:ln w="12700">
            <a:solidFill>
              <a:srgbClr val="E2E8F0"/>
            </a:solidFill>
            <a:prstDash val="solid"/>
          </a:ln>
        </p:spPr>
        <p:txBody>
          <a:bodyPr/>
          <a:lstStyle/>
          <a:p>
            <a:endParaRPr lang="zh-CN" altLang="en-US"/>
          </a:p>
        </p:txBody>
      </p:sp>
      <p:sp>
        <p:nvSpPr>
          <p:cNvPr id="11" name="Text 9"/>
          <p:cNvSpPr/>
          <p:nvPr/>
        </p:nvSpPr>
        <p:spPr>
          <a:xfrm>
            <a:off x="768096" y="3694176"/>
            <a:ext cx="2560320" cy="658368"/>
          </a:xfrm>
          <a:prstGeom prst="rect">
            <a:avLst/>
          </a:prstGeom>
          <a:noFill/>
        </p:spPr>
        <p:txBody>
          <a:bodyPr wrap="square" lIns="0" tIns="0" rIns="0" bIns="0" rtlCol="0" anchor="ctr"/>
          <a:lstStyle/>
          <a:p>
            <a:pPr marL="0" indent="0">
              <a:buNone/>
            </a:pPr>
            <a:r>
              <a:rPr lang="en-US" sz="1400" b="1" dirty="0">
                <a:solidFill>
                  <a:srgbClr val="0E2A47"/>
                </a:solidFill>
                <a:latin typeface="DejaVu Sans Mono" pitchFamily="34" charset="0"/>
                <a:ea typeface="DejaVu Sans Mono" pitchFamily="34" charset="-122"/>
                <a:cs typeface="DejaVu Sans Mono" pitchFamily="34" charset="-120"/>
              </a:rPr>
              <a:t>Ds = I3 − I1</a:t>
            </a:r>
            <a:endParaRPr lang="en-US" sz="1400" dirty="0"/>
          </a:p>
        </p:txBody>
      </p:sp>
      <p:sp>
        <p:nvSpPr>
          <p:cNvPr id="12" name="Shape 10"/>
          <p:cNvSpPr/>
          <p:nvPr/>
        </p:nvSpPr>
        <p:spPr>
          <a:xfrm>
            <a:off x="3291840" y="3803904"/>
            <a:ext cx="0" cy="438912"/>
          </a:xfrm>
          <a:prstGeom prst="line">
            <a:avLst/>
          </a:prstGeom>
          <a:noFill/>
          <a:ln w="12700">
            <a:solidFill>
              <a:srgbClr val="E2E8F0"/>
            </a:solidFill>
            <a:prstDash val="solid"/>
          </a:ln>
        </p:spPr>
        <p:txBody>
          <a:bodyPr/>
          <a:lstStyle/>
          <a:p>
            <a:endParaRPr lang="zh-CN" altLang="en-US"/>
          </a:p>
        </p:txBody>
      </p:sp>
      <p:sp>
        <p:nvSpPr>
          <p:cNvPr id="13" name="Text 11"/>
          <p:cNvSpPr/>
          <p:nvPr/>
        </p:nvSpPr>
        <p:spPr>
          <a:xfrm>
            <a:off x="3474720" y="3694176"/>
            <a:ext cx="2560320" cy="658368"/>
          </a:xfrm>
          <a:prstGeom prst="rect">
            <a:avLst/>
          </a:prstGeom>
          <a:noFill/>
        </p:spPr>
        <p:txBody>
          <a:bodyPr wrap="square" lIns="0" tIns="0" rIns="0" bIns="0" rtlCol="0" anchor="ctr"/>
          <a:lstStyle/>
          <a:p>
            <a:pPr marL="0" indent="0">
              <a:buNone/>
            </a:pPr>
            <a:r>
              <a:rPr lang="en-US" sz="1100" dirty="0">
                <a:solidFill>
                  <a:srgbClr val="64748B"/>
                </a:solidFill>
                <a:latin typeface="Noto Sans CJK SC" pitchFamily="34" charset="0"/>
                <a:ea typeface="Noto Sans CJK SC" pitchFamily="34" charset="-122"/>
                <a:cs typeface="Noto Sans CJK SC" pitchFamily="34" charset="-120"/>
              </a:rPr>
              <a:t>正弦分量 ≈ 2R·sinθ</a:t>
            </a:r>
            <a:endParaRPr lang="en-US" sz="1100" dirty="0"/>
          </a:p>
        </p:txBody>
      </p:sp>
      <p:sp>
        <p:nvSpPr>
          <p:cNvPr id="14" name="Shape 12"/>
          <p:cNvSpPr/>
          <p:nvPr/>
        </p:nvSpPr>
        <p:spPr>
          <a:xfrm>
            <a:off x="566928" y="4480560"/>
            <a:ext cx="5577840" cy="658368"/>
          </a:xfrm>
          <a:prstGeom prst="roundRect">
            <a:avLst>
              <a:gd name="adj" fmla="val 12500"/>
            </a:avLst>
          </a:prstGeom>
          <a:solidFill>
            <a:srgbClr val="F2F5F9"/>
          </a:solidFill>
          <a:ln w="12700">
            <a:solidFill>
              <a:srgbClr val="E2E8F0"/>
            </a:solidFill>
            <a:prstDash val="solid"/>
          </a:ln>
        </p:spPr>
        <p:txBody>
          <a:bodyPr/>
          <a:lstStyle/>
          <a:p>
            <a:endParaRPr lang="zh-CN" altLang="en-US"/>
          </a:p>
        </p:txBody>
      </p:sp>
      <p:sp>
        <p:nvSpPr>
          <p:cNvPr id="15" name="Text 13"/>
          <p:cNvSpPr/>
          <p:nvPr/>
        </p:nvSpPr>
        <p:spPr>
          <a:xfrm>
            <a:off x="768096" y="4480560"/>
            <a:ext cx="2560320" cy="658368"/>
          </a:xfrm>
          <a:prstGeom prst="rect">
            <a:avLst/>
          </a:prstGeom>
          <a:noFill/>
        </p:spPr>
        <p:txBody>
          <a:bodyPr wrap="square" lIns="0" tIns="0" rIns="0" bIns="0" rtlCol="0" anchor="ctr"/>
          <a:lstStyle/>
          <a:p>
            <a:pPr marL="0" indent="0">
              <a:buNone/>
            </a:pPr>
            <a:r>
              <a:rPr lang="en-US" sz="1400" b="1" dirty="0">
                <a:solidFill>
                  <a:srgbClr val="0E2A47"/>
                </a:solidFill>
                <a:latin typeface="DejaVu Sans Mono" pitchFamily="34" charset="0"/>
                <a:ea typeface="DejaVu Sans Mono" pitchFamily="34" charset="-122"/>
                <a:cs typeface="DejaVu Sans Mono" pitchFamily="34" charset="-120"/>
              </a:rPr>
              <a:t>D  = Dc + j·Ds</a:t>
            </a:r>
            <a:endParaRPr lang="en-US" sz="1400" dirty="0"/>
          </a:p>
        </p:txBody>
      </p:sp>
      <p:sp>
        <p:nvSpPr>
          <p:cNvPr id="16" name="Shape 14"/>
          <p:cNvSpPr/>
          <p:nvPr/>
        </p:nvSpPr>
        <p:spPr>
          <a:xfrm>
            <a:off x="3291840" y="4590288"/>
            <a:ext cx="0" cy="438912"/>
          </a:xfrm>
          <a:prstGeom prst="line">
            <a:avLst/>
          </a:prstGeom>
          <a:noFill/>
          <a:ln w="12700">
            <a:solidFill>
              <a:srgbClr val="E2E8F0"/>
            </a:solidFill>
            <a:prstDash val="solid"/>
          </a:ln>
        </p:spPr>
        <p:txBody>
          <a:bodyPr/>
          <a:lstStyle/>
          <a:p>
            <a:endParaRPr lang="zh-CN" altLang="en-US"/>
          </a:p>
        </p:txBody>
      </p:sp>
      <p:sp>
        <p:nvSpPr>
          <p:cNvPr id="17" name="Text 15"/>
          <p:cNvSpPr/>
          <p:nvPr/>
        </p:nvSpPr>
        <p:spPr>
          <a:xfrm>
            <a:off x="3474720" y="4480560"/>
            <a:ext cx="2560320" cy="658368"/>
          </a:xfrm>
          <a:prstGeom prst="rect">
            <a:avLst/>
          </a:prstGeom>
          <a:noFill/>
        </p:spPr>
        <p:txBody>
          <a:bodyPr wrap="square" lIns="0" tIns="0" rIns="0" bIns="0" rtlCol="0" anchor="ctr"/>
          <a:lstStyle/>
          <a:p>
            <a:pPr marL="0" indent="0">
              <a:buNone/>
            </a:pPr>
            <a:r>
              <a:rPr lang="en-US" sz="1100" dirty="0">
                <a:solidFill>
                  <a:srgbClr val="FF0000"/>
                </a:solidFill>
                <a:latin typeface="Noto Sans CJK SC" pitchFamily="34" charset="0"/>
                <a:ea typeface="Noto Sans CJK SC" pitchFamily="34" charset="-122"/>
                <a:cs typeface="Noto Sans CJK SC" pitchFamily="34" charset="-120"/>
              </a:rPr>
              <a:t>复数频率响应</a:t>
            </a:r>
            <a:endParaRPr lang="en-US" sz="1100" dirty="0">
              <a:solidFill>
                <a:srgbClr val="FF0000"/>
              </a:solidFill>
            </a:endParaRPr>
          </a:p>
        </p:txBody>
      </p:sp>
      <p:sp>
        <p:nvSpPr>
          <p:cNvPr id="18" name="Shape 16"/>
          <p:cNvSpPr/>
          <p:nvPr/>
        </p:nvSpPr>
        <p:spPr>
          <a:xfrm>
            <a:off x="566928" y="5358384"/>
            <a:ext cx="5577840" cy="713232"/>
          </a:xfrm>
          <a:prstGeom prst="roundRect">
            <a:avLst>
              <a:gd name="adj" fmla="val 11538"/>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9" name="Text 17"/>
          <p:cNvSpPr/>
          <p:nvPr/>
        </p:nvSpPr>
        <p:spPr>
          <a:xfrm>
            <a:off x="768096" y="5358384"/>
            <a:ext cx="5212080" cy="713232"/>
          </a:xfrm>
          <a:prstGeom prst="rect">
            <a:avLst/>
          </a:prstGeom>
          <a:noFill/>
        </p:spPr>
        <p:txBody>
          <a:bodyPr wrap="square" lIns="0" tIns="0" rIns="0" bIns="0" rtlCol="0" anchor="ctr"/>
          <a:lstStyle/>
          <a:p>
            <a:pPr marL="0" indent="0">
              <a:buNone/>
            </a:pPr>
            <a:r>
              <a:rPr lang="en-US" sz="1200" b="1" dirty="0">
                <a:solidFill>
                  <a:srgbClr val="FF0000"/>
                </a:solidFill>
                <a:latin typeface="Noto Sans CJK SC" pitchFamily="34" charset="0"/>
                <a:ea typeface="Noto Sans CJK SC" pitchFamily="34" charset="-122"/>
                <a:cs typeface="Noto Sans CJK SC" pitchFamily="34" charset="-120"/>
              </a:rPr>
              <a:t>差分</a:t>
            </a:r>
            <a:r>
              <a:rPr lang="en-US" sz="1200" b="1" dirty="0">
                <a:solidFill>
                  <a:srgbClr val="22D3EE"/>
                </a:solidFill>
                <a:latin typeface="Noto Sans CJK SC" pitchFamily="34" charset="0"/>
                <a:ea typeface="Noto Sans CJK SC" pitchFamily="34" charset="-122"/>
                <a:cs typeface="Noto Sans CJK SC" pitchFamily="34" charset="-120"/>
              </a:rPr>
              <a:t>后，主要信息从「</a:t>
            </a:r>
            <a:r>
              <a:rPr lang="en-US" sz="1200" b="1" dirty="0">
                <a:solidFill>
                  <a:srgbClr val="FF0000"/>
                </a:solidFill>
                <a:latin typeface="Noto Sans CJK SC" pitchFamily="34" charset="0"/>
                <a:ea typeface="Noto Sans CJK SC" pitchFamily="34" charset="-122"/>
                <a:cs typeface="Noto Sans CJK SC" pitchFamily="34" charset="-120"/>
              </a:rPr>
              <a:t>绝对灰度</a:t>
            </a:r>
            <a:r>
              <a:rPr lang="en-US" sz="1200" b="1" dirty="0">
                <a:solidFill>
                  <a:srgbClr val="22D3EE"/>
                </a:solidFill>
                <a:latin typeface="Noto Sans CJK SC" pitchFamily="34" charset="0"/>
                <a:ea typeface="Noto Sans CJK SC" pitchFamily="34" charset="-122"/>
                <a:cs typeface="Noto Sans CJK SC" pitchFamily="34" charset="-120"/>
              </a:rPr>
              <a:t>」变为「</a:t>
            </a:r>
            <a:r>
              <a:rPr lang="en-US" sz="1200" b="1" dirty="0">
                <a:solidFill>
                  <a:srgbClr val="FF0000"/>
                </a:solidFill>
                <a:latin typeface="Noto Sans CJK SC" pitchFamily="34" charset="0"/>
                <a:ea typeface="Noto Sans CJK SC" pitchFamily="34" charset="-122"/>
                <a:cs typeface="Noto Sans CJK SC" pitchFamily="34" charset="-120"/>
              </a:rPr>
              <a:t>复数 D 的相位</a:t>
            </a:r>
            <a:r>
              <a:rPr lang="en-US" sz="1200" b="1" dirty="0">
                <a:solidFill>
                  <a:srgbClr val="22D3EE"/>
                </a:solidFill>
                <a:latin typeface="Noto Sans CJK SC" pitchFamily="34" charset="0"/>
                <a:ea typeface="Noto Sans CJK SC" pitchFamily="34" charset="-122"/>
                <a:cs typeface="Noto Sans CJK SC" pitchFamily="34" charset="-120"/>
              </a:rPr>
              <a:t>」。</a:t>
            </a:r>
            <a:endParaRPr lang="en-US" sz="1200" dirty="0"/>
          </a:p>
        </p:txBody>
      </p:sp>
      <p:sp>
        <p:nvSpPr>
          <p:cNvPr id="20" name="Shape 18"/>
          <p:cNvSpPr/>
          <p:nvPr/>
        </p:nvSpPr>
        <p:spPr>
          <a:xfrm>
            <a:off x="6468261" y="1658884"/>
            <a:ext cx="5138928" cy="4443984"/>
          </a:xfrm>
          <a:prstGeom prst="roundRect">
            <a:avLst>
              <a:gd name="adj" fmla="val 1852"/>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dirty="0"/>
          </a:p>
        </p:txBody>
      </p:sp>
      <p:sp>
        <p:nvSpPr>
          <p:cNvPr id="21" name="Text 19"/>
          <p:cNvSpPr/>
          <p:nvPr/>
        </p:nvSpPr>
        <p:spPr>
          <a:xfrm>
            <a:off x="6766560" y="1792224"/>
            <a:ext cx="4590288"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复平面上的向量 D</a:t>
            </a:r>
            <a:endParaRPr lang="en-US" sz="1200" dirty="0"/>
          </a:p>
        </p:txBody>
      </p:sp>
      <p:sp>
        <p:nvSpPr>
          <p:cNvPr id="22" name="Shape 20"/>
          <p:cNvSpPr/>
          <p:nvPr/>
        </p:nvSpPr>
        <p:spPr>
          <a:xfrm>
            <a:off x="6821790" y="4382902"/>
            <a:ext cx="3657600" cy="0"/>
          </a:xfrm>
          <a:prstGeom prst="line">
            <a:avLst/>
          </a:prstGeom>
          <a:noFill/>
          <a:ln w="17780">
            <a:solidFill>
              <a:srgbClr val="E2E8F0"/>
            </a:solidFill>
            <a:prstDash val="solid"/>
            <a:tailEnd type="triangle"/>
          </a:ln>
        </p:spPr>
        <p:txBody>
          <a:bodyPr/>
          <a:lstStyle/>
          <a:p>
            <a:endParaRPr lang="zh-CN" altLang="en-US"/>
          </a:p>
        </p:txBody>
      </p:sp>
      <p:sp>
        <p:nvSpPr>
          <p:cNvPr id="23" name="Shape 21"/>
          <p:cNvSpPr/>
          <p:nvPr/>
        </p:nvSpPr>
        <p:spPr>
          <a:xfrm>
            <a:off x="8650590" y="6120262"/>
            <a:ext cx="0" cy="0"/>
          </a:xfrm>
          <a:prstGeom prst="line">
            <a:avLst/>
          </a:prstGeom>
          <a:noFill/>
          <a:ln w="17780">
            <a:solidFill>
              <a:srgbClr val="E2E8F0"/>
            </a:solidFill>
            <a:prstDash val="solid"/>
            <a:tailEnd type="triangle"/>
          </a:ln>
        </p:spPr>
        <p:txBody>
          <a:bodyPr/>
          <a:lstStyle/>
          <a:p>
            <a:endParaRPr lang="zh-CN" altLang="en-US"/>
          </a:p>
        </p:txBody>
      </p:sp>
      <p:sp>
        <p:nvSpPr>
          <p:cNvPr id="24" name="Text 22"/>
          <p:cNvSpPr/>
          <p:nvPr/>
        </p:nvSpPr>
        <p:spPr>
          <a:xfrm>
            <a:off x="9656430" y="4437766"/>
            <a:ext cx="1097280" cy="274320"/>
          </a:xfrm>
          <a:prstGeom prst="rect">
            <a:avLst/>
          </a:prstGeom>
          <a:noFill/>
        </p:spPr>
        <p:txBody>
          <a:bodyPr wrap="square" lIns="0" tIns="0" rIns="0" bIns="0" rtlCol="0" anchor="ctr"/>
          <a:lstStyle/>
          <a:p>
            <a:pPr marL="0" indent="0">
              <a:buNone/>
            </a:pPr>
            <a:r>
              <a:rPr lang="en-US" sz="950" dirty="0">
                <a:solidFill>
                  <a:srgbClr val="64748B"/>
                </a:solidFill>
                <a:latin typeface="Noto Sans CJK SC" pitchFamily="34" charset="0"/>
                <a:ea typeface="Noto Sans CJK SC" pitchFamily="34" charset="-122"/>
                <a:cs typeface="Noto Sans CJK SC" pitchFamily="34" charset="-120"/>
              </a:rPr>
              <a:t>Re  (Dc)</a:t>
            </a:r>
            <a:endParaRPr lang="en-US" sz="950" dirty="0"/>
          </a:p>
        </p:txBody>
      </p:sp>
      <p:sp>
        <p:nvSpPr>
          <p:cNvPr id="25" name="Text 23"/>
          <p:cNvSpPr/>
          <p:nvPr/>
        </p:nvSpPr>
        <p:spPr>
          <a:xfrm>
            <a:off x="8650590" y="1342959"/>
            <a:ext cx="1097280" cy="274320"/>
          </a:xfrm>
          <a:prstGeom prst="rect">
            <a:avLst/>
          </a:prstGeom>
          <a:noFill/>
        </p:spPr>
        <p:txBody>
          <a:bodyPr wrap="square" lIns="0" tIns="0" rIns="0" bIns="0" rtlCol="0" anchor="ctr"/>
          <a:lstStyle/>
          <a:p>
            <a:pPr marL="0" indent="0">
              <a:buNone/>
            </a:pPr>
            <a:r>
              <a:rPr lang="en-US" sz="950" dirty="0">
                <a:solidFill>
                  <a:srgbClr val="64748B"/>
                </a:solidFill>
                <a:latin typeface="Noto Sans CJK SC" pitchFamily="34" charset="0"/>
                <a:ea typeface="Noto Sans CJK SC" pitchFamily="34" charset="-122"/>
                <a:cs typeface="Noto Sans CJK SC" pitchFamily="34" charset="-120"/>
              </a:rPr>
              <a:t>Im  (Ds)</a:t>
            </a:r>
            <a:endParaRPr lang="en-US" sz="950" dirty="0"/>
          </a:p>
        </p:txBody>
      </p:sp>
      <p:sp>
        <p:nvSpPr>
          <p:cNvPr id="26" name="Shape 24"/>
          <p:cNvSpPr/>
          <p:nvPr/>
        </p:nvSpPr>
        <p:spPr>
          <a:xfrm>
            <a:off x="8650590" y="4382902"/>
            <a:ext cx="1207008" cy="0"/>
          </a:xfrm>
          <a:prstGeom prst="line">
            <a:avLst/>
          </a:prstGeom>
          <a:noFill/>
          <a:ln w="44450">
            <a:solidFill>
              <a:srgbClr val="0E7490"/>
            </a:solidFill>
            <a:prstDash val="solid"/>
            <a:tailEnd type="triangle"/>
          </a:ln>
        </p:spPr>
        <p:txBody>
          <a:bodyPr/>
          <a:lstStyle/>
          <a:p>
            <a:endParaRPr lang="zh-CN" altLang="en-US"/>
          </a:p>
        </p:txBody>
      </p:sp>
      <p:sp>
        <p:nvSpPr>
          <p:cNvPr id="27" name="Shape 25"/>
          <p:cNvSpPr/>
          <p:nvPr/>
        </p:nvSpPr>
        <p:spPr>
          <a:xfrm>
            <a:off x="8660518" y="4382902"/>
            <a:ext cx="1207008" cy="0"/>
          </a:xfrm>
          <a:prstGeom prst="line">
            <a:avLst/>
          </a:prstGeom>
          <a:noFill/>
          <a:ln w="25400">
            <a:solidFill>
              <a:srgbClr val="3B82F6"/>
            </a:solidFill>
            <a:prstDash val="dash"/>
          </a:ln>
        </p:spPr>
        <p:txBody>
          <a:bodyPr/>
          <a:lstStyle/>
          <a:p>
            <a:endParaRPr lang="zh-CN" altLang="en-US"/>
          </a:p>
        </p:txBody>
      </p:sp>
      <p:sp>
        <p:nvSpPr>
          <p:cNvPr id="28" name="Shape 26"/>
          <p:cNvSpPr/>
          <p:nvPr/>
        </p:nvSpPr>
        <p:spPr>
          <a:xfrm>
            <a:off x="9857598" y="4382902"/>
            <a:ext cx="0" cy="0"/>
          </a:xfrm>
          <a:prstGeom prst="line">
            <a:avLst/>
          </a:prstGeom>
          <a:noFill/>
          <a:ln w="25400">
            <a:solidFill>
              <a:srgbClr val="F59E0B"/>
            </a:solidFill>
            <a:prstDash val="dash"/>
          </a:ln>
        </p:spPr>
        <p:txBody>
          <a:bodyPr/>
          <a:lstStyle/>
          <a:p>
            <a:endParaRPr lang="zh-CN" altLang="en-US"/>
          </a:p>
        </p:txBody>
      </p:sp>
      <p:sp>
        <p:nvSpPr>
          <p:cNvPr id="29" name="Text 27"/>
          <p:cNvSpPr/>
          <p:nvPr/>
        </p:nvSpPr>
        <p:spPr>
          <a:xfrm>
            <a:off x="9840878" y="3541654"/>
            <a:ext cx="548640" cy="310896"/>
          </a:xfrm>
          <a:prstGeom prst="rect">
            <a:avLst/>
          </a:prstGeom>
          <a:noFill/>
        </p:spPr>
        <p:txBody>
          <a:bodyPr wrap="square" lIns="0" tIns="0" rIns="0" bIns="0" rtlCol="0" anchor="ctr"/>
          <a:lstStyle/>
          <a:p>
            <a:pPr marL="0" indent="0">
              <a:buNone/>
            </a:pPr>
            <a:r>
              <a:rPr lang="en-US" sz="1500" b="1" dirty="0">
                <a:solidFill>
                  <a:srgbClr val="0E7490"/>
                </a:solidFill>
                <a:latin typeface="Noto Sans CJK SC" pitchFamily="34" charset="0"/>
                <a:ea typeface="Noto Sans CJK SC" pitchFamily="34" charset="-122"/>
                <a:cs typeface="Noto Sans CJK SC" pitchFamily="34" charset="-120"/>
              </a:rPr>
              <a:t>D</a:t>
            </a:r>
            <a:endParaRPr lang="en-US" sz="1500" dirty="0"/>
          </a:p>
        </p:txBody>
      </p:sp>
      <p:sp>
        <p:nvSpPr>
          <p:cNvPr id="30" name="Text 28"/>
          <p:cNvSpPr/>
          <p:nvPr/>
        </p:nvSpPr>
        <p:spPr>
          <a:xfrm>
            <a:off x="9107790" y="4437766"/>
            <a:ext cx="548640" cy="274320"/>
          </a:xfrm>
          <a:prstGeom prst="rect">
            <a:avLst/>
          </a:prstGeom>
          <a:noFill/>
        </p:spPr>
        <p:txBody>
          <a:bodyPr wrap="square" lIns="0" tIns="0" rIns="0" bIns="0" rtlCol="0" anchor="ctr"/>
          <a:lstStyle/>
          <a:p>
            <a:pPr marL="0" indent="0">
              <a:buNone/>
            </a:pPr>
            <a:r>
              <a:rPr lang="en-US" sz="1000" b="1" dirty="0">
                <a:solidFill>
                  <a:srgbClr val="3B82F6"/>
                </a:solidFill>
                <a:latin typeface="Noto Sans CJK SC" pitchFamily="34" charset="0"/>
                <a:ea typeface="Noto Sans CJK SC" pitchFamily="34" charset="-122"/>
                <a:cs typeface="Noto Sans CJK SC" pitchFamily="34" charset="-120"/>
              </a:rPr>
              <a:t>Dc</a:t>
            </a:r>
            <a:endParaRPr lang="en-US" sz="1000" dirty="0"/>
          </a:p>
        </p:txBody>
      </p:sp>
      <p:sp>
        <p:nvSpPr>
          <p:cNvPr id="31" name="Text 29"/>
          <p:cNvSpPr/>
          <p:nvPr/>
        </p:nvSpPr>
        <p:spPr>
          <a:xfrm>
            <a:off x="9245734" y="3803904"/>
            <a:ext cx="548640" cy="274320"/>
          </a:xfrm>
          <a:prstGeom prst="rect">
            <a:avLst/>
          </a:prstGeom>
          <a:noFill/>
        </p:spPr>
        <p:txBody>
          <a:bodyPr wrap="square" lIns="0" tIns="0" rIns="0" bIns="0" rtlCol="0" anchor="ctr"/>
          <a:lstStyle/>
          <a:p>
            <a:pPr marL="0" indent="0">
              <a:buNone/>
            </a:pPr>
            <a:r>
              <a:rPr lang="en-US" sz="1000" b="1" dirty="0">
                <a:solidFill>
                  <a:srgbClr val="F59E0B"/>
                </a:solidFill>
                <a:latin typeface="Noto Sans CJK SC" pitchFamily="34" charset="0"/>
                <a:ea typeface="Noto Sans CJK SC" pitchFamily="34" charset="-122"/>
                <a:cs typeface="Noto Sans CJK SC" pitchFamily="34" charset="-120"/>
              </a:rPr>
              <a:t>Ds</a:t>
            </a:r>
            <a:endParaRPr lang="en-US" sz="1000" dirty="0"/>
          </a:p>
        </p:txBody>
      </p:sp>
      <p:sp>
        <p:nvSpPr>
          <p:cNvPr id="32" name="Text 30"/>
          <p:cNvSpPr/>
          <p:nvPr/>
        </p:nvSpPr>
        <p:spPr>
          <a:xfrm>
            <a:off x="9037725" y="4136014"/>
            <a:ext cx="365760" cy="274320"/>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θ</a:t>
            </a:r>
            <a:endParaRPr lang="en-US" sz="1200" dirty="0"/>
          </a:p>
        </p:txBody>
      </p:sp>
      <p:sp>
        <p:nvSpPr>
          <p:cNvPr id="33" name="Shape 31"/>
          <p:cNvSpPr/>
          <p:nvPr/>
        </p:nvSpPr>
        <p:spPr>
          <a:xfrm>
            <a:off x="6858000" y="5230368"/>
            <a:ext cx="4407408" cy="603504"/>
          </a:xfrm>
          <a:prstGeom prst="roundRect">
            <a:avLst>
              <a:gd name="adj" fmla="val 10606"/>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34" name="Text 32"/>
          <p:cNvSpPr/>
          <p:nvPr/>
        </p:nvSpPr>
        <p:spPr>
          <a:xfrm>
            <a:off x="6949440" y="5230368"/>
            <a:ext cx="4224528" cy="603504"/>
          </a:xfrm>
          <a:prstGeom prst="rect">
            <a:avLst/>
          </a:prstGeom>
          <a:noFill/>
        </p:spPr>
        <p:txBody>
          <a:bodyPr wrap="square" lIns="0" tIns="0" rIns="0" bIns="0" rtlCol="0" anchor="ctr"/>
          <a:lstStyle/>
          <a:p>
            <a:pPr marL="0" indent="0" algn="ctr">
              <a:buNone/>
            </a:pPr>
            <a:r>
              <a:rPr lang="en-US" sz="1400" b="1" dirty="0">
                <a:solidFill>
                  <a:srgbClr val="FF0000"/>
                </a:solidFill>
                <a:latin typeface="Noto Sans CJK SC" pitchFamily="34" charset="0"/>
                <a:ea typeface="Noto Sans CJK SC" pitchFamily="34" charset="-122"/>
                <a:cs typeface="Noto Sans CJK SC" pitchFamily="34" charset="-120"/>
              </a:rPr>
              <a:t>D  =  Dc + j·Ds  =  |D|·exp(jθ)</a:t>
            </a:r>
            <a:endParaRPr lang="en-US" sz="1400" dirty="0">
              <a:solidFill>
                <a:srgbClr val="FF0000"/>
              </a:solidFill>
            </a:endParaRPr>
          </a:p>
        </p:txBody>
      </p:sp>
      <p:sp>
        <p:nvSpPr>
          <p:cNvPr id="35" name="Text 3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36" name="Text 3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37" name="Text 3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10 / 42</a:t>
            </a:r>
            <a:endParaRPr lang="en-US" sz="850" dirty="0"/>
          </a:p>
        </p:txBody>
      </p:sp>
      <p:sp>
        <p:nvSpPr>
          <p:cNvPr id="38" name="文本框 37"/>
          <p:cNvSpPr txBox="1"/>
          <p:nvPr/>
        </p:nvSpPr>
        <p:spPr>
          <a:xfrm>
            <a:off x="926592" y="5358384"/>
            <a:ext cx="4015672" cy="276999"/>
          </a:xfrm>
          <a:prstGeom prst="rect">
            <a:avLst/>
          </a:prstGeom>
          <a:noFill/>
        </p:spPr>
        <p:txBody>
          <a:bodyPr wrap="square" rtlCol="0">
            <a:spAutoFit/>
          </a:bodyPr>
          <a:lstStyle/>
          <a:p>
            <a:r>
              <a:rPr lang="zh-CN" altLang="en-US" sz="1200" dirty="0">
                <a:solidFill>
                  <a:srgbClr val="FF0000"/>
                </a:solidFill>
                <a:latin typeface="Cambria" panose="02040503050406030204" pitchFamily="18" charset="0"/>
                <a:cs typeface="ADLaM Display" panose="02010000000000000000" pitchFamily="2" charset="0"/>
              </a:rPr>
              <a:t>使用的灰度相机采集到的图像是只包含灰度信息的图像</a:t>
            </a:r>
            <a:endParaRPr lang="zh-CN" altLang="en-US" sz="1200" dirty="0">
              <a:solidFill>
                <a:srgbClr val="FF0000"/>
              </a:solidFill>
              <a:latin typeface="Cambria" panose="02040503050406030204" pitchFamily="18" charset="0"/>
              <a:cs typeface="ADLaM Display" panose="02010000000000000000" pitchFamily="2" charset="0"/>
            </a:endParaRPr>
          </a:p>
        </p:txBody>
      </p:sp>
      <p:sp>
        <p:nvSpPr>
          <p:cNvPr id="40" name="Shape 24"/>
          <p:cNvSpPr/>
          <p:nvPr/>
        </p:nvSpPr>
        <p:spPr>
          <a:xfrm flipV="1">
            <a:off x="8660518" y="3821834"/>
            <a:ext cx="1123928" cy="530709"/>
          </a:xfrm>
          <a:prstGeom prst="line">
            <a:avLst/>
          </a:prstGeom>
          <a:noFill/>
          <a:ln w="44450">
            <a:solidFill>
              <a:srgbClr val="0E7490"/>
            </a:solidFill>
            <a:prstDash val="solid"/>
            <a:tailEnd type="triangle"/>
          </a:ln>
        </p:spPr>
        <p:txBody>
          <a:bodyPr/>
          <a:lstStyle/>
          <a:p>
            <a:endParaRPr lang="zh-CN" altLang="en-US"/>
          </a:p>
        </p:txBody>
      </p:sp>
      <p:sp>
        <p:nvSpPr>
          <p:cNvPr id="39" name="Shape 25"/>
          <p:cNvSpPr/>
          <p:nvPr/>
        </p:nvSpPr>
        <p:spPr>
          <a:xfrm flipV="1">
            <a:off x="8650590" y="3821834"/>
            <a:ext cx="1133856" cy="551454"/>
          </a:xfrm>
          <a:prstGeom prst="line">
            <a:avLst/>
          </a:prstGeom>
          <a:noFill/>
          <a:ln w="25400">
            <a:solidFill>
              <a:srgbClr val="3B82F6"/>
            </a:solidFill>
            <a:prstDash val="dash"/>
          </a:ln>
        </p:spPr>
        <p:txBody>
          <a:bodyPr/>
          <a:lstStyle/>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数学推导</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为什么差分能得到相位</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把四相移灰度代入差分式，可见直流项 B 被精确抵消，只留下相位 θ。</a:t>
            </a:r>
            <a:endParaRPr lang="en-US" sz="1250" dirty="0"/>
          </a:p>
        </p:txBody>
      </p:sp>
      <p:sp>
        <p:nvSpPr>
          <p:cNvPr id="6" name="Shape 4"/>
          <p:cNvSpPr/>
          <p:nvPr/>
        </p:nvSpPr>
        <p:spPr>
          <a:xfrm>
            <a:off x="566928" y="1920240"/>
            <a:ext cx="5852160" cy="4023360"/>
          </a:xfrm>
          <a:prstGeom prst="roundRect">
            <a:avLst>
              <a:gd name="adj" fmla="val 2045"/>
            </a:avLst>
          </a:prstGeom>
          <a:solidFill>
            <a:srgbClr val="F2F5F9"/>
          </a:solidFill>
          <a:ln w="12700">
            <a:solidFill>
              <a:srgbClr val="E2E8F0"/>
            </a:solidFill>
            <a:prstDash val="solid"/>
          </a:ln>
        </p:spPr>
        <p:txBody>
          <a:bodyPr/>
          <a:lstStyle/>
          <a:p>
            <a:endParaRPr lang="zh-CN" altLang="en-US"/>
          </a:p>
        </p:txBody>
      </p:sp>
      <p:sp>
        <p:nvSpPr>
          <p:cNvPr id="7" name="Text 5"/>
          <p:cNvSpPr/>
          <p:nvPr/>
        </p:nvSpPr>
        <p:spPr>
          <a:xfrm>
            <a:off x="786384" y="2066544"/>
            <a:ext cx="54864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① 四相移理想灰度</a:t>
            </a:r>
            <a:endParaRPr lang="en-US" sz="1200" dirty="0"/>
          </a:p>
        </p:txBody>
      </p:sp>
      <p:sp>
        <p:nvSpPr>
          <p:cNvPr id="8" name="Shape 6"/>
          <p:cNvSpPr/>
          <p:nvPr/>
        </p:nvSpPr>
        <p:spPr>
          <a:xfrm>
            <a:off x="786384" y="2377440"/>
            <a:ext cx="5413248" cy="1024128"/>
          </a:xfrm>
          <a:prstGeom prst="roundRect">
            <a:avLst>
              <a:gd name="adj" fmla="val 5357"/>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Text 7"/>
          <p:cNvSpPr/>
          <p:nvPr/>
        </p:nvSpPr>
        <p:spPr>
          <a:xfrm>
            <a:off x="987552" y="2505456"/>
            <a:ext cx="5047488" cy="768096"/>
          </a:xfrm>
          <a:prstGeom prst="rect">
            <a:avLst/>
          </a:prstGeom>
          <a:noFill/>
        </p:spPr>
        <p:txBody>
          <a:bodyPr wrap="square" lIns="0" tIns="0" rIns="0" bIns="0" rtlCol="0" anchor="t"/>
          <a:lstStyle/>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I0 = B + R·cosθ      I2 = B − R·cosθ</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I1 = B − R·sinθ      I3 = B + R·sinθ</a:t>
            </a:r>
            <a:endParaRPr lang="en-US" sz="1050" dirty="0"/>
          </a:p>
        </p:txBody>
      </p:sp>
      <p:sp>
        <p:nvSpPr>
          <p:cNvPr id="10" name="Text 8"/>
          <p:cNvSpPr/>
          <p:nvPr/>
        </p:nvSpPr>
        <p:spPr>
          <a:xfrm>
            <a:off x="786384" y="3529584"/>
            <a:ext cx="54864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② 两次差分 → 直流项 B 抵消</a:t>
            </a:r>
            <a:endParaRPr lang="en-US" sz="1200" dirty="0"/>
          </a:p>
        </p:txBody>
      </p:sp>
      <p:sp>
        <p:nvSpPr>
          <p:cNvPr id="11" name="Shape 9"/>
          <p:cNvSpPr/>
          <p:nvPr/>
        </p:nvSpPr>
        <p:spPr>
          <a:xfrm>
            <a:off x="786384" y="3840480"/>
            <a:ext cx="5413248" cy="841248"/>
          </a:xfrm>
          <a:prstGeom prst="roundRect">
            <a:avLst>
              <a:gd name="adj" fmla="val 6522"/>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987552" y="3968496"/>
            <a:ext cx="5047488" cy="585216"/>
          </a:xfrm>
          <a:prstGeom prst="rect">
            <a:avLst/>
          </a:prstGeom>
          <a:noFill/>
        </p:spPr>
        <p:txBody>
          <a:bodyPr wrap="square" lIns="0" tIns="0" rIns="0" bIns="0" rtlCol="0" anchor="t"/>
          <a:lstStyle/>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Dc = I0 − I2 = 2R·cosθ</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Ds = I3 − I1 = 2R·sinθ</a:t>
            </a:r>
            <a:endParaRPr lang="en-US" sz="1050" dirty="0"/>
          </a:p>
        </p:txBody>
      </p:sp>
      <p:sp>
        <p:nvSpPr>
          <p:cNvPr id="13" name="Text 11"/>
          <p:cNvSpPr/>
          <p:nvPr/>
        </p:nvSpPr>
        <p:spPr>
          <a:xfrm>
            <a:off x="786384" y="4809744"/>
            <a:ext cx="54864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③ 组合为复数</a:t>
            </a:r>
            <a:endParaRPr lang="en-US" sz="1200" dirty="0"/>
          </a:p>
        </p:txBody>
      </p:sp>
      <p:sp>
        <p:nvSpPr>
          <p:cNvPr id="14" name="Shape 12"/>
          <p:cNvSpPr/>
          <p:nvPr/>
        </p:nvSpPr>
        <p:spPr>
          <a:xfrm>
            <a:off x="786384" y="5120640"/>
            <a:ext cx="5413248" cy="640080"/>
          </a:xfrm>
          <a:prstGeom prst="roundRect">
            <a:avLst>
              <a:gd name="adj" fmla="val 8571"/>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5" name="Text 13"/>
          <p:cNvSpPr/>
          <p:nvPr/>
        </p:nvSpPr>
        <p:spPr>
          <a:xfrm>
            <a:off x="987552" y="5248656"/>
            <a:ext cx="5047488" cy="384048"/>
          </a:xfrm>
          <a:prstGeom prst="rect">
            <a:avLst/>
          </a:prstGeom>
          <a:noFill/>
        </p:spPr>
        <p:txBody>
          <a:bodyPr wrap="square" lIns="0" tIns="0" rIns="0" bIns="0" rtlCol="0" anchor="t"/>
          <a:lstStyle/>
          <a:p>
            <a:pPr marL="0" indent="0" algn="l">
              <a:lnSpc>
                <a:spcPts val="1405"/>
              </a:lnSpc>
              <a:buNone/>
            </a:pPr>
            <a:r>
              <a:rPr lang="en-US" sz="1050" dirty="0">
                <a:solidFill>
                  <a:srgbClr val="FF0000"/>
                </a:solidFill>
                <a:latin typeface="DejaVu Sans Mono" pitchFamily="34" charset="0"/>
                <a:ea typeface="DejaVu Sans Mono" pitchFamily="34" charset="-122"/>
                <a:cs typeface="DejaVu Sans Mono" pitchFamily="34" charset="-120"/>
              </a:rPr>
              <a:t>D = Dc + j·Ds = 2R·(cosθ + j·sinθ) = 2R·exp(jθ)</a:t>
            </a:r>
            <a:endParaRPr lang="en-US" sz="1050" dirty="0">
              <a:solidFill>
                <a:srgbClr val="FF0000"/>
              </a:solidFill>
            </a:endParaRPr>
          </a:p>
        </p:txBody>
      </p:sp>
      <p:sp>
        <p:nvSpPr>
          <p:cNvPr id="16" name="Shape 14"/>
          <p:cNvSpPr/>
          <p:nvPr/>
        </p:nvSpPr>
        <p:spPr>
          <a:xfrm>
            <a:off x="6675120" y="1920240"/>
            <a:ext cx="4937760" cy="914400"/>
          </a:xfrm>
          <a:prstGeom prst="roundRect">
            <a:avLst>
              <a:gd name="adj" fmla="val 700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7" name="Text 15"/>
          <p:cNvSpPr/>
          <p:nvPr/>
        </p:nvSpPr>
        <p:spPr>
          <a:xfrm>
            <a:off x="6766560" y="1920240"/>
            <a:ext cx="4754880" cy="914400"/>
          </a:xfrm>
          <a:prstGeom prst="rect">
            <a:avLst/>
          </a:prstGeom>
          <a:noFill/>
        </p:spPr>
        <p:txBody>
          <a:bodyPr wrap="square" lIns="0" tIns="0" rIns="0" bIns="0" rtlCol="0" anchor="ctr"/>
          <a:lstStyle/>
          <a:p>
            <a:pPr marL="0" indent="0" algn="ctr">
              <a:buNone/>
            </a:pPr>
            <a:r>
              <a:rPr lang="en-US" sz="2200" b="1" dirty="0">
                <a:solidFill>
                  <a:srgbClr val="22D3EE"/>
                </a:solidFill>
                <a:latin typeface="Noto Sans CJK SC" pitchFamily="34" charset="0"/>
                <a:ea typeface="Noto Sans CJK SC" pitchFamily="34" charset="-122"/>
                <a:cs typeface="Noto Sans CJK SC" pitchFamily="34" charset="-120"/>
              </a:rPr>
              <a:t>D  =  2R · exp( j θ )</a:t>
            </a:r>
            <a:endParaRPr lang="en-US" sz="2200" dirty="0"/>
          </a:p>
        </p:txBody>
      </p:sp>
      <p:sp>
        <p:nvSpPr>
          <p:cNvPr id="18" name="Text 16"/>
          <p:cNvSpPr/>
          <p:nvPr/>
        </p:nvSpPr>
        <p:spPr>
          <a:xfrm>
            <a:off x="6675120" y="3063240"/>
            <a:ext cx="5029200" cy="1828800"/>
          </a:xfrm>
          <a:prstGeom prst="rect">
            <a:avLst/>
          </a:prstGeom>
          <a:noFill/>
        </p:spPr>
        <p:txBody>
          <a:bodyPr wrap="square" lIns="0" tIns="0" rIns="0" bIns="0" rtlCol="0" anchor="t"/>
          <a:lstStyle/>
          <a:p>
            <a:pPr marL="177800" indent="-177800">
              <a:spcAft>
                <a:spcPts val="1100"/>
              </a:spcAft>
              <a:buSzPct val="100000"/>
              <a:buChar char="•"/>
            </a:pPr>
            <a:r>
              <a:rPr lang="en-US" sz="1250" b="1" dirty="0">
                <a:solidFill>
                  <a:srgbClr val="22C55E"/>
                </a:solidFill>
                <a:latin typeface="Noto Sans CJK SC" pitchFamily="34" charset="0"/>
                <a:ea typeface="Noto Sans CJK SC" pitchFamily="34" charset="-122"/>
                <a:cs typeface="Noto Sans CJK SC" pitchFamily="34" charset="-120"/>
              </a:rPr>
              <a:t>直流项 B（环境光、背景、暗电流）被差分完全消去。</a:t>
            </a:r>
            <a:endParaRPr lang="en-US" sz="1250" dirty="0"/>
          </a:p>
          <a:p>
            <a:pPr marL="177800" indent="-177800">
              <a:spcAft>
                <a:spcPts val="1100"/>
              </a:spcAft>
              <a:buSzPct val="100000"/>
              <a:buChar char="•"/>
            </a:pPr>
            <a:r>
              <a:rPr lang="en-US" sz="1250" b="1" dirty="0">
                <a:solidFill>
                  <a:srgbClr val="1E293B"/>
                </a:solidFill>
                <a:latin typeface="Noto Sans CJK SC" pitchFamily="34" charset="0"/>
                <a:ea typeface="Noto Sans CJK SC" pitchFamily="34" charset="-122"/>
                <a:cs typeface="Noto Sans CJK SC" pitchFamily="34" charset="-120"/>
              </a:rPr>
              <a:t>幅值 2R 只</a:t>
            </a:r>
            <a:r>
              <a:rPr lang="en-US" sz="1250" b="1" dirty="0">
                <a:solidFill>
                  <a:srgbClr val="FF0000"/>
                </a:solidFill>
                <a:latin typeface="Noto Sans CJK SC" pitchFamily="34" charset="0"/>
                <a:ea typeface="Noto Sans CJK SC" pitchFamily="34" charset="-122"/>
                <a:cs typeface="Noto Sans CJK SC" pitchFamily="34" charset="-120"/>
              </a:rPr>
              <a:t>反映反射强度</a:t>
            </a:r>
            <a:r>
              <a:rPr lang="en-US" sz="1250" b="1" dirty="0">
                <a:solidFill>
                  <a:srgbClr val="1E293B"/>
                </a:solidFill>
                <a:latin typeface="Noto Sans CJK SC" pitchFamily="34" charset="0"/>
                <a:ea typeface="Noto Sans CJK SC" pitchFamily="34" charset="-122"/>
                <a:cs typeface="Noto Sans CJK SC" pitchFamily="34" charset="-120"/>
              </a:rPr>
              <a:t>，不含坐标信息。</a:t>
            </a:r>
            <a:endParaRPr lang="en-US" sz="1250" dirty="0"/>
          </a:p>
          <a:p>
            <a:pPr marL="177800" indent="-177800">
              <a:spcAft>
                <a:spcPts val="1100"/>
              </a:spcAft>
              <a:buSzPct val="100000"/>
              <a:buChar char="•"/>
            </a:pPr>
            <a:r>
              <a:rPr lang="en-US" sz="1250" b="1" dirty="0">
                <a:solidFill>
                  <a:srgbClr val="FF0000"/>
                </a:solidFill>
                <a:latin typeface="Noto Sans CJK SC" pitchFamily="34" charset="0"/>
                <a:ea typeface="Noto Sans CJK SC" pitchFamily="34" charset="-122"/>
                <a:cs typeface="Noto Sans CJK SC" pitchFamily="34" charset="-120"/>
              </a:rPr>
              <a:t>相位 θ 才是携带投影仪坐标的关键量</a:t>
            </a:r>
            <a:r>
              <a:rPr lang="en-US" sz="1250" b="1" dirty="0">
                <a:solidFill>
                  <a:srgbClr val="0E7490"/>
                </a:solidFill>
                <a:latin typeface="Noto Sans CJK SC" pitchFamily="34" charset="0"/>
                <a:ea typeface="Noto Sans CJK SC" pitchFamily="34" charset="-122"/>
                <a:cs typeface="Noto Sans CJK SC" pitchFamily="34" charset="-120"/>
              </a:rPr>
              <a:t>。</a:t>
            </a:r>
            <a:endParaRPr lang="en-US" sz="1250" dirty="0"/>
          </a:p>
        </p:txBody>
      </p:sp>
      <p:sp>
        <p:nvSpPr>
          <p:cNvPr id="19" name="Shape 17"/>
          <p:cNvSpPr/>
          <p:nvPr/>
        </p:nvSpPr>
        <p:spPr>
          <a:xfrm>
            <a:off x="6675120" y="5029200"/>
            <a:ext cx="4937760" cy="914400"/>
          </a:xfrm>
          <a:prstGeom prst="roundRect">
            <a:avLst>
              <a:gd name="adj" fmla="val 900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0" name="Text 18"/>
          <p:cNvSpPr/>
          <p:nvPr/>
        </p:nvSpPr>
        <p:spPr>
          <a:xfrm>
            <a:off x="6876288" y="5029200"/>
            <a:ext cx="4572000" cy="914400"/>
          </a:xfrm>
          <a:prstGeom prst="rect">
            <a:avLst/>
          </a:prstGeom>
          <a:noFill/>
        </p:spPr>
        <p:txBody>
          <a:bodyPr wrap="square" lIns="0" tIns="0" rIns="0" bIns="0" rtlCol="0" anchor="ctr"/>
          <a:lstStyle/>
          <a:p>
            <a:pPr marL="0" indent="0">
              <a:lnSpc>
                <a:spcPts val="1500"/>
              </a:lnSpc>
              <a:buNone/>
            </a:pPr>
            <a:r>
              <a:rPr lang="en-US" sz="1050" dirty="0">
                <a:solidFill>
                  <a:srgbClr val="FF0000"/>
                </a:solidFill>
                <a:latin typeface="Noto Sans CJK SC" pitchFamily="34" charset="0"/>
                <a:ea typeface="Noto Sans CJK SC" pitchFamily="34" charset="-122"/>
                <a:cs typeface="Noto Sans CJK SC" pitchFamily="34" charset="-120"/>
              </a:rPr>
              <a:t>正弦/余弦的选择、相移正方向只影响 θ 的符号</a:t>
            </a:r>
            <a:r>
              <a:rPr lang="en-US" sz="1050" dirty="0">
                <a:solidFill>
                  <a:srgbClr val="CBD5E1"/>
                </a:solidFill>
                <a:latin typeface="Noto Sans CJK SC" pitchFamily="34" charset="0"/>
                <a:ea typeface="Noto Sans CJK SC" pitchFamily="34" charset="-122"/>
                <a:cs typeface="Noto Sans CJK SC" pitchFamily="34" charset="-120"/>
              </a:rPr>
              <a:t>；</a:t>
            </a:r>
            <a:endParaRPr lang="en-US" sz="1050" dirty="0"/>
          </a:p>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最终解码用幅值谱 |C| 的峰值，核心机制不依赖符号约定。</a:t>
            </a:r>
            <a:endParaRPr lang="en-US" sz="1050" dirty="0"/>
          </a:p>
        </p:txBody>
      </p:sp>
      <p:sp>
        <p:nvSpPr>
          <p:cNvPr id="21" name="Text 1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2" name="Text 2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23" name="Text 2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11 / 42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概念澄清</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复数的相位与「旋转」</a:t>
            </a:r>
            <a:endParaRPr lang="en-US" sz="2900" dirty="0"/>
          </a:p>
        </p:txBody>
      </p:sp>
      <p:sp>
        <p:nvSpPr>
          <p:cNvPr id="5" name="Text 3"/>
          <p:cNvSpPr/>
          <p:nvPr/>
        </p:nvSpPr>
        <p:spPr>
          <a:xfrm>
            <a:off x="566928" y="1627632"/>
            <a:ext cx="5212080" cy="2194560"/>
          </a:xfrm>
          <a:prstGeom prst="rect">
            <a:avLst/>
          </a:prstGeom>
          <a:noFill/>
        </p:spPr>
        <p:txBody>
          <a:bodyPr wrap="square" lIns="0" tIns="0" rIns="0" bIns="0" rtlCol="0" anchor="t"/>
          <a:lstStyle/>
          <a:p>
            <a:pPr marL="177800" indent="-177800">
              <a:spcAft>
                <a:spcPts val="11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复数 D 可看作复平面上的一支箭头 —— </a:t>
            </a:r>
            <a:r>
              <a:rPr lang="en-US" sz="1300" dirty="0">
                <a:solidFill>
                  <a:srgbClr val="FF0000"/>
                </a:solidFill>
                <a:latin typeface="Noto Sans CJK SC" pitchFamily="34" charset="0"/>
                <a:ea typeface="Noto Sans CJK SC" pitchFamily="34" charset="-122"/>
                <a:cs typeface="Noto Sans CJK SC" pitchFamily="34" charset="-120"/>
              </a:rPr>
              <a:t>长度是幅值</a:t>
            </a:r>
            <a:r>
              <a:rPr lang="en-US" sz="1300" dirty="0">
                <a:solidFill>
                  <a:srgbClr val="1E293B"/>
                </a:solidFill>
                <a:latin typeface="Noto Sans CJK SC" pitchFamily="34" charset="0"/>
                <a:ea typeface="Noto Sans CJK SC" pitchFamily="34" charset="-122"/>
                <a:cs typeface="Noto Sans CJK SC" pitchFamily="34" charset="-120"/>
              </a:rPr>
              <a:t>，</a:t>
            </a:r>
            <a:r>
              <a:rPr lang="en-US" sz="1300" dirty="0">
                <a:solidFill>
                  <a:srgbClr val="FF0000"/>
                </a:solidFill>
                <a:latin typeface="Noto Sans CJK SC" pitchFamily="34" charset="0"/>
                <a:ea typeface="Noto Sans CJK SC" pitchFamily="34" charset="-122"/>
                <a:cs typeface="Noto Sans CJK SC" pitchFamily="34" charset="-120"/>
              </a:rPr>
              <a:t>方向是相位 θ</a:t>
            </a:r>
            <a:r>
              <a:rPr lang="en-US" sz="1300" dirty="0">
                <a:solidFill>
                  <a:srgbClr val="1E293B"/>
                </a:solidFill>
                <a:latin typeface="Noto Sans CJK SC" pitchFamily="34" charset="0"/>
                <a:ea typeface="Noto Sans CJK SC" pitchFamily="34" charset="-122"/>
                <a:cs typeface="Noto Sans CJK SC" pitchFamily="34" charset="-120"/>
              </a:rPr>
              <a:t>。</a:t>
            </a:r>
            <a:endParaRPr lang="en-US" sz="1300" dirty="0"/>
          </a:p>
          <a:p>
            <a:pPr marL="177800" indent="-177800">
              <a:spcAft>
                <a:spcPts val="1100"/>
              </a:spcAft>
              <a:buSzPct val="100000"/>
              <a:buChar char="•"/>
            </a:pPr>
            <a:r>
              <a:rPr lang="en-US" sz="1300" b="1" dirty="0">
                <a:solidFill>
                  <a:srgbClr val="1E293B"/>
                </a:solidFill>
                <a:latin typeface="Noto Sans CJK SC" pitchFamily="34" charset="0"/>
                <a:ea typeface="Noto Sans CJK SC" pitchFamily="34" charset="-122"/>
                <a:cs typeface="Noto Sans CJK SC" pitchFamily="34" charset="-120"/>
              </a:rPr>
              <a:t>θ 改变时，箭头方向随之改变。</a:t>
            </a:r>
            <a:endParaRPr lang="en-US" sz="1300" dirty="0"/>
          </a:p>
          <a:p>
            <a:pPr marL="177800" indent="-177800">
              <a:spcAft>
                <a:spcPts val="1100"/>
              </a:spcAft>
              <a:buSzPct val="100000"/>
              <a:buChar char="•"/>
            </a:pPr>
            <a:r>
              <a:rPr lang="en-US" sz="1300" b="1" dirty="0">
                <a:solidFill>
                  <a:srgbClr val="0E7490"/>
                </a:solidFill>
                <a:latin typeface="Noto Sans CJK SC" pitchFamily="34" charset="0"/>
                <a:ea typeface="Noto Sans CJK SC" pitchFamily="34" charset="-122"/>
                <a:cs typeface="Noto Sans CJK SC" pitchFamily="34" charset="-120"/>
              </a:rPr>
              <a:t>这里的「旋转」指相位在频率编号 k 增加时的连续变化，并非物体或图像在旋转。</a:t>
            </a:r>
            <a:endParaRPr lang="en-US" sz="1300" dirty="0"/>
          </a:p>
          <a:p>
            <a:pPr marL="177800" indent="-177800">
              <a:spcAft>
                <a:spcPts val="11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正是这种「</a:t>
            </a:r>
            <a:r>
              <a:rPr lang="en-US" sz="1300" dirty="0">
                <a:solidFill>
                  <a:srgbClr val="FF0000"/>
                </a:solidFill>
                <a:latin typeface="Noto Sans CJK SC" pitchFamily="34" charset="0"/>
                <a:ea typeface="Noto Sans CJK SC" pitchFamily="34" charset="-122"/>
                <a:cs typeface="Noto Sans CJK SC" pitchFamily="34" charset="-120"/>
              </a:rPr>
              <a:t>随 k 匀速旋转</a:t>
            </a:r>
            <a:r>
              <a:rPr lang="en-US" sz="1300" dirty="0">
                <a:solidFill>
                  <a:srgbClr val="1E293B"/>
                </a:solidFill>
                <a:latin typeface="Noto Sans CJK SC" pitchFamily="34" charset="0"/>
                <a:ea typeface="Noto Sans CJK SC" pitchFamily="34" charset="-122"/>
                <a:cs typeface="Noto Sans CJK SC" pitchFamily="34" charset="-120"/>
              </a:rPr>
              <a:t>」的规律，让 FFT 得以从频率轴上读出坐标。</a:t>
            </a:r>
            <a:endParaRPr lang="en-US" sz="1300" dirty="0"/>
          </a:p>
        </p:txBody>
      </p:sp>
      <p:sp>
        <p:nvSpPr>
          <p:cNvPr id="6" name="Shape 4"/>
          <p:cNvSpPr/>
          <p:nvPr/>
        </p:nvSpPr>
        <p:spPr>
          <a:xfrm>
            <a:off x="566928" y="4041648"/>
            <a:ext cx="5212080" cy="1920240"/>
          </a:xfrm>
          <a:prstGeom prst="roundRect">
            <a:avLst>
              <a:gd name="adj" fmla="val 4286"/>
            </a:avLst>
          </a:prstGeom>
          <a:solidFill>
            <a:srgbClr val="F2F5F9"/>
          </a:solidFill>
          <a:ln w="12700">
            <a:solidFill>
              <a:srgbClr val="E2E8F0"/>
            </a:solidFill>
            <a:prstDash val="solid"/>
          </a:ln>
        </p:spPr>
        <p:txBody>
          <a:bodyPr/>
          <a:lstStyle/>
          <a:p>
            <a:endParaRPr lang="zh-CN" altLang="en-US"/>
          </a:p>
        </p:txBody>
      </p:sp>
      <p:sp>
        <p:nvSpPr>
          <p:cNvPr id="7" name="Text 5"/>
          <p:cNvSpPr/>
          <p:nvPr/>
        </p:nvSpPr>
        <p:spPr>
          <a:xfrm>
            <a:off x="768096" y="4151376"/>
            <a:ext cx="36576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一个关键区分</a:t>
            </a:r>
            <a:endParaRPr lang="en-US" sz="1100" dirty="0"/>
          </a:p>
        </p:txBody>
      </p:sp>
      <p:sp>
        <p:nvSpPr>
          <p:cNvPr id="8" name="Text 6"/>
          <p:cNvSpPr/>
          <p:nvPr/>
        </p:nvSpPr>
        <p:spPr>
          <a:xfrm>
            <a:off x="768096" y="4443984"/>
            <a:ext cx="4846320" cy="786384"/>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「旋转速度」= 相位随 k 变化的快慢 = Δθ；</a:t>
            </a:r>
            <a:endParaRPr lang="en-US" sz="1150" dirty="0"/>
          </a:p>
          <a:p>
            <a:pPr marL="0" indent="0">
              <a:lnSpc>
                <a:spcPts val="1600"/>
              </a:lnSpc>
              <a:buNone/>
            </a:pPr>
            <a:r>
              <a:rPr lang="en-US" sz="1150" dirty="0">
                <a:solidFill>
                  <a:srgbClr val="FF0000"/>
                </a:solidFill>
                <a:latin typeface="Noto Sans CJK SC" pitchFamily="34" charset="0"/>
                <a:ea typeface="Noto Sans CJK SC" pitchFamily="34" charset="-122"/>
                <a:cs typeface="Noto Sans CJK SC" pitchFamily="34" charset="-120"/>
              </a:rPr>
              <a:t>它由该相机像素对应的投影仪坐标唯一决定</a:t>
            </a:r>
            <a:r>
              <a:rPr lang="en-US" sz="1150" dirty="0">
                <a:solidFill>
                  <a:srgbClr val="1E293B"/>
                </a:solidFill>
                <a:latin typeface="Noto Sans CJK SC" pitchFamily="34" charset="0"/>
                <a:ea typeface="Noto Sans CJK SC" pitchFamily="34" charset="-122"/>
                <a:cs typeface="Noto Sans CJK SC" pitchFamily="34" charset="-120"/>
              </a:rPr>
              <a:t>。</a:t>
            </a:r>
            <a:endParaRPr lang="en-US" sz="1150" dirty="0"/>
          </a:p>
        </p:txBody>
      </p:sp>
      <p:sp>
        <p:nvSpPr>
          <p:cNvPr id="9" name="Shape 7"/>
          <p:cNvSpPr/>
          <p:nvPr/>
        </p:nvSpPr>
        <p:spPr>
          <a:xfrm>
            <a:off x="768096" y="5248656"/>
            <a:ext cx="4809744" cy="566928"/>
          </a:xfrm>
          <a:prstGeom prst="roundRect">
            <a:avLst>
              <a:gd name="adj" fmla="val 1129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0" name="Text 8"/>
          <p:cNvSpPr/>
          <p:nvPr/>
        </p:nvSpPr>
        <p:spPr>
          <a:xfrm>
            <a:off x="859536" y="5248656"/>
            <a:ext cx="4626864" cy="566928"/>
          </a:xfrm>
          <a:prstGeom prst="rect">
            <a:avLst/>
          </a:prstGeom>
          <a:noFill/>
        </p:spPr>
        <p:txBody>
          <a:bodyPr wrap="square" lIns="0" tIns="0" rIns="0" bIns="0" rtlCol="0" anchor="ctr"/>
          <a:lstStyle/>
          <a:p>
            <a:pPr marL="0" indent="0" algn="ctr">
              <a:buNone/>
            </a:pPr>
            <a:r>
              <a:rPr lang="en-US" sz="1200" b="1" dirty="0">
                <a:solidFill>
                  <a:srgbClr val="22D3EE"/>
                </a:solidFill>
                <a:latin typeface="Noto Sans CJK SC" pitchFamily="34" charset="0"/>
                <a:ea typeface="Noto Sans CJK SC" pitchFamily="34" charset="-122"/>
                <a:cs typeface="Noto Sans CJK SC" pitchFamily="34" charset="-120"/>
              </a:rPr>
              <a:t>Δθ  =  相邻频率间的相位增量</a:t>
            </a:r>
            <a:endParaRPr lang="en-US" sz="1200" dirty="0"/>
          </a:p>
        </p:txBody>
      </p:sp>
      <p:sp>
        <p:nvSpPr>
          <p:cNvPr id="11" name="Shape 9"/>
          <p:cNvSpPr/>
          <p:nvPr/>
        </p:nvSpPr>
        <p:spPr>
          <a:xfrm>
            <a:off x="6053328" y="1645920"/>
            <a:ext cx="5577840" cy="4315968"/>
          </a:xfrm>
          <a:prstGeom prst="roundRect">
            <a:avLst>
              <a:gd name="adj" fmla="val 190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254496" y="1792224"/>
            <a:ext cx="521208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相位随频率编号 k 增加而旋转</a:t>
            </a:r>
            <a:endParaRPr lang="en-US" sz="1200" dirty="0"/>
          </a:p>
        </p:txBody>
      </p:sp>
      <p:pic>
        <p:nvPicPr>
          <p:cNvPr id="13" name="Image 0" descr="/home/claude/work/assets/fig_phasor_rotation.png"/>
          <p:cNvPicPr>
            <a:picLocks noChangeAspect="1"/>
          </p:cNvPicPr>
          <p:nvPr/>
        </p:nvPicPr>
        <p:blipFill>
          <a:blip r:embed="rId1"/>
          <a:stretch>
            <a:fillRect/>
          </a:stretch>
        </p:blipFill>
        <p:spPr>
          <a:xfrm>
            <a:off x="6272784" y="2468880"/>
            <a:ext cx="5120640" cy="931333"/>
          </a:xfrm>
          <a:prstGeom prst="rect">
            <a:avLst/>
          </a:prstGeom>
        </p:spPr>
      </p:pic>
      <p:sp>
        <p:nvSpPr>
          <p:cNvPr id="14" name="Text 11"/>
          <p:cNvSpPr/>
          <p:nvPr/>
        </p:nvSpPr>
        <p:spPr>
          <a:xfrm>
            <a:off x="6272784" y="3749040"/>
            <a:ext cx="5120640" cy="731520"/>
          </a:xfrm>
          <a:prstGeom prst="rect">
            <a:avLst/>
          </a:prstGeom>
          <a:noFill/>
        </p:spPr>
        <p:txBody>
          <a:bodyPr wrap="square" lIns="0" tIns="0" rIns="0" bIns="0" rtlCol="0" anchor="ctr"/>
          <a:lstStyle/>
          <a:p>
            <a:pPr marL="0" indent="0" algn="ctr">
              <a:lnSpc>
                <a:spcPts val="1500"/>
              </a:lnSpc>
              <a:buNone/>
            </a:pPr>
            <a:r>
              <a:rPr lang="en-US" sz="1100" dirty="0">
                <a:solidFill>
                  <a:srgbClr val="FF0000"/>
                </a:solidFill>
                <a:latin typeface="Noto Sans CJK SC" pitchFamily="34" charset="0"/>
                <a:ea typeface="Noto Sans CJK SC" pitchFamily="34" charset="-122"/>
                <a:cs typeface="Noto Sans CJK SC" pitchFamily="34" charset="-120"/>
              </a:rPr>
              <a:t>每个圆代表一个频率下的复数 D[k]</a:t>
            </a:r>
            <a:r>
              <a:rPr lang="en-US" sz="1100" dirty="0">
                <a:solidFill>
                  <a:srgbClr val="64748B"/>
                </a:solidFill>
                <a:latin typeface="Noto Sans CJK SC" pitchFamily="34" charset="0"/>
                <a:ea typeface="Noto Sans CJK SC" pitchFamily="34" charset="-122"/>
                <a:cs typeface="Noto Sans CJK SC" pitchFamily="34" charset="-120"/>
              </a:rPr>
              <a:t>；箭头方向逐步偏转，</a:t>
            </a:r>
            <a:endParaRPr lang="en-US" sz="1100" dirty="0"/>
          </a:p>
          <a:p>
            <a:pPr marL="0" indent="0" algn="ctr">
              <a:lnSpc>
                <a:spcPts val="1500"/>
              </a:lnSpc>
              <a:buNone/>
            </a:pPr>
            <a:r>
              <a:rPr lang="en-US" sz="1100" dirty="0">
                <a:solidFill>
                  <a:srgbClr val="64748B"/>
                </a:solidFill>
                <a:latin typeface="Noto Sans CJK SC" pitchFamily="34" charset="0"/>
                <a:ea typeface="Noto Sans CJK SC" pitchFamily="34" charset="-122"/>
                <a:cs typeface="Noto Sans CJK SC" pitchFamily="34" charset="-120"/>
              </a:rPr>
              <a:t>偏转的「速率」就是后续 FFT 要识别的量。</a:t>
            </a:r>
            <a:endParaRPr lang="en-US" sz="1100" dirty="0"/>
          </a:p>
        </p:txBody>
      </p:sp>
      <p:sp>
        <p:nvSpPr>
          <p:cNvPr id="15" name="Shape 12"/>
          <p:cNvSpPr/>
          <p:nvPr/>
        </p:nvSpPr>
        <p:spPr>
          <a:xfrm>
            <a:off x="6327648" y="4572000"/>
            <a:ext cx="5029200" cy="1060704"/>
          </a:xfrm>
          <a:prstGeom prst="roundRect">
            <a:avLst>
              <a:gd name="adj" fmla="val 603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6" name="Text 13"/>
          <p:cNvSpPr/>
          <p:nvPr/>
        </p:nvSpPr>
        <p:spPr>
          <a:xfrm>
            <a:off x="6419088" y="4572000"/>
            <a:ext cx="4846320" cy="1060704"/>
          </a:xfrm>
          <a:prstGeom prst="rect">
            <a:avLst/>
          </a:prstGeom>
          <a:noFill/>
        </p:spPr>
        <p:txBody>
          <a:bodyPr wrap="square" lIns="0" tIns="0" rIns="0" bIns="0" rtlCol="0" anchor="ctr"/>
          <a:lstStyle/>
          <a:p>
            <a:pPr marL="0" indent="0" algn="ctr">
              <a:buNone/>
            </a:pPr>
            <a:r>
              <a:rPr lang="en-US" sz="1400" b="1" dirty="0">
                <a:solidFill>
                  <a:srgbClr val="22D3EE"/>
                </a:solidFill>
                <a:latin typeface="Noto Sans CJK SC" pitchFamily="34" charset="0"/>
                <a:ea typeface="Noto Sans CJK SC" pitchFamily="34" charset="-122"/>
                <a:cs typeface="Noto Sans CJK SC" pitchFamily="34" charset="-120"/>
              </a:rPr>
              <a:t>频率轴上的「旋转速度」</a:t>
            </a:r>
            <a:endParaRPr lang="en-US" sz="1400" dirty="0"/>
          </a:p>
          <a:p>
            <a:pPr marL="0" indent="0" algn="ctr">
              <a:buNone/>
            </a:pPr>
            <a:r>
              <a:rPr lang="en-US" sz="1400" b="1" dirty="0">
                <a:solidFill>
                  <a:srgbClr val="22D3EE"/>
                </a:solidFill>
                <a:latin typeface="Noto Sans CJK SC" pitchFamily="34" charset="0"/>
                <a:ea typeface="Noto Sans CJK SC" pitchFamily="34" charset="-122"/>
                <a:cs typeface="Noto Sans CJK SC" pitchFamily="34" charset="-120"/>
              </a:rPr>
              <a:t>↓</a:t>
            </a:r>
            <a:endParaRPr lang="en-US" sz="1400" dirty="0"/>
          </a:p>
          <a:p>
            <a:pPr marL="0" indent="0" algn="ctr">
              <a:buNone/>
            </a:pPr>
            <a:r>
              <a:rPr lang="en-US" sz="1400" b="1" dirty="0">
                <a:solidFill>
                  <a:srgbClr val="22D3EE"/>
                </a:solidFill>
                <a:latin typeface="Noto Sans CJK SC" pitchFamily="34" charset="0"/>
                <a:ea typeface="Noto Sans CJK SC" pitchFamily="34" charset="-122"/>
                <a:cs typeface="Noto Sans CJK SC" pitchFamily="34" charset="-120"/>
              </a:rPr>
              <a:t>投影仪坐标</a:t>
            </a:r>
            <a:endParaRPr lang="en-US" sz="1400" dirty="0"/>
          </a:p>
        </p:txBody>
      </p:sp>
      <p:sp>
        <p:nvSpPr>
          <p:cNvPr id="17" name="Text 14"/>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8" name="Text 15"/>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19" name="Text 16"/>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12 / 42</a:t>
            </a:r>
            <a:endParaRPr lang="en-US" sz="850" dirty="0"/>
          </a:p>
        </p:txBody>
      </p:sp>
      <p:sp>
        <p:nvSpPr>
          <p:cNvPr id="20" name="文本框 19"/>
          <p:cNvSpPr txBox="1"/>
          <p:nvPr/>
        </p:nvSpPr>
        <p:spPr>
          <a:xfrm>
            <a:off x="3072384" y="4041648"/>
            <a:ext cx="2761488" cy="646331"/>
          </a:xfrm>
          <a:prstGeom prst="rect">
            <a:avLst/>
          </a:prstGeom>
          <a:noFill/>
        </p:spPr>
        <p:txBody>
          <a:bodyPr wrap="square" rtlCol="0">
            <a:spAutoFit/>
          </a:bodyPr>
          <a:lstStyle/>
          <a:p>
            <a:r>
              <a:rPr lang="zh-CN" altLang="en-US" sz="1200" dirty="0">
                <a:solidFill>
                  <a:srgbClr val="FF0000"/>
                </a:solidFill>
                <a:latin typeface="Cambria" panose="02040503050406030204" pitchFamily="18" charset="0"/>
                <a:cs typeface="ADLaM Display" panose="02010000000000000000" pitchFamily="2" charset="0"/>
              </a:rPr>
              <a:t>每一个相机像素再频域里面对应的旋转速度和其真正对应的那个投影仪坐标有关</a:t>
            </a:r>
            <a:endParaRPr lang="zh-CN" altLang="en-US" sz="1200" dirty="0">
              <a:solidFill>
                <a:srgbClr val="FF0000"/>
              </a:solidFill>
              <a:latin typeface="Cambria" panose="02040503050406030204" pitchFamily="18" charset="0"/>
              <a:cs typeface="ADLaM Display" panose="02010000000000000000" pitchFamily="2"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数学视角</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投影强度模型</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把投影条纹写成随投影仪坐标 u 变化的正弦信号，相机观测再叠加反射与环境项。</a:t>
            </a:r>
            <a:endParaRPr lang="en-US" sz="1250" dirty="0"/>
          </a:p>
        </p:txBody>
      </p:sp>
      <p:sp>
        <p:nvSpPr>
          <p:cNvPr id="6" name="Shape 4"/>
          <p:cNvSpPr/>
          <p:nvPr/>
        </p:nvSpPr>
        <p:spPr>
          <a:xfrm>
            <a:off x="566928" y="1938528"/>
            <a:ext cx="11055096" cy="841248"/>
          </a:xfrm>
          <a:prstGeom prst="roundRect">
            <a:avLst>
              <a:gd name="adj" fmla="val 760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1938528"/>
            <a:ext cx="10872216" cy="841248"/>
          </a:xfrm>
          <a:prstGeom prst="rect">
            <a:avLst/>
          </a:prstGeom>
          <a:noFill/>
        </p:spPr>
        <p:txBody>
          <a:bodyPr wrap="square" lIns="0" tIns="0" rIns="0" bIns="0" rtlCol="0" anchor="ctr"/>
          <a:lstStyle/>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I_proj(u, k, φ)  =  A · sin( 2π·f_k·u + φ )</a:t>
            </a:r>
            <a:endParaRPr lang="en-US" sz="1800" dirty="0"/>
          </a:p>
        </p:txBody>
      </p:sp>
      <p:sp>
        <p:nvSpPr>
          <p:cNvPr id="8" name="Text 6"/>
          <p:cNvSpPr/>
          <p:nvPr/>
        </p:nvSpPr>
        <p:spPr>
          <a:xfrm>
            <a:off x="566928" y="1975104"/>
            <a:ext cx="2743200" cy="274320"/>
          </a:xfrm>
          <a:prstGeom prst="rect">
            <a:avLst/>
          </a:prstGeom>
          <a:noFill/>
        </p:spPr>
        <p:txBody>
          <a:bodyPr wrap="square" lIns="0" tIns="0" rIns="0" bIns="0" rtlCol="0" anchor="ctr"/>
          <a:lstStyle/>
          <a:p>
            <a:pPr marL="0" indent="0">
              <a:buNone/>
            </a:pPr>
            <a:r>
              <a:rPr lang="en-US" sz="950" dirty="0">
                <a:solidFill>
                  <a:srgbClr val="94A3B8"/>
                </a:solidFill>
                <a:latin typeface="Noto Sans CJK SC" pitchFamily="34" charset="0"/>
                <a:ea typeface="Noto Sans CJK SC" pitchFamily="34" charset="-122"/>
                <a:cs typeface="Noto Sans CJK SC" pitchFamily="34" charset="-120"/>
              </a:rPr>
              <a:t>理想投影强度</a:t>
            </a:r>
            <a:endParaRPr lang="en-US" sz="950" dirty="0"/>
          </a:p>
        </p:txBody>
      </p:sp>
      <p:sp>
        <p:nvSpPr>
          <p:cNvPr id="9" name="Shape 7"/>
          <p:cNvSpPr/>
          <p:nvPr/>
        </p:nvSpPr>
        <p:spPr>
          <a:xfrm>
            <a:off x="566928" y="2926080"/>
            <a:ext cx="11055096" cy="841248"/>
          </a:xfrm>
          <a:prstGeom prst="roundRect">
            <a:avLst>
              <a:gd name="adj" fmla="val 760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0" name="Text 8"/>
          <p:cNvSpPr/>
          <p:nvPr/>
        </p:nvSpPr>
        <p:spPr>
          <a:xfrm>
            <a:off x="658368" y="2926080"/>
            <a:ext cx="10872216" cy="841248"/>
          </a:xfrm>
          <a:prstGeom prst="rect">
            <a:avLst/>
          </a:prstGeom>
          <a:noFill/>
        </p:spPr>
        <p:txBody>
          <a:bodyPr wrap="square" lIns="0" tIns="0" rIns="0" bIns="0" rtlCol="0" anchor="ctr"/>
          <a:lstStyle/>
          <a:p>
            <a:pPr marL="0" indent="0" algn="ctr">
              <a:buNone/>
            </a:pPr>
            <a:r>
              <a:rPr lang="en-US" sz="1700" b="1" dirty="0">
                <a:solidFill>
                  <a:srgbClr val="22D3EE"/>
                </a:solidFill>
                <a:latin typeface="Noto Sans CJK SC" pitchFamily="34" charset="0"/>
                <a:ea typeface="Noto Sans CJK SC" pitchFamily="34" charset="-122"/>
                <a:cs typeface="Noto Sans CJK SC" pitchFamily="34" charset="-120"/>
              </a:rPr>
              <a:t>I_cam(xc, yc, k, φ)  =  B(xc,yc)  +  R(xc,yc) · A · sin( 2π·f_k·u_p + φ )</a:t>
            </a:r>
            <a:endParaRPr lang="en-US" sz="1700" dirty="0"/>
          </a:p>
        </p:txBody>
      </p:sp>
      <p:sp>
        <p:nvSpPr>
          <p:cNvPr id="11" name="Text 9"/>
          <p:cNvSpPr/>
          <p:nvPr/>
        </p:nvSpPr>
        <p:spPr>
          <a:xfrm>
            <a:off x="566928" y="2962656"/>
            <a:ext cx="2743200" cy="274320"/>
          </a:xfrm>
          <a:prstGeom prst="rect">
            <a:avLst/>
          </a:prstGeom>
          <a:noFill/>
        </p:spPr>
        <p:txBody>
          <a:bodyPr wrap="square" lIns="0" tIns="0" rIns="0" bIns="0" rtlCol="0" anchor="ctr"/>
          <a:lstStyle/>
          <a:p>
            <a:pPr marL="0" indent="0">
              <a:buNone/>
            </a:pPr>
            <a:r>
              <a:rPr lang="en-US" sz="950" dirty="0">
                <a:solidFill>
                  <a:srgbClr val="94A3B8"/>
                </a:solidFill>
                <a:latin typeface="Noto Sans CJK SC" pitchFamily="34" charset="0"/>
                <a:ea typeface="Noto Sans CJK SC" pitchFamily="34" charset="-122"/>
                <a:cs typeface="Noto Sans CJK SC" pitchFamily="34" charset="-120"/>
              </a:rPr>
              <a:t>相机观测强度</a:t>
            </a:r>
            <a:endParaRPr lang="en-US" sz="950" dirty="0"/>
          </a:p>
        </p:txBody>
      </p:sp>
      <p:sp>
        <p:nvSpPr>
          <p:cNvPr id="12" name="Shape 10"/>
          <p:cNvSpPr/>
          <p:nvPr/>
        </p:nvSpPr>
        <p:spPr>
          <a:xfrm>
            <a:off x="566928" y="3986784"/>
            <a:ext cx="3520440" cy="914400"/>
          </a:xfrm>
          <a:prstGeom prst="roundRect">
            <a:avLst>
              <a:gd name="adj" fmla="val 9000"/>
            </a:avLst>
          </a:prstGeom>
          <a:solidFill>
            <a:srgbClr val="F2F5F9"/>
          </a:solidFill>
          <a:ln w="12700">
            <a:solidFill>
              <a:srgbClr val="E2E8F0"/>
            </a:solidFill>
            <a:prstDash val="solid"/>
          </a:ln>
        </p:spPr>
        <p:txBody>
          <a:bodyPr/>
          <a:lstStyle/>
          <a:p>
            <a:endParaRPr lang="zh-CN" altLang="en-US"/>
          </a:p>
        </p:txBody>
      </p:sp>
      <p:sp>
        <p:nvSpPr>
          <p:cNvPr id="13" name="Shape 11"/>
          <p:cNvSpPr/>
          <p:nvPr/>
        </p:nvSpPr>
        <p:spPr>
          <a:xfrm>
            <a:off x="566928" y="3986784"/>
            <a:ext cx="73152" cy="914400"/>
          </a:xfrm>
          <a:prstGeom prst="rect">
            <a:avLst/>
          </a:prstGeom>
          <a:solidFill>
            <a:srgbClr val="F59E0B"/>
          </a:solidFill>
          <a:ln w="12700">
            <a:solidFill>
              <a:srgbClr val="F59E0B"/>
            </a:solidFill>
            <a:prstDash val="solid"/>
          </a:ln>
        </p:spPr>
        <p:txBody>
          <a:bodyPr/>
          <a:lstStyle/>
          <a:p>
            <a:endParaRPr lang="zh-CN" altLang="en-US"/>
          </a:p>
        </p:txBody>
      </p:sp>
      <p:sp>
        <p:nvSpPr>
          <p:cNvPr id="14" name="Text 12"/>
          <p:cNvSpPr/>
          <p:nvPr/>
        </p:nvSpPr>
        <p:spPr>
          <a:xfrm>
            <a:off x="768096" y="4096512"/>
            <a:ext cx="3154680" cy="329184"/>
          </a:xfrm>
          <a:prstGeom prst="rect">
            <a:avLst/>
          </a:prstGeom>
          <a:noFill/>
        </p:spPr>
        <p:txBody>
          <a:bodyPr wrap="square" lIns="0" tIns="0" rIns="0" bIns="0" rtlCol="0" anchor="ctr"/>
          <a:lstStyle/>
          <a:p>
            <a:pPr marL="0" indent="0">
              <a:buNone/>
            </a:pPr>
            <a:r>
              <a:rPr lang="en-US" sz="1300" b="1" dirty="0">
                <a:solidFill>
                  <a:srgbClr val="0E2A47"/>
                </a:solidFill>
                <a:latin typeface="DejaVu Sans Mono" pitchFamily="34" charset="0"/>
                <a:ea typeface="DejaVu Sans Mono" pitchFamily="34" charset="-122"/>
                <a:cs typeface="DejaVu Sans Mono" pitchFamily="34" charset="-120"/>
              </a:rPr>
              <a:t>B(xc,yc)</a:t>
            </a:r>
            <a:endParaRPr lang="en-US" sz="1300" dirty="0"/>
          </a:p>
        </p:txBody>
      </p:sp>
      <p:sp>
        <p:nvSpPr>
          <p:cNvPr id="15" name="Text 13"/>
          <p:cNvSpPr/>
          <p:nvPr/>
        </p:nvSpPr>
        <p:spPr>
          <a:xfrm>
            <a:off x="768096" y="4425696"/>
            <a:ext cx="3154680" cy="420624"/>
          </a:xfrm>
          <a:prstGeom prst="rect">
            <a:avLst/>
          </a:prstGeom>
          <a:noFill/>
        </p:spPr>
        <p:txBody>
          <a:bodyPr wrap="square" lIns="0" tIns="0" rIns="0" bIns="0" rtlCol="0" anchor="ctr"/>
          <a:lstStyle/>
          <a:p>
            <a:pPr marL="0" indent="0">
              <a:lnSpc>
                <a:spcPts val="1400"/>
              </a:lnSpc>
              <a:buNone/>
            </a:pPr>
            <a:r>
              <a:rPr lang="en-US" sz="1050" dirty="0">
                <a:solidFill>
                  <a:srgbClr val="1E293B"/>
                </a:solidFill>
                <a:latin typeface="Noto Sans CJK SC" pitchFamily="34" charset="0"/>
                <a:ea typeface="Noto Sans CJK SC" pitchFamily="34" charset="-122"/>
                <a:cs typeface="Noto Sans CJK SC" pitchFamily="34" charset="-120"/>
              </a:rPr>
              <a:t>环境光、暗电流、背景亮度等近似直流项</a:t>
            </a:r>
            <a:endParaRPr lang="en-US" sz="1050" dirty="0"/>
          </a:p>
        </p:txBody>
      </p:sp>
      <p:sp>
        <p:nvSpPr>
          <p:cNvPr id="16" name="Shape 14"/>
          <p:cNvSpPr/>
          <p:nvPr/>
        </p:nvSpPr>
        <p:spPr>
          <a:xfrm>
            <a:off x="4279392" y="3986784"/>
            <a:ext cx="3520440" cy="914400"/>
          </a:xfrm>
          <a:prstGeom prst="roundRect">
            <a:avLst>
              <a:gd name="adj" fmla="val 9000"/>
            </a:avLst>
          </a:prstGeom>
          <a:solidFill>
            <a:srgbClr val="F2F5F9"/>
          </a:solidFill>
          <a:ln w="12700">
            <a:solidFill>
              <a:srgbClr val="E2E8F0"/>
            </a:solidFill>
            <a:prstDash val="solid"/>
          </a:ln>
        </p:spPr>
        <p:txBody>
          <a:bodyPr/>
          <a:lstStyle/>
          <a:p>
            <a:endParaRPr lang="zh-CN" altLang="en-US"/>
          </a:p>
        </p:txBody>
      </p:sp>
      <p:sp>
        <p:nvSpPr>
          <p:cNvPr id="17" name="Shape 15"/>
          <p:cNvSpPr/>
          <p:nvPr/>
        </p:nvSpPr>
        <p:spPr>
          <a:xfrm>
            <a:off x="4279392" y="3986784"/>
            <a:ext cx="73152" cy="914400"/>
          </a:xfrm>
          <a:prstGeom prst="rect">
            <a:avLst/>
          </a:prstGeom>
          <a:solidFill>
            <a:srgbClr val="3B82F6"/>
          </a:solidFill>
          <a:ln w="12700">
            <a:solidFill>
              <a:srgbClr val="3B82F6"/>
            </a:solidFill>
            <a:prstDash val="solid"/>
          </a:ln>
        </p:spPr>
        <p:txBody>
          <a:bodyPr/>
          <a:lstStyle/>
          <a:p>
            <a:endParaRPr lang="zh-CN" altLang="en-US"/>
          </a:p>
        </p:txBody>
      </p:sp>
      <p:sp>
        <p:nvSpPr>
          <p:cNvPr id="18" name="Text 16"/>
          <p:cNvSpPr/>
          <p:nvPr/>
        </p:nvSpPr>
        <p:spPr>
          <a:xfrm>
            <a:off x="4480560" y="4096512"/>
            <a:ext cx="3154680" cy="329184"/>
          </a:xfrm>
          <a:prstGeom prst="rect">
            <a:avLst/>
          </a:prstGeom>
          <a:noFill/>
        </p:spPr>
        <p:txBody>
          <a:bodyPr wrap="square" lIns="0" tIns="0" rIns="0" bIns="0" rtlCol="0" anchor="ctr"/>
          <a:lstStyle/>
          <a:p>
            <a:pPr marL="0" indent="0">
              <a:buNone/>
            </a:pPr>
            <a:r>
              <a:rPr lang="en-US" sz="1300" b="1" dirty="0">
                <a:solidFill>
                  <a:srgbClr val="0E2A47"/>
                </a:solidFill>
                <a:latin typeface="DejaVu Sans Mono" pitchFamily="34" charset="0"/>
                <a:ea typeface="DejaVu Sans Mono" pitchFamily="34" charset="-122"/>
                <a:cs typeface="DejaVu Sans Mono" pitchFamily="34" charset="-120"/>
              </a:rPr>
              <a:t>R(xc,yc)</a:t>
            </a:r>
            <a:endParaRPr lang="en-US" sz="1300" dirty="0"/>
          </a:p>
        </p:txBody>
      </p:sp>
      <p:sp>
        <p:nvSpPr>
          <p:cNvPr id="19" name="Text 17"/>
          <p:cNvSpPr/>
          <p:nvPr/>
        </p:nvSpPr>
        <p:spPr>
          <a:xfrm>
            <a:off x="4480560" y="4425696"/>
            <a:ext cx="3154680" cy="420624"/>
          </a:xfrm>
          <a:prstGeom prst="rect">
            <a:avLst/>
          </a:prstGeom>
          <a:noFill/>
        </p:spPr>
        <p:txBody>
          <a:bodyPr wrap="square" lIns="0" tIns="0" rIns="0" bIns="0" rtlCol="0" anchor="ctr"/>
          <a:lstStyle/>
          <a:p>
            <a:pPr marL="0" indent="0">
              <a:lnSpc>
                <a:spcPts val="1400"/>
              </a:lnSpc>
              <a:buNone/>
            </a:pPr>
            <a:r>
              <a:rPr lang="en-US" sz="1050" dirty="0">
                <a:solidFill>
                  <a:srgbClr val="1E293B"/>
                </a:solidFill>
                <a:latin typeface="Noto Sans CJK SC" pitchFamily="34" charset="0"/>
                <a:ea typeface="Noto Sans CJK SC" pitchFamily="34" charset="-122"/>
                <a:cs typeface="Noto Sans CJK SC" pitchFamily="34" charset="-120"/>
              </a:rPr>
              <a:t>物体表面反射率与局部亮度缩放系数</a:t>
            </a:r>
            <a:endParaRPr lang="en-US" sz="1050" dirty="0"/>
          </a:p>
        </p:txBody>
      </p:sp>
      <p:sp>
        <p:nvSpPr>
          <p:cNvPr id="20" name="Shape 18"/>
          <p:cNvSpPr/>
          <p:nvPr/>
        </p:nvSpPr>
        <p:spPr>
          <a:xfrm>
            <a:off x="7991856" y="3986784"/>
            <a:ext cx="3520440" cy="914400"/>
          </a:xfrm>
          <a:prstGeom prst="roundRect">
            <a:avLst>
              <a:gd name="adj" fmla="val 9000"/>
            </a:avLst>
          </a:prstGeom>
          <a:solidFill>
            <a:srgbClr val="F2F5F9"/>
          </a:solidFill>
          <a:ln w="12700">
            <a:solidFill>
              <a:srgbClr val="E2E8F0"/>
            </a:solidFill>
            <a:prstDash val="solid"/>
          </a:ln>
        </p:spPr>
        <p:txBody>
          <a:bodyPr/>
          <a:lstStyle/>
          <a:p>
            <a:endParaRPr lang="zh-CN" altLang="en-US"/>
          </a:p>
        </p:txBody>
      </p:sp>
      <p:sp>
        <p:nvSpPr>
          <p:cNvPr id="21" name="Shape 19"/>
          <p:cNvSpPr/>
          <p:nvPr/>
        </p:nvSpPr>
        <p:spPr>
          <a:xfrm>
            <a:off x="7991856" y="3986784"/>
            <a:ext cx="73152" cy="914400"/>
          </a:xfrm>
          <a:prstGeom prst="rect">
            <a:avLst/>
          </a:prstGeom>
          <a:solidFill>
            <a:srgbClr val="0E7490"/>
          </a:solidFill>
          <a:ln w="12700">
            <a:solidFill>
              <a:srgbClr val="0E7490"/>
            </a:solidFill>
            <a:prstDash val="solid"/>
          </a:ln>
        </p:spPr>
        <p:txBody>
          <a:bodyPr/>
          <a:lstStyle/>
          <a:p>
            <a:endParaRPr lang="zh-CN" altLang="en-US"/>
          </a:p>
        </p:txBody>
      </p:sp>
      <p:sp>
        <p:nvSpPr>
          <p:cNvPr id="22" name="Text 20"/>
          <p:cNvSpPr/>
          <p:nvPr/>
        </p:nvSpPr>
        <p:spPr>
          <a:xfrm>
            <a:off x="8193024" y="4096512"/>
            <a:ext cx="3154680" cy="329184"/>
          </a:xfrm>
          <a:prstGeom prst="rect">
            <a:avLst/>
          </a:prstGeom>
          <a:noFill/>
        </p:spPr>
        <p:txBody>
          <a:bodyPr wrap="square" lIns="0" tIns="0" rIns="0" bIns="0" rtlCol="0" anchor="ctr"/>
          <a:lstStyle/>
          <a:p>
            <a:pPr marL="0" indent="0">
              <a:buNone/>
            </a:pPr>
            <a:r>
              <a:rPr lang="en-US" sz="1300" b="1" dirty="0">
                <a:solidFill>
                  <a:srgbClr val="0E2A47"/>
                </a:solidFill>
                <a:latin typeface="DejaVu Sans Mono" pitchFamily="34" charset="0"/>
                <a:ea typeface="DejaVu Sans Mono" pitchFamily="34" charset="-122"/>
                <a:cs typeface="DejaVu Sans Mono" pitchFamily="34" charset="-120"/>
              </a:rPr>
              <a:t>u_p</a:t>
            </a:r>
            <a:endParaRPr lang="en-US" sz="1300" dirty="0"/>
          </a:p>
        </p:txBody>
      </p:sp>
      <p:sp>
        <p:nvSpPr>
          <p:cNvPr id="23" name="Text 21"/>
          <p:cNvSpPr/>
          <p:nvPr/>
        </p:nvSpPr>
        <p:spPr>
          <a:xfrm>
            <a:off x="8193024" y="4425696"/>
            <a:ext cx="3154680" cy="420624"/>
          </a:xfrm>
          <a:prstGeom prst="rect">
            <a:avLst/>
          </a:prstGeom>
          <a:noFill/>
        </p:spPr>
        <p:txBody>
          <a:bodyPr wrap="square" lIns="0" tIns="0" rIns="0" bIns="0" rtlCol="0" anchor="ctr"/>
          <a:lstStyle/>
          <a:p>
            <a:pPr marL="0" indent="0">
              <a:lnSpc>
                <a:spcPts val="1400"/>
              </a:lnSpc>
              <a:buNone/>
            </a:pPr>
            <a:r>
              <a:rPr lang="en-US" sz="1050" dirty="0">
                <a:solidFill>
                  <a:srgbClr val="1E293B"/>
                </a:solidFill>
                <a:latin typeface="Noto Sans CJK SC" pitchFamily="34" charset="0"/>
                <a:ea typeface="Noto Sans CJK SC" pitchFamily="34" charset="-122"/>
                <a:cs typeface="Noto Sans CJK SC" pitchFamily="34" charset="-120"/>
              </a:rPr>
              <a:t>该相机像素对应的投影仪坐标 —— 解码目标</a:t>
            </a:r>
            <a:endParaRPr lang="en-US" sz="1050" dirty="0"/>
          </a:p>
        </p:txBody>
      </p:sp>
      <p:sp>
        <p:nvSpPr>
          <p:cNvPr id="24" name="Shape 22"/>
          <p:cNvSpPr/>
          <p:nvPr/>
        </p:nvSpPr>
        <p:spPr>
          <a:xfrm>
            <a:off x="566928" y="5138928"/>
            <a:ext cx="11055096" cy="859536"/>
          </a:xfrm>
          <a:prstGeom prst="roundRect">
            <a:avLst>
              <a:gd name="adj" fmla="val 95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5" name="Text 23"/>
          <p:cNvSpPr/>
          <p:nvPr/>
        </p:nvSpPr>
        <p:spPr>
          <a:xfrm>
            <a:off x="768096" y="5248656"/>
            <a:ext cx="914400" cy="274320"/>
          </a:xfrm>
          <a:prstGeom prst="rect">
            <a:avLst/>
          </a:prstGeom>
          <a:noFill/>
        </p:spPr>
        <p:txBody>
          <a:bodyPr wrap="square" lIns="0" tIns="0" rIns="0" bIns="0" rtlCol="0" anchor="ctr"/>
          <a:lstStyle/>
          <a:p>
            <a:pPr marL="0" indent="0">
              <a:buNone/>
            </a:pPr>
            <a:r>
              <a:rPr lang="en-US" sz="1100" b="1" dirty="0">
                <a:solidFill>
                  <a:srgbClr val="22D3EE"/>
                </a:solidFill>
                <a:latin typeface="Noto Sans CJK SC" pitchFamily="34" charset="0"/>
                <a:ea typeface="Noto Sans CJK SC" pitchFamily="34" charset="-122"/>
                <a:cs typeface="Noto Sans CJK SC" pitchFamily="34" charset="-120"/>
              </a:rPr>
              <a:t>要点</a:t>
            </a:r>
            <a:endParaRPr lang="en-US" sz="1100" dirty="0"/>
          </a:p>
        </p:txBody>
      </p:sp>
      <p:sp>
        <p:nvSpPr>
          <p:cNvPr id="26" name="Text 24"/>
          <p:cNvSpPr/>
          <p:nvPr/>
        </p:nvSpPr>
        <p:spPr>
          <a:xfrm>
            <a:off x="1463040" y="5138928"/>
            <a:ext cx="9966960" cy="859536"/>
          </a:xfrm>
          <a:prstGeom prst="rect">
            <a:avLst/>
          </a:prstGeom>
          <a:noFill/>
        </p:spPr>
        <p:txBody>
          <a:bodyPr wrap="square" lIns="0" tIns="0" rIns="0" bIns="0" rtlCol="0" anchor="ctr"/>
          <a:lstStyle/>
          <a:p>
            <a:pPr marL="0" indent="0">
              <a:buNone/>
            </a:pPr>
            <a:r>
              <a:rPr lang="en-US" sz="1200" dirty="0">
                <a:solidFill>
                  <a:srgbClr val="FF0000"/>
                </a:solidFill>
                <a:latin typeface="Noto Sans CJK SC" pitchFamily="34" charset="0"/>
                <a:ea typeface="Noto Sans CJK SC" pitchFamily="34" charset="-122"/>
                <a:cs typeface="Noto Sans CJK SC" pitchFamily="34" charset="-120"/>
              </a:rPr>
              <a:t>四步相移差分显著削弱 B</a:t>
            </a:r>
            <a:r>
              <a:rPr lang="en-US" sz="1200" dirty="0">
                <a:solidFill>
                  <a:srgbClr val="CBD5E1"/>
                </a:solidFill>
                <a:latin typeface="Noto Sans CJK SC" pitchFamily="34" charset="0"/>
                <a:ea typeface="Noto Sans CJK SC" pitchFamily="34" charset="-122"/>
                <a:cs typeface="Noto Sans CJK SC" pitchFamily="34" charset="-120"/>
              </a:rPr>
              <a:t>，把主要信息转化为与 </a:t>
            </a:r>
            <a:r>
              <a:rPr lang="en-US" sz="1200" dirty="0">
                <a:solidFill>
                  <a:srgbClr val="FF0000"/>
                </a:solidFill>
                <a:latin typeface="Noto Sans CJK SC" pitchFamily="34" charset="0"/>
                <a:ea typeface="Noto Sans CJK SC" pitchFamily="34" charset="-122"/>
                <a:cs typeface="Noto Sans CJK SC" pitchFamily="34" charset="-120"/>
              </a:rPr>
              <a:t>2π·f_k·u_p</a:t>
            </a:r>
            <a:r>
              <a:rPr lang="en-US" sz="1200" dirty="0">
                <a:solidFill>
                  <a:srgbClr val="CBD5E1"/>
                </a:solidFill>
                <a:latin typeface="Noto Sans CJK SC" pitchFamily="34" charset="0"/>
                <a:ea typeface="Noto Sans CJK SC" pitchFamily="34" charset="-122"/>
                <a:cs typeface="Noto Sans CJK SC" pitchFamily="34" charset="-120"/>
              </a:rPr>
              <a:t> 相关的复数相位；最终解码使用幅值谱 |C| 的峰值。</a:t>
            </a:r>
            <a:endParaRPr lang="en-US" sz="1200" dirty="0"/>
          </a:p>
        </p:txBody>
      </p:sp>
      <p:sp>
        <p:nvSpPr>
          <p:cNvPr id="27" name="Text 25"/>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8" name="Text 26"/>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29" name="Text 27"/>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13 / 42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874520"/>
            <a:ext cx="4572000" cy="365760"/>
          </a:xfrm>
          <a:prstGeom prst="rect">
            <a:avLst/>
          </a:prstGeom>
          <a:noFill/>
        </p:spPr>
        <p:txBody>
          <a:bodyPr wrap="square" lIns="0" tIns="0" rIns="0" bIns="0" rtlCol="0" anchor="ctr"/>
          <a:lstStyle/>
          <a:p>
            <a:pPr marL="0" indent="0">
              <a:buNone/>
            </a:pPr>
            <a:r>
              <a:rPr lang="en-US" sz="1400" b="1" kern="0" spc="500" dirty="0">
                <a:solidFill>
                  <a:srgbClr val="22D3EE"/>
                </a:solidFill>
                <a:latin typeface="Noto Sans CJK SC" pitchFamily="34" charset="0"/>
                <a:ea typeface="Noto Sans CJK SC" pitchFamily="34" charset="-122"/>
                <a:cs typeface="Noto Sans CJK SC" pitchFamily="34" charset="-120"/>
              </a:rPr>
              <a:t>CHAPTER</a:t>
            </a:r>
            <a:endParaRPr lang="en-US" sz="1400" dirty="0"/>
          </a:p>
        </p:txBody>
      </p:sp>
      <p:sp>
        <p:nvSpPr>
          <p:cNvPr id="3" name="Text 1"/>
          <p:cNvSpPr/>
          <p:nvPr/>
        </p:nvSpPr>
        <p:spPr>
          <a:xfrm>
            <a:off x="822960" y="2103120"/>
            <a:ext cx="3108960" cy="2103120"/>
          </a:xfrm>
          <a:prstGeom prst="rect">
            <a:avLst/>
          </a:prstGeom>
          <a:noFill/>
        </p:spPr>
        <p:txBody>
          <a:bodyPr wrap="square" lIns="0" tIns="0" rIns="0" bIns="0" rtlCol="0" anchor="ctr"/>
          <a:lstStyle/>
          <a:p>
            <a:pPr marL="0" indent="0">
              <a:buNone/>
            </a:pPr>
            <a:r>
              <a:rPr lang="en-US" sz="15000" b="1" dirty="0">
                <a:solidFill>
                  <a:srgbClr val="13395E"/>
                </a:solidFill>
                <a:latin typeface="Noto Sans CJK SC" pitchFamily="34" charset="0"/>
                <a:ea typeface="Noto Sans CJK SC" pitchFamily="34" charset="-122"/>
                <a:cs typeface="Noto Sans CJK SC" pitchFamily="34" charset="-120"/>
              </a:rPr>
              <a:t>三</a:t>
            </a:r>
            <a:endParaRPr lang="en-US" sz="15000" dirty="0"/>
          </a:p>
        </p:txBody>
      </p:sp>
      <p:sp>
        <p:nvSpPr>
          <p:cNvPr id="4" name="Text 2"/>
          <p:cNvSpPr/>
          <p:nvPr/>
        </p:nvSpPr>
        <p:spPr>
          <a:xfrm>
            <a:off x="3246120" y="2395728"/>
            <a:ext cx="7863840" cy="914400"/>
          </a:xfrm>
          <a:prstGeom prst="rect">
            <a:avLst/>
          </a:prstGeom>
          <a:noFill/>
        </p:spPr>
        <p:txBody>
          <a:bodyPr wrap="square" lIns="0" tIns="0" rIns="0" bIns="0" rtlCol="0" anchor="ctr"/>
          <a:lstStyle/>
          <a:p>
            <a:pPr marL="0" indent="0">
              <a:buNone/>
            </a:pPr>
            <a:r>
              <a:rPr lang="en-US" sz="4000" b="1" dirty="0">
                <a:solidFill>
                  <a:srgbClr val="FFFFFF"/>
                </a:solidFill>
                <a:latin typeface="Noto Sans CJK SC" pitchFamily="34" charset="0"/>
                <a:ea typeface="Noto Sans CJK SC" pitchFamily="34" charset="-122"/>
                <a:cs typeface="Noto Sans CJK SC" pitchFamily="34" charset="-120"/>
              </a:rPr>
              <a:t>频率轴信号与 FFT 解码</a:t>
            </a:r>
            <a:endParaRPr lang="en-US" sz="4000" dirty="0"/>
          </a:p>
        </p:txBody>
      </p:sp>
      <p:sp>
        <p:nvSpPr>
          <p:cNvPr id="5" name="Text 3"/>
          <p:cNvSpPr/>
          <p:nvPr/>
        </p:nvSpPr>
        <p:spPr>
          <a:xfrm>
            <a:off x="3291840" y="3310128"/>
            <a:ext cx="7863840" cy="502920"/>
          </a:xfrm>
          <a:prstGeom prst="rect">
            <a:avLst/>
          </a:prstGeom>
          <a:noFill/>
        </p:spPr>
        <p:txBody>
          <a:bodyPr wrap="square" lIns="0" tIns="0" rIns="0" bIns="0" rtlCol="0" anchor="ctr"/>
          <a:lstStyle/>
          <a:p>
            <a:pPr marL="0" indent="0">
              <a:buNone/>
            </a:pPr>
            <a:r>
              <a:rPr lang="en-US" sz="1700" dirty="0">
                <a:solidFill>
                  <a:srgbClr val="22D3EE"/>
                </a:solidFill>
                <a:latin typeface="Noto Sans CJK SC" pitchFamily="34" charset="0"/>
                <a:ea typeface="Noto Sans CJK SC" pitchFamily="34" charset="-122"/>
                <a:cs typeface="Noto Sans CJK SC" pitchFamily="34" charset="-120"/>
              </a:rPr>
              <a:t>Frequency-Axis Signal &amp; FFT Decoding</a:t>
            </a:r>
            <a:endParaRPr lang="en-US" sz="1700" dirty="0"/>
          </a:p>
        </p:txBody>
      </p:sp>
      <p:sp>
        <p:nvSpPr>
          <p:cNvPr id="6" name="Shape 4"/>
          <p:cNvSpPr/>
          <p:nvPr/>
        </p:nvSpPr>
        <p:spPr>
          <a:xfrm>
            <a:off x="3310128" y="3950208"/>
            <a:ext cx="2743200" cy="0"/>
          </a:xfrm>
          <a:prstGeom prst="line">
            <a:avLst/>
          </a:prstGeom>
          <a:noFill/>
          <a:ln w="19050">
            <a:solidFill>
              <a:srgbClr val="1E466E"/>
            </a:solidFill>
            <a:prstDash val="solid"/>
          </a:ln>
        </p:spPr>
        <p:txBody>
          <a:bodyPr/>
          <a:lstStyle/>
          <a:p>
            <a:endParaRPr lang="zh-CN" altLang="en-US"/>
          </a:p>
        </p:txBody>
      </p:sp>
      <p:sp>
        <p:nvSpPr>
          <p:cNvPr id="7" name="Text 5"/>
          <p:cNvSpPr/>
          <p:nvPr/>
        </p:nvSpPr>
        <p:spPr>
          <a:xfrm>
            <a:off x="3310128" y="4078224"/>
            <a:ext cx="7680960" cy="822960"/>
          </a:xfrm>
          <a:prstGeom prst="rect">
            <a:avLst/>
          </a:prstGeom>
          <a:noFill/>
        </p:spPr>
        <p:txBody>
          <a:bodyPr wrap="square" lIns="0" tIns="0" rIns="0" bIns="0" rtlCol="0" anchor="ctr"/>
          <a:lstStyle/>
          <a:p>
            <a:pPr marL="0" indent="0">
              <a:buNone/>
            </a:pPr>
            <a:r>
              <a:rPr lang="en-US" sz="1250" dirty="0">
                <a:solidFill>
                  <a:srgbClr val="CBD5E1"/>
                </a:solidFill>
                <a:latin typeface="Noto Sans CJK SC" pitchFamily="34" charset="0"/>
                <a:ea typeface="Noto Sans CJK SC" pitchFamily="34" charset="-122"/>
                <a:cs typeface="Noto Sans CJK SC" pitchFamily="34" charset="-120"/>
              </a:rPr>
              <a:t>为什么投影仪坐标等价于相位旋转速度，以及 FFT 如何在频域中把它识别出来。</a:t>
            </a:r>
            <a:endParaRPr lang="en-US" sz="1250" dirty="0"/>
          </a:p>
        </p:txBody>
      </p:sp>
      <p:sp>
        <p:nvSpPr>
          <p:cNvPr id="8" name="Text 6"/>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9" name="Text 7"/>
          <p:cNvSpPr/>
          <p:nvPr/>
        </p:nvSpPr>
        <p:spPr>
          <a:xfrm>
            <a:off x="5029200" y="6446520"/>
            <a:ext cx="4572000" cy="274320"/>
          </a:xfrm>
          <a:prstGeom prst="rect">
            <a:avLst/>
          </a:prstGeom>
          <a:noFill/>
        </p:spPr>
        <p:txBody>
          <a:bodyPr wrap="square" lIns="0" tIns="0" rIns="0" bIns="0" rtlCol="0" anchor="ctr"/>
          <a:lstStyle/>
          <a:p>
            <a:pPr marL="0" indent="0" algn="ctr">
              <a:buNone/>
            </a:pPr>
            <a:endParaRPr lang="en-US" sz="850" dirty="0"/>
          </a:p>
        </p:txBody>
      </p:sp>
      <p:sp>
        <p:nvSpPr>
          <p:cNvPr id="10" name="Text 8"/>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14 / 42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核心概念</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频率轴信号是什么</a:t>
            </a:r>
            <a:endParaRPr lang="en-US" sz="2900" dirty="0"/>
          </a:p>
        </p:txBody>
      </p:sp>
      <p:sp>
        <p:nvSpPr>
          <p:cNvPr id="5" name="Text 3"/>
          <p:cNvSpPr/>
          <p:nvPr/>
        </p:nvSpPr>
        <p:spPr>
          <a:xfrm>
            <a:off x="566928" y="1645920"/>
            <a:ext cx="5303520" cy="2194560"/>
          </a:xfrm>
          <a:prstGeom prst="rect">
            <a:avLst/>
          </a:prstGeom>
          <a:noFill/>
        </p:spPr>
        <p:txBody>
          <a:bodyPr wrap="square" lIns="0" tIns="0" rIns="0" bIns="0" rtlCol="0" anchor="t"/>
          <a:lstStyle/>
          <a:p>
            <a:pPr marL="177800" indent="-177800">
              <a:spcAft>
                <a:spcPts val="10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FSM 不只看某一个频率，而是看</a:t>
            </a:r>
            <a:r>
              <a:rPr lang="en-US" sz="1300" dirty="0">
                <a:solidFill>
                  <a:srgbClr val="FF0000"/>
                </a:solidFill>
                <a:latin typeface="Noto Sans CJK SC" pitchFamily="34" charset="0"/>
                <a:ea typeface="Noto Sans CJK SC" pitchFamily="34" charset="-122"/>
                <a:cs typeface="Noto Sans CJK SC" pitchFamily="34" charset="-120"/>
              </a:rPr>
              <a:t>同一相机像素</a:t>
            </a:r>
            <a:r>
              <a:rPr lang="en-US" sz="1300" dirty="0">
                <a:solidFill>
                  <a:srgbClr val="1E293B"/>
                </a:solidFill>
                <a:latin typeface="Noto Sans CJK SC" pitchFamily="34" charset="0"/>
                <a:ea typeface="Noto Sans CJK SC" pitchFamily="34" charset="-122"/>
                <a:cs typeface="Noto Sans CJK SC" pitchFamily="34" charset="-120"/>
              </a:rPr>
              <a:t>在</a:t>
            </a:r>
            <a:r>
              <a:rPr lang="en-US" sz="1300" dirty="0">
                <a:solidFill>
                  <a:srgbClr val="FF0000"/>
                </a:solidFill>
                <a:latin typeface="Noto Sans CJK SC" pitchFamily="34" charset="0"/>
                <a:ea typeface="Noto Sans CJK SC" pitchFamily="34" charset="-122"/>
                <a:cs typeface="Noto Sans CJK SC" pitchFamily="34" charset="-120"/>
              </a:rPr>
              <a:t>一系列投影频率下</a:t>
            </a:r>
            <a:r>
              <a:rPr lang="en-US" sz="1300" dirty="0">
                <a:solidFill>
                  <a:srgbClr val="1E293B"/>
                </a:solidFill>
                <a:latin typeface="Noto Sans CJK SC" pitchFamily="34" charset="0"/>
                <a:ea typeface="Noto Sans CJK SC" pitchFamily="34" charset="-122"/>
                <a:cs typeface="Noto Sans CJK SC" pitchFamily="34" charset="-120"/>
              </a:rPr>
              <a:t>的响应。</a:t>
            </a:r>
            <a:endParaRPr lang="en-US" sz="1300" dirty="0"/>
          </a:p>
          <a:p>
            <a:pPr marL="177800" indent="-177800">
              <a:spcAft>
                <a:spcPts val="1000"/>
              </a:spcAft>
              <a:buSzPct val="100000"/>
              <a:buChar char="•"/>
            </a:pPr>
            <a:r>
              <a:rPr lang="en-US" sz="1300" b="1" dirty="0">
                <a:solidFill>
                  <a:srgbClr val="1E293B"/>
                </a:solidFill>
                <a:latin typeface="Noto Sans CJK SC" pitchFamily="34" charset="0"/>
                <a:ea typeface="Noto Sans CJK SC" pitchFamily="34" charset="-122"/>
                <a:cs typeface="Noto Sans CJK SC" pitchFamily="34" charset="-120"/>
              </a:rPr>
              <a:t>对固定相机像素 (x, y)，每个频率都得到一个复数 D[k]。</a:t>
            </a:r>
            <a:endParaRPr lang="en-US" sz="1300" dirty="0"/>
          </a:p>
          <a:p>
            <a:pPr marL="177800" indent="-177800">
              <a:spcAft>
                <a:spcPts val="10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把 D[0], D[1], …, D[M−1] 排成</a:t>
            </a:r>
            <a:r>
              <a:rPr lang="en-US" sz="1300" dirty="0">
                <a:solidFill>
                  <a:srgbClr val="FF0000"/>
                </a:solidFill>
                <a:latin typeface="Noto Sans CJK SC" pitchFamily="34" charset="0"/>
                <a:ea typeface="Noto Sans CJK SC" pitchFamily="34" charset="-122"/>
                <a:cs typeface="Noto Sans CJK SC" pitchFamily="34" charset="-120"/>
              </a:rPr>
              <a:t>一维复数序列</a:t>
            </a:r>
            <a:r>
              <a:rPr lang="en-US" sz="1300" dirty="0">
                <a:solidFill>
                  <a:srgbClr val="1E293B"/>
                </a:solidFill>
                <a:latin typeface="Noto Sans CJK SC" pitchFamily="34" charset="0"/>
                <a:ea typeface="Noto Sans CJK SC" pitchFamily="34" charset="-122"/>
                <a:cs typeface="Noto Sans CJK SC" pitchFamily="34" charset="-120"/>
              </a:rPr>
              <a:t>，即该像素</a:t>
            </a:r>
            <a:r>
              <a:rPr lang="en-US" sz="1300" dirty="0">
                <a:solidFill>
                  <a:srgbClr val="FF0000"/>
                </a:solidFill>
                <a:latin typeface="Noto Sans CJK SC" pitchFamily="34" charset="0"/>
                <a:ea typeface="Noto Sans CJK SC" pitchFamily="34" charset="-122"/>
                <a:cs typeface="Noto Sans CJK SC" pitchFamily="34" charset="-120"/>
              </a:rPr>
              <a:t>沿频率轴</a:t>
            </a:r>
            <a:r>
              <a:rPr lang="en-US" sz="1300" dirty="0">
                <a:solidFill>
                  <a:srgbClr val="1E293B"/>
                </a:solidFill>
                <a:latin typeface="Noto Sans CJK SC" pitchFamily="34" charset="0"/>
                <a:ea typeface="Noto Sans CJK SC" pitchFamily="34" charset="-122"/>
                <a:cs typeface="Noto Sans CJK SC" pitchFamily="34" charset="-120"/>
              </a:rPr>
              <a:t>的响应。</a:t>
            </a:r>
            <a:endParaRPr lang="en-US" sz="1300" dirty="0"/>
          </a:p>
          <a:p>
            <a:pPr marL="177800" indent="-177800">
              <a:spcAft>
                <a:spcPts val="1000"/>
              </a:spcAft>
              <a:buSzPct val="100000"/>
              <a:buChar char="•"/>
            </a:pPr>
            <a:r>
              <a:rPr lang="en-US" sz="1300" b="1" dirty="0">
                <a:solidFill>
                  <a:srgbClr val="0E7490"/>
                </a:solidFill>
                <a:latin typeface="Noto Sans CJK SC" pitchFamily="34" charset="0"/>
                <a:ea typeface="Noto Sans CJK SC" pitchFamily="34" charset="-122"/>
                <a:cs typeface="Noto Sans CJK SC" pitchFamily="34" charset="-120"/>
              </a:rPr>
              <a:t>这个长度为 M 的复数序列，就是该像素的「频率响应信号」。</a:t>
            </a:r>
            <a:endParaRPr lang="en-US" sz="1300" dirty="0"/>
          </a:p>
        </p:txBody>
      </p:sp>
      <p:sp>
        <p:nvSpPr>
          <p:cNvPr id="6" name="Shape 4"/>
          <p:cNvSpPr/>
          <p:nvPr/>
        </p:nvSpPr>
        <p:spPr>
          <a:xfrm>
            <a:off x="566928" y="4114800"/>
            <a:ext cx="5303520" cy="713232"/>
          </a:xfrm>
          <a:prstGeom prst="roundRect">
            <a:avLst>
              <a:gd name="adj" fmla="val 89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4114800"/>
            <a:ext cx="5120640" cy="713232"/>
          </a:xfrm>
          <a:prstGeom prst="rect">
            <a:avLst/>
          </a:prstGeom>
          <a:noFill/>
        </p:spPr>
        <p:txBody>
          <a:bodyPr wrap="square" lIns="0" tIns="0" rIns="0" bIns="0" rtlCol="0" anchor="ctr"/>
          <a:lstStyle/>
          <a:p>
            <a:pPr marL="0" indent="0" algn="ctr">
              <a:buNone/>
            </a:pPr>
            <a:r>
              <a:rPr lang="en-US" sz="1600" b="1" dirty="0">
                <a:solidFill>
                  <a:srgbClr val="22D3EE"/>
                </a:solidFill>
                <a:latin typeface="DejaVu Sans Mono" pitchFamily="34" charset="0"/>
                <a:ea typeface="DejaVu Sans Mono" pitchFamily="34" charset="-122"/>
                <a:cs typeface="DejaVu Sans Mono" pitchFamily="34" charset="-120"/>
              </a:rPr>
              <a:t>signal  =  D[ : , y, x ]</a:t>
            </a:r>
            <a:endParaRPr lang="en-US" sz="1600" dirty="0"/>
          </a:p>
        </p:txBody>
      </p:sp>
      <p:sp>
        <p:nvSpPr>
          <p:cNvPr id="8" name="Shape 6"/>
          <p:cNvSpPr/>
          <p:nvPr/>
        </p:nvSpPr>
        <p:spPr>
          <a:xfrm>
            <a:off x="566928" y="5029200"/>
            <a:ext cx="5303520" cy="950976"/>
          </a:xfrm>
          <a:prstGeom prst="roundRect">
            <a:avLst>
              <a:gd name="adj" fmla="val 8654"/>
            </a:avLst>
          </a:prstGeom>
          <a:solidFill>
            <a:srgbClr val="F2F5F9"/>
          </a:solidFill>
          <a:ln w="12700">
            <a:solidFill>
              <a:srgbClr val="E2E8F0"/>
            </a:solidFill>
            <a:prstDash val="solid"/>
          </a:ln>
        </p:spPr>
        <p:txBody>
          <a:bodyPr/>
          <a:lstStyle/>
          <a:p>
            <a:endParaRPr lang="zh-CN" altLang="en-US"/>
          </a:p>
        </p:txBody>
      </p:sp>
      <p:sp>
        <p:nvSpPr>
          <p:cNvPr id="9" name="Text 7"/>
          <p:cNvSpPr/>
          <p:nvPr/>
        </p:nvSpPr>
        <p:spPr>
          <a:xfrm>
            <a:off x="768096" y="5120640"/>
            <a:ext cx="45720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从「图像空间」转到「频率轴」</a:t>
            </a:r>
            <a:endParaRPr lang="en-US" sz="1100" dirty="0"/>
          </a:p>
        </p:txBody>
      </p:sp>
      <p:sp>
        <p:nvSpPr>
          <p:cNvPr id="10" name="Text 8"/>
          <p:cNvSpPr/>
          <p:nvPr/>
        </p:nvSpPr>
        <p:spPr>
          <a:xfrm>
            <a:off x="768096" y="5376672"/>
            <a:ext cx="4937760" cy="548640"/>
          </a:xfrm>
          <a:prstGeom prst="rect">
            <a:avLst/>
          </a:prstGeom>
          <a:noFill/>
        </p:spPr>
        <p:txBody>
          <a:bodyPr wrap="square" lIns="0" tIns="0" rIns="0" bIns="0" rtlCol="0" anchor="ctr"/>
          <a:lstStyle/>
          <a:p>
            <a:pPr marL="0" indent="0">
              <a:lnSpc>
                <a:spcPts val="1500"/>
              </a:lnSpc>
              <a:buNone/>
            </a:pPr>
            <a:r>
              <a:rPr lang="en-US" sz="1100" dirty="0">
                <a:solidFill>
                  <a:srgbClr val="FF0000"/>
                </a:solidFill>
                <a:latin typeface="Noto Sans CJK SC" pitchFamily="34" charset="0"/>
                <a:ea typeface="Noto Sans CJK SC" pitchFamily="34" charset="-122"/>
                <a:cs typeface="Noto Sans CJK SC" pitchFamily="34" charset="-120"/>
              </a:rPr>
              <a:t>解码的对象不再是某张图里的一行像素，</a:t>
            </a:r>
            <a:endParaRPr lang="en-US" sz="1100" dirty="0">
              <a:solidFill>
                <a:srgbClr val="FF0000"/>
              </a:solidFill>
            </a:endParaRPr>
          </a:p>
          <a:p>
            <a:pPr marL="0" indent="0">
              <a:lnSpc>
                <a:spcPts val="1500"/>
              </a:lnSpc>
              <a:buNone/>
            </a:pPr>
            <a:r>
              <a:rPr lang="en-US" sz="1100" dirty="0">
                <a:solidFill>
                  <a:srgbClr val="FF0000"/>
                </a:solidFill>
                <a:latin typeface="Noto Sans CJK SC" pitchFamily="34" charset="0"/>
                <a:ea typeface="Noto Sans CJK SC" pitchFamily="34" charset="-122"/>
                <a:cs typeface="Noto Sans CJK SC" pitchFamily="34" charset="-120"/>
              </a:rPr>
              <a:t>而是同一像素位置上、沿频率方向抽出的复数序列</a:t>
            </a:r>
            <a:r>
              <a:rPr lang="en-US" sz="1100" dirty="0">
                <a:solidFill>
                  <a:srgbClr val="1E293B"/>
                </a:solidFill>
                <a:latin typeface="Noto Sans CJK SC" pitchFamily="34" charset="0"/>
                <a:ea typeface="Noto Sans CJK SC" pitchFamily="34" charset="-122"/>
                <a:cs typeface="Noto Sans CJK SC" pitchFamily="34" charset="-120"/>
              </a:rPr>
              <a:t>。</a:t>
            </a:r>
            <a:endParaRPr lang="en-US" sz="1100" dirty="0"/>
          </a:p>
        </p:txBody>
      </p:sp>
      <p:sp>
        <p:nvSpPr>
          <p:cNvPr id="11" name="Shape 9"/>
          <p:cNvSpPr/>
          <p:nvPr/>
        </p:nvSpPr>
        <p:spPr>
          <a:xfrm>
            <a:off x="6126480" y="1645920"/>
            <a:ext cx="5504688"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400800" y="1792224"/>
            <a:ext cx="4956048"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固定像素 → 抽取频率轴序列</a:t>
            </a:r>
            <a:endParaRPr lang="en-US" sz="1200" dirty="0"/>
          </a:p>
        </p:txBody>
      </p:sp>
      <p:sp>
        <p:nvSpPr>
          <p:cNvPr id="13" name="Shape 11"/>
          <p:cNvSpPr/>
          <p:nvPr/>
        </p:nvSpPr>
        <p:spPr>
          <a:xfrm>
            <a:off x="6537960" y="2286000"/>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4" name="Shape 12"/>
          <p:cNvSpPr/>
          <p:nvPr/>
        </p:nvSpPr>
        <p:spPr>
          <a:xfrm>
            <a:off x="6848856" y="2286000"/>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5" name="Shape 13"/>
          <p:cNvSpPr/>
          <p:nvPr/>
        </p:nvSpPr>
        <p:spPr>
          <a:xfrm>
            <a:off x="7159752" y="2286000"/>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6" name="Shape 14"/>
          <p:cNvSpPr/>
          <p:nvPr/>
        </p:nvSpPr>
        <p:spPr>
          <a:xfrm>
            <a:off x="7470648" y="2286000"/>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7" name="Shape 15"/>
          <p:cNvSpPr/>
          <p:nvPr/>
        </p:nvSpPr>
        <p:spPr>
          <a:xfrm>
            <a:off x="6537960" y="2596896"/>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8" name="Shape 16"/>
          <p:cNvSpPr/>
          <p:nvPr/>
        </p:nvSpPr>
        <p:spPr>
          <a:xfrm>
            <a:off x="6848856" y="2596896"/>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9" name="Shape 17"/>
          <p:cNvSpPr/>
          <p:nvPr/>
        </p:nvSpPr>
        <p:spPr>
          <a:xfrm>
            <a:off x="7159752" y="2596896"/>
            <a:ext cx="274320" cy="274320"/>
          </a:xfrm>
          <a:prstGeom prst="rect">
            <a:avLst/>
          </a:prstGeom>
          <a:solidFill>
            <a:srgbClr val="0E7490"/>
          </a:solidFill>
          <a:ln w="9525">
            <a:solidFill>
              <a:srgbClr val="E2E8F0"/>
            </a:solidFill>
            <a:prstDash val="solid"/>
          </a:ln>
        </p:spPr>
        <p:txBody>
          <a:bodyPr/>
          <a:lstStyle/>
          <a:p>
            <a:endParaRPr lang="zh-CN" altLang="en-US"/>
          </a:p>
        </p:txBody>
      </p:sp>
      <p:sp>
        <p:nvSpPr>
          <p:cNvPr id="20" name="Shape 18"/>
          <p:cNvSpPr/>
          <p:nvPr/>
        </p:nvSpPr>
        <p:spPr>
          <a:xfrm>
            <a:off x="7470648" y="2596896"/>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1" name="Shape 19"/>
          <p:cNvSpPr/>
          <p:nvPr/>
        </p:nvSpPr>
        <p:spPr>
          <a:xfrm>
            <a:off x="6537960" y="2907792"/>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2" name="Shape 20"/>
          <p:cNvSpPr/>
          <p:nvPr/>
        </p:nvSpPr>
        <p:spPr>
          <a:xfrm>
            <a:off x="6848856" y="2907792"/>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3" name="Shape 21"/>
          <p:cNvSpPr/>
          <p:nvPr/>
        </p:nvSpPr>
        <p:spPr>
          <a:xfrm>
            <a:off x="7159752" y="2907792"/>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4" name="Shape 22"/>
          <p:cNvSpPr/>
          <p:nvPr/>
        </p:nvSpPr>
        <p:spPr>
          <a:xfrm>
            <a:off x="7470648" y="2907792"/>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5" name="Shape 23"/>
          <p:cNvSpPr/>
          <p:nvPr/>
        </p:nvSpPr>
        <p:spPr>
          <a:xfrm>
            <a:off x="6537960" y="3218688"/>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6" name="Shape 24"/>
          <p:cNvSpPr/>
          <p:nvPr/>
        </p:nvSpPr>
        <p:spPr>
          <a:xfrm>
            <a:off x="6848856" y="3218688"/>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7" name="Shape 25"/>
          <p:cNvSpPr/>
          <p:nvPr/>
        </p:nvSpPr>
        <p:spPr>
          <a:xfrm>
            <a:off x="7159752" y="3218688"/>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8" name="Shape 26"/>
          <p:cNvSpPr/>
          <p:nvPr/>
        </p:nvSpPr>
        <p:spPr>
          <a:xfrm>
            <a:off x="7470648" y="3218688"/>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9" name="Text 27"/>
          <p:cNvSpPr/>
          <p:nvPr/>
        </p:nvSpPr>
        <p:spPr>
          <a:xfrm>
            <a:off x="6446520" y="3566160"/>
            <a:ext cx="1737360" cy="274320"/>
          </a:xfrm>
          <a:prstGeom prst="rect">
            <a:avLst/>
          </a:prstGeom>
          <a:noFill/>
        </p:spPr>
        <p:txBody>
          <a:bodyPr wrap="square" lIns="0" tIns="0" rIns="0" bIns="0" rtlCol="0" anchor="ctr"/>
          <a:lstStyle/>
          <a:p>
            <a:pPr marL="0" indent="0">
              <a:buNone/>
            </a:pPr>
            <a:r>
              <a:rPr lang="en-US" sz="950" dirty="0">
                <a:solidFill>
                  <a:srgbClr val="64748B"/>
                </a:solidFill>
                <a:latin typeface="Noto Sans CJK SC" pitchFamily="34" charset="0"/>
                <a:ea typeface="Noto Sans CJK SC" pitchFamily="34" charset="-122"/>
                <a:cs typeface="Noto Sans CJK SC" pitchFamily="34" charset="-120"/>
              </a:rPr>
              <a:t>相机像素 (x,y)</a:t>
            </a:r>
            <a:endParaRPr lang="en-US" sz="950" dirty="0"/>
          </a:p>
        </p:txBody>
      </p:sp>
      <p:sp>
        <p:nvSpPr>
          <p:cNvPr id="30" name="Shape 28"/>
          <p:cNvSpPr/>
          <p:nvPr/>
        </p:nvSpPr>
        <p:spPr>
          <a:xfrm>
            <a:off x="7918704" y="2926080"/>
            <a:ext cx="822960" cy="0"/>
          </a:xfrm>
          <a:prstGeom prst="line">
            <a:avLst/>
          </a:prstGeom>
          <a:noFill/>
          <a:ln w="31750">
            <a:solidFill>
              <a:srgbClr val="0E7490"/>
            </a:solidFill>
            <a:prstDash val="solid"/>
            <a:tailEnd type="triangle"/>
          </a:ln>
        </p:spPr>
        <p:txBody>
          <a:bodyPr/>
          <a:lstStyle/>
          <a:p>
            <a:endParaRPr lang="zh-CN" altLang="en-US"/>
          </a:p>
        </p:txBody>
      </p:sp>
      <p:sp>
        <p:nvSpPr>
          <p:cNvPr id="31" name="Shape 29"/>
          <p:cNvSpPr/>
          <p:nvPr/>
        </p:nvSpPr>
        <p:spPr>
          <a:xfrm>
            <a:off x="8878824" y="2560320"/>
            <a:ext cx="676656" cy="676656"/>
          </a:xfrm>
          <a:prstGeom prst="roundRect">
            <a:avLst>
              <a:gd name="adj" fmla="val 6757"/>
            </a:avLst>
          </a:prstGeom>
          <a:solidFill>
            <a:srgbClr val="0E2A47"/>
          </a:solidFill>
          <a:ln w="12700">
            <a:solidFill>
              <a:srgbClr val="22D3EE"/>
            </a:solidFill>
            <a:prstDash val="solid"/>
          </a:ln>
        </p:spPr>
        <p:txBody>
          <a:bodyPr/>
          <a:lstStyle/>
          <a:p>
            <a:endParaRPr lang="zh-CN" altLang="en-US"/>
          </a:p>
        </p:txBody>
      </p:sp>
      <p:sp>
        <p:nvSpPr>
          <p:cNvPr id="32" name="Text 30"/>
          <p:cNvSpPr/>
          <p:nvPr/>
        </p:nvSpPr>
        <p:spPr>
          <a:xfrm>
            <a:off x="8878824" y="2560320"/>
            <a:ext cx="676656" cy="676656"/>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D[0]</a:t>
            </a:r>
            <a:endParaRPr lang="en-US" sz="950" dirty="0"/>
          </a:p>
        </p:txBody>
      </p:sp>
      <p:sp>
        <p:nvSpPr>
          <p:cNvPr id="33" name="Shape 31"/>
          <p:cNvSpPr/>
          <p:nvPr/>
        </p:nvSpPr>
        <p:spPr>
          <a:xfrm>
            <a:off x="9646920" y="2560320"/>
            <a:ext cx="676656" cy="676656"/>
          </a:xfrm>
          <a:prstGeom prst="roundRect">
            <a:avLst>
              <a:gd name="adj" fmla="val 6757"/>
            </a:avLst>
          </a:prstGeom>
          <a:solidFill>
            <a:srgbClr val="0E2A47"/>
          </a:solidFill>
          <a:ln w="12700">
            <a:solidFill>
              <a:srgbClr val="22D3EE"/>
            </a:solidFill>
            <a:prstDash val="solid"/>
          </a:ln>
        </p:spPr>
        <p:txBody>
          <a:bodyPr/>
          <a:lstStyle/>
          <a:p>
            <a:endParaRPr lang="zh-CN" altLang="en-US"/>
          </a:p>
        </p:txBody>
      </p:sp>
      <p:sp>
        <p:nvSpPr>
          <p:cNvPr id="34" name="Text 32"/>
          <p:cNvSpPr/>
          <p:nvPr/>
        </p:nvSpPr>
        <p:spPr>
          <a:xfrm>
            <a:off x="9646920" y="2560320"/>
            <a:ext cx="676656" cy="676656"/>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D[1]</a:t>
            </a:r>
            <a:endParaRPr lang="en-US" sz="950" dirty="0"/>
          </a:p>
        </p:txBody>
      </p:sp>
      <p:sp>
        <p:nvSpPr>
          <p:cNvPr id="35" name="Shape 33"/>
          <p:cNvSpPr/>
          <p:nvPr/>
        </p:nvSpPr>
        <p:spPr>
          <a:xfrm>
            <a:off x="10415016" y="2560320"/>
            <a:ext cx="676656" cy="676656"/>
          </a:xfrm>
          <a:prstGeom prst="roundRect">
            <a:avLst>
              <a:gd name="adj" fmla="val 6757"/>
            </a:avLst>
          </a:prstGeom>
          <a:solidFill>
            <a:srgbClr val="0E2A47"/>
          </a:solidFill>
          <a:ln w="12700">
            <a:solidFill>
              <a:srgbClr val="22D3EE"/>
            </a:solidFill>
            <a:prstDash val="solid"/>
          </a:ln>
        </p:spPr>
        <p:txBody>
          <a:bodyPr/>
          <a:lstStyle/>
          <a:p>
            <a:endParaRPr lang="zh-CN" altLang="en-US"/>
          </a:p>
        </p:txBody>
      </p:sp>
      <p:sp>
        <p:nvSpPr>
          <p:cNvPr id="36" name="Text 34"/>
          <p:cNvSpPr/>
          <p:nvPr/>
        </p:nvSpPr>
        <p:spPr>
          <a:xfrm>
            <a:off x="10415016" y="2560320"/>
            <a:ext cx="676656" cy="676656"/>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D[2]</a:t>
            </a:r>
            <a:endParaRPr lang="en-US" sz="950" dirty="0"/>
          </a:p>
        </p:txBody>
      </p:sp>
      <p:sp>
        <p:nvSpPr>
          <p:cNvPr id="37" name="Shape 35"/>
          <p:cNvSpPr/>
          <p:nvPr/>
        </p:nvSpPr>
        <p:spPr>
          <a:xfrm>
            <a:off x="11183112" y="2560320"/>
            <a:ext cx="676656" cy="676656"/>
          </a:xfrm>
          <a:prstGeom prst="roundRect">
            <a:avLst>
              <a:gd name="adj" fmla="val 6757"/>
            </a:avLst>
          </a:prstGeom>
          <a:solidFill>
            <a:srgbClr val="0E2A47"/>
          </a:solidFill>
          <a:ln w="12700">
            <a:solidFill>
              <a:srgbClr val="22D3EE"/>
            </a:solidFill>
            <a:prstDash val="solid"/>
          </a:ln>
        </p:spPr>
        <p:txBody>
          <a:bodyPr/>
          <a:lstStyle/>
          <a:p>
            <a:endParaRPr lang="zh-CN" altLang="en-US"/>
          </a:p>
        </p:txBody>
      </p:sp>
      <p:sp>
        <p:nvSpPr>
          <p:cNvPr id="38" name="Text 36"/>
          <p:cNvSpPr/>
          <p:nvPr/>
        </p:nvSpPr>
        <p:spPr>
          <a:xfrm>
            <a:off x="11183112" y="2560320"/>
            <a:ext cx="676656" cy="676656"/>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D[3]</a:t>
            </a:r>
            <a:endParaRPr lang="en-US" sz="950" dirty="0"/>
          </a:p>
        </p:txBody>
      </p:sp>
      <p:sp>
        <p:nvSpPr>
          <p:cNvPr id="39" name="Shape 37"/>
          <p:cNvSpPr/>
          <p:nvPr/>
        </p:nvSpPr>
        <p:spPr>
          <a:xfrm>
            <a:off x="11951208" y="2560320"/>
            <a:ext cx="676656" cy="676656"/>
          </a:xfrm>
          <a:prstGeom prst="roundRect">
            <a:avLst>
              <a:gd name="adj" fmla="val 6757"/>
            </a:avLst>
          </a:prstGeom>
          <a:solidFill>
            <a:srgbClr val="0E2A47"/>
          </a:solidFill>
          <a:ln w="12700">
            <a:solidFill>
              <a:srgbClr val="22D3EE"/>
            </a:solidFill>
            <a:prstDash val="solid"/>
          </a:ln>
        </p:spPr>
        <p:txBody>
          <a:bodyPr/>
          <a:lstStyle/>
          <a:p>
            <a:endParaRPr lang="zh-CN" altLang="en-US"/>
          </a:p>
        </p:txBody>
      </p:sp>
      <p:sp>
        <p:nvSpPr>
          <p:cNvPr id="40" name="Text 38"/>
          <p:cNvSpPr/>
          <p:nvPr/>
        </p:nvSpPr>
        <p:spPr>
          <a:xfrm>
            <a:off x="11951208" y="2560320"/>
            <a:ext cx="676656" cy="676656"/>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D[4]</a:t>
            </a:r>
            <a:endParaRPr lang="en-US" sz="950" dirty="0"/>
          </a:p>
        </p:txBody>
      </p:sp>
      <p:sp>
        <p:nvSpPr>
          <p:cNvPr id="41" name="Text 39"/>
          <p:cNvSpPr/>
          <p:nvPr/>
        </p:nvSpPr>
        <p:spPr>
          <a:xfrm>
            <a:off x="12719304" y="2651760"/>
            <a:ext cx="457200" cy="548640"/>
          </a:xfrm>
          <a:prstGeom prst="rect">
            <a:avLst/>
          </a:prstGeom>
          <a:noFill/>
        </p:spPr>
        <p:txBody>
          <a:bodyPr wrap="square" lIns="0" tIns="0" rIns="0" bIns="0" rtlCol="0" anchor="ctr"/>
          <a:lstStyle/>
          <a:p>
            <a:pPr marL="0" indent="0">
              <a:buNone/>
            </a:pPr>
            <a:r>
              <a:rPr lang="en-US" sz="1800" dirty="0">
                <a:solidFill>
                  <a:srgbClr val="64748B"/>
                </a:solidFill>
                <a:latin typeface="Noto Sans CJK SC" pitchFamily="34" charset="0"/>
                <a:ea typeface="Noto Sans CJK SC" pitchFamily="34" charset="-122"/>
                <a:cs typeface="Noto Sans CJK SC" pitchFamily="34" charset="-120"/>
              </a:rPr>
              <a:t>⋯</a:t>
            </a:r>
            <a:endParaRPr lang="en-US" sz="1800" dirty="0"/>
          </a:p>
        </p:txBody>
      </p:sp>
      <p:sp>
        <p:nvSpPr>
          <p:cNvPr id="42" name="Text 40"/>
          <p:cNvSpPr/>
          <p:nvPr/>
        </p:nvSpPr>
        <p:spPr>
          <a:xfrm>
            <a:off x="8787384" y="3383280"/>
            <a:ext cx="4206240" cy="274320"/>
          </a:xfrm>
          <a:prstGeom prst="rect">
            <a:avLst/>
          </a:prstGeom>
          <a:noFill/>
        </p:spPr>
        <p:txBody>
          <a:bodyPr wrap="square" lIns="0" tIns="0" rIns="0" bIns="0" rtlCol="0" anchor="ctr"/>
          <a:lstStyle/>
          <a:p>
            <a:pPr marL="0" indent="0">
              <a:buNone/>
            </a:pPr>
            <a:r>
              <a:rPr lang="en-US" sz="950" dirty="0">
                <a:solidFill>
                  <a:srgbClr val="64748B"/>
                </a:solidFill>
                <a:latin typeface="Noto Sans CJK SC" pitchFamily="34" charset="0"/>
                <a:ea typeface="Noto Sans CJK SC" pitchFamily="34" charset="-122"/>
                <a:cs typeface="Noto Sans CJK SC" pitchFamily="34" charset="-120"/>
              </a:rPr>
              <a:t>沿频率轴的一维复信号  D[0 .. M−1]</a:t>
            </a:r>
            <a:endParaRPr lang="en-US" sz="950" dirty="0"/>
          </a:p>
        </p:txBody>
      </p:sp>
      <p:sp>
        <p:nvSpPr>
          <p:cNvPr id="43" name="Shape 41"/>
          <p:cNvSpPr/>
          <p:nvPr/>
        </p:nvSpPr>
        <p:spPr>
          <a:xfrm>
            <a:off x="6492240" y="4608576"/>
            <a:ext cx="4773168" cy="1005840"/>
          </a:xfrm>
          <a:prstGeom prst="roundRect">
            <a:avLst>
              <a:gd name="adj" fmla="val 6364"/>
            </a:avLst>
          </a:prstGeom>
          <a:solidFill>
            <a:srgbClr val="EAF0F6"/>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4" name="Text 42"/>
          <p:cNvSpPr/>
          <p:nvPr/>
        </p:nvSpPr>
        <p:spPr>
          <a:xfrm>
            <a:off x="6583680" y="4608576"/>
            <a:ext cx="4590288" cy="1005840"/>
          </a:xfrm>
          <a:prstGeom prst="rect">
            <a:avLst/>
          </a:prstGeom>
          <a:noFill/>
        </p:spPr>
        <p:txBody>
          <a:bodyPr wrap="square" lIns="0" tIns="0" rIns="0" bIns="0" rtlCol="0" anchor="ctr"/>
          <a:lstStyle/>
          <a:p>
            <a:pPr marL="0" indent="0" algn="ctr">
              <a:buNone/>
            </a:pPr>
            <a:r>
              <a:rPr lang="en-US" sz="1250" b="1" dirty="0">
                <a:solidFill>
                  <a:srgbClr val="FF0000"/>
                </a:solidFill>
                <a:latin typeface="Noto Sans CJK SC" pitchFamily="34" charset="0"/>
                <a:ea typeface="Noto Sans CJK SC" pitchFamily="34" charset="-122"/>
                <a:cs typeface="Noto Sans CJK SC" pitchFamily="34" charset="-120"/>
              </a:rPr>
              <a:t>若像素真实对应投影仪坐标 u</a:t>
            </a:r>
            <a:r>
              <a:rPr lang="en-US" sz="1250" b="1" dirty="0">
                <a:solidFill>
                  <a:srgbClr val="0E2A47"/>
                </a:solidFill>
                <a:latin typeface="Noto Sans CJK SC" pitchFamily="34" charset="0"/>
                <a:ea typeface="Noto Sans CJK SC" pitchFamily="34" charset="-122"/>
                <a:cs typeface="Noto Sans CJK SC" pitchFamily="34" charset="-120"/>
              </a:rPr>
              <a:t>，</a:t>
            </a:r>
            <a:endParaRPr lang="en-US" sz="1250" dirty="0"/>
          </a:p>
          <a:p>
            <a:pPr marL="0" indent="0" algn="ctr">
              <a:buNone/>
            </a:pPr>
            <a:r>
              <a:rPr lang="en-US" sz="1250" b="1" dirty="0">
                <a:solidFill>
                  <a:srgbClr val="0E2A47"/>
                </a:solidFill>
                <a:latin typeface="Noto Sans CJK SC" pitchFamily="34" charset="0"/>
                <a:ea typeface="Noto Sans CJK SC" pitchFamily="34" charset="-122"/>
                <a:cs typeface="Noto Sans CJK SC" pitchFamily="34" charset="-120"/>
              </a:rPr>
              <a:t>随频率递增，</a:t>
            </a:r>
            <a:r>
              <a:rPr lang="en-US" sz="1250" b="1" dirty="0">
                <a:solidFill>
                  <a:srgbClr val="FF0000"/>
                </a:solidFill>
                <a:latin typeface="Noto Sans CJK SC" pitchFamily="34" charset="0"/>
                <a:ea typeface="Noto Sans CJK SC" pitchFamily="34" charset="-122"/>
                <a:cs typeface="Noto Sans CJK SC" pitchFamily="34" charset="-120"/>
              </a:rPr>
              <a:t>D[k] 的相位按与 u 有关的速率旋转</a:t>
            </a:r>
            <a:endParaRPr lang="en-US" sz="1250" dirty="0">
              <a:solidFill>
                <a:srgbClr val="FF0000"/>
              </a:solidFill>
            </a:endParaRPr>
          </a:p>
        </p:txBody>
      </p:sp>
      <p:sp>
        <p:nvSpPr>
          <p:cNvPr id="45" name="Text 4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6" name="Text 4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47" name="Text 4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15 / 42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编码原理</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投影仪坐标 = 相位旋转速度</a:t>
            </a:r>
            <a:endParaRPr lang="en-US" sz="2900" dirty="0"/>
          </a:p>
        </p:txBody>
      </p:sp>
      <p:sp>
        <p:nvSpPr>
          <p:cNvPr id="5" name="Shape 3"/>
          <p:cNvSpPr/>
          <p:nvPr/>
        </p:nvSpPr>
        <p:spPr>
          <a:xfrm>
            <a:off x="566928" y="1591056"/>
            <a:ext cx="6858000" cy="749808"/>
          </a:xfrm>
          <a:prstGeom prst="roundRect">
            <a:avLst>
              <a:gd name="adj" fmla="val 8537"/>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658368" y="1591056"/>
            <a:ext cx="6675120" cy="749808"/>
          </a:xfrm>
          <a:prstGeom prst="rect">
            <a:avLst/>
          </a:prstGeom>
          <a:noFill/>
        </p:spPr>
        <p:txBody>
          <a:bodyPr wrap="square" lIns="0" tIns="0" rIns="0" bIns="0" rtlCol="0" anchor="ctr"/>
          <a:lstStyle/>
          <a:p>
            <a:pPr marL="0" indent="0" algn="ctr">
              <a:buNone/>
            </a:pPr>
            <a:r>
              <a:rPr lang="en-US" sz="1800" b="1" dirty="0">
                <a:solidFill>
                  <a:srgbClr val="FF0000"/>
                </a:solidFill>
                <a:latin typeface="Noto Sans CJK SC" pitchFamily="34" charset="0"/>
                <a:ea typeface="Noto Sans CJK SC" pitchFamily="34" charset="-122"/>
                <a:cs typeface="Noto Sans CJK SC" pitchFamily="34" charset="-120"/>
              </a:rPr>
              <a:t>D[k]  ≈  A · exp( j · 2π·k·u_p / N )</a:t>
            </a:r>
            <a:endParaRPr lang="en-US" sz="1800" dirty="0">
              <a:solidFill>
                <a:srgbClr val="FF0000"/>
              </a:solidFill>
            </a:endParaRPr>
          </a:p>
        </p:txBody>
      </p:sp>
      <p:sp>
        <p:nvSpPr>
          <p:cNvPr id="7" name="Text 5"/>
          <p:cNvSpPr/>
          <p:nvPr/>
        </p:nvSpPr>
        <p:spPr>
          <a:xfrm>
            <a:off x="7635240" y="1554480"/>
            <a:ext cx="4023360" cy="1737360"/>
          </a:xfrm>
          <a:prstGeom prst="rect">
            <a:avLst/>
          </a:prstGeom>
          <a:noFill/>
        </p:spPr>
        <p:txBody>
          <a:bodyPr wrap="square" lIns="0" tIns="0" rIns="0" bIns="0" rtlCol="0" anchor="t"/>
          <a:lstStyle/>
          <a:p>
            <a:pPr marL="177800" indent="-177800">
              <a:spcAft>
                <a:spcPts val="900"/>
              </a:spcAft>
              <a:buSzPct val="100000"/>
              <a:buChar char="•"/>
            </a:pPr>
            <a:r>
              <a:rPr lang="en-US" sz="1200" b="1" dirty="0">
                <a:solidFill>
                  <a:srgbClr val="1E293B"/>
                </a:solidFill>
                <a:latin typeface="Noto Sans CJK SC" pitchFamily="34" charset="0"/>
                <a:ea typeface="Noto Sans CJK SC" pitchFamily="34" charset="-122"/>
                <a:cs typeface="Noto Sans CJK SC" pitchFamily="34" charset="-120"/>
              </a:rPr>
              <a:t>k 每增加 1，相位增加 Δθ = 2π·u_p / N。</a:t>
            </a:r>
            <a:endParaRPr lang="en-US" sz="1200" dirty="0"/>
          </a:p>
          <a:p>
            <a:pPr marL="177800" indent="-177800">
              <a:spcAft>
                <a:spcPts val="900"/>
              </a:spcAft>
              <a:buSzPct val="100000"/>
              <a:buChar char="•"/>
            </a:pPr>
            <a:r>
              <a:rPr lang="en-US" sz="1200" b="1" dirty="0">
                <a:solidFill>
                  <a:srgbClr val="0E7490"/>
                </a:solidFill>
                <a:latin typeface="Noto Sans CJK SC" pitchFamily="34" charset="0"/>
                <a:ea typeface="Noto Sans CJK SC" pitchFamily="34" charset="-122"/>
                <a:cs typeface="Noto Sans CJK SC" pitchFamily="34" charset="-120"/>
              </a:rPr>
              <a:t>u_p 越大 → 箭头在频率轴上转得越快。</a:t>
            </a:r>
            <a:endParaRPr lang="en-US" sz="1200" dirty="0"/>
          </a:p>
          <a:p>
            <a:pPr marL="177800" indent="-177800">
              <a:spcAft>
                <a:spcPts val="900"/>
              </a:spcAft>
              <a:buSzPct val="100000"/>
              <a:buChar char="•"/>
            </a:pPr>
            <a:r>
              <a:rPr lang="en-US" sz="1200" dirty="0">
                <a:solidFill>
                  <a:srgbClr val="1E293B"/>
                </a:solidFill>
                <a:latin typeface="Noto Sans CJK SC" pitchFamily="34" charset="0"/>
                <a:ea typeface="Noto Sans CJK SC" pitchFamily="34" charset="-122"/>
                <a:cs typeface="Noto Sans CJK SC" pitchFamily="34" charset="-120"/>
              </a:rPr>
              <a:t>坐标信息被编码成「旋转速率」。</a:t>
            </a:r>
            <a:endParaRPr lang="en-US" sz="1200" dirty="0"/>
          </a:p>
        </p:txBody>
      </p:sp>
      <p:sp>
        <p:nvSpPr>
          <p:cNvPr id="8" name="Shape 6"/>
          <p:cNvSpPr/>
          <p:nvPr/>
        </p:nvSpPr>
        <p:spPr>
          <a:xfrm>
            <a:off x="566928" y="2542032"/>
            <a:ext cx="6858000" cy="3419856"/>
          </a:xfrm>
          <a:prstGeom prst="roundRect">
            <a:avLst>
              <a:gd name="adj" fmla="val 2406"/>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Text 7"/>
          <p:cNvSpPr/>
          <p:nvPr/>
        </p:nvSpPr>
        <p:spPr>
          <a:xfrm>
            <a:off x="768096" y="2670048"/>
            <a:ext cx="640080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三种投影仪坐标对应三种旋转速度</a:t>
            </a:r>
            <a:endParaRPr lang="en-US" sz="1200" dirty="0"/>
          </a:p>
        </p:txBody>
      </p:sp>
      <p:pic>
        <p:nvPicPr>
          <p:cNvPr id="10" name="Image 0" descr="/home/claude/work/assets/fig_rotation_rates.png"/>
          <p:cNvPicPr>
            <a:picLocks noChangeAspect="1"/>
          </p:cNvPicPr>
          <p:nvPr/>
        </p:nvPicPr>
        <p:blipFill>
          <a:blip r:embed="rId1"/>
          <a:stretch>
            <a:fillRect/>
          </a:stretch>
        </p:blipFill>
        <p:spPr>
          <a:xfrm>
            <a:off x="749808" y="3054096"/>
            <a:ext cx="6492240" cy="3001533"/>
          </a:xfrm>
          <a:prstGeom prst="rect">
            <a:avLst/>
          </a:prstGeom>
        </p:spPr>
      </p:pic>
      <p:sp>
        <p:nvSpPr>
          <p:cNvPr id="11" name="Shape 8"/>
          <p:cNvSpPr/>
          <p:nvPr/>
        </p:nvSpPr>
        <p:spPr>
          <a:xfrm>
            <a:off x="7635240" y="3383280"/>
            <a:ext cx="4023360" cy="822960"/>
          </a:xfrm>
          <a:prstGeom prst="roundRect">
            <a:avLst>
              <a:gd name="adj" fmla="val 7778"/>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9"/>
          <p:cNvSpPr/>
          <p:nvPr/>
        </p:nvSpPr>
        <p:spPr>
          <a:xfrm>
            <a:off x="7726680" y="3383280"/>
            <a:ext cx="3840480" cy="822960"/>
          </a:xfrm>
          <a:prstGeom prst="rect">
            <a:avLst/>
          </a:prstGeom>
          <a:noFill/>
        </p:spPr>
        <p:txBody>
          <a:bodyPr wrap="square" lIns="0" tIns="0" rIns="0" bIns="0" rtlCol="0" anchor="ctr"/>
          <a:lstStyle/>
          <a:p>
            <a:pPr marL="0" indent="0" algn="ctr">
              <a:buNone/>
            </a:pPr>
            <a:r>
              <a:rPr lang="en-US" sz="1800" b="1" dirty="0">
                <a:solidFill>
                  <a:srgbClr val="FF0000"/>
                </a:solidFill>
                <a:latin typeface="Noto Sans CJK SC" pitchFamily="34" charset="0"/>
                <a:ea typeface="Noto Sans CJK SC" pitchFamily="34" charset="-122"/>
                <a:cs typeface="Noto Sans CJK SC" pitchFamily="34" charset="-120"/>
              </a:rPr>
              <a:t>Δθ  =  2π·u_p / N</a:t>
            </a:r>
            <a:endParaRPr lang="en-US" sz="1800" dirty="0">
              <a:solidFill>
                <a:srgbClr val="FF0000"/>
              </a:solidFill>
            </a:endParaRPr>
          </a:p>
        </p:txBody>
      </p:sp>
      <p:sp>
        <p:nvSpPr>
          <p:cNvPr id="13" name="Shape 10"/>
          <p:cNvSpPr/>
          <p:nvPr/>
        </p:nvSpPr>
        <p:spPr>
          <a:xfrm>
            <a:off x="7635240" y="4370832"/>
            <a:ext cx="4023360" cy="1591056"/>
          </a:xfrm>
          <a:prstGeom prst="roundRect">
            <a:avLst>
              <a:gd name="adj" fmla="val 5172"/>
            </a:avLst>
          </a:prstGeom>
          <a:solidFill>
            <a:srgbClr val="F2F5F9"/>
          </a:solidFill>
          <a:ln w="12700">
            <a:solidFill>
              <a:srgbClr val="E2E8F0"/>
            </a:solidFill>
            <a:prstDash val="solid"/>
          </a:ln>
        </p:spPr>
        <p:txBody>
          <a:bodyPr/>
          <a:lstStyle/>
          <a:p>
            <a:endParaRPr lang="zh-CN" altLang="en-US"/>
          </a:p>
        </p:txBody>
      </p:sp>
      <p:sp>
        <p:nvSpPr>
          <p:cNvPr id="14" name="Text 11"/>
          <p:cNvSpPr/>
          <p:nvPr/>
        </p:nvSpPr>
        <p:spPr>
          <a:xfrm>
            <a:off x="7836408" y="4480560"/>
            <a:ext cx="27432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核心结论</a:t>
            </a:r>
            <a:endParaRPr lang="en-US" sz="1100" dirty="0"/>
          </a:p>
        </p:txBody>
      </p:sp>
      <p:sp>
        <p:nvSpPr>
          <p:cNvPr id="15" name="Text 12"/>
          <p:cNvSpPr/>
          <p:nvPr/>
        </p:nvSpPr>
        <p:spPr>
          <a:xfrm>
            <a:off x="7836408" y="4754880"/>
            <a:ext cx="3657600" cy="640080"/>
          </a:xfrm>
          <a:prstGeom prst="rect">
            <a:avLst/>
          </a:prstGeom>
          <a:noFill/>
        </p:spPr>
        <p:txBody>
          <a:bodyPr wrap="square" lIns="0" tIns="0" rIns="0" bIns="0" rtlCol="0" anchor="ctr"/>
          <a:lstStyle/>
          <a:p>
            <a:pPr marL="0" indent="0">
              <a:lnSpc>
                <a:spcPts val="1900"/>
              </a:lnSpc>
              <a:buNone/>
            </a:pPr>
            <a:r>
              <a:rPr lang="en-US" sz="1400" b="1" dirty="0">
                <a:solidFill>
                  <a:srgbClr val="FF0000"/>
                </a:solidFill>
                <a:latin typeface="Noto Sans CJK SC" pitchFamily="34" charset="0"/>
                <a:ea typeface="Noto Sans CJK SC" pitchFamily="34" charset="-122"/>
                <a:cs typeface="Noto Sans CJK SC" pitchFamily="34" charset="-120"/>
              </a:rPr>
              <a:t>投影仪坐标被编码成了</a:t>
            </a:r>
            <a:endParaRPr lang="en-US" sz="1400" dirty="0">
              <a:solidFill>
                <a:srgbClr val="FF0000"/>
              </a:solidFill>
            </a:endParaRPr>
          </a:p>
          <a:p>
            <a:pPr marL="0" indent="0">
              <a:lnSpc>
                <a:spcPts val="1900"/>
              </a:lnSpc>
              <a:buNone/>
            </a:pPr>
            <a:r>
              <a:rPr lang="en-US" sz="1400" b="1" dirty="0">
                <a:solidFill>
                  <a:srgbClr val="FF0000"/>
                </a:solidFill>
                <a:latin typeface="Noto Sans CJK SC" pitchFamily="34" charset="0"/>
                <a:ea typeface="Noto Sans CJK SC" pitchFamily="34" charset="-122"/>
                <a:cs typeface="Noto Sans CJK SC" pitchFamily="34" charset="-120"/>
              </a:rPr>
              <a:t>频率轴上的相位变化率</a:t>
            </a:r>
            <a:r>
              <a:rPr lang="en-US" sz="1400" b="1" dirty="0">
                <a:solidFill>
                  <a:srgbClr val="0E2A47"/>
                </a:solidFill>
                <a:latin typeface="Noto Sans CJK SC" pitchFamily="34" charset="0"/>
                <a:ea typeface="Noto Sans CJK SC" pitchFamily="34" charset="-122"/>
                <a:cs typeface="Noto Sans CJK SC" pitchFamily="34" charset="-120"/>
              </a:rPr>
              <a:t>。</a:t>
            </a:r>
            <a:endParaRPr lang="en-US" sz="1400" dirty="0"/>
          </a:p>
        </p:txBody>
      </p:sp>
      <p:sp>
        <p:nvSpPr>
          <p:cNvPr id="16" name="Text 13"/>
          <p:cNvSpPr/>
          <p:nvPr/>
        </p:nvSpPr>
        <p:spPr>
          <a:xfrm>
            <a:off x="7836408" y="5449824"/>
            <a:ext cx="3657600" cy="457200"/>
          </a:xfrm>
          <a:prstGeom prst="rect">
            <a:avLst/>
          </a:prstGeom>
          <a:noFill/>
        </p:spPr>
        <p:txBody>
          <a:bodyPr wrap="square" lIns="0" tIns="0" rIns="0" bIns="0" rtlCol="0" anchor="ctr"/>
          <a:lstStyle/>
          <a:p>
            <a:pPr marL="0" indent="0">
              <a:lnSpc>
                <a:spcPts val="1400"/>
              </a:lnSpc>
              <a:buNone/>
            </a:pPr>
            <a:r>
              <a:rPr lang="en-US" sz="1050" dirty="0">
                <a:solidFill>
                  <a:srgbClr val="64748B"/>
                </a:solidFill>
                <a:latin typeface="Noto Sans CJK SC" pitchFamily="34" charset="0"/>
                <a:ea typeface="Noto Sans CJK SC" pitchFamily="34" charset="-122"/>
                <a:cs typeface="Noto Sans CJK SC" pitchFamily="34" charset="-120"/>
              </a:rPr>
              <a:t>解码 = </a:t>
            </a:r>
            <a:r>
              <a:rPr lang="en-US" sz="1050" dirty="0">
                <a:solidFill>
                  <a:srgbClr val="FF0000"/>
                </a:solidFill>
                <a:latin typeface="Noto Sans CJK SC" pitchFamily="34" charset="0"/>
                <a:ea typeface="Noto Sans CJK SC" pitchFamily="34" charset="-122"/>
                <a:cs typeface="Noto Sans CJK SC" pitchFamily="34" charset="-120"/>
              </a:rPr>
              <a:t>测量这个旋转速率，再换算回坐标</a:t>
            </a:r>
            <a:r>
              <a:rPr lang="en-US" sz="1050" dirty="0">
                <a:solidFill>
                  <a:srgbClr val="64748B"/>
                </a:solidFill>
                <a:latin typeface="Noto Sans CJK SC" pitchFamily="34" charset="0"/>
                <a:ea typeface="Noto Sans CJK SC" pitchFamily="34" charset="-122"/>
                <a:cs typeface="Noto Sans CJK SC" pitchFamily="34" charset="-120"/>
              </a:rPr>
              <a:t>。</a:t>
            </a:r>
            <a:endParaRPr lang="en-US" sz="1050" dirty="0"/>
          </a:p>
        </p:txBody>
      </p:sp>
      <p:sp>
        <p:nvSpPr>
          <p:cNvPr id="17" name="Text 14"/>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8" name="Text 15"/>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19" name="Text 16"/>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16 / 42</a:t>
            </a:r>
            <a:endParaRPr lang="en-US" sz="850" dirty="0"/>
          </a:p>
        </p:txBody>
      </p:sp>
      <p:sp>
        <p:nvSpPr>
          <p:cNvPr id="20" name="文本框 19"/>
          <p:cNvSpPr txBox="1"/>
          <p:nvPr/>
        </p:nvSpPr>
        <p:spPr>
          <a:xfrm>
            <a:off x="579120" y="1175111"/>
            <a:ext cx="6675120" cy="461665"/>
          </a:xfrm>
          <a:prstGeom prst="rect">
            <a:avLst/>
          </a:prstGeom>
          <a:noFill/>
        </p:spPr>
        <p:txBody>
          <a:bodyPr wrap="square" rtlCol="0">
            <a:spAutoFit/>
          </a:bodyPr>
          <a:lstStyle/>
          <a:p>
            <a:r>
              <a:rPr lang="zh-CN" altLang="en-US" sz="1200" dirty="0">
                <a:solidFill>
                  <a:srgbClr val="FF0000"/>
                </a:solidFill>
                <a:latin typeface="Cambria" panose="02040503050406030204" pitchFamily="18" charset="0"/>
                <a:cs typeface="ADLaM Display" panose="02010000000000000000" pitchFamily="2" charset="0"/>
              </a:rPr>
              <a:t>从这里可以看出，相机像素对应的一系列频率得到的复数信号，在频域里面的变化（旋转的速度）和预期真正对应的投影仪坐标有关</a:t>
            </a:r>
            <a:endParaRPr lang="zh-CN" altLang="en-US" sz="1200" dirty="0">
              <a:solidFill>
                <a:srgbClr val="FF0000"/>
              </a:solidFill>
              <a:latin typeface="Cambria" panose="02040503050406030204" pitchFamily="18" charset="0"/>
              <a:cs typeface="ADLaM Display" panose="02010000000000000000" pitchFamily="2"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FFT 原理</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为什么 FFT 能找出投影仪坐标</a:t>
            </a:r>
            <a:endParaRPr lang="en-US" sz="2900" dirty="0"/>
          </a:p>
        </p:txBody>
      </p:sp>
      <p:sp>
        <p:nvSpPr>
          <p:cNvPr id="5" name="Text 3"/>
          <p:cNvSpPr/>
          <p:nvPr/>
        </p:nvSpPr>
        <p:spPr>
          <a:xfrm>
            <a:off x="566928" y="1627632"/>
            <a:ext cx="5303520" cy="2286000"/>
          </a:xfrm>
          <a:prstGeom prst="rect">
            <a:avLst/>
          </a:prstGeom>
          <a:noFill/>
        </p:spPr>
        <p:txBody>
          <a:bodyPr wrap="square" lIns="0" tIns="0" rIns="0" bIns="0" rtlCol="0" anchor="t"/>
          <a:lstStyle/>
          <a:p>
            <a:pPr marL="177800" indent="-177800">
              <a:spcAft>
                <a:spcPts val="1100"/>
              </a:spcAft>
              <a:buSzPct val="100000"/>
              <a:buChar char="•"/>
            </a:pPr>
            <a:r>
              <a:rPr lang="en-US" sz="1280" b="1" dirty="0">
                <a:solidFill>
                  <a:srgbClr val="1E293B"/>
                </a:solidFill>
                <a:latin typeface="Noto Sans CJK SC" pitchFamily="34" charset="0"/>
                <a:ea typeface="Noto Sans CJK SC" pitchFamily="34" charset="-122"/>
                <a:cs typeface="Noto Sans CJK SC" pitchFamily="34" charset="-120"/>
              </a:rPr>
              <a:t>FFT 的每个 bin q 都在测试一种候选旋转速度。</a:t>
            </a:r>
            <a:endParaRPr lang="en-US" sz="1280" dirty="0"/>
          </a:p>
          <a:p>
            <a:pPr marL="177800" indent="-177800">
              <a:spcAft>
                <a:spcPts val="1100"/>
              </a:spcAft>
              <a:buSzPct val="100000"/>
              <a:buChar char="•"/>
            </a:pPr>
            <a:r>
              <a:rPr lang="en-US" sz="1280" dirty="0">
                <a:solidFill>
                  <a:srgbClr val="1E293B"/>
                </a:solidFill>
                <a:latin typeface="Noto Sans CJK SC" pitchFamily="34" charset="0"/>
                <a:ea typeface="Noto Sans CJK SC" pitchFamily="34" charset="-122"/>
                <a:cs typeface="Noto Sans CJK SC" pitchFamily="34" charset="-120"/>
              </a:rPr>
              <a:t>若 q 与真实坐标 u_p 匹配：</a:t>
            </a:r>
            <a:r>
              <a:rPr lang="en-US" sz="1280" dirty="0">
                <a:solidFill>
                  <a:srgbClr val="FF0000"/>
                </a:solidFill>
                <a:latin typeface="Noto Sans CJK SC" pitchFamily="34" charset="0"/>
                <a:ea typeface="Noto Sans CJK SC" pitchFamily="34" charset="-122"/>
                <a:cs typeface="Noto Sans CJK SC" pitchFamily="34" charset="-120"/>
              </a:rPr>
              <a:t>反向旋转把所有 D[k] 转回同一方向，相加后幅值最大</a:t>
            </a:r>
            <a:r>
              <a:rPr lang="en-US" sz="1280" dirty="0">
                <a:solidFill>
                  <a:srgbClr val="1E293B"/>
                </a:solidFill>
                <a:latin typeface="Noto Sans CJK SC" pitchFamily="34" charset="0"/>
                <a:ea typeface="Noto Sans CJK SC" pitchFamily="34" charset="-122"/>
                <a:cs typeface="Noto Sans CJK SC" pitchFamily="34" charset="-120"/>
              </a:rPr>
              <a:t>。</a:t>
            </a:r>
            <a:endParaRPr lang="en-US" sz="1280" dirty="0"/>
          </a:p>
          <a:p>
            <a:pPr marL="177800" indent="-177800">
              <a:spcAft>
                <a:spcPts val="1100"/>
              </a:spcAft>
              <a:buSzPct val="100000"/>
              <a:buChar char="•"/>
            </a:pPr>
            <a:r>
              <a:rPr lang="en-US" sz="1280" dirty="0">
                <a:solidFill>
                  <a:srgbClr val="1E293B"/>
                </a:solidFill>
                <a:latin typeface="Noto Sans CJK SC" pitchFamily="34" charset="0"/>
                <a:ea typeface="Noto Sans CJK SC" pitchFamily="34" charset="-122"/>
                <a:cs typeface="Noto Sans CJK SC" pitchFamily="34" charset="-120"/>
              </a:rPr>
              <a:t>若 q 不匹配：</a:t>
            </a:r>
            <a:r>
              <a:rPr lang="en-US" sz="1280" dirty="0">
                <a:solidFill>
                  <a:srgbClr val="FF0000"/>
                </a:solidFill>
                <a:latin typeface="Noto Sans CJK SC" pitchFamily="34" charset="0"/>
                <a:ea typeface="Noto Sans CJK SC" pitchFamily="34" charset="-122"/>
                <a:cs typeface="Noto Sans CJK SC" pitchFamily="34" charset="-120"/>
              </a:rPr>
              <a:t>各复数方向分散</a:t>
            </a:r>
            <a:r>
              <a:rPr lang="en-US" sz="1280" dirty="0">
                <a:solidFill>
                  <a:srgbClr val="1E293B"/>
                </a:solidFill>
                <a:latin typeface="Noto Sans CJK SC" pitchFamily="34" charset="0"/>
                <a:ea typeface="Noto Sans CJK SC" pitchFamily="34" charset="-122"/>
                <a:cs typeface="Noto Sans CJK SC" pitchFamily="34" charset="-120"/>
              </a:rPr>
              <a:t>，相加相互抵消，幅值很小。</a:t>
            </a:r>
            <a:endParaRPr lang="en-US" sz="1280" dirty="0"/>
          </a:p>
          <a:p>
            <a:pPr marL="177800" indent="-177800">
              <a:spcAft>
                <a:spcPts val="1100"/>
              </a:spcAft>
              <a:buSzPct val="100000"/>
              <a:buChar char="•"/>
            </a:pPr>
            <a:r>
              <a:rPr lang="en-US" sz="1280" b="1" dirty="0">
                <a:solidFill>
                  <a:srgbClr val="0E7490"/>
                </a:solidFill>
                <a:latin typeface="Noto Sans CJK SC" pitchFamily="34" charset="0"/>
                <a:ea typeface="Noto Sans CJK SC" pitchFamily="34" charset="-122"/>
                <a:cs typeface="Noto Sans CJK SC" pitchFamily="34" charset="-120"/>
              </a:rPr>
              <a:t>因此 —— </a:t>
            </a:r>
            <a:r>
              <a:rPr lang="en-US" sz="1280" b="1" dirty="0">
                <a:solidFill>
                  <a:srgbClr val="FF0000"/>
                </a:solidFill>
                <a:latin typeface="Noto Sans CJK SC" pitchFamily="34" charset="0"/>
                <a:ea typeface="Noto Sans CJK SC" pitchFamily="34" charset="-122"/>
                <a:cs typeface="Noto Sans CJK SC" pitchFamily="34" charset="-120"/>
              </a:rPr>
              <a:t>频谱峰值位置就是投影仪坐标</a:t>
            </a:r>
            <a:r>
              <a:rPr lang="en-US" sz="1280" b="1" dirty="0">
                <a:solidFill>
                  <a:srgbClr val="0E7490"/>
                </a:solidFill>
                <a:latin typeface="Noto Sans CJK SC" pitchFamily="34" charset="0"/>
                <a:ea typeface="Noto Sans CJK SC" pitchFamily="34" charset="-122"/>
                <a:cs typeface="Noto Sans CJK SC" pitchFamily="34" charset="-120"/>
              </a:rPr>
              <a:t>。</a:t>
            </a:r>
            <a:endParaRPr lang="en-US" sz="1280" dirty="0"/>
          </a:p>
        </p:txBody>
      </p:sp>
      <p:sp>
        <p:nvSpPr>
          <p:cNvPr id="6" name="Shape 4"/>
          <p:cNvSpPr/>
          <p:nvPr/>
        </p:nvSpPr>
        <p:spPr>
          <a:xfrm>
            <a:off x="566928" y="4114800"/>
            <a:ext cx="5303520" cy="1865376"/>
          </a:xfrm>
          <a:prstGeom prst="roundRect">
            <a:avLst>
              <a:gd name="adj" fmla="val 4412"/>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768096" y="4224528"/>
            <a:ext cx="3657600" cy="274320"/>
          </a:xfrm>
          <a:prstGeom prst="rect">
            <a:avLst/>
          </a:prstGeom>
          <a:noFill/>
        </p:spPr>
        <p:txBody>
          <a:bodyPr wrap="square" lIns="0" tIns="0" rIns="0" bIns="0" rtlCol="0" anchor="ctr"/>
          <a:lstStyle/>
          <a:p>
            <a:pPr marL="0" indent="0">
              <a:buNone/>
            </a:pPr>
            <a:r>
              <a:rPr lang="en-US" sz="1100" b="1" dirty="0">
                <a:solidFill>
                  <a:srgbClr val="22D3EE"/>
                </a:solidFill>
                <a:latin typeface="Noto Sans CJK SC" pitchFamily="34" charset="0"/>
                <a:ea typeface="Noto Sans CJK SC" pitchFamily="34" charset="-122"/>
                <a:cs typeface="Noto Sans CJK SC" pitchFamily="34" charset="-120"/>
              </a:rPr>
              <a:t>一句话理解 FFT</a:t>
            </a:r>
            <a:endParaRPr lang="en-US" sz="1100" dirty="0"/>
          </a:p>
        </p:txBody>
      </p:sp>
      <p:sp>
        <p:nvSpPr>
          <p:cNvPr id="8" name="Text 6"/>
          <p:cNvSpPr/>
          <p:nvPr/>
        </p:nvSpPr>
        <p:spPr>
          <a:xfrm>
            <a:off x="768096" y="4517136"/>
            <a:ext cx="4846320" cy="676656"/>
          </a:xfrm>
          <a:prstGeom prst="rect">
            <a:avLst/>
          </a:prstGeom>
          <a:noFill/>
        </p:spPr>
        <p:txBody>
          <a:bodyPr wrap="square" lIns="0" tIns="0" rIns="0" bIns="0" rtlCol="0" anchor="ctr"/>
          <a:lstStyle/>
          <a:p>
            <a:pPr marL="0" indent="0">
              <a:lnSpc>
                <a:spcPts val="1700"/>
              </a:lnSpc>
              <a:buNone/>
            </a:pPr>
            <a:r>
              <a:rPr lang="en-US" sz="1200" dirty="0">
                <a:solidFill>
                  <a:srgbClr val="CBD5E1"/>
                </a:solidFill>
                <a:latin typeface="Noto Sans CJK SC" pitchFamily="34" charset="0"/>
                <a:ea typeface="Noto Sans CJK SC" pitchFamily="34" charset="-122"/>
                <a:cs typeface="Noto Sans CJK SC" pitchFamily="34" charset="-120"/>
              </a:rPr>
              <a:t>FFT 就是「同时尝试所有候选旋转速度」，</a:t>
            </a:r>
            <a:endParaRPr lang="en-US" sz="1200" dirty="0"/>
          </a:p>
          <a:p>
            <a:pPr marL="0" indent="0">
              <a:lnSpc>
                <a:spcPts val="1700"/>
              </a:lnSpc>
              <a:buNone/>
            </a:pPr>
            <a:r>
              <a:rPr lang="en-US" sz="1200" dirty="0">
                <a:solidFill>
                  <a:srgbClr val="CBD5E1"/>
                </a:solidFill>
                <a:latin typeface="Noto Sans CJK SC" pitchFamily="34" charset="0"/>
                <a:ea typeface="Noto Sans CJK SC" pitchFamily="34" charset="-122"/>
                <a:cs typeface="Noto Sans CJK SC" pitchFamily="34" charset="-120"/>
              </a:rPr>
              <a:t>并报告哪一种速度让频率轴信号「方向最对齐」。</a:t>
            </a:r>
            <a:endParaRPr lang="en-US" sz="1200" dirty="0"/>
          </a:p>
        </p:txBody>
      </p:sp>
      <p:sp>
        <p:nvSpPr>
          <p:cNvPr id="9" name="Shape 7"/>
          <p:cNvSpPr/>
          <p:nvPr/>
        </p:nvSpPr>
        <p:spPr>
          <a:xfrm>
            <a:off x="768096" y="5248656"/>
            <a:ext cx="4809744" cy="566928"/>
          </a:xfrm>
          <a:prstGeom prst="roundRect">
            <a:avLst>
              <a:gd name="adj" fmla="val 1129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0" name="Text 8"/>
          <p:cNvSpPr/>
          <p:nvPr/>
        </p:nvSpPr>
        <p:spPr>
          <a:xfrm>
            <a:off x="859536" y="5248656"/>
            <a:ext cx="4626864" cy="566928"/>
          </a:xfrm>
          <a:prstGeom prst="rect">
            <a:avLst/>
          </a:prstGeom>
          <a:noFill/>
        </p:spPr>
        <p:txBody>
          <a:bodyPr wrap="square" lIns="0" tIns="0" rIns="0" bIns="0" rtlCol="0" anchor="ctr"/>
          <a:lstStyle/>
          <a:p>
            <a:pPr marL="0" indent="0" algn="ctr">
              <a:buNone/>
            </a:pPr>
            <a:r>
              <a:rPr lang="en-US" sz="1300" b="1" dirty="0">
                <a:solidFill>
                  <a:srgbClr val="22D3EE"/>
                </a:solidFill>
                <a:latin typeface="Noto Sans CJK SC" pitchFamily="34" charset="0"/>
                <a:ea typeface="Noto Sans CJK SC" pitchFamily="34" charset="-122"/>
                <a:cs typeface="Noto Sans CJK SC" pitchFamily="34" charset="-120"/>
              </a:rPr>
              <a:t>频谱峰值位置  =  投影仪坐标</a:t>
            </a:r>
            <a:endParaRPr lang="en-US" sz="1300" dirty="0"/>
          </a:p>
        </p:txBody>
      </p:sp>
      <p:sp>
        <p:nvSpPr>
          <p:cNvPr id="11" name="Shape 9"/>
          <p:cNvSpPr/>
          <p:nvPr/>
        </p:nvSpPr>
        <p:spPr>
          <a:xfrm>
            <a:off x="6053328" y="1645920"/>
            <a:ext cx="5577840" cy="4315968"/>
          </a:xfrm>
          <a:prstGeom prst="roundRect">
            <a:avLst>
              <a:gd name="adj" fmla="val 190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254496" y="1792224"/>
            <a:ext cx="521208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方向对齐 vs 方向分散</a:t>
            </a:r>
            <a:endParaRPr lang="en-US" sz="1200" dirty="0"/>
          </a:p>
        </p:txBody>
      </p:sp>
      <p:pic>
        <p:nvPicPr>
          <p:cNvPr id="13" name="Image 0" descr="/home/claude/work/assets/fig_fft_align.png"/>
          <p:cNvPicPr>
            <a:picLocks noChangeAspect="1"/>
          </p:cNvPicPr>
          <p:nvPr/>
        </p:nvPicPr>
        <p:blipFill>
          <a:blip r:embed="rId1"/>
          <a:stretch>
            <a:fillRect/>
          </a:stretch>
        </p:blipFill>
        <p:spPr>
          <a:xfrm>
            <a:off x="6254496" y="2432304"/>
            <a:ext cx="5166360" cy="2341367"/>
          </a:xfrm>
          <a:prstGeom prst="rect">
            <a:avLst/>
          </a:prstGeom>
        </p:spPr>
      </p:pic>
      <p:sp>
        <p:nvSpPr>
          <p:cNvPr id="14" name="Shape 11"/>
          <p:cNvSpPr/>
          <p:nvPr/>
        </p:nvSpPr>
        <p:spPr>
          <a:xfrm>
            <a:off x="6254496" y="4572000"/>
            <a:ext cx="5175504" cy="1243584"/>
          </a:xfrm>
          <a:prstGeom prst="roundRect">
            <a:avLst>
              <a:gd name="adj" fmla="val 6618"/>
            </a:avLst>
          </a:prstGeom>
          <a:solidFill>
            <a:srgbClr val="F2F5F9"/>
          </a:solidFill>
          <a:ln w="12700">
            <a:solidFill>
              <a:srgbClr val="E2E8F0"/>
            </a:solidFill>
            <a:prstDash val="solid"/>
          </a:ln>
        </p:spPr>
        <p:txBody>
          <a:bodyPr/>
          <a:lstStyle/>
          <a:p>
            <a:endParaRPr lang="zh-CN" altLang="en-US"/>
          </a:p>
        </p:txBody>
      </p:sp>
      <p:sp>
        <p:nvSpPr>
          <p:cNvPr id="15" name="Text 12"/>
          <p:cNvSpPr/>
          <p:nvPr/>
        </p:nvSpPr>
        <p:spPr>
          <a:xfrm>
            <a:off x="6437376" y="4572000"/>
            <a:ext cx="4846320" cy="1243584"/>
          </a:xfrm>
          <a:prstGeom prst="rect">
            <a:avLst/>
          </a:prstGeom>
          <a:noFill/>
        </p:spPr>
        <p:txBody>
          <a:bodyPr wrap="square" lIns="0" tIns="0" rIns="0" bIns="0" rtlCol="0" anchor="ctr"/>
          <a:lstStyle/>
          <a:p>
            <a:pPr marL="0" indent="0">
              <a:lnSpc>
                <a:spcPts val="1500"/>
              </a:lnSpc>
              <a:buNone/>
            </a:pPr>
            <a:r>
              <a:rPr lang="en-US" sz="1050" dirty="0">
                <a:solidFill>
                  <a:srgbClr val="1E293B"/>
                </a:solidFill>
                <a:latin typeface="Noto Sans CJK SC" pitchFamily="34" charset="0"/>
                <a:ea typeface="Noto Sans CJK SC" pitchFamily="34" charset="-122"/>
                <a:cs typeface="Noto Sans CJK SC" pitchFamily="34" charset="-120"/>
              </a:rPr>
              <a:t>绿色 / 红色箭头为各 D[k] </a:t>
            </a:r>
            <a:r>
              <a:rPr lang="en-US" sz="1050" dirty="0">
                <a:solidFill>
                  <a:srgbClr val="FF0000"/>
                </a:solidFill>
                <a:latin typeface="Noto Sans CJK SC" pitchFamily="34" charset="0"/>
                <a:ea typeface="Noto Sans CJK SC" pitchFamily="34" charset="-122"/>
                <a:cs typeface="Noto Sans CJK SC" pitchFamily="34" charset="-120"/>
              </a:rPr>
              <a:t>反向旋转后的相加结果</a:t>
            </a:r>
            <a:r>
              <a:rPr lang="en-US" sz="1050" dirty="0">
                <a:solidFill>
                  <a:srgbClr val="1E293B"/>
                </a:solidFill>
                <a:latin typeface="Noto Sans CJK SC" pitchFamily="34" charset="0"/>
                <a:ea typeface="Noto Sans CJK SC" pitchFamily="34" charset="-122"/>
                <a:cs typeface="Noto Sans CJK SC" pitchFamily="34" charset="-120"/>
              </a:rPr>
              <a:t>：对齐时合成向量长，</a:t>
            </a:r>
            <a:endParaRPr lang="en-US" sz="1050" dirty="0"/>
          </a:p>
          <a:p>
            <a:pPr marL="0" indent="0">
              <a:lnSpc>
                <a:spcPts val="1500"/>
              </a:lnSpc>
              <a:buNone/>
            </a:pPr>
            <a:r>
              <a:rPr lang="en-US" sz="1050" dirty="0">
                <a:solidFill>
                  <a:srgbClr val="1E293B"/>
                </a:solidFill>
                <a:latin typeface="Noto Sans CJK SC" pitchFamily="34" charset="0"/>
                <a:ea typeface="Noto Sans CJK SC" pitchFamily="34" charset="-122"/>
                <a:cs typeface="Noto Sans CJK SC" pitchFamily="34" charset="-120"/>
              </a:rPr>
              <a:t>分散时合成向量几乎为零 —— 这正是峰值的来源。</a:t>
            </a:r>
            <a:endParaRPr lang="en-US" sz="1050" dirty="0"/>
          </a:p>
        </p:txBody>
      </p:sp>
      <p:sp>
        <p:nvSpPr>
          <p:cNvPr id="16" name="Text 1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7" name="Text 1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18" name="Text 1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17 / 42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数学细节</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FF0000"/>
                </a:solidFill>
                <a:latin typeface="Noto Sans CJK SC" pitchFamily="34" charset="0"/>
                <a:ea typeface="Noto Sans CJK SC" pitchFamily="34" charset="-122"/>
                <a:cs typeface="Noto Sans CJK SC" pitchFamily="34" charset="-120"/>
              </a:rPr>
              <a:t>反向旋转</a:t>
            </a:r>
            <a:r>
              <a:rPr lang="en-US" sz="2900" b="1" dirty="0">
                <a:solidFill>
                  <a:srgbClr val="0E2A47"/>
                </a:solidFill>
                <a:latin typeface="Noto Sans CJK SC" pitchFamily="34" charset="0"/>
                <a:ea typeface="Noto Sans CJK SC" pitchFamily="34" charset="-122"/>
                <a:cs typeface="Noto Sans CJK SC" pitchFamily="34" charset="-120"/>
              </a:rPr>
              <a:t> · </a:t>
            </a:r>
            <a:r>
              <a:rPr lang="en-US" sz="2900" b="1" dirty="0">
                <a:solidFill>
                  <a:srgbClr val="FF0000"/>
                </a:solidFill>
                <a:latin typeface="Noto Sans CJK SC" pitchFamily="34" charset="0"/>
                <a:ea typeface="Noto Sans CJK SC" pitchFamily="34" charset="-122"/>
                <a:cs typeface="Noto Sans CJK SC" pitchFamily="34" charset="-120"/>
              </a:rPr>
              <a:t>转回来</a:t>
            </a:r>
            <a:r>
              <a:rPr lang="en-US" sz="2900" b="1" dirty="0">
                <a:solidFill>
                  <a:srgbClr val="0E2A47"/>
                </a:solidFill>
                <a:latin typeface="Noto Sans CJK SC" pitchFamily="34" charset="0"/>
                <a:ea typeface="Noto Sans CJK SC" pitchFamily="34" charset="-122"/>
                <a:cs typeface="Noto Sans CJK SC" pitchFamily="34" charset="-120"/>
              </a:rPr>
              <a:t> · </a:t>
            </a:r>
            <a:r>
              <a:rPr lang="en-US" sz="2900" b="1" dirty="0">
                <a:solidFill>
                  <a:srgbClr val="FF0000"/>
                </a:solidFill>
                <a:latin typeface="Noto Sans CJK SC" pitchFamily="34" charset="0"/>
                <a:ea typeface="Noto Sans CJK SC" pitchFamily="34" charset="-122"/>
                <a:cs typeface="Noto Sans CJK SC" pitchFamily="34" charset="-120"/>
              </a:rPr>
              <a:t>方向对齐</a:t>
            </a:r>
            <a:endParaRPr lang="en-US" sz="2900" dirty="0">
              <a:solidFill>
                <a:srgbClr val="FF0000"/>
              </a:solidFill>
            </a:endParaRPr>
          </a:p>
        </p:txBody>
      </p:sp>
      <p:sp>
        <p:nvSpPr>
          <p:cNvPr id="5" name="Shape 3"/>
          <p:cNvSpPr/>
          <p:nvPr/>
        </p:nvSpPr>
        <p:spPr>
          <a:xfrm>
            <a:off x="566928" y="1591056"/>
            <a:ext cx="11055096" cy="786384"/>
          </a:xfrm>
          <a:prstGeom prst="roundRect">
            <a:avLst>
              <a:gd name="adj" fmla="val 814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658368" y="1591056"/>
            <a:ext cx="10872216" cy="786384"/>
          </a:xfrm>
          <a:prstGeom prst="rect">
            <a:avLst/>
          </a:prstGeom>
          <a:noFill/>
        </p:spPr>
        <p:txBody>
          <a:bodyPr wrap="square" lIns="0" tIns="0" rIns="0" bIns="0" rtlCol="0" anchor="ctr"/>
          <a:lstStyle/>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C[q]  =  Σ_k  signal[k] · </a:t>
            </a:r>
            <a:r>
              <a:rPr lang="en-US" sz="1800" b="1" dirty="0">
                <a:solidFill>
                  <a:srgbClr val="FF0000"/>
                </a:solidFill>
                <a:latin typeface="Noto Sans CJK SC" pitchFamily="34" charset="0"/>
                <a:ea typeface="Noto Sans CJK SC" pitchFamily="34" charset="-122"/>
                <a:cs typeface="Noto Sans CJK SC" pitchFamily="34" charset="-120"/>
              </a:rPr>
              <a:t>exp( − j · 2π·q·k / N )</a:t>
            </a:r>
            <a:endParaRPr lang="en-US" sz="1800" dirty="0">
              <a:solidFill>
                <a:srgbClr val="FF0000"/>
              </a:solidFill>
            </a:endParaRPr>
          </a:p>
        </p:txBody>
      </p:sp>
      <p:sp>
        <p:nvSpPr>
          <p:cNvPr id="7" name="Text 5"/>
          <p:cNvSpPr/>
          <p:nvPr/>
        </p:nvSpPr>
        <p:spPr>
          <a:xfrm>
            <a:off x="566928" y="2432304"/>
            <a:ext cx="10972800" cy="274320"/>
          </a:xfrm>
          <a:prstGeom prst="rect">
            <a:avLst/>
          </a:prstGeom>
          <a:noFill/>
        </p:spPr>
        <p:txBody>
          <a:bodyPr wrap="square" lIns="0" tIns="0" rIns="0" bIns="0" rtlCol="0" anchor="ctr"/>
          <a:lstStyle/>
          <a:p>
            <a:pPr marL="0" indent="0">
              <a:buNone/>
            </a:pPr>
            <a:r>
              <a:rPr lang="en-US" sz="1050" dirty="0">
                <a:solidFill>
                  <a:srgbClr val="94A3B8"/>
                </a:solidFill>
                <a:latin typeface="Noto Sans CJK SC" pitchFamily="34" charset="0"/>
                <a:ea typeface="Noto Sans CJK SC" pitchFamily="34" charset="-122"/>
                <a:cs typeface="Noto Sans CJK SC" pitchFamily="34" charset="-120"/>
              </a:rPr>
              <a:t>DFT 定义式 —— </a:t>
            </a:r>
            <a:r>
              <a:rPr lang="en-US" sz="1050" dirty="0">
                <a:solidFill>
                  <a:srgbClr val="FF0000"/>
                </a:solidFill>
                <a:latin typeface="Noto Sans CJK SC" pitchFamily="34" charset="0"/>
                <a:ea typeface="Noto Sans CJK SC" pitchFamily="34" charset="-122"/>
                <a:cs typeface="Noto Sans CJK SC" pitchFamily="34" charset="-120"/>
              </a:rPr>
              <a:t>exp(−j…) 就是对每个样本施加的「反向旋转」</a:t>
            </a:r>
            <a:endParaRPr lang="en-US" sz="1050" dirty="0">
              <a:solidFill>
                <a:srgbClr val="FF0000"/>
              </a:solidFill>
            </a:endParaRPr>
          </a:p>
        </p:txBody>
      </p:sp>
      <p:sp>
        <p:nvSpPr>
          <p:cNvPr id="8" name="Shape 6"/>
          <p:cNvSpPr/>
          <p:nvPr/>
        </p:nvSpPr>
        <p:spPr>
          <a:xfrm>
            <a:off x="566928" y="2889504"/>
            <a:ext cx="5376672" cy="3054096"/>
          </a:xfrm>
          <a:prstGeom prst="roundRect">
            <a:avLst>
              <a:gd name="adj" fmla="val 2695"/>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Shape 7"/>
          <p:cNvSpPr/>
          <p:nvPr/>
        </p:nvSpPr>
        <p:spPr>
          <a:xfrm>
            <a:off x="566928" y="2889504"/>
            <a:ext cx="5376672" cy="91440"/>
          </a:xfrm>
          <a:prstGeom prst="rect">
            <a:avLst/>
          </a:prstGeom>
          <a:solidFill>
            <a:srgbClr val="22C55E"/>
          </a:solidFill>
          <a:ln w="12700">
            <a:solidFill>
              <a:srgbClr val="22C55E"/>
            </a:solidFill>
            <a:prstDash val="solid"/>
          </a:ln>
        </p:spPr>
        <p:txBody>
          <a:bodyPr/>
          <a:lstStyle/>
          <a:p>
            <a:endParaRPr lang="zh-CN" altLang="en-US"/>
          </a:p>
        </p:txBody>
      </p:sp>
      <p:sp>
        <p:nvSpPr>
          <p:cNvPr id="10" name="Text 8"/>
          <p:cNvSpPr/>
          <p:nvPr/>
        </p:nvSpPr>
        <p:spPr>
          <a:xfrm>
            <a:off x="822960" y="3072384"/>
            <a:ext cx="4919472" cy="365760"/>
          </a:xfrm>
          <a:prstGeom prst="rect">
            <a:avLst/>
          </a:prstGeom>
          <a:noFill/>
        </p:spPr>
        <p:txBody>
          <a:bodyPr wrap="square" lIns="0" tIns="0" rIns="0" bIns="0" rtlCol="0" anchor="ctr"/>
          <a:lstStyle/>
          <a:p>
            <a:pPr marL="0" indent="0">
              <a:buNone/>
            </a:pPr>
            <a:r>
              <a:rPr lang="en-US" sz="1500" b="1" dirty="0">
                <a:solidFill>
                  <a:srgbClr val="22C55E"/>
                </a:solidFill>
                <a:latin typeface="Noto Sans CJK SC" pitchFamily="34" charset="0"/>
                <a:ea typeface="Noto Sans CJK SC" pitchFamily="34" charset="-122"/>
                <a:cs typeface="Noto Sans CJK SC" pitchFamily="34" charset="-120"/>
              </a:rPr>
              <a:t>q = u_p   正确</a:t>
            </a:r>
            <a:endParaRPr lang="en-US" sz="1500" dirty="0"/>
          </a:p>
        </p:txBody>
      </p:sp>
      <p:sp>
        <p:nvSpPr>
          <p:cNvPr id="11" name="Shape 9"/>
          <p:cNvSpPr/>
          <p:nvPr/>
        </p:nvSpPr>
        <p:spPr>
          <a:xfrm>
            <a:off x="822960" y="3547872"/>
            <a:ext cx="4864608" cy="566928"/>
          </a:xfrm>
          <a:prstGeom prst="roundRect">
            <a:avLst>
              <a:gd name="adj" fmla="val 9677"/>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1024128" y="3675888"/>
            <a:ext cx="4498848" cy="310896"/>
          </a:xfrm>
          <a:prstGeom prst="rect">
            <a:avLst/>
          </a:prstGeom>
          <a:noFill/>
        </p:spPr>
        <p:txBody>
          <a:bodyPr wrap="square" lIns="0" tIns="0" rIns="0" bIns="0" rtlCol="0" anchor="t"/>
          <a:lstStyle/>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signal[k] = A·exp(j·2π·u_p·k/N)</a:t>
            </a:r>
            <a:endParaRPr lang="en-US" sz="1000" dirty="0"/>
          </a:p>
        </p:txBody>
      </p:sp>
      <p:sp>
        <p:nvSpPr>
          <p:cNvPr id="13" name="Text 11"/>
          <p:cNvSpPr/>
          <p:nvPr/>
        </p:nvSpPr>
        <p:spPr>
          <a:xfrm>
            <a:off x="822960" y="4261104"/>
            <a:ext cx="4864608" cy="768096"/>
          </a:xfrm>
          <a:prstGeom prst="rect">
            <a:avLst/>
          </a:prstGeom>
          <a:noFill/>
        </p:spPr>
        <p:txBody>
          <a:bodyPr wrap="square" lIns="0" tIns="0" rIns="0" bIns="0" rtlCol="0" anchor="ctr"/>
          <a:lstStyle/>
          <a:p>
            <a:pPr marL="0" indent="0">
              <a:lnSpc>
                <a:spcPts val="1600"/>
              </a:lnSpc>
              <a:buNone/>
            </a:pPr>
            <a:r>
              <a:rPr lang="en-US" sz="1150" dirty="0">
                <a:solidFill>
                  <a:srgbClr val="FF0000"/>
                </a:solidFill>
                <a:latin typeface="Noto Sans CJK SC" pitchFamily="34" charset="0"/>
                <a:ea typeface="Noto Sans CJK SC" pitchFamily="34" charset="-122"/>
                <a:cs typeface="Noto Sans CJK SC" pitchFamily="34" charset="-120"/>
              </a:rPr>
              <a:t>反向旋转项 exp(−j·2π·q·k/N) 与信号相位精确抵消，每一项都变成 A</a:t>
            </a:r>
            <a:r>
              <a:rPr lang="en-US" sz="1150" dirty="0">
                <a:solidFill>
                  <a:srgbClr val="1E293B"/>
                </a:solidFill>
                <a:latin typeface="Noto Sans CJK SC" pitchFamily="34" charset="0"/>
                <a:ea typeface="Noto Sans CJK SC" pitchFamily="34" charset="-122"/>
                <a:cs typeface="Noto Sans CJK SC" pitchFamily="34" charset="-120"/>
              </a:rPr>
              <a:t>。</a:t>
            </a:r>
            <a:endParaRPr lang="en-US" sz="1150" dirty="0"/>
          </a:p>
        </p:txBody>
      </p:sp>
      <p:sp>
        <p:nvSpPr>
          <p:cNvPr id="14" name="Shape 12"/>
          <p:cNvSpPr/>
          <p:nvPr/>
        </p:nvSpPr>
        <p:spPr>
          <a:xfrm>
            <a:off x="822960" y="5029200"/>
            <a:ext cx="4864608" cy="713232"/>
          </a:xfrm>
          <a:prstGeom prst="roundRect">
            <a:avLst>
              <a:gd name="adj" fmla="val 11538"/>
            </a:avLst>
          </a:prstGeom>
          <a:solidFill>
            <a:srgbClr val="F2F5F9"/>
          </a:solidFill>
          <a:ln w="12700">
            <a:solidFill>
              <a:srgbClr val="E2E8F0"/>
            </a:solidFill>
            <a:prstDash val="solid"/>
          </a:ln>
        </p:spPr>
        <p:txBody>
          <a:bodyPr/>
          <a:lstStyle/>
          <a:p>
            <a:endParaRPr lang="zh-CN" altLang="en-US"/>
          </a:p>
        </p:txBody>
      </p:sp>
      <p:sp>
        <p:nvSpPr>
          <p:cNvPr id="15" name="Text 13"/>
          <p:cNvSpPr/>
          <p:nvPr/>
        </p:nvSpPr>
        <p:spPr>
          <a:xfrm>
            <a:off x="969264" y="5029200"/>
            <a:ext cx="4608576" cy="713232"/>
          </a:xfrm>
          <a:prstGeom prst="rect">
            <a:avLst/>
          </a:prstGeom>
          <a:noFill/>
        </p:spPr>
        <p:txBody>
          <a:bodyPr wrap="square" lIns="0" tIns="0" rIns="0" bIns="0" rtlCol="0" anchor="ctr"/>
          <a:lstStyle/>
          <a:p>
            <a:pPr marL="0" indent="0">
              <a:lnSpc>
                <a:spcPts val="1400"/>
              </a:lnSpc>
              <a:buNone/>
            </a:pPr>
            <a:r>
              <a:rPr lang="en-US" sz="1100" b="1" dirty="0">
                <a:solidFill>
                  <a:srgbClr val="22C55E"/>
                </a:solidFill>
                <a:latin typeface="Noto Sans CJK SC" pitchFamily="34" charset="0"/>
                <a:ea typeface="Noto Sans CJK SC" pitchFamily="34" charset="-122"/>
                <a:cs typeface="Noto Sans CJK SC" pitchFamily="34" charset="-120"/>
              </a:rPr>
              <a:t>C[q] = A + A + … + A   →   幅值最大，形成主峰</a:t>
            </a:r>
            <a:endParaRPr lang="en-US" sz="1100" dirty="0"/>
          </a:p>
        </p:txBody>
      </p:sp>
      <p:sp>
        <p:nvSpPr>
          <p:cNvPr id="16" name="Shape 14"/>
          <p:cNvSpPr/>
          <p:nvPr/>
        </p:nvSpPr>
        <p:spPr>
          <a:xfrm>
            <a:off x="6245352" y="2889504"/>
            <a:ext cx="5376672" cy="3054096"/>
          </a:xfrm>
          <a:prstGeom prst="roundRect">
            <a:avLst>
              <a:gd name="adj" fmla="val 2695"/>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7" name="Shape 15"/>
          <p:cNvSpPr/>
          <p:nvPr/>
        </p:nvSpPr>
        <p:spPr>
          <a:xfrm>
            <a:off x="6245352" y="2889504"/>
            <a:ext cx="5376672" cy="91440"/>
          </a:xfrm>
          <a:prstGeom prst="rect">
            <a:avLst/>
          </a:prstGeom>
          <a:solidFill>
            <a:srgbClr val="EF4444"/>
          </a:solidFill>
          <a:ln w="12700">
            <a:solidFill>
              <a:srgbClr val="EF4444"/>
            </a:solidFill>
            <a:prstDash val="solid"/>
          </a:ln>
        </p:spPr>
        <p:txBody>
          <a:bodyPr/>
          <a:lstStyle/>
          <a:p>
            <a:endParaRPr lang="zh-CN" altLang="en-US"/>
          </a:p>
        </p:txBody>
      </p:sp>
      <p:sp>
        <p:nvSpPr>
          <p:cNvPr id="18" name="Text 16"/>
          <p:cNvSpPr/>
          <p:nvPr/>
        </p:nvSpPr>
        <p:spPr>
          <a:xfrm>
            <a:off x="6501384" y="3072384"/>
            <a:ext cx="4919472" cy="365760"/>
          </a:xfrm>
          <a:prstGeom prst="rect">
            <a:avLst/>
          </a:prstGeom>
          <a:noFill/>
        </p:spPr>
        <p:txBody>
          <a:bodyPr wrap="square" lIns="0" tIns="0" rIns="0" bIns="0" rtlCol="0" anchor="ctr"/>
          <a:lstStyle/>
          <a:p>
            <a:pPr marL="0" indent="0">
              <a:buNone/>
            </a:pPr>
            <a:r>
              <a:rPr lang="en-US" sz="1500" b="1" dirty="0">
                <a:solidFill>
                  <a:srgbClr val="EF4444"/>
                </a:solidFill>
                <a:latin typeface="Noto Sans CJK SC" pitchFamily="34" charset="0"/>
                <a:ea typeface="Noto Sans CJK SC" pitchFamily="34" charset="-122"/>
                <a:cs typeface="Noto Sans CJK SC" pitchFamily="34" charset="-120"/>
              </a:rPr>
              <a:t>q ≠ u_p   错误</a:t>
            </a:r>
            <a:endParaRPr lang="en-US" sz="1500" dirty="0"/>
          </a:p>
        </p:txBody>
      </p:sp>
      <p:sp>
        <p:nvSpPr>
          <p:cNvPr id="19" name="Shape 17"/>
          <p:cNvSpPr/>
          <p:nvPr/>
        </p:nvSpPr>
        <p:spPr>
          <a:xfrm>
            <a:off x="6501384" y="3547872"/>
            <a:ext cx="4864608" cy="566928"/>
          </a:xfrm>
          <a:prstGeom prst="roundRect">
            <a:avLst>
              <a:gd name="adj" fmla="val 9677"/>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0" name="Text 18"/>
          <p:cNvSpPr/>
          <p:nvPr/>
        </p:nvSpPr>
        <p:spPr>
          <a:xfrm>
            <a:off x="6702552" y="3675888"/>
            <a:ext cx="4498848" cy="310896"/>
          </a:xfrm>
          <a:prstGeom prst="rect">
            <a:avLst/>
          </a:prstGeom>
          <a:noFill/>
        </p:spPr>
        <p:txBody>
          <a:bodyPr wrap="square" lIns="0" tIns="0" rIns="0" bIns="0" rtlCol="0" anchor="t"/>
          <a:lstStyle/>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残余相位 = 2π·(u_p−q)·k/N ≠ 0</a:t>
            </a:r>
            <a:endParaRPr lang="en-US" sz="1000" dirty="0"/>
          </a:p>
        </p:txBody>
      </p:sp>
      <p:sp>
        <p:nvSpPr>
          <p:cNvPr id="21" name="Text 19"/>
          <p:cNvSpPr/>
          <p:nvPr/>
        </p:nvSpPr>
        <p:spPr>
          <a:xfrm>
            <a:off x="6501384" y="4261104"/>
            <a:ext cx="4864608" cy="768096"/>
          </a:xfrm>
          <a:prstGeom prst="rect">
            <a:avLst/>
          </a:prstGeom>
          <a:noFill/>
        </p:spPr>
        <p:txBody>
          <a:bodyPr wrap="square" lIns="0" tIns="0" rIns="0" bIns="0" rtlCol="0" anchor="ctr"/>
          <a:lstStyle/>
          <a:p>
            <a:pPr marL="0" indent="0">
              <a:lnSpc>
                <a:spcPts val="1600"/>
              </a:lnSpc>
              <a:buNone/>
            </a:pPr>
            <a:r>
              <a:rPr lang="en-US" sz="1150" dirty="0">
                <a:solidFill>
                  <a:srgbClr val="FF0000"/>
                </a:solidFill>
                <a:latin typeface="Noto Sans CJK SC" pitchFamily="34" charset="0"/>
                <a:ea typeface="Noto Sans CJK SC" pitchFamily="34" charset="-122"/>
                <a:cs typeface="Noto Sans CJK SC" pitchFamily="34" charset="-120"/>
              </a:rPr>
              <a:t>反向旋转无法抵消信号相位</a:t>
            </a:r>
            <a:r>
              <a:rPr lang="en-US" sz="1150" dirty="0">
                <a:solidFill>
                  <a:srgbClr val="1E293B"/>
                </a:solidFill>
                <a:latin typeface="Noto Sans CJK SC" pitchFamily="34" charset="0"/>
                <a:ea typeface="Noto Sans CJK SC" pitchFamily="34" charset="-122"/>
                <a:cs typeface="Noto Sans CJK SC" pitchFamily="34" charset="-120"/>
              </a:rPr>
              <a:t>，各 k 项指向不同方向。</a:t>
            </a:r>
            <a:endParaRPr lang="en-US" sz="1150" dirty="0"/>
          </a:p>
        </p:txBody>
      </p:sp>
      <p:sp>
        <p:nvSpPr>
          <p:cNvPr id="22" name="Shape 20"/>
          <p:cNvSpPr/>
          <p:nvPr/>
        </p:nvSpPr>
        <p:spPr>
          <a:xfrm>
            <a:off x="6501384" y="5029200"/>
            <a:ext cx="4864608" cy="713232"/>
          </a:xfrm>
          <a:prstGeom prst="roundRect">
            <a:avLst>
              <a:gd name="adj" fmla="val 11538"/>
            </a:avLst>
          </a:prstGeom>
          <a:solidFill>
            <a:srgbClr val="F2F5F9"/>
          </a:solidFill>
          <a:ln w="12700">
            <a:solidFill>
              <a:srgbClr val="E2E8F0"/>
            </a:solidFill>
            <a:prstDash val="solid"/>
          </a:ln>
        </p:spPr>
        <p:txBody>
          <a:bodyPr/>
          <a:lstStyle/>
          <a:p>
            <a:endParaRPr lang="zh-CN" altLang="en-US"/>
          </a:p>
        </p:txBody>
      </p:sp>
      <p:sp>
        <p:nvSpPr>
          <p:cNvPr id="23" name="Text 21"/>
          <p:cNvSpPr/>
          <p:nvPr/>
        </p:nvSpPr>
        <p:spPr>
          <a:xfrm>
            <a:off x="6647688" y="5029200"/>
            <a:ext cx="4608576" cy="713232"/>
          </a:xfrm>
          <a:prstGeom prst="rect">
            <a:avLst/>
          </a:prstGeom>
          <a:noFill/>
        </p:spPr>
        <p:txBody>
          <a:bodyPr wrap="square" lIns="0" tIns="0" rIns="0" bIns="0" rtlCol="0" anchor="ctr"/>
          <a:lstStyle/>
          <a:p>
            <a:pPr marL="0" indent="0">
              <a:lnSpc>
                <a:spcPts val="1400"/>
              </a:lnSpc>
              <a:buNone/>
            </a:pPr>
            <a:r>
              <a:rPr lang="en-US" sz="1100" b="1" dirty="0">
                <a:solidFill>
                  <a:srgbClr val="EF4444"/>
                </a:solidFill>
                <a:latin typeface="Noto Sans CJK SC" pitchFamily="34" charset="0"/>
                <a:ea typeface="Noto Sans CJK SC" pitchFamily="34" charset="-122"/>
                <a:cs typeface="Noto Sans CJK SC" pitchFamily="34" charset="-120"/>
              </a:rPr>
              <a:t>复数相加相互抵消   →   幅值很小，不形成峰</a:t>
            </a:r>
            <a:endParaRPr lang="en-US" sz="1100" dirty="0"/>
          </a:p>
        </p:txBody>
      </p:sp>
      <p:sp>
        <p:nvSpPr>
          <p:cNvPr id="24" name="Text 22"/>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5" name="Text 23"/>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26" name="Text 24"/>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18 / 42</a:t>
            </a:r>
            <a:endParaRPr lang="en-US" sz="850" dirty="0"/>
          </a:p>
        </p:txBody>
      </p:sp>
      <p:sp>
        <p:nvSpPr>
          <p:cNvPr id="27" name="Shape 4"/>
          <p:cNvSpPr/>
          <p:nvPr/>
        </p:nvSpPr>
        <p:spPr>
          <a:xfrm>
            <a:off x="5303520" y="694944"/>
            <a:ext cx="6309360" cy="713232"/>
          </a:xfrm>
          <a:prstGeom prst="roundRect">
            <a:avLst>
              <a:gd name="adj" fmla="val 89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8" name="Text 5"/>
          <p:cNvSpPr/>
          <p:nvPr/>
        </p:nvSpPr>
        <p:spPr>
          <a:xfrm>
            <a:off x="5394960" y="694944"/>
            <a:ext cx="6091796" cy="713232"/>
          </a:xfrm>
          <a:prstGeom prst="rect">
            <a:avLst/>
          </a:prstGeom>
          <a:noFill/>
        </p:spPr>
        <p:txBody>
          <a:bodyPr wrap="square" lIns="0" tIns="0" rIns="0" bIns="0" rtlCol="0" anchor="ctr"/>
          <a:lstStyle/>
          <a:p>
            <a:pPr marL="0" indent="0" algn="ctr">
              <a:buNone/>
            </a:pPr>
            <a:r>
              <a:rPr lang="en-US" sz="1600" b="1" dirty="0">
                <a:solidFill>
                  <a:srgbClr val="22D3EE"/>
                </a:solidFill>
                <a:latin typeface="DejaVu Sans Mono" pitchFamily="34" charset="0"/>
                <a:ea typeface="DejaVu Sans Mono" pitchFamily="34" charset="-122"/>
                <a:cs typeface="DejaVu Sans Mono" pitchFamily="34" charset="-120"/>
              </a:rPr>
              <a:t>signal  =  D[ : , y, x ]</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代码语义</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np.fft.fft 与 np.abs 的含义</a:t>
            </a:r>
            <a:endParaRPr lang="en-US" sz="2900" dirty="0"/>
          </a:p>
        </p:txBody>
      </p:sp>
      <p:sp>
        <p:nvSpPr>
          <p:cNvPr id="5" name="Shape 3"/>
          <p:cNvSpPr/>
          <p:nvPr/>
        </p:nvSpPr>
        <p:spPr>
          <a:xfrm>
            <a:off x="566928" y="1664208"/>
            <a:ext cx="5669280" cy="1371600"/>
          </a:xfrm>
          <a:prstGeom prst="roundRect">
            <a:avLst>
              <a:gd name="adj" fmla="val 4000"/>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768096" y="1792224"/>
            <a:ext cx="5303520" cy="1115568"/>
          </a:xfrm>
          <a:prstGeom prst="rect">
            <a:avLst/>
          </a:prstGeom>
          <a:noFill/>
        </p:spPr>
        <p:txBody>
          <a:bodyPr wrap="square" lIns="0" tIns="0" rIns="0" bIns="0" rtlCol="0" anchor="t"/>
          <a:lstStyle/>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C = np.fft.fft(signal, n=fft_length)</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C_magnitude = np.abs(C)</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freq_index  = np.argmax(C_magnitude)</a:t>
            </a:r>
            <a:endParaRPr lang="en-US" sz="1100" dirty="0"/>
          </a:p>
        </p:txBody>
      </p:sp>
      <p:sp>
        <p:nvSpPr>
          <p:cNvPr id="7" name="Shape 5"/>
          <p:cNvSpPr/>
          <p:nvPr/>
        </p:nvSpPr>
        <p:spPr>
          <a:xfrm>
            <a:off x="566928" y="3255264"/>
            <a:ext cx="5669280" cy="713232"/>
          </a:xfrm>
          <a:prstGeom prst="roundRect">
            <a:avLst>
              <a:gd name="adj" fmla="val 11538"/>
            </a:avLst>
          </a:prstGeom>
          <a:solidFill>
            <a:srgbClr val="F2F5F9"/>
          </a:solidFill>
          <a:ln w="12700">
            <a:solidFill>
              <a:srgbClr val="E2E8F0"/>
            </a:solidFill>
            <a:prstDash val="solid"/>
          </a:ln>
        </p:spPr>
        <p:txBody>
          <a:bodyPr/>
          <a:lstStyle/>
          <a:p>
            <a:endParaRPr lang="zh-CN" altLang="en-US"/>
          </a:p>
        </p:txBody>
      </p:sp>
      <p:sp>
        <p:nvSpPr>
          <p:cNvPr id="8" name="Shape 6"/>
          <p:cNvSpPr/>
          <p:nvPr/>
        </p:nvSpPr>
        <p:spPr>
          <a:xfrm>
            <a:off x="566928" y="3255264"/>
            <a:ext cx="73152" cy="713232"/>
          </a:xfrm>
          <a:prstGeom prst="rect">
            <a:avLst/>
          </a:prstGeom>
          <a:solidFill>
            <a:srgbClr val="0E7490"/>
          </a:solidFill>
          <a:ln w="12700">
            <a:solidFill>
              <a:srgbClr val="0E7490"/>
            </a:solidFill>
            <a:prstDash val="solid"/>
          </a:ln>
        </p:spPr>
        <p:txBody>
          <a:bodyPr/>
          <a:lstStyle/>
          <a:p>
            <a:endParaRPr lang="zh-CN" altLang="en-US"/>
          </a:p>
        </p:txBody>
      </p:sp>
      <p:sp>
        <p:nvSpPr>
          <p:cNvPr id="9" name="Text 7"/>
          <p:cNvSpPr/>
          <p:nvPr/>
        </p:nvSpPr>
        <p:spPr>
          <a:xfrm>
            <a:off x="749808" y="3255264"/>
            <a:ext cx="2377440" cy="713232"/>
          </a:xfrm>
          <a:prstGeom prst="rect">
            <a:avLst/>
          </a:prstGeom>
          <a:noFill/>
        </p:spPr>
        <p:txBody>
          <a:bodyPr wrap="square" lIns="0" tIns="0" rIns="0" bIns="0" rtlCol="0" anchor="ctr"/>
          <a:lstStyle/>
          <a:p>
            <a:pPr marL="0" indent="0">
              <a:buNone/>
            </a:pPr>
            <a:r>
              <a:rPr lang="en-US" sz="1100" b="1" dirty="0">
                <a:solidFill>
                  <a:srgbClr val="0E2A47"/>
                </a:solidFill>
                <a:latin typeface="DejaVu Sans Mono" pitchFamily="34" charset="0"/>
                <a:ea typeface="DejaVu Sans Mono" pitchFamily="34" charset="-122"/>
                <a:cs typeface="DejaVu Sans Mono" pitchFamily="34" charset="-120"/>
              </a:rPr>
              <a:t>np.fft.fft(...)</a:t>
            </a:r>
            <a:endParaRPr lang="en-US" sz="1100" dirty="0"/>
          </a:p>
        </p:txBody>
      </p:sp>
      <p:sp>
        <p:nvSpPr>
          <p:cNvPr id="10" name="Text 8"/>
          <p:cNvSpPr/>
          <p:nvPr/>
        </p:nvSpPr>
        <p:spPr>
          <a:xfrm>
            <a:off x="3108960" y="3255264"/>
            <a:ext cx="3017520" cy="713232"/>
          </a:xfrm>
          <a:prstGeom prst="rect">
            <a:avLst/>
          </a:prstGeom>
          <a:noFill/>
        </p:spPr>
        <p:txBody>
          <a:bodyPr wrap="square" lIns="0" tIns="0" rIns="0" bIns="0" rtlCol="0" anchor="ctr"/>
          <a:lstStyle/>
          <a:p>
            <a:pPr marL="0" indent="0">
              <a:lnSpc>
                <a:spcPts val="1300"/>
              </a:lnSpc>
              <a:buNone/>
            </a:pPr>
            <a:r>
              <a:rPr lang="en-US" sz="1080" dirty="0">
                <a:solidFill>
                  <a:srgbClr val="1E293B"/>
                </a:solidFill>
                <a:latin typeface="Noto Sans CJK SC" pitchFamily="34" charset="0"/>
                <a:ea typeface="Noto Sans CJK SC" pitchFamily="34" charset="-122"/>
                <a:cs typeface="Noto Sans CJK SC" pitchFamily="34" charset="-120"/>
              </a:rPr>
              <a:t>一次性测试所有候选旋转速度 q</a:t>
            </a:r>
            <a:endParaRPr lang="en-US" sz="1080" dirty="0"/>
          </a:p>
        </p:txBody>
      </p:sp>
      <p:sp>
        <p:nvSpPr>
          <p:cNvPr id="11" name="Shape 9"/>
          <p:cNvSpPr/>
          <p:nvPr/>
        </p:nvSpPr>
        <p:spPr>
          <a:xfrm>
            <a:off x="566928" y="4096512"/>
            <a:ext cx="5669280" cy="713232"/>
          </a:xfrm>
          <a:prstGeom prst="roundRect">
            <a:avLst>
              <a:gd name="adj" fmla="val 11538"/>
            </a:avLst>
          </a:prstGeom>
          <a:solidFill>
            <a:srgbClr val="F2F5F9"/>
          </a:solidFill>
          <a:ln w="12700">
            <a:solidFill>
              <a:srgbClr val="E2E8F0"/>
            </a:solidFill>
            <a:prstDash val="solid"/>
          </a:ln>
        </p:spPr>
        <p:txBody>
          <a:bodyPr/>
          <a:lstStyle/>
          <a:p>
            <a:endParaRPr lang="zh-CN" altLang="en-US"/>
          </a:p>
        </p:txBody>
      </p:sp>
      <p:sp>
        <p:nvSpPr>
          <p:cNvPr id="12" name="Shape 10"/>
          <p:cNvSpPr/>
          <p:nvPr/>
        </p:nvSpPr>
        <p:spPr>
          <a:xfrm>
            <a:off x="566928" y="4096512"/>
            <a:ext cx="73152" cy="713232"/>
          </a:xfrm>
          <a:prstGeom prst="rect">
            <a:avLst/>
          </a:prstGeom>
          <a:solidFill>
            <a:srgbClr val="3B82F6"/>
          </a:solidFill>
          <a:ln w="12700">
            <a:solidFill>
              <a:srgbClr val="3B82F6"/>
            </a:solidFill>
            <a:prstDash val="solid"/>
          </a:ln>
        </p:spPr>
        <p:txBody>
          <a:bodyPr/>
          <a:lstStyle/>
          <a:p>
            <a:endParaRPr lang="zh-CN" altLang="en-US"/>
          </a:p>
        </p:txBody>
      </p:sp>
      <p:sp>
        <p:nvSpPr>
          <p:cNvPr id="13" name="Text 11"/>
          <p:cNvSpPr/>
          <p:nvPr/>
        </p:nvSpPr>
        <p:spPr>
          <a:xfrm>
            <a:off x="749808" y="4096512"/>
            <a:ext cx="2377440" cy="713232"/>
          </a:xfrm>
          <a:prstGeom prst="rect">
            <a:avLst/>
          </a:prstGeom>
          <a:noFill/>
        </p:spPr>
        <p:txBody>
          <a:bodyPr wrap="square" lIns="0" tIns="0" rIns="0" bIns="0" rtlCol="0" anchor="ctr"/>
          <a:lstStyle/>
          <a:p>
            <a:pPr marL="0" indent="0">
              <a:buNone/>
            </a:pPr>
            <a:r>
              <a:rPr lang="en-US" sz="1100" b="1" dirty="0">
                <a:solidFill>
                  <a:srgbClr val="0E2A47"/>
                </a:solidFill>
                <a:latin typeface="DejaVu Sans Mono" pitchFamily="34" charset="0"/>
                <a:ea typeface="DejaVu Sans Mono" pitchFamily="34" charset="-122"/>
                <a:cs typeface="DejaVu Sans Mono" pitchFamily="34" charset="-120"/>
              </a:rPr>
              <a:t>np.abs(C)</a:t>
            </a:r>
            <a:endParaRPr lang="en-US" sz="1100" dirty="0"/>
          </a:p>
        </p:txBody>
      </p:sp>
      <p:sp>
        <p:nvSpPr>
          <p:cNvPr id="14" name="Text 12"/>
          <p:cNvSpPr/>
          <p:nvPr/>
        </p:nvSpPr>
        <p:spPr>
          <a:xfrm>
            <a:off x="3108960" y="4096512"/>
            <a:ext cx="3017520" cy="713232"/>
          </a:xfrm>
          <a:prstGeom prst="rect">
            <a:avLst/>
          </a:prstGeom>
          <a:noFill/>
        </p:spPr>
        <p:txBody>
          <a:bodyPr wrap="square" lIns="0" tIns="0" rIns="0" bIns="0" rtlCol="0" anchor="ctr"/>
          <a:lstStyle/>
          <a:p>
            <a:pPr marL="0" indent="0">
              <a:lnSpc>
                <a:spcPts val="1300"/>
              </a:lnSpc>
              <a:buNone/>
            </a:pPr>
            <a:r>
              <a:rPr lang="en-US" sz="1080" dirty="0">
                <a:solidFill>
                  <a:srgbClr val="1E293B"/>
                </a:solidFill>
                <a:latin typeface="Noto Sans CJK SC" pitchFamily="34" charset="0"/>
                <a:ea typeface="Noto Sans CJK SC" pitchFamily="34" charset="-122"/>
                <a:cs typeface="Noto Sans CJK SC" pitchFamily="34" charset="-120"/>
              </a:rPr>
              <a:t>计算每个候选 q 的「方向对齐强度」</a:t>
            </a:r>
            <a:endParaRPr lang="en-US" sz="1080" dirty="0"/>
          </a:p>
        </p:txBody>
      </p:sp>
      <p:sp>
        <p:nvSpPr>
          <p:cNvPr id="15" name="Shape 13"/>
          <p:cNvSpPr/>
          <p:nvPr/>
        </p:nvSpPr>
        <p:spPr>
          <a:xfrm>
            <a:off x="566928" y="4937760"/>
            <a:ext cx="5669280" cy="713232"/>
          </a:xfrm>
          <a:prstGeom prst="roundRect">
            <a:avLst>
              <a:gd name="adj" fmla="val 11538"/>
            </a:avLst>
          </a:prstGeom>
          <a:solidFill>
            <a:srgbClr val="F2F5F9"/>
          </a:solidFill>
          <a:ln w="12700">
            <a:solidFill>
              <a:srgbClr val="E2E8F0"/>
            </a:solidFill>
            <a:prstDash val="solid"/>
          </a:ln>
        </p:spPr>
        <p:txBody>
          <a:bodyPr/>
          <a:lstStyle/>
          <a:p>
            <a:endParaRPr lang="zh-CN" altLang="en-US"/>
          </a:p>
        </p:txBody>
      </p:sp>
      <p:sp>
        <p:nvSpPr>
          <p:cNvPr id="16" name="Shape 14"/>
          <p:cNvSpPr/>
          <p:nvPr/>
        </p:nvSpPr>
        <p:spPr>
          <a:xfrm>
            <a:off x="566928" y="4937760"/>
            <a:ext cx="73152" cy="713232"/>
          </a:xfrm>
          <a:prstGeom prst="rect">
            <a:avLst/>
          </a:prstGeom>
          <a:solidFill>
            <a:srgbClr val="F59E0B"/>
          </a:solidFill>
          <a:ln w="12700">
            <a:solidFill>
              <a:srgbClr val="F59E0B"/>
            </a:solidFill>
            <a:prstDash val="solid"/>
          </a:ln>
        </p:spPr>
        <p:txBody>
          <a:bodyPr/>
          <a:lstStyle/>
          <a:p>
            <a:endParaRPr lang="zh-CN" altLang="en-US"/>
          </a:p>
        </p:txBody>
      </p:sp>
      <p:sp>
        <p:nvSpPr>
          <p:cNvPr id="17" name="Text 15"/>
          <p:cNvSpPr/>
          <p:nvPr/>
        </p:nvSpPr>
        <p:spPr>
          <a:xfrm>
            <a:off x="749808" y="4937760"/>
            <a:ext cx="2377440" cy="713232"/>
          </a:xfrm>
          <a:prstGeom prst="rect">
            <a:avLst/>
          </a:prstGeom>
          <a:noFill/>
        </p:spPr>
        <p:txBody>
          <a:bodyPr wrap="square" lIns="0" tIns="0" rIns="0" bIns="0" rtlCol="0" anchor="ctr"/>
          <a:lstStyle/>
          <a:p>
            <a:pPr marL="0" indent="0">
              <a:buNone/>
            </a:pPr>
            <a:r>
              <a:rPr lang="en-US" sz="1100" b="1" dirty="0">
                <a:solidFill>
                  <a:srgbClr val="0E2A47"/>
                </a:solidFill>
                <a:latin typeface="DejaVu Sans Mono" pitchFamily="34" charset="0"/>
                <a:ea typeface="DejaVu Sans Mono" pitchFamily="34" charset="-122"/>
                <a:cs typeface="DejaVu Sans Mono" pitchFamily="34" charset="-120"/>
              </a:rPr>
              <a:t>np.argmax(...)</a:t>
            </a:r>
            <a:endParaRPr lang="en-US" sz="1100" dirty="0"/>
          </a:p>
        </p:txBody>
      </p:sp>
      <p:sp>
        <p:nvSpPr>
          <p:cNvPr id="18" name="Text 16"/>
          <p:cNvSpPr/>
          <p:nvPr/>
        </p:nvSpPr>
        <p:spPr>
          <a:xfrm>
            <a:off x="3108960" y="4937760"/>
            <a:ext cx="3017520" cy="713232"/>
          </a:xfrm>
          <a:prstGeom prst="rect">
            <a:avLst/>
          </a:prstGeom>
          <a:noFill/>
        </p:spPr>
        <p:txBody>
          <a:bodyPr wrap="square" lIns="0" tIns="0" rIns="0" bIns="0" rtlCol="0" anchor="ctr"/>
          <a:lstStyle/>
          <a:p>
            <a:pPr marL="0" indent="0">
              <a:lnSpc>
                <a:spcPts val="1300"/>
              </a:lnSpc>
              <a:buNone/>
            </a:pPr>
            <a:r>
              <a:rPr lang="en-US" sz="1080" dirty="0">
                <a:solidFill>
                  <a:srgbClr val="1E293B"/>
                </a:solidFill>
                <a:latin typeface="Noto Sans CJK SC" pitchFamily="34" charset="0"/>
                <a:ea typeface="Noto Sans CJK SC" pitchFamily="34" charset="-122"/>
                <a:cs typeface="Noto Sans CJK SC" pitchFamily="34" charset="-120"/>
              </a:rPr>
              <a:t>选出对齐强度最大的 q —— 即投影仪坐标</a:t>
            </a:r>
            <a:endParaRPr lang="en-US" sz="1080" dirty="0"/>
          </a:p>
        </p:txBody>
      </p:sp>
      <p:sp>
        <p:nvSpPr>
          <p:cNvPr id="19" name="Shape 17"/>
          <p:cNvSpPr/>
          <p:nvPr/>
        </p:nvSpPr>
        <p:spPr>
          <a:xfrm>
            <a:off x="6446520" y="1664208"/>
            <a:ext cx="5175504" cy="4297680"/>
          </a:xfrm>
          <a:prstGeom prst="roundRect">
            <a:avLst>
              <a:gd name="adj" fmla="val 1915"/>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0" name="Text 18"/>
          <p:cNvSpPr/>
          <p:nvPr/>
        </p:nvSpPr>
        <p:spPr>
          <a:xfrm>
            <a:off x="6647688" y="1792224"/>
            <a:ext cx="457200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频谱与 argmax 峰值</a:t>
            </a:r>
            <a:endParaRPr lang="en-US" sz="1200" dirty="0"/>
          </a:p>
        </p:txBody>
      </p:sp>
      <p:pic>
        <p:nvPicPr>
          <p:cNvPr id="21" name="Image 0" descr="/home/claude/work/assets/fig_spectrum_peak.png"/>
          <p:cNvPicPr>
            <a:picLocks noChangeAspect="1"/>
          </p:cNvPicPr>
          <p:nvPr/>
        </p:nvPicPr>
        <p:blipFill>
          <a:blip r:embed="rId1"/>
          <a:stretch>
            <a:fillRect/>
          </a:stretch>
        </p:blipFill>
        <p:spPr>
          <a:xfrm>
            <a:off x="6656832" y="2286000"/>
            <a:ext cx="4754880" cy="2296812"/>
          </a:xfrm>
          <a:prstGeom prst="rect">
            <a:avLst/>
          </a:prstGeom>
        </p:spPr>
      </p:pic>
      <p:sp>
        <p:nvSpPr>
          <p:cNvPr id="22" name="Shape 19"/>
          <p:cNvSpPr/>
          <p:nvPr/>
        </p:nvSpPr>
        <p:spPr>
          <a:xfrm>
            <a:off x="6656832" y="4617720"/>
            <a:ext cx="4754880" cy="1207008"/>
          </a:xfrm>
          <a:prstGeom prst="roundRect">
            <a:avLst>
              <a:gd name="adj" fmla="val 6818"/>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3" name="Text 20"/>
          <p:cNvSpPr/>
          <p:nvPr/>
        </p:nvSpPr>
        <p:spPr>
          <a:xfrm>
            <a:off x="6839712" y="4617720"/>
            <a:ext cx="4434840" cy="1207008"/>
          </a:xfrm>
          <a:prstGeom prst="rect">
            <a:avLst/>
          </a:prstGeom>
          <a:noFill/>
        </p:spPr>
        <p:txBody>
          <a:bodyPr wrap="square" lIns="0" tIns="0" rIns="0" bIns="0" rtlCol="0" anchor="ctr"/>
          <a:lstStyle/>
          <a:p>
            <a:pPr marL="0" indent="0">
              <a:lnSpc>
                <a:spcPts val="1600"/>
              </a:lnSpc>
              <a:buNone/>
            </a:pPr>
            <a:r>
              <a:rPr lang="en-US" sz="1100" dirty="0">
                <a:solidFill>
                  <a:srgbClr val="CBD5E1"/>
                </a:solidFill>
                <a:latin typeface="Noto Sans CJK SC" pitchFamily="34" charset="0"/>
                <a:ea typeface="Noto Sans CJK SC" pitchFamily="34" charset="-122"/>
                <a:cs typeface="Noto Sans CJK SC" pitchFamily="34" charset="-120"/>
              </a:rPr>
              <a:t>峰值越尖锐、越突出，说明该像素的旋转速度越明确，</a:t>
            </a:r>
            <a:endParaRPr lang="en-US" sz="1100" dirty="0"/>
          </a:p>
          <a:p>
            <a:pPr marL="0" indent="0">
              <a:lnSpc>
                <a:spcPts val="1600"/>
              </a:lnSpc>
              <a:buNone/>
            </a:pPr>
            <a:r>
              <a:rPr lang="en-US" sz="1100" dirty="0">
                <a:solidFill>
                  <a:srgbClr val="CBD5E1"/>
                </a:solidFill>
                <a:latin typeface="Noto Sans CJK SC" pitchFamily="34" charset="0"/>
                <a:ea typeface="Noto Sans CJK SC" pitchFamily="34" charset="-122"/>
                <a:cs typeface="Noto Sans CJK SC" pitchFamily="34" charset="-120"/>
              </a:rPr>
              <a:t>解码出的投影仪坐标越可靠。</a:t>
            </a:r>
            <a:endParaRPr lang="en-US" sz="1100" dirty="0"/>
          </a:p>
        </p:txBody>
      </p:sp>
      <p:sp>
        <p:nvSpPr>
          <p:cNvPr id="24" name="Text 21"/>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5" name="Text 22"/>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26" name="Text 23"/>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19 / 42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流程收口</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单像素解码流程与伪代码</a:t>
            </a:r>
            <a:endParaRPr lang="en-US" sz="2900" dirty="0"/>
          </a:p>
        </p:txBody>
      </p:sp>
      <p:sp>
        <p:nvSpPr>
          <p:cNvPr id="5" name="Shape 3"/>
          <p:cNvSpPr/>
          <p:nvPr/>
        </p:nvSpPr>
        <p:spPr>
          <a:xfrm>
            <a:off x="566928" y="1645920"/>
            <a:ext cx="2606040" cy="1243584"/>
          </a:xfrm>
          <a:prstGeom prst="roundRect">
            <a:avLst>
              <a:gd name="adj" fmla="val 66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Shape 4"/>
          <p:cNvSpPr/>
          <p:nvPr/>
        </p:nvSpPr>
        <p:spPr>
          <a:xfrm>
            <a:off x="566928" y="1645920"/>
            <a:ext cx="2606040" cy="82296"/>
          </a:xfrm>
          <a:prstGeom prst="rect">
            <a:avLst/>
          </a:prstGeom>
          <a:solidFill>
            <a:srgbClr val="3B82F6"/>
          </a:solidFill>
          <a:ln w="12700">
            <a:solidFill>
              <a:srgbClr val="3B82F6"/>
            </a:solidFill>
            <a:prstDash val="solid"/>
          </a:ln>
        </p:spPr>
        <p:txBody>
          <a:bodyPr/>
          <a:lstStyle/>
          <a:p>
            <a:endParaRPr lang="zh-CN" altLang="en-US"/>
          </a:p>
        </p:txBody>
      </p:sp>
      <p:sp>
        <p:nvSpPr>
          <p:cNvPr id="7" name="Shape 5"/>
          <p:cNvSpPr/>
          <p:nvPr/>
        </p:nvSpPr>
        <p:spPr>
          <a:xfrm>
            <a:off x="749808" y="1847088"/>
            <a:ext cx="420624" cy="420624"/>
          </a:xfrm>
          <a:prstGeom prst="ellipse">
            <a:avLst/>
          </a:prstGeom>
          <a:solidFill>
            <a:srgbClr val="3B82F6"/>
          </a:solidFill>
          <a:ln w="12700">
            <a:solidFill>
              <a:srgbClr val="3B82F6"/>
            </a:solidFill>
            <a:prstDash val="solid"/>
          </a:ln>
        </p:spPr>
        <p:txBody>
          <a:bodyPr/>
          <a:lstStyle/>
          <a:p>
            <a:endParaRPr lang="zh-CN" altLang="en-US"/>
          </a:p>
        </p:txBody>
      </p:sp>
      <p:sp>
        <p:nvSpPr>
          <p:cNvPr id="8" name="Text 6"/>
          <p:cNvSpPr/>
          <p:nvPr/>
        </p:nvSpPr>
        <p:spPr>
          <a:xfrm>
            <a:off x="749808" y="1847088"/>
            <a:ext cx="420624" cy="420624"/>
          </a:xfrm>
          <a:prstGeom prst="rect">
            <a:avLst/>
          </a:prstGeom>
          <a:noFill/>
        </p:spPr>
        <p:txBody>
          <a:bodyPr wrap="square" lIns="0" tIns="0" rIns="0" bIns="0" rtlCol="0" anchor="ctr"/>
          <a:lstStyle/>
          <a:p>
            <a:pPr marL="0" indent="0" algn="ctr">
              <a:buNone/>
            </a:pPr>
            <a:r>
              <a:rPr lang="en-US" sz="1010" b="1" dirty="0">
                <a:solidFill>
                  <a:srgbClr val="FFFFFF"/>
                </a:solidFill>
                <a:latin typeface="Noto Sans CJK SC" pitchFamily="34" charset="0"/>
                <a:ea typeface="Noto Sans CJK SC" pitchFamily="34" charset="-122"/>
                <a:cs typeface="Noto Sans CJK SC" pitchFamily="34" charset="-120"/>
              </a:rPr>
              <a:t>1</a:t>
            </a:r>
            <a:endParaRPr lang="en-US" sz="1010" dirty="0"/>
          </a:p>
        </p:txBody>
      </p:sp>
      <p:sp>
        <p:nvSpPr>
          <p:cNvPr id="9" name="Text 7"/>
          <p:cNvSpPr/>
          <p:nvPr/>
        </p:nvSpPr>
        <p:spPr>
          <a:xfrm>
            <a:off x="1280160" y="1847088"/>
            <a:ext cx="1783080" cy="457200"/>
          </a:xfrm>
          <a:prstGeom prst="rect">
            <a:avLst/>
          </a:prstGeom>
          <a:noFill/>
        </p:spPr>
        <p:txBody>
          <a:bodyPr wrap="square" lIns="0" tIns="0" rIns="0" bIns="0" rtlCol="0" anchor="ctr"/>
          <a:lstStyle/>
          <a:p>
            <a:pPr marL="0" indent="0">
              <a:lnSpc>
                <a:spcPts val="1400"/>
              </a:lnSpc>
              <a:buNone/>
            </a:pPr>
            <a:r>
              <a:rPr lang="en-US" sz="1200" b="1" dirty="0">
                <a:solidFill>
                  <a:srgbClr val="0E2A47"/>
                </a:solidFill>
                <a:latin typeface="Noto Sans CJK SC" pitchFamily="34" charset="0"/>
                <a:ea typeface="Noto Sans CJK SC" pitchFamily="34" charset="-122"/>
                <a:cs typeface="Noto Sans CJK SC" pitchFamily="34" charset="-120"/>
              </a:rPr>
              <a:t>读四相移灰度</a:t>
            </a:r>
            <a:endParaRPr lang="en-US" sz="1200" dirty="0"/>
          </a:p>
        </p:txBody>
      </p:sp>
      <p:sp>
        <p:nvSpPr>
          <p:cNvPr id="10" name="Text 8"/>
          <p:cNvSpPr/>
          <p:nvPr/>
        </p:nvSpPr>
        <p:spPr>
          <a:xfrm>
            <a:off x="749808" y="2432304"/>
            <a:ext cx="2240280" cy="365760"/>
          </a:xfrm>
          <a:prstGeom prst="rect">
            <a:avLst/>
          </a:prstGeom>
          <a:noFill/>
        </p:spPr>
        <p:txBody>
          <a:bodyPr wrap="square" lIns="0" tIns="0" rIns="0" bIns="0" rtlCol="0" anchor="ctr"/>
          <a:lstStyle/>
          <a:p>
            <a:pPr marL="0" indent="0" algn="ctr">
              <a:buNone/>
            </a:pPr>
            <a:r>
              <a:rPr lang="en-US" sz="1000" dirty="0">
                <a:solidFill>
                  <a:srgbClr val="3B82F6"/>
                </a:solidFill>
                <a:latin typeface="DejaVu Sans Mono" pitchFamily="34" charset="0"/>
                <a:ea typeface="DejaVu Sans Mono" pitchFamily="34" charset="-122"/>
                <a:cs typeface="DejaVu Sans Mono" pitchFamily="34" charset="-120"/>
              </a:rPr>
              <a:t>I0,I1,I2,I3</a:t>
            </a:r>
            <a:endParaRPr lang="en-US" sz="1000" dirty="0"/>
          </a:p>
        </p:txBody>
      </p:sp>
      <p:sp>
        <p:nvSpPr>
          <p:cNvPr id="11" name="Shape 9"/>
          <p:cNvSpPr/>
          <p:nvPr/>
        </p:nvSpPr>
        <p:spPr>
          <a:xfrm>
            <a:off x="3209544" y="2267712"/>
            <a:ext cx="137160" cy="0"/>
          </a:xfrm>
          <a:prstGeom prst="line">
            <a:avLst/>
          </a:prstGeom>
          <a:noFill/>
          <a:ln w="25400">
            <a:solidFill>
              <a:srgbClr val="64748B"/>
            </a:solidFill>
            <a:prstDash val="solid"/>
            <a:tailEnd type="triangle"/>
          </a:ln>
        </p:spPr>
        <p:txBody>
          <a:bodyPr/>
          <a:lstStyle/>
          <a:p>
            <a:endParaRPr lang="zh-CN" altLang="en-US"/>
          </a:p>
        </p:txBody>
      </p:sp>
      <p:sp>
        <p:nvSpPr>
          <p:cNvPr id="12" name="Shape 10"/>
          <p:cNvSpPr/>
          <p:nvPr/>
        </p:nvSpPr>
        <p:spPr>
          <a:xfrm>
            <a:off x="3383280" y="1645920"/>
            <a:ext cx="2606040" cy="1243584"/>
          </a:xfrm>
          <a:prstGeom prst="roundRect">
            <a:avLst>
              <a:gd name="adj" fmla="val 66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3" name="Shape 11"/>
          <p:cNvSpPr/>
          <p:nvPr/>
        </p:nvSpPr>
        <p:spPr>
          <a:xfrm>
            <a:off x="3383280" y="1645920"/>
            <a:ext cx="2606040" cy="82296"/>
          </a:xfrm>
          <a:prstGeom prst="rect">
            <a:avLst/>
          </a:prstGeom>
          <a:solidFill>
            <a:srgbClr val="2DD4BF"/>
          </a:solidFill>
          <a:ln w="12700">
            <a:solidFill>
              <a:srgbClr val="2DD4BF"/>
            </a:solidFill>
            <a:prstDash val="solid"/>
          </a:ln>
        </p:spPr>
        <p:txBody>
          <a:bodyPr/>
          <a:lstStyle/>
          <a:p>
            <a:endParaRPr lang="zh-CN" altLang="en-US"/>
          </a:p>
        </p:txBody>
      </p:sp>
      <p:sp>
        <p:nvSpPr>
          <p:cNvPr id="14" name="Shape 12"/>
          <p:cNvSpPr/>
          <p:nvPr/>
        </p:nvSpPr>
        <p:spPr>
          <a:xfrm>
            <a:off x="3566160" y="1847088"/>
            <a:ext cx="420624" cy="420624"/>
          </a:xfrm>
          <a:prstGeom prst="ellipse">
            <a:avLst/>
          </a:prstGeom>
          <a:solidFill>
            <a:srgbClr val="2DD4BF"/>
          </a:solidFill>
          <a:ln w="12700">
            <a:solidFill>
              <a:srgbClr val="2DD4BF"/>
            </a:solidFill>
            <a:prstDash val="solid"/>
          </a:ln>
        </p:spPr>
        <p:txBody>
          <a:bodyPr/>
          <a:lstStyle/>
          <a:p>
            <a:endParaRPr lang="zh-CN" altLang="en-US"/>
          </a:p>
        </p:txBody>
      </p:sp>
      <p:sp>
        <p:nvSpPr>
          <p:cNvPr id="15" name="Text 13"/>
          <p:cNvSpPr/>
          <p:nvPr/>
        </p:nvSpPr>
        <p:spPr>
          <a:xfrm>
            <a:off x="3566160" y="1847088"/>
            <a:ext cx="420624" cy="420624"/>
          </a:xfrm>
          <a:prstGeom prst="rect">
            <a:avLst/>
          </a:prstGeom>
          <a:noFill/>
        </p:spPr>
        <p:txBody>
          <a:bodyPr wrap="square" lIns="0" tIns="0" rIns="0" bIns="0" rtlCol="0" anchor="ctr"/>
          <a:lstStyle/>
          <a:p>
            <a:pPr marL="0" indent="0" algn="ctr">
              <a:buNone/>
            </a:pPr>
            <a:r>
              <a:rPr lang="en-US" sz="1010" b="1" dirty="0">
                <a:solidFill>
                  <a:srgbClr val="FFFFFF"/>
                </a:solidFill>
                <a:latin typeface="Noto Sans CJK SC" pitchFamily="34" charset="0"/>
                <a:ea typeface="Noto Sans CJK SC" pitchFamily="34" charset="-122"/>
                <a:cs typeface="Noto Sans CJK SC" pitchFamily="34" charset="-120"/>
              </a:rPr>
              <a:t>2</a:t>
            </a:r>
            <a:endParaRPr lang="en-US" sz="1010" dirty="0"/>
          </a:p>
        </p:txBody>
      </p:sp>
      <p:sp>
        <p:nvSpPr>
          <p:cNvPr id="16" name="Text 14"/>
          <p:cNvSpPr/>
          <p:nvPr/>
        </p:nvSpPr>
        <p:spPr>
          <a:xfrm>
            <a:off x="4096512" y="1847088"/>
            <a:ext cx="1783080" cy="457200"/>
          </a:xfrm>
          <a:prstGeom prst="rect">
            <a:avLst/>
          </a:prstGeom>
          <a:noFill/>
        </p:spPr>
        <p:txBody>
          <a:bodyPr wrap="square" lIns="0" tIns="0" rIns="0" bIns="0" rtlCol="0" anchor="ctr"/>
          <a:lstStyle/>
          <a:p>
            <a:pPr marL="0" indent="0">
              <a:lnSpc>
                <a:spcPts val="1400"/>
              </a:lnSpc>
              <a:buNone/>
            </a:pPr>
            <a:r>
              <a:rPr lang="en-US" sz="1200" b="1" dirty="0">
                <a:solidFill>
                  <a:srgbClr val="0E2A47"/>
                </a:solidFill>
                <a:latin typeface="Noto Sans CJK SC" pitchFamily="34" charset="0"/>
                <a:ea typeface="Noto Sans CJK SC" pitchFamily="34" charset="-122"/>
                <a:cs typeface="Noto Sans CJK SC" pitchFamily="34" charset="-120"/>
              </a:rPr>
              <a:t>差分构造复信号</a:t>
            </a:r>
            <a:endParaRPr lang="en-US" sz="1200" dirty="0"/>
          </a:p>
        </p:txBody>
      </p:sp>
      <p:sp>
        <p:nvSpPr>
          <p:cNvPr id="17" name="Text 15"/>
          <p:cNvSpPr/>
          <p:nvPr/>
        </p:nvSpPr>
        <p:spPr>
          <a:xfrm>
            <a:off x="3566160" y="2432304"/>
            <a:ext cx="2240280" cy="365760"/>
          </a:xfrm>
          <a:prstGeom prst="rect">
            <a:avLst/>
          </a:prstGeom>
          <a:noFill/>
        </p:spPr>
        <p:txBody>
          <a:bodyPr wrap="square" lIns="0" tIns="0" rIns="0" bIns="0" rtlCol="0" anchor="ctr"/>
          <a:lstStyle/>
          <a:p>
            <a:pPr marL="0" indent="0" algn="ctr">
              <a:buNone/>
            </a:pPr>
            <a:r>
              <a:rPr lang="en-US" sz="1000" dirty="0">
                <a:solidFill>
                  <a:srgbClr val="2DD4BF"/>
                </a:solidFill>
                <a:latin typeface="DejaVu Sans Mono" pitchFamily="34" charset="0"/>
                <a:ea typeface="DejaVu Sans Mono" pitchFamily="34" charset="-122"/>
                <a:cs typeface="DejaVu Sans Mono" pitchFamily="34" charset="-120"/>
              </a:rPr>
              <a:t>D[k]=Dc+jDs</a:t>
            </a:r>
            <a:endParaRPr lang="en-US" sz="1000" dirty="0"/>
          </a:p>
        </p:txBody>
      </p:sp>
      <p:sp>
        <p:nvSpPr>
          <p:cNvPr id="18" name="Shape 16"/>
          <p:cNvSpPr/>
          <p:nvPr/>
        </p:nvSpPr>
        <p:spPr>
          <a:xfrm>
            <a:off x="6025896" y="2267712"/>
            <a:ext cx="137160" cy="0"/>
          </a:xfrm>
          <a:prstGeom prst="line">
            <a:avLst/>
          </a:prstGeom>
          <a:noFill/>
          <a:ln w="25400">
            <a:solidFill>
              <a:srgbClr val="64748B"/>
            </a:solidFill>
            <a:prstDash val="solid"/>
            <a:tailEnd type="triangle"/>
          </a:ln>
        </p:spPr>
        <p:txBody>
          <a:bodyPr/>
          <a:lstStyle/>
          <a:p>
            <a:endParaRPr lang="zh-CN" altLang="en-US"/>
          </a:p>
        </p:txBody>
      </p:sp>
      <p:sp>
        <p:nvSpPr>
          <p:cNvPr id="19" name="Shape 17"/>
          <p:cNvSpPr/>
          <p:nvPr/>
        </p:nvSpPr>
        <p:spPr>
          <a:xfrm>
            <a:off x="6199632" y="1645920"/>
            <a:ext cx="2606040" cy="1243584"/>
          </a:xfrm>
          <a:prstGeom prst="roundRect">
            <a:avLst>
              <a:gd name="adj" fmla="val 66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0" name="Shape 18"/>
          <p:cNvSpPr/>
          <p:nvPr/>
        </p:nvSpPr>
        <p:spPr>
          <a:xfrm>
            <a:off x="6199632" y="1645920"/>
            <a:ext cx="2606040" cy="82296"/>
          </a:xfrm>
          <a:prstGeom prst="rect">
            <a:avLst/>
          </a:prstGeom>
          <a:solidFill>
            <a:srgbClr val="F59E0B"/>
          </a:solidFill>
          <a:ln w="12700">
            <a:solidFill>
              <a:srgbClr val="F59E0B"/>
            </a:solidFill>
            <a:prstDash val="solid"/>
          </a:ln>
        </p:spPr>
        <p:txBody>
          <a:bodyPr/>
          <a:lstStyle/>
          <a:p>
            <a:endParaRPr lang="zh-CN" altLang="en-US"/>
          </a:p>
        </p:txBody>
      </p:sp>
      <p:sp>
        <p:nvSpPr>
          <p:cNvPr id="21" name="Shape 19"/>
          <p:cNvSpPr/>
          <p:nvPr/>
        </p:nvSpPr>
        <p:spPr>
          <a:xfrm>
            <a:off x="6382512" y="1847088"/>
            <a:ext cx="420624" cy="420624"/>
          </a:xfrm>
          <a:prstGeom prst="ellipse">
            <a:avLst/>
          </a:prstGeom>
          <a:solidFill>
            <a:srgbClr val="F59E0B"/>
          </a:solidFill>
          <a:ln w="12700">
            <a:solidFill>
              <a:srgbClr val="F59E0B"/>
            </a:solidFill>
            <a:prstDash val="solid"/>
          </a:ln>
        </p:spPr>
        <p:txBody>
          <a:bodyPr/>
          <a:lstStyle/>
          <a:p>
            <a:endParaRPr lang="zh-CN" altLang="en-US"/>
          </a:p>
        </p:txBody>
      </p:sp>
      <p:sp>
        <p:nvSpPr>
          <p:cNvPr id="22" name="Text 20"/>
          <p:cNvSpPr/>
          <p:nvPr/>
        </p:nvSpPr>
        <p:spPr>
          <a:xfrm>
            <a:off x="6382512" y="1847088"/>
            <a:ext cx="420624" cy="420624"/>
          </a:xfrm>
          <a:prstGeom prst="rect">
            <a:avLst/>
          </a:prstGeom>
          <a:noFill/>
        </p:spPr>
        <p:txBody>
          <a:bodyPr wrap="square" lIns="0" tIns="0" rIns="0" bIns="0" rtlCol="0" anchor="ctr"/>
          <a:lstStyle/>
          <a:p>
            <a:pPr marL="0" indent="0" algn="ctr">
              <a:buNone/>
            </a:pPr>
            <a:r>
              <a:rPr lang="en-US" sz="1010" b="1" dirty="0">
                <a:solidFill>
                  <a:srgbClr val="FFFFFF"/>
                </a:solidFill>
                <a:latin typeface="Noto Sans CJK SC" pitchFamily="34" charset="0"/>
                <a:ea typeface="Noto Sans CJK SC" pitchFamily="34" charset="-122"/>
                <a:cs typeface="Noto Sans CJK SC" pitchFamily="34" charset="-120"/>
              </a:rPr>
              <a:t>3</a:t>
            </a:r>
            <a:endParaRPr lang="en-US" sz="1010" dirty="0"/>
          </a:p>
        </p:txBody>
      </p:sp>
      <p:sp>
        <p:nvSpPr>
          <p:cNvPr id="23" name="Text 21"/>
          <p:cNvSpPr/>
          <p:nvPr/>
        </p:nvSpPr>
        <p:spPr>
          <a:xfrm>
            <a:off x="6912864" y="1847088"/>
            <a:ext cx="1783080" cy="457200"/>
          </a:xfrm>
          <a:prstGeom prst="rect">
            <a:avLst/>
          </a:prstGeom>
          <a:noFill/>
        </p:spPr>
        <p:txBody>
          <a:bodyPr wrap="square" lIns="0" tIns="0" rIns="0" bIns="0" rtlCol="0" anchor="ctr"/>
          <a:lstStyle/>
          <a:p>
            <a:pPr marL="0" indent="0">
              <a:lnSpc>
                <a:spcPts val="1400"/>
              </a:lnSpc>
              <a:buNone/>
            </a:pPr>
            <a:r>
              <a:rPr lang="en-US" sz="1200" b="1" dirty="0">
                <a:solidFill>
                  <a:srgbClr val="0E2A47"/>
                </a:solidFill>
                <a:latin typeface="Noto Sans CJK SC" pitchFamily="34" charset="0"/>
                <a:ea typeface="Noto Sans CJK SC" pitchFamily="34" charset="-122"/>
                <a:cs typeface="Noto Sans CJK SC" pitchFamily="34" charset="-120"/>
              </a:rPr>
              <a:t>沿频率轴 FFT</a:t>
            </a:r>
            <a:endParaRPr lang="en-US" sz="1200" dirty="0"/>
          </a:p>
        </p:txBody>
      </p:sp>
      <p:sp>
        <p:nvSpPr>
          <p:cNvPr id="24" name="Text 22"/>
          <p:cNvSpPr/>
          <p:nvPr/>
        </p:nvSpPr>
        <p:spPr>
          <a:xfrm>
            <a:off x="6382512" y="2432304"/>
            <a:ext cx="2240280" cy="365760"/>
          </a:xfrm>
          <a:prstGeom prst="rect">
            <a:avLst/>
          </a:prstGeom>
          <a:noFill/>
        </p:spPr>
        <p:txBody>
          <a:bodyPr wrap="square" lIns="0" tIns="0" rIns="0" bIns="0" rtlCol="0" anchor="ctr"/>
          <a:lstStyle/>
          <a:p>
            <a:pPr marL="0" indent="0" algn="ctr">
              <a:buNone/>
            </a:pPr>
            <a:r>
              <a:rPr lang="en-US" sz="1000" dirty="0">
                <a:solidFill>
                  <a:srgbClr val="F59E0B"/>
                </a:solidFill>
                <a:latin typeface="DejaVu Sans Mono" pitchFamily="34" charset="0"/>
                <a:ea typeface="DejaVu Sans Mono" pitchFamily="34" charset="-122"/>
                <a:cs typeface="DejaVu Sans Mono" pitchFamily="34" charset="-120"/>
              </a:rPr>
              <a:t>C=fft(signal)</a:t>
            </a:r>
            <a:endParaRPr lang="en-US" sz="1000" dirty="0"/>
          </a:p>
        </p:txBody>
      </p:sp>
      <p:sp>
        <p:nvSpPr>
          <p:cNvPr id="25" name="Shape 23"/>
          <p:cNvSpPr/>
          <p:nvPr/>
        </p:nvSpPr>
        <p:spPr>
          <a:xfrm>
            <a:off x="8842248" y="2267712"/>
            <a:ext cx="137160" cy="0"/>
          </a:xfrm>
          <a:prstGeom prst="line">
            <a:avLst/>
          </a:prstGeom>
          <a:noFill/>
          <a:ln w="25400">
            <a:solidFill>
              <a:srgbClr val="64748B"/>
            </a:solidFill>
            <a:prstDash val="solid"/>
            <a:tailEnd type="triangle"/>
          </a:ln>
        </p:spPr>
        <p:txBody>
          <a:bodyPr/>
          <a:lstStyle/>
          <a:p>
            <a:endParaRPr lang="zh-CN" altLang="en-US"/>
          </a:p>
        </p:txBody>
      </p:sp>
      <p:sp>
        <p:nvSpPr>
          <p:cNvPr id="26" name="Shape 24"/>
          <p:cNvSpPr/>
          <p:nvPr/>
        </p:nvSpPr>
        <p:spPr>
          <a:xfrm>
            <a:off x="9015984" y="1645920"/>
            <a:ext cx="2606040" cy="1243584"/>
          </a:xfrm>
          <a:prstGeom prst="roundRect">
            <a:avLst>
              <a:gd name="adj" fmla="val 66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7" name="Shape 25"/>
          <p:cNvSpPr/>
          <p:nvPr/>
        </p:nvSpPr>
        <p:spPr>
          <a:xfrm>
            <a:off x="9015984" y="1645920"/>
            <a:ext cx="2606040" cy="82296"/>
          </a:xfrm>
          <a:prstGeom prst="rect">
            <a:avLst/>
          </a:prstGeom>
          <a:solidFill>
            <a:srgbClr val="0E7490"/>
          </a:solidFill>
          <a:ln w="12700">
            <a:solidFill>
              <a:srgbClr val="0E7490"/>
            </a:solidFill>
            <a:prstDash val="solid"/>
          </a:ln>
        </p:spPr>
        <p:txBody>
          <a:bodyPr/>
          <a:lstStyle/>
          <a:p>
            <a:endParaRPr lang="zh-CN" altLang="en-US"/>
          </a:p>
        </p:txBody>
      </p:sp>
      <p:sp>
        <p:nvSpPr>
          <p:cNvPr id="28" name="Shape 26"/>
          <p:cNvSpPr/>
          <p:nvPr/>
        </p:nvSpPr>
        <p:spPr>
          <a:xfrm>
            <a:off x="9198864" y="1847088"/>
            <a:ext cx="420624" cy="420624"/>
          </a:xfrm>
          <a:prstGeom prst="ellipse">
            <a:avLst/>
          </a:prstGeom>
          <a:solidFill>
            <a:srgbClr val="0E7490"/>
          </a:solidFill>
          <a:ln w="12700">
            <a:solidFill>
              <a:srgbClr val="0E7490"/>
            </a:solidFill>
            <a:prstDash val="solid"/>
          </a:ln>
        </p:spPr>
        <p:txBody>
          <a:bodyPr/>
          <a:lstStyle/>
          <a:p>
            <a:endParaRPr lang="zh-CN" altLang="en-US"/>
          </a:p>
        </p:txBody>
      </p:sp>
      <p:sp>
        <p:nvSpPr>
          <p:cNvPr id="29" name="Text 27"/>
          <p:cNvSpPr/>
          <p:nvPr/>
        </p:nvSpPr>
        <p:spPr>
          <a:xfrm>
            <a:off x="9198864" y="1847088"/>
            <a:ext cx="420624" cy="420624"/>
          </a:xfrm>
          <a:prstGeom prst="rect">
            <a:avLst/>
          </a:prstGeom>
          <a:noFill/>
        </p:spPr>
        <p:txBody>
          <a:bodyPr wrap="square" lIns="0" tIns="0" rIns="0" bIns="0" rtlCol="0" anchor="ctr"/>
          <a:lstStyle/>
          <a:p>
            <a:pPr marL="0" indent="0" algn="ctr">
              <a:buNone/>
            </a:pPr>
            <a:r>
              <a:rPr lang="en-US" sz="1010" b="1" dirty="0">
                <a:solidFill>
                  <a:srgbClr val="FFFFFF"/>
                </a:solidFill>
                <a:latin typeface="Noto Sans CJK SC" pitchFamily="34" charset="0"/>
                <a:ea typeface="Noto Sans CJK SC" pitchFamily="34" charset="-122"/>
                <a:cs typeface="Noto Sans CJK SC" pitchFamily="34" charset="-120"/>
              </a:rPr>
              <a:t>4</a:t>
            </a:r>
            <a:endParaRPr lang="en-US" sz="1010" dirty="0"/>
          </a:p>
        </p:txBody>
      </p:sp>
      <p:sp>
        <p:nvSpPr>
          <p:cNvPr id="30" name="Text 28"/>
          <p:cNvSpPr/>
          <p:nvPr/>
        </p:nvSpPr>
        <p:spPr>
          <a:xfrm>
            <a:off x="9729216" y="1847088"/>
            <a:ext cx="1783080" cy="457200"/>
          </a:xfrm>
          <a:prstGeom prst="rect">
            <a:avLst/>
          </a:prstGeom>
          <a:noFill/>
        </p:spPr>
        <p:txBody>
          <a:bodyPr wrap="square" lIns="0" tIns="0" rIns="0" bIns="0" rtlCol="0" anchor="ctr"/>
          <a:lstStyle/>
          <a:p>
            <a:pPr marL="0" indent="0">
              <a:lnSpc>
                <a:spcPts val="1400"/>
              </a:lnSpc>
              <a:buNone/>
            </a:pPr>
            <a:r>
              <a:rPr lang="en-US" sz="1200" b="1" dirty="0">
                <a:solidFill>
                  <a:srgbClr val="0E2A47"/>
                </a:solidFill>
                <a:latin typeface="Noto Sans CJK SC" pitchFamily="34" charset="0"/>
                <a:ea typeface="Noto Sans CJK SC" pitchFamily="34" charset="-122"/>
                <a:cs typeface="Noto Sans CJK SC" pitchFamily="34" charset="-120"/>
              </a:rPr>
              <a:t>取峰值作为坐标</a:t>
            </a:r>
            <a:endParaRPr lang="en-US" sz="1200" dirty="0"/>
          </a:p>
        </p:txBody>
      </p:sp>
      <p:sp>
        <p:nvSpPr>
          <p:cNvPr id="31" name="Text 29"/>
          <p:cNvSpPr/>
          <p:nvPr/>
        </p:nvSpPr>
        <p:spPr>
          <a:xfrm>
            <a:off x="9198864" y="2432304"/>
            <a:ext cx="2240280" cy="365760"/>
          </a:xfrm>
          <a:prstGeom prst="rect">
            <a:avLst/>
          </a:prstGeom>
          <a:noFill/>
        </p:spPr>
        <p:txBody>
          <a:bodyPr wrap="square" lIns="0" tIns="0" rIns="0" bIns="0" rtlCol="0" anchor="ctr"/>
          <a:lstStyle/>
          <a:p>
            <a:pPr marL="0" indent="0" algn="ctr">
              <a:buNone/>
            </a:pPr>
            <a:r>
              <a:rPr lang="en-US" sz="1000" dirty="0">
                <a:solidFill>
                  <a:srgbClr val="0E7490"/>
                </a:solidFill>
                <a:latin typeface="DejaVu Sans Mono" pitchFamily="34" charset="0"/>
                <a:ea typeface="DejaVu Sans Mono" pitchFamily="34" charset="-122"/>
                <a:cs typeface="DejaVu Sans Mono" pitchFamily="34" charset="-120"/>
              </a:rPr>
              <a:t>argmax|C|</a:t>
            </a:r>
            <a:endParaRPr lang="en-US" sz="1000" dirty="0"/>
          </a:p>
        </p:txBody>
      </p:sp>
      <p:sp>
        <p:nvSpPr>
          <p:cNvPr id="32" name="Shape 30"/>
          <p:cNvSpPr/>
          <p:nvPr/>
        </p:nvSpPr>
        <p:spPr>
          <a:xfrm>
            <a:off x="566928" y="3127248"/>
            <a:ext cx="6400800" cy="2834640"/>
          </a:xfrm>
          <a:prstGeom prst="roundRect">
            <a:avLst>
              <a:gd name="adj" fmla="val 1935"/>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33" name="Text 31"/>
          <p:cNvSpPr/>
          <p:nvPr/>
        </p:nvSpPr>
        <p:spPr>
          <a:xfrm>
            <a:off x="768096" y="3255264"/>
            <a:ext cx="6035040" cy="2578608"/>
          </a:xfrm>
          <a:prstGeom prst="rect">
            <a:avLst/>
          </a:prstGeom>
          <a:noFill/>
        </p:spPr>
        <p:txBody>
          <a:bodyPr wrap="square" lIns="0" tIns="0" rIns="0" bIns="0" rtlCol="0" anchor="t"/>
          <a:lstStyle/>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signal = []</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for f in range(M):</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I0 = image[4*f + 0][y, x]</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I1 = image[4*f + 1][y, x]</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I2 = image[4*f + 2][y, x]</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I3 = image[4*f + 3][y, x]</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Dc = I0 - I2</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Ds = I3 - I1</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signal.append(Dc + 1j * Ds)</a:t>
            </a:r>
            <a:endParaRPr lang="en-US" sz="1100" dirty="0"/>
          </a:p>
          <a:p>
            <a:pPr marL="0" indent="0" algn="l">
              <a:lnSpc>
                <a:spcPts val="1475"/>
              </a:lnSpc>
              <a:buNone/>
            </a:pP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C       = fft(signal, n=fft_length)</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coord   = argmax(abs(C))</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quality = max(abs(C)) / fft_length</a:t>
            </a:r>
            <a:endParaRPr lang="en-US" sz="1100" dirty="0"/>
          </a:p>
        </p:txBody>
      </p:sp>
      <p:sp>
        <p:nvSpPr>
          <p:cNvPr id="34" name="Shape 32"/>
          <p:cNvSpPr/>
          <p:nvPr/>
        </p:nvSpPr>
        <p:spPr>
          <a:xfrm>
            <a:off x="7178040" y="3127248"/>
            <a:ext cx="4443984" cy="2834640"/>
          </a:xfrm>
          <a:prstGeom prst="roundRect">
            <a:avLst>
              <a:gd name="adj" fmla="val 2903"/>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35" name="Text 33"/>
          <p:cNvSpPr/>
          <p:nvPr/>
        </p:nvSpPr>
        <p:spPr>
          <a:xfrm>
            <a:off x="7379208" y="3273552"/>
            <a:ext cx="3657600" cy="310896"/>
          </a:xfrm>
          <a:prstGeom prst="rect">
            <a:avLst/>
          </a:prstGeom>
          <a:noFill/>
        </p:spPr>
        <p:txBody>
          <a:bodyPr wrap="square" lIns="0" tIns="0" rIns="0" bIns="0" rtlCol="0" anchor="ctr"/>
          <a:lstStyle/>
          <a:p>
            <a:pPr marL="0" indent="0">
              <a:buNone/>
            </a:pPr>
            <a:r>
              <a:rPr lang="en-US" sz="1300" b="1" dirty="0">
                <a:solidFill>
                  <a:srgbClr val="22D3EE"/>
                </a:solidFill>
                <a:latin typeface="Noto Sans CJK SC" pitchFamily="34" charset="0"/>
                <a:ea typeface="Noto Sans CJK SC" pitchFamily="34" charset="-122"/>
                <a:cs typeface="Noto Sans CJK SC" pitchFamily="34" charset="-120"/>
              </a:rPr>
              <a:t>核心结论</a:t>
            </a:r>
            <a:endParaRPr lang="en-US" sz="1300" dirty="0"/>
          </a:p>
        </p:txBody>
      </p:sp>
      <p:sp>
        <p:nvSpPr>
          <p:cNvPr id="36" name="Text 34"/>
          <p:cNvSpPr/>
          <p:nvPr/>
        </p:nvSpPr>
        <p:spPr>
          <a:xfrm>
            <a:off x="7379208" y="3639312"/>
            <a:ext cx="4069080" cy="457200"/>
          </a:xfrm>
          <a:prstGeom prst="rect">
            <a:avLst/>
          </a:prstGeom>
          <a:noFill/>
        </p:spPr>
        <p:txBody>
          <a:bodyPr wrap="square" lIns="0" tIns="0" rIns="0" bIns="0" rtlCol="0" anchor="ctr"/>
          <a:lstStyle/>
          <a:p>
            <a:pPr marL="0" indent="0">
              <a:lnSpc>
                <a:spcPts val="1800"/>
              </a:lnSpc>
              <a:buNone/>
            </a:pPr>
            <a:r>
              <a:rPr lang="en-US" sz="1300" b="1" dirty="0">
                <a:solidFill>
                  <a:srgbClr val="FFFFFF"/>
                </a:solidFill>
                <a:latin typeface="Noto Sans CJK SC" pitchFamily="34" charset="0"/>
                <a:ea typeface="Noto Sans CJK SC" pitchFamily="34" charset="-122"/>
                <a:cs typeface="Noto Sans CJK SC" pitchFamily="34" charset="-120"/>
              </a:rPr>
              <a:t>FSM 解码不是在一张图里找条纹位置 ——</a:t>
            </a:r>
            <a:endParaRPr lang="en-US" sz="1300" dirty="0"/>
          </a:p>
        </p:txBody>
      </p:sp>
      <p:sp>
        <p:nvSpPr>
          <p:cNvPr id="37" name="Text 35"/>
          <p:cNvSpPr/>
          <p:nvPr/>
        </p:nvSpPr>
        <p:spPr>
          <a:xfrm>
            <a:off x="7379208" y="4096512"/>
            <a:ext cx="4069080" cy="786384"/>
          </a:xfrm>
          <a:prstGeom prst="rect">
            <a:avLst/>
          </a:prstGeom>
          <a:noFill/>
        </p:spPr>
        <p:txBody>
          <a:bodyPr wrap="square" lIns="0" tIns="0" rIns="0" bIns="0" rtlCol="0" anchor="ctr"/>
          <a:lstStyle/>
          <a:p>
            <a:pPr marL="0" indent="0">
              <a:lnSpc>
                <a:spcPts val="1800"/>
              </a:lnSpc>
              <a:buNone/>
            </a:pPr>
            <a:r>
              <a:rPr lang="en-US" sz="1300" b="1" dirty="0">
                <a:solidFill>
                  <a:srgbClr val="22D3EE"/>
                </a:solidFill>
                <a:latin typeface="Noto Sans CJK SC" pitchFamily="34" charset="0"/>
                <a:ea typeface="Noto Sans CJK SC" pitchFamily="34" charset="-122"/>
                <a:cs typeface="Noto Sans CJK SC" pitchFamily="34" charset="-120"/>
              </a:rPr>
              <a:t>而是对「同一相机像素</a:t>
            </a:r>
            <a:r>
              <a:rPr lang="en-US" sz="1300" b="1" dirty="0">
                <a:solidFill>
                  <a:srgbClr val="FF0000"/>
                </a:solidFill>
                <a:latin typeface="Noto Sans CJK SC" pitchFamily="34" charset="0"/>
                <a:ea typeface="Noto Sans CJK SC" pitchFamily="34" charset="-122"/>
                <a:cs typeface="Noto Sans CJK SC" pitchFamily="34" charset="-120"/>
              </a:rPr>
              <a:t>随投影频率变化形成的复信号</a:t>
            </a:r>
            <a:r>
              <a:rPr lang="en-US" sz="1300" b="1" dirty="0">
                <a:solidFill>
                  <a:srgbClr val="22D3EE"/>
                </a:solidFill>
                <a:latin typeface="Noto Sans CJK SC" pitchFamily="34" charset="0"/>
                <a:ea typeface="Noto Sans CJK SC" pitchFamily="34" charset="-122"/>
                <a:cs typeface="Noto Sans CJK SC" pitchFamily="34" charset="-120"/>
              </a:rPr>
              <a:t>」做频谱分析。</a:t>
            </a:r>
            <a:endParaRPr lang="en-US" sz="1300" dirty="0"/>
          </a:p>
        </p:txBody>
      </p:sp>
      <p:sp>
        <p:nvSpPr>
          <p:cNvPr id="38" name="Shape 36"/>
          <p:cNvSpPr/>
          <p:nvPr/>
        </p:nvSpPr>
        <p:spPr>
          <a:xfrm>
            <a:off x="7379208" y="4956048"/>
            <a:ext cx="3931920" cy="0"/>
          </a:xfrm>
          <a:prstGeom prst="line">
            <a:avLst/>
          </a:prstGeom>
          <a:noFill/>
          <a:ln w="12700">
            <a:solidFill>
              <a:srgbClr val="1E466E"/>
            </a:solidFill>
            <a:prstDash val="solid"/>
          </a:ln>
        </p:spPr>
        <p:txBody>
          <a:bodyPr/>
          <a:lstStyle/>
          <a:p>
            <a:endParaRPr lang="zh-CN" altLang="en-US"/>
          </a:p>
        </p:txBody>
      </p:sp>
      <p:sp>
        <p:nvSpPr>
          <p:cNvPr id="39" name="Text 37"/>
          <p:cNvSpPr/>
          <p:nvPr/>
        </p:nvSpPr>
        <p:spPr>
          <a:xfrm>
            <a:off x="7379208" y="5065776"/>
            <a:ext cx="4069080" cy="786384"/>
          </a:xfrm>
          <a:prstGeom prst="rect">
            <a:avLst/>
          </a:prstGeom>
          <a:noFill/>
        </p:spPr>
        <p:txBody>
          <a:bodyPr wrap="square" lIns="0" tIns="0" rIns="0" bIns="0" rtlCol="0" anchor="ctr"/>
          <a:lstStyle/>
          <a:p>
            <a:pPr marL="0" indent="0">
              <a:lnSpc>
                <a:spcPts val="1600"/>
              </a:lnSpc>
              <a:buNone/>
            </a:pPr>
            <a:r>
              <a:rPr lang="en-US" sz="1100" dirty="0">
                <a:solidFill>
                  <a:srgbClr val="CBD5E1"/>
                </a:solidFill>
                <a:latin typeface="Noto Sans CJK SC" pitchFamily="34" charset="0"/>
                <a:ea typeface="Noto Sans CJK SC" pitchFamily="34" charset="-122"/>
                <a:cs typeface="Noto Sans CJK SC" pitchFamily="34" charset="-120"/>
              </a:rPr>
              <a:t>四步相移构造复信号  →  多频率</a:t>
            </a:r>
            <a:r>
              <a:rPr lang="en-US" sz="1100" dirty="0">
                <a:solidFill>
                  <a:srgbClr val="FF0000"/>
                </a:solidFill>
                <a:latin typeface="Noto Sans CJK SC" pitchFamily="34" charset="0"/>
                <a:ea typeface="Noto Sans CJK SC" pitchFamily="34" charset="-122"/>
                <a:cs typeface="Noto Sans CJK SC" pitchFamily="34" charset="-120"/>
              </a:rPr>
              <a:t>形成频率轴信号</a:t>
            </a:r>
            <a:r>
              <a:rPr lang="en-US" sz="1100" dirty="0">
                <a:solidFill>
                  <a:srgbClr val="CBD5E1"/>
                </a:solidFill>
                <a:latin typeface="Noto Sans CJK SC" pitchFamily="34" charset="0"/>
                <a:ea typeface="Noto Sans CJK SC" pitchFamily="34" charset="-122"/>
                <a:cs typeface="Noto Sans CJK SC" pitchFamily="34" charset="-120"/>
              </a:rPr>
              <a:t>  →  </a:t>
            </a:r>
            <a:r>
              <a:rPr lang="en-US" sz="1100" dirty="0">
                <a:solidFill>
                  <a:srgbClr val="FF0000"/>
                </a:solidFill>
                <a:latin typeface="Noto Sans CJK SC" pitchFamily="34" charset="0"/>
                <a:ea typeface="Noto Sans CJK SC" pitchFamily="34" charset="-122"/>
                <a:cs typeface="Noto Sans CJK SC" pitchFamily="34" charset="-120"/>
              </a:rPr>
              <a:t>FFT</a:t>
            </a:r>
            <a:r>
              <a:rPr lang="en-US" sz="1100" dirty="0">
                <a:solidFill>
                  <a:srgbClr val="CBD5E1"/>
                </a:solidFill>
                <a:latin typeface="Noto Sans CJK SC" pitchFamily="34" charset="0"/>
                <a:ea typeface="Noto Sans CJK SC" pitchFamily="34" charset="-122"/>
                <a:cs typeface="Noto Sans CJK SC" pitchFamily="34" charset="-120"/>
              </a:rPr>
              <a:t>  →  峰值即坐标。</a:t>
            </a:r>
            <a:endParaRPr lang="en-US" sz="1100" dirty="0"/>
          </a:p>
        </p:txBody>
      </p:sp>
      <p:sp>
        <p:nvSpPr>
          <p:cNvPr id="40" name="Text 38"/>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1" name="Text 39"/>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42" name="Text 40"/>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20 / 42</a:t>
            </a:r>
            <a:endParaRPr lang="en-US" sz="850" dirty="0"/>
          </a:p>
        </p:txBody>
      </p:sp>
      <p:sp>
        <p:nvSpPr>
          <p:cNvPr id="43" name="Shape 4"/>
          <p:cNvSpPr/>
          <p:nvPr/>
        </p:nvSpPr>
        <p:spPr>
          <a:xfrm>
            <a:off x="4614672" y="9144"/>
            <a:ext cx="7577328" cy="713232"/>
          </a:xfrm>
          <a:prstGeom prst="roundRect">
            <a:avLst>
              <a:gd name="adj" fmla="val 89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4" name="Text 5"/>
          <p:cNvSpPr/>
          <p:nvPr/>
        </p:nvSpPr>
        <p:spPr>
          <a:xfrm>
            <a:off x="4706111" y="9144"/>
            <a:ext cx="7316041" cy="713232"/>
          </a:xfrm>
          <a:prstGeom prst="rect">
            <a:avLst/>
          </a:prstGeom>
          <a:noFill/>
        </p:spPr>
        <p:txBody>
          <a:bodyPr wrap="square" lIns="0" tIns="0" rIns="0" bIns="0" rtlCol="0" anchor="ctr"/>
          <a:lstStyle/>
          <a:p>
            <a:pPr marL="0" indent="0" algn="ctr">
              <a:buNone/>
            </a:pPr>
            <a:r>
              <a:rPr lang="en-US" sz="1600" b="1" dirty="0">
                <a:solidFill>
                  <a:srgbClr val="22D3EE"/>
                </a:solidFill>
                <a:latin typeface="DejaVu Sans Mono" pitchFamily="34" charset="0"/>
                <a:ea typeface="DejaVu Sans Mono" pitchFamily="34" charset="-122"/>
                <a:cs typeface="DejaVu Sans Mono" pitchFamily="34" charset="-120"/>
              </a:rPr>
              <a:t>signal  =  D[ : , y, x ]</a:t>
            </a:r>
            <a:endParaRPr lang="en-US" sz="1600" dirty="0"/>
          </a:p>
        </p:txBody>
      </p:sp>
      <p:sp>
        <p:nvSpPr>
          <p:cNvPr id="45" name="Shape 3"/>
          <p:cNvSpPr/>
          <p:nvPr/>
        </p:nvSpPr>
        <p:spPr>
          <a:xfrm>
            <a:off x="4623814" y="755904"/>
            <a:ext cx="7568186" cy="786384"/>
          </a:xfrm>
          <a:prstGeom prst="roundRect">
            <a:avLst>
              <a:gd name="adj" fmla="val 814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6" name="Text 4"/>
          <p:cNvSpPr/>
          <p:nvPr/>
        </p:nvSpPr>
        <p:spPr>
          <a:xfrm>
            <a:off x="4646781" y="755904"/>
            <a:ext cx="7442989" cy="786384"/>
          </a:xfrm>
          <a:prstGeom prst="rect">
            <a:avLst/>
          </a:prstGeom>
          <a:noFill/>
        </p:spPr>
        <p:txBody>
          <a:bodyPr wrap="square" lIns="0" tIns="0" rIns="0" bIns="0" rtlCol="0" anchor="ctr"/>
          <a:lstStyle/>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C[q]  =  Σ_k  signal[k] · </a:t>
            </a:r>
            <a:r>
              <a:rPr lang="en-US" sz="1800" b="1" dirty="0">
                <a:solidFill>
                  <a:srgbClr val="FF0000"/>
                </a:solidFill>
                <a:latin typeface="Noto Sans CJK SC" pitchFamily="34" charset="0"/>
                <a:ea typeface="Noto Sans CJK SC" pitchFamily="34" charset="-122"/>
                <a:cs typeface="Noto Sans CJK SC" pitchFamily="34" charset="-120"/>
              </a:rPr>
              <a:t>exp( − j · 2π·q·k / N )</a:t>
            </a:r>
            <a:endParaRPr lang="en-US" sz="1800"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874520"/>
            <a:ext cx="4572000" cy="365760"/>
          </a:xfrm>
          <a:prstGeom prst="rect">
            <a:avLst/>
          </a:prstGeom>
          <a:noFill/>
        </p:spPr>
        <p:txBody>
          <a:bodyPr wrap="square" lIns="0" tIns="0" rIns="0" bIns="0" rtlCol="0" anchor="ctr"/>
          <a:lstStyle/>
          <a:p>
            <a:pPr marL="0" indent="0">
              <a:buNone/>
            </a:pPr>
            <a:r>
              <a:rPr lang="en-US" sz="1400" b="1" kern="0" spc="500" dirty="0">
                <a:solidFill>
                  <a:srgbClr val="22D3EE"/>
                </a:solidFill>
                <a:latin typeface="Noto Sans CJK SC" pitchFamily="34" charset="0"/>
                <a:ea typeface="Noto Sans CJK SC" pitchFamily="34" charset="-122"/>
                <a:cs typeface="Noto Sans CJK SC" pitchFamily="34" charset="-120"/>
              </a:rPr>
              <a:t>CHAPTER</a:t>
            </a:r>
            <a:endParaRPr lang="en-US" sz="1400" dirty="0"/>
          </a:p>
        </p:txBody>
      </p:sp>
      <p:sp>
        <p:nvSpPr>
          <p:cNvPr id="3" name="Text 1"/>
          <p:cNvSpPr/>
          <p:nvPr/>
        </p:nvSpPr>
        <p:spPr>
          <a:xfrm>
            <a:off x="822960" y="2103120"/>
            <a:ext cx="3108960" cy="2103120"/>
          </a:xfrm>
          <a:prstGeom prst="rect">
            <a:avLst/>
          </a:prstGeom>
          <a:noFill/>
        </p:spPr>
        <p:txBody>
          <a:bodyPr wrap="square" lIns="0" tIns="0" rIns="0" bIns="0" rtlCol="0" anchor="ctr"/>
          <a:lstStyle/>
          <a:p>
            <a:pPr marL="0" indent="0">
              <a:buNone/>
            </a:pPr>
            <a:r>
              <a:rPr lang="en-US" sz="15000" b="1" dirty="0">
                <a:solidFill>
                  <a:srgbClr val="13395E"/>
                </a:solidFill>
                <a:latin typeface="Noto Sans CJK SC" pitchFamily="34" charset="0"/>
                <a:ea typeface="Noto Sans CJK SC" pitchFamily="34" charset="-122"/>
                <a:cs typeface="Noto Sans CJK SC" pitchFamily="34" charset="-120"/>
              </a:rPr>
              <a:t>四</a:t>
            </a:r>
            <a:endParaRPr lang="en-US" sz="15000" dirty="0"/>
          </a:p>
        </p:txBody>
      </p:sp>
      <p:sp>
        <p:nvSpPr>
          <p:cNvPr id="4" name="Text 2"/>
          <p:cNvSpPr/>
          <p:nvPr/>
        </p:nvSpPr>
        <p:spPr>
          <a:xfrm>
            <a:off x="3246120" y="2395728"/>
            <a:ext cx="7863840" cy="914400"/>
          </a:xfrm>
          <a:prstGeom prst="rect">
            <a:avLst/>
          </a:prstGeom>
          <a:noFill/>
        </p:spPr>
        <p:txBody>
          <a:bodyPr wrap="square" lIns="0" tIns="0" rIns="0" bIns="0" rtlCol="0" anchor="ctr"/>
          <a:lstStyle/>
          <a:p>
            <a:pPr marL="0" indent="0">
              <a:buNone/>
            </a:pPr>
            <a:r>
              <a:rPr lang="en-US" sz="4000" b="1" dirty="0">
                <a:solidFill>
                  <a:srgbClr val="FFFFFF"/>
                </a:solidFill>
                <a:latin typeface="Noto Sans CJK SC" pitchFamily="34" charset="0"/>
                <a:ea typeface="Noto Sans CJK SC" pitchFamily="34" charset="-122"/>
                <a:cs typeface="Noto Sans CJK SC" pitchFamily="34" charset="-120"/>
              </a:rPr>
              <a:t>主线代码实现与数据形状</a:t>
            </a:r>
            <a:endParaRPr lang="en-US" sz="4000" dirty="0"/>
          </a:p>
        </p:txBody>
      </p:sp>
      <p:sp>
        <p:nvSpPr>
          <p:cNvPr id="5" name="Text 3"/>
          <p:cNvSpPr/>
          <p:nvPr/>
        </p:nvSpPr>
        <p:spPr>
          <a:xfrm>
            <a:off x="3291840" y="3310128"/>
            <a:ext cx="7863840" cy="502920"/>
          </a:xfrm>
          <a:prstGeom prst="rect">
            <a:avLst/>
          </a:prstGeom>
          <a:noFill/>
        </p:spPr>
        <p:txBody>
          <a:bodyPr wrap="square" lIns="0" tIns="0" rIns="0" bIns="0" rtlCol="0" anchor="ctr"/>
          <a:lstStyle/>
          <a:p>
            <a:pPr marL="0" indent="0">
              <a:buNone/>
            </a:pPr>
            <a:r>
              <a:rPr lang="en-US" sz="1700" dirty="0">
                <a:solidFill>
                  <a:srgbClr val="22D3EE"/>
                </a:solidFill>
                <a:latin typeface="Noto Sans CJK SC" pitchFamily="34" charset="0"/>
                <a:ea typeface="Noto Sans CJK SC" pitchFamily="34" charset="-122"/>
                <a:cs typeface="Noto Sans CJK SC" pitchFamily="34" charset="-120"/>
              </a:rPr>
              <a:t>Core Code &amp; Tensor Shapes</a:t>
            </a:r>
            <a:endParaRPr lang="en-US" sz="1700" dirty="0"/>
          </a:p>
        </p:txBody>
      </p:sp>
      <p:sp>
        <p:nvSpPr>
          <p:cNvPr id="6" name="Shape 4"/>
          <p:cNvSpPr/>
          <p:nvPr/>
        </p:nvSpPr>
        <p:spPr>
          <a:xfrm>
            <a:off x="3310128" y="3950208"/>
            <a:ext cx="2743200" cy="0"/>
          </a:xfrm>
          <a:prstGeom prst="line">
            <a:avLst/>
          </a:prstGeom>
          <a:noFill/>
          <a:ln w="19050">
            <a:solidFill>
              <a:srgbClr val="1E466E"/>
            </a:solidFill>
            <a:prstDash val="solid"/>
          </a:ln>
        </p:spPr>
        <p:txBody>
          <a:bodyPr/>
          <a:lstStyle/>
          <a:p>
            <a:endParaRPr lang="zh-CN" altLang="en-US"/>
          </a:p>
        </p:txBody>
      </p:sp>
      <p:sp>
        <p:nvSpPr>
          <p:cNvPr id="7" name="Text 5"/>
          <p:cNvSpPr/>
          <p:nvPr/>
        </p:nvSpPr>
        <p:spPr>
          <a:xfrm>
            <a:off x="3310128" y="4078224"/>
            <a:ext cx="7680960" cy="822960"/>
          </a:xfrm>
          <a:prstGeom prst="rect">
            <a:avLst/>
          </a:prstGeom>
          <a:noFill/>
        </p:spPr>
        <p:txBody>
          <a:bodyPr wrap="square" lIns="0" tIns="0" rIns="0" bIns="0" rtlCol="0" anchor="ctr"/>
          <a:lstStyle/>
          <a:p>
            <a:pPr marL="0" indent="0">
              <a:buNone/>
            </a:pPr>
            <a:r>
              <a:rPr lang="en-US" sz="1250" dirty="0">
                <a:solidFill>
                  <a:srgbClr val="CBD5E1"/>
                </a:solidFill>
                <a:latin typeface="Noto Sans CJK SC" pitchFamily="34" charset="0"/>
                <a:ea typeface="Noto Sans CJK SC" pitchFamily="34" charset="-122"/>
                <a:cs typeface="Noto Sans CJK SC" pitchFamily="34" charset="-120"/>
              </a:rPr>
              <a:t>FSM_decode_core.py 中的张量维度、轴方向约定与分块处理逻辑。</a:t>
            </a:r>
            <a:endParaRPr lang="en-US" sz="1250" dirty="0"/>
          </a:p>
        </p:txBody>
      </p:sp>
      <p:sp>
        <p:nvSpPr>
          <p:cNvPr id="8" name="Text 6"/>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9" name="Text 7"/>
          <p:cNvSpPr/>
          <p:nvPr/>
        </p:nvSpPr>
        <p:spPr>
          <a:xfrm>
            <a:off x="5029200" y="6446520"/>
            <a:ext cx="4572000" cy="274320"/>
          </a:xfrm>
          <a:prstGeom prst="rect">
            <a:avLst/>
          </a:prstGeom>
          <a:noFill/>
        </p:spPr>
        <p:txBody>
          <a:bodyPr wrap="square" lIns="0" tIns="0" rIns="0" bIns="0" rtlCol="0" anchor="ctr"/>
          <a:lstStyle/>
          <a:p>
            <a:pPr marL="0" indent="0" algn="ctr">
              <a:buNone/>
            </a:pPr>
            <a:endParaRPr lang="en-US" sz="850" dirty="0"/>
          </a:p>
        </p:txBody>
      </p:sp>
      <p:sp>
        <p:nvSpPr>
          <p:cNvPr id="10" name="Text 8"/>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21 / 42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四 · 数据维度</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主线代码的数据形状</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第一维始终是「频率 × 相移」维度 —— 这是 FFT 必须沿 axis=0 执行的原因。</a:t>
            </a:r>
            <a:endParaRPr lang="en-US" sz="1250" dirty="0"/>
          </a:p>
        </p:txBody>
      </p:sp>
      <p:sp>
        <p:nvSpPr>
          <p:cNvPr id="6" name="Shape 4"/>
          <p:cNvSpPr/>
          <p:nvPr/>
        </p:nvSpPr>
        <p:spPr>
          <a:xfrm>
            <a:off x="566928" y="2011680"/>
            <a:ext cx="2011680" cy="1554480"/>
          </a:xfrm>
          <a:prstGeom prst="roundRect">
            <a:avLst>
              <a:gd name="adj" fmla="val 5294"/>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Shape 5"/>
          <p:cNvSpPr/>
          <p:nvPr/>
        </p:nvSpPr>
        <p:spPr>
          <a:xfrm>
            <a:off x="566928" y="2011680"/>
            <a:ext cx="2011680" cy="82296"/>
          </a:xfrm>
          <a:prstGeom prst="rect">
            <a:avLst/>
          </a:prstGeom>
          <a:solidFill>
            <a:srgbClr val="3B82F6"/>
          </a:solidFill>
          <a:ln w="12700">
            <a:solidFill>
              <a:srgbClr val="3B82F6"/>
            </a:solidFill>
            <a:prstDash val="solid"/>
          </a:ln>
        </p:spPr>
        <p:txBody>
          <a:bodyPr/>
          <a:lstStyle/>
          <a:p>
            <a:endParaRPr lang="zh-CN" altLang="en-US"/>
          </a:p>
        </p:txBody>
      </p:sp>
      <p:sp>
        <p:nvSpPr>
          <p:cNvPr id="8" name="Text 6"/>
          <p:cNvSpPr/>
          <p:nvPr/>
        </p:nvSpPr>
        <p:spPr>
          <a:xfrm>
            <a:off x="521208" y="2176272"/>
            <a:ext cx="2103120" cy="329184"/>
          </a:xfrm>
          <a:prstGeom prst="rect">
            <a:avLst/>
          </a:prstGeom>
          <a:noFill/>
        </p:spPr>
        <p:txBody>
          <a:bodyPr wrap="square" lIns="0" tIns="0" rIns="0" bIns="0" rtlCol="0" anchor="ctr"/>
          <a:lstStyle/>
          <a:p>
            <a:pPr marL="0" indent="0" algn="ctr">
              <a:buNone/>
            </a:pPr>
            <a:r>
              <a:rPr lang="en-US" sz="1150" b="1" dirty="0">
                <a:solidFill>
                  <a:srgbClr val="0E2A47"/>
                </a:solidFill>
                <a:latin typeface="DejaVu Sans Mono" pitchFamily="34" charset="0"/>
                <a:ea typeface="DejaVu Sans Mono" pitchFamily="34" charset="-122"/>
                <a:cs typeface="DejaVu Sans Mono" pitchFamily="34" charset="-120"/>
              </a:rPr>
              <a:t>images</a:t>
            </a:r>
            <a:endParaRPr lang="en-US" sz="1150" dirty="0"/>
          </a:p>
        </p:txBody>
      </p:sp>
      <p:sp>
        <p:nvSpPr>
          <p:cNvPr id="9" name="Shape 7"/>
          <p:cNvSpPr/>
          <p:nvPr/>
        </p:nvSpPr>
        <p:spPr>
          <a:xfrm>
            <a:off x="749808" y="2578608"/>
            <a:ext cx="1645920" cy="457200"/>
          </a:xfrm>
          <a:prstGeom prst="roundRect">
            <a:avLst>
              <a:gd name="adj" fmla="val 10000"/>
            </a:avLst>
          </a:prstGeom>
          <a:solidFill>
            <a:srgbClr val="0E2A47"/>
          </a:solidFill>
          <a:ln w="12700">
            <a:solidFill>
              <a:srgbClr val="16395C"/>
            </a:solidFill>
            <a:prstDash val="solid"/>
          </a:ln>
        </p:spPr>
        <p:txBody>
          <a:bodyPr/>
          <a:lstStyle/>
          <a:p>
            <a:endParaRPr lang="zh-CN" altLang="en-US"/>
          </a:p>
        </p:txBody>
      </p:sp>
      <p:sp>
        <p:nvSpPr>
          <p:cNvPr id="10" name="Text 8"/>
          <p:cNvSpPr/>
          <p:nvPr/>
        </p:nvSpPr>
        <p:spPr>
          <a:xfrm>
            <a:off x="658368" y="2578608"/>
            <a:ext cx="1828800" cy="457200"/>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(M·4, Hc, Wc)</a:t>
            </a:r>
            <a:endParaRPr lang="en-US" sz="950" dirty="0"/>
          </a:p>
        </p:txBody>
      </p:sp>
      <p:sp>
        <p:nvSpPr>
          <p:cNvPr id="11" name="Text 9"/>
          <p:cNvSpPr/>
          <p:nvPr/>
        </p:nvSpPr>
        <p:spPr>
          <a:xfrm>
            <a:off x="566928" y="3108960"/>
            <a:ext cx="2011680" cy="365760"/>
          </a:xfrm>
          <a:prstGeom prst="rect">
            <a:avLst/>
          </a:prstGeom>
          <a:noFill/>
        </p:spPr>
        <p:txBody>
          <a:bodyPr wrap="square" lIns="0" tIns="0" rIns="0" bIns="0" rtlCol="0" anchor="ctr"/>
          <a:lstStyle/>
          <a:p>
            <a:pPr marL="0" indent="0" algn="ctr">
              <a:buNone/>
            </a:pPr>
            <a:r>
              <a:rPr lang="en-US" sz="950" dirty="0">
                <a:solidFill>
                  <a:srgbClr val="64748B"/>
                </a:solidFill>
                <a:latin typeface="Noto Sans CJK SC" pitchFamily="34" charset="0"/>
                <a:ea typeface="Noto Sans CJK SC" pitchFamily="34" charset="-122"/>
                <a:cs typeface="Noto Sans CJK SC" pitchFamily="34" charset="-120"/>
              </a:rPr>
              <a:t>原始图像序列</a:t>
            </a:r>
            <a:endParaRPr lang="en-US" sz="950" dirty="0"/>
          </a:p>
        </p:txBody>
      </p:sp>
      <p:sp>
        <p:nvSpPr>
          <p:cNvPr id="12" name="Shape 10"/>
          <p:cNvSpPr/>
          <p:nvPr/>
        </p:nvSpPr>
        <p:spPr>
          <a:xfrm>
            <a:off x="2606040" y="2788920"/>
            <a:ext cx="192024" cy="0"/>
          </a:xfrm>
          <a:prstGeom prst="line">
            <a:avLst/>
          </a:prstGeom>
          <a:noFill/>
          <a:ln w="25400">
            <a:solidFill>
              <a:srgbClr val="64748B"/>
            </a:solidFill>
            <a:prstDash val="solid"/>
            <a:tailEnd type="triangle"/>
          </a:ln>
        </p:spPr>
        <p:txBody>
          <a:bodyPr/>
          <a:lstStyle/>
          <a:p>
            <a:endParaRPr lang="zh-CN" altLang="en-US"/>
          </a:p>
        </p:txBody>
      </p:sp>
      <p:sp>
        <p:nvSpPr>
          <p:cNvPr id="13" name="Shape 11"/>
          <p:cNvSpPr/>
          <p:nvPr/>
        </p:nvSpPr>
        <p:spPr>
          <a:xfrm>
            <a:off x="2825496" y="2011680"/>
            <a:ext cx="2011680" cy="1554480"/>
          </a:xfrm>
          <a:prstGeom prst="roundRect">
            <a:avLst>
              <a:gd name="adj" fmla="val 5294"/>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4" name="Shape 12"/>
          <p:cNvSpPr/>
          <p:nvPr/>
        </p:nvSpPr>
        <p:spPr>
          <a:xfrm>
            <a:off x="2825496" y="2011680"/>
            <a:ext cx="2011680" cy="82296"/>
          </a:xfrm>
          <a:prstGeom prst="rect">
            <a:avLst/>
          </a:prstGeom>
          <a:solidFill>
            <a:srgbClr val="2DD4BF"/>
          </a:solidFill>
          <a:ln w="12700">
            <a:solidFill>
              <a:srgbClr val="2DD4BF"/>
            </a:solidFill>
            <a:prstDash val="solid"/>
          </a:ln>
        </p:spPr>
        <p:txBody>
          <a:bodyPr/>
          <a:lstStyle/>
          <a:p>
            <a:endParaRPr lang="zh-CN" altLang="en-US"/>
          </a:p>
        </p:txBody>
      </p:sp>
      <p:sp>
        <p:nvSpPr>
          <p:cNvPr id="15" name="Text 13"/>
          <p:cNvSpPr/>
          <p:nvPr/>
        </p:nvSpPr>
        <p:spPr>
          <a:xfrm>
            <a:off x="2779776" y="2176272"/>
            <a:ext cx="2103120" cy="329184"/>
          </a:xfrm>
          <a:prstGeom prst="rect">
            <a:avLst/>
          </a:prstGeom>
          <a:noFill/>
        </p:spPr>
        <p:txBody>
          <a:bodyPr wrap="square" lIns="0" tIns="0" rIns="0" bIns="0" rtlCol="0" anchor="ctr"/>
          <a:lstStyle/>
          <a:p>
            <a:pPr marL="0" indent="0" algn="ctr">
              <a:buNone/>
            </a:pPr>
            <a:r>
              <a:rPr lang="en-US" sz="1150" b="1" dirty="0">
                <a:solidFill>
                  <a:srgbClr val="0E2A47"/>
                </a:solidFill>
                <a:latin typeface="DejaVu Sans Mono" pitchFamily="34" charset="0"/>
                <a:ea typeface="DejaVu Sans Mono" pitchFamily="34" charset="-122"/>
                <a:cs typeface="DejaVu Sans Mono" pitchFamily="34" charset="-120"/>
              </a:rPr>
              <a:t>I0/I1/I2/I3</a:t>
            </a:r>
            <a:endParaRPr lang="en-US" sz="1150" dirty="0"/>
          </a:p>
        </p:txBody>
      </p:sp>
      <p:sp>
        <p:nvSpPr>
          <p:cNvPr id="16" name="Shape 14"/>
          <p:cNvSpPr/>
          <p:nvPr/>
        </p:nvSpPr>
        <p:spPr>
          <a:xfrm>
            <a:off x="3008376" y="2578608"/>
            <a:ext cx="1645920" cy="457200"/>
          </a:xfrm>
          <a:prstGeom prst="roundRect">
            <a:avLst>
              <a:gd name="adj" fmla="val 10000"/>
            </a:avLst>
          </a:prstGeom>
          <a:solidFill>
            <a:srgbClr val="0E2A47"/>
          </a:solidFill>
          <a:ln w="12700">
            <a:solidFill>
              <a:srgbClr val="16395C"/>
            </a:solidFill>
            <a:prstDash val="solid"/>
          </a:ln>
        </p:spPr>
        <p:txBody>
          <a:bodyPr/>
          <a:lstStyle/>
          <a:p>
            <a:endParaRPr lang="zh-CN" altLang="en-US"/>
          </a:p>
        </p:txBody>
      </p:sp>
      <p:sp>
        <p:nvSpPr>
          <p:cNvPr id="17" name="Text 15"/>
          <p:cNvSpPr/>
          <p:nvPr/>
        </p:nvSpPr>
        <p:spPr>
          <a:xfrm>
            <a:off x="2916936" y="2578608"/>
            <a:ext cx="1828800" cy="457200"/>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(M, Hc, Wc)</a:t>
            </a:r>
            <a:endParaRPr lang="en-US" sz="950" dirty="0"/>
          </a:p>
        </p:txBody>
      </p:sp>
      <p:sp>
        <p:nvSpPr>
          <p:cNvPr id="18" name="Text 16"/>
          <p:cNvSpPr/>
          <p:nvPr/>
        </p:nvSpPr>
        <p:spPr>
          <a:xfrm>
            <a:off x="2825496" y="3108960"/>
            <a:ext cx="2011680" cy="365760"/>
          </a:xfrm>
          <a:prstGeom prst="rect">
            <a:avLst/>
          </a:prstGeom>
          <a:noFill/>
        </p:spPr>
        <p:txBody>
          <a:bodyPr wrap="square" lIns="0" tIns="0" rIns="0" bIns="0" rtlCol="0" anchor="ctr"/>
          <a:lstStyle/>
          <a:p>
            <a:pPr marL="0" indent="0" algn="ctr">
              <a:buNone/>
            </a:pPr>
            <a:r>
              <a:rPr lang="en-US" sz="950" dirty="0">
                <a:solidFill>
                  <a:srgbClr val="64748B"/>
                </a:solidFill>
                <a:latin typeface="Noto Sans CJK SC" pitchFamily="34" charset="0"/>
                <a:ea typeface="Noto Sans CJK SC" pitchFamily="34" charset="-122"/>
                <a:cs typeface="Noto Sans CJK SC" pitchFamily="34" charset="-120"/>
              </a:rPr>
              <a:t>按相位切片</a:t>
            </a:r>
            <a:endParaRPr lang="en-US" sz="950" dirty="0"/>
          </a:p>
        </p:txBody>
      </p:sp>
      <p:sp>
        <p:nvSpPr>
          <p:cNvPr id="19" name="Shape 17"/>
          <p:cNvSpPr/>
          <p:nvPr/>
        </p:nvSpPr>
        <p:spPr>
          <a:xfrm>
            <a:off x="4864608" y="2788920"/>
            <a:ext cx="192024" cy="0"/>
          </a:xfrm>
          <a:prstGeom prst="line">
            <a:avLst/>
          </a:prstGeom>
          <a:noFill/>
          <a:ln w="25400">
            <a:solidFill>
              <a:srgbClr val="64748B"/>
            </a:solidFill>
            <a:prstDash val="solid"/>
            <a:tailEnd type="triangle"/>
          </a:ln>
        </p:spPr>
        <p:txBody>
          <a:bodyPr/>
          <a:lstStyle/>
          <a:p>
            <a:endParaRPr lang="zh-CN" altLang="en-US"/>
          </a:p>
        </p:txBody>
      </p:sp>
      <p:sp>
        <p:nvSpPr>
          <p:cNvPr id="20" name="Shape 18"/>
          <p:cNvSpPr/>
          <p:nvPr/>
        </p:nvSpPr>
        <p:spPr>
          <a:xfrm>
            <a:off x="5084064" y="2011680"/>
            <a:ext cx="2011680" cy="1554480"/>
          </a:xfrm>
          <a:prstGeom prst="roundRect">
            <a:avLst>
              <a:gd name="adj" fmla="val 5294"/>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1" name="Shape 19"/>
          <p:cNvSpPr/>
          <p:nvPr/>
        </p:nvSpPr>
        <p:spPr>
          <a:xfrm>
            <a:off x="5084064" y="2011680"/>
            <a:ext cx="2011680" cy="82296"/>
          </a:xfrm>
          <a:prstGeom prst="rect">
            <a:avLst/>
          </a:prstGeom>
          <a:solidFill>
            <a:srgbClr val="F59E0B"/>
          </a:solidFill>
          <a:ln w="12700">
            <a:solidFill>
              <a:srgbClr val="F59E0B"/>
            </a:solidFill>
            <a:prstDash val="solid"/>
          </a:ln>
        </p:spPr>
        <p:txBody>
          <a:bodyPr/>
          <a:lstStyle/>
          <a:p>
            <a:endParaRPr lang="zh-CN" altLang="en-US"/>
          </a:p>
        </p:txBody>
      </p:sp>
      <p:sp>
        <p:nvSpPr>
          <p:cNvPr id="22" name="Text 20"/>
          <p:cNvSpPr/>
          <p:nvPr/>
        </p:nvSpPr>
        <p:spPr>
          <a:xfrm>
            <a:off x="5038344" y="2176272"/>
            <a:ext cx="2103120" cy="329184"/>
          </a:xfrm>
          <a:prstGeom prst="rect">
            <a:avLst/>
          </a:prstGeom>
          <a:noFill/>
        </p:spPr>
        <p:txBody>
          <a:bodyPr wrap="square" lIns="0" tIns="0" rIns="0" bIns="0" rtlCol="0" anchor="ctr"/>
          <a:lstStyle/>
          <a:p>
            <a:pPr marL="0" indent="0" algn="ctr">
              <a:buNone/>
            </a:pPr>
            <a:r>
              <a:rPr lang="en-US" sz="1150" b="1" dirty="0">
                <a:solidFill>
                  <a:srgbClr val="0E2A47"/>
                </a:solidFill>
                <a:latin typeface="DejaVu Sans Mono" pitchFamily="34" charset="0"/>
                <a:ea typeface="DejaVu Sans Mono" pitchFamily="34" charset="-122"/>
                <a:cs typeface="DejaVu Sans Mono" pitchFamily="34" charset="-120"/>
              </a:rPr>
              <a:t>D</a:t>
            </a:r>
            <a:endParaRPr lang="en-US" sz="1150" dirty="0"/>
          </a:p>
        </p:txBody>
      </p:sp>
      <p:sp>
        <p:nvSpPr>
          <p:cNvPr id="23" name="Shape 21"/>
          <p:cNvSpPr/>
          <p:nvPr/>
        </p:nvSpPr>
        <p:spPr>
          <a:xfrm>
            <a:off x="5266944" y="2578608"/>
            <a:ext cx="1645920" cy="457200"/>
          </a:xfrm>
          <a:prstGeom prst="roundRect">
            <a:avLst>
              <a:gd name="adj" fmla="val 10000"/>
            </a:avLst>
          </a:prstGeom>
          <a:solidFill>
            <a:srgbClr val="0E2A47"/>
          </a:solidFill>
          <a:ln w="12700">
            <a:solidFill>
              <a:srgbClr val="16395C"/>
            </a:solidFill>
            <a:prstDash val="solid"/>
          </a:ln>
        </p:spPr>
        <p:txBody>
          <a:bodyPr/>
          <a:lstStyle/>
          <a:p>
            <a:endParaRPr lang="zh-CN" altLang="en-US"/>
          </a:p>
        </p:txBody>
      </p:sp>
      <p:sp>
        <p:nvSpPr>
          <p:cNvPr id="24" name="Text 22"/>
          <p:cNvSpPr/>
          <p:nvPr/>
        </p:nvSpPr>
        <p:spPr>
          <a:xfrm>
            <a:off x="5175504" y="2578608"/>
            <a:ext cx="1828800" cy="457200"/>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(M, Hc, Wc)</a:t>
            </a:r>
            <a:endParaRPr lang="en-US" sz="950" dirty="0"/>
          </a:p>
        </p:txBody>
      </p:sp>
      <p:sp>
        <p:nvSpPr>
          <p:cNvPr id="25" name="Text 23"/>
          <p:cNvSpPr/>
          <p:nvPr/>
        </p:nvSpPr>
        <p:spPr>
          <a:xfrm>
            <a:off x="5084064" y="3108960"/>
            <a:ext cx="2011680" cy="365760"/>
          </a:xfrm>
          <a:prstGeom prst="rect">
            <a:avLst/>
          </a:prstGeom>
          <a:noFill/>
        </p:spPr>
        <p:txBody>
          <a:bodyPr wrap="square" lIns="0" tIns="0" rIns="0" bIns="0" rtlCol="0" anchor="ctr"/>
          <a:lstStyle/>
          <a:p>
            <a:pPr marL="0" indent="0" algn="ctr">
              <a:buNone/>
            </a:pPr>
            <a:r>
              <a:rPr lang="en-US" sz="950" dirty="0">
                <a:solidFill>
                  <a:srgbClr val="FF0000"/>
                </a:solidFill>
                <a:latin typeface="Noto Sans CJK SC" pitchFamily="34" charset="0"/>
                <a:ea typeface="Noto Sans CJK SC" pitchFamily="34" charset="-122"/>
                <a:cs typeface="Noto Sans CJK SC" pitchFamily="34" charset="-120"/>
              </a:rPr>
              <a:t>复数频率响应</a:t>
            </a:r>
            <a:endParaRPr lang="en-US" sz="950" dirty="0">
              <a:solidFill>
                <a:srgbClr val="FF0000"/>
              </a:solidFill>
            </a:endParaRPr>
          </a:p>
        </p:txBody>
      </p:sp>
      <p:sp>
        <p:nvSpPr>
          <p:cNvPr id="26" name="Shape 24"/>
          <p:cNvSpPr/>
          <p:nvPr/>
        </p:nvSpPr>
        <p:spPr>
          <a:xfrm>
            <a:off x="7123176" y="2788920"/>
            <a:ext cx="192024" cy="0"/>
          </a:xfrm>
          <a:prstGeom prst="line">
            <a:avLst/>
          </a:prstGeom>
          <a:noFill/>
          <a:ln w="25400">
            <a:solidFill>
              <a:srgbClr val="64748B"/>
            </a:solidFill>
            <a:prstDash val="solid"/>
            <a:tailEnd type="triangle"/>
          </a:ln>
        </p:spPr>
        <p:txBody>
          <a:bodyPr/>
          <a:lstStyle/>
          <a:p>
            <a:endParaRPr lang="zh-CN" altLang="en-US"/>
          </a:p>
        </p:txBody>
      </p:sp>
      <p:sp>
        <p:nvSpPr>
          <p:cNvPr id="27" name="Shape 25"/>
          <p:cNvSpPr/>
          <p:nvPr/>
        </p:nvSpPr>
        <p:spPr>
          <a:xfrm>
            <a:off x="7342632" y="2011680"/>
            <a:ext cx="2011680" cy="1554480"/>
          </a:xfrm>
          <a:prstGeom prst="roundRect">
            <a:avLst>
              <a:gd name="adj" fmla="val 5294"/>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8" name="Shape 26"/>
          <p:cNvSpPr/>
          <p:nvPr/>
        </p:nvSpPr>
        <p:spPr>
          <a:xfrm>
            <a:off x="7342632" y="2011680"/>
            <a:ext cx="2011680" cy="82296"/>
          </a:xfrm>
          <a:prstGeom prst="rect">
            <a:avLst/>
          </a:prstGeom>
          <a:solidFill>
            <a:srgbClr val="0E7490"/>
          </a:solidFill>
          <a:ln w="12700">
            <a:solidFill>
              <a:srgbClr val="0E7490"/>
            </a:solidFill>
            <a:prstDash val="solid"/>
          </a:ln>
        </p:spPr>
        <p:txBody>
          <a:bodyPr/>
          <a:lstStyle/>
          <a:p>
            <a:endParaRPr lang="zh-CN" altLang="en-US"/>
          </a:p>
        </p:txBody>
      </p:sp>
      <p:sp>
        <p:nvSpPr>
          <p:cNvPr id="29" name="Text 27"/>
          <p:cNvSpPr/>
          <p:nvPr/>
        </p:nvSpPr>
        <p:spPr>
          <a:xfrm>
            <a:off x="7296912" y="2176272"/>
            <a:ext cx="2103120" cy="329184"/>
          </a:xfrm>
          <a:prstGeom prst="rect">
            <a:avLst/>
          </a:prstGeom>
          <a:noFill/>
        </p:spPr>
        <p:txBody>
          <a:bodyPr wrap="square" lIns="0" tIns="0" rIns="0" bIns="0" rtlCol="0" anchor="ctr"/>
          <a:lstStyle/>
          <a:p>
            <a:pPr marL="0" indent="0" algn="ctr">
              <a:buNone/>
            </a:pPr>
            <a:r>
              <a:rPr lang="en-US" sz="1150" b="1" dirty="0">
                <a:solidFill>
                  <a:srgbClr val="0E2A47"/>
                </a:solidFill>
                <a:latin typeface="DejaVu Sans Mono" pitchFamily="34" charset="0"/>
                <a:ea typeface="DejaVu Sans Mono" pitchFamily="34" charset="-122"/>
                <a:cs typeface="DejaVu Sans Mono" pitchFamily="34" charset="-120"/>
              </a:rPr>
              <a:t>D_block</a:t>
            </a:r>
            <a:endParaRPr lang="en-US" sz="1150" dirty="0"/>
          </a:p>
        </p:txBody>
      </p:sp>
      <p:sp>
        <p:nvSpPr>
          <p:cNvPr id="30" name="Shape 28"/>
          <p:cNvSpPr/>
          <p:nvPr/>
        </p:nvSpPr>
        <p:spPr>
          <a:xfrm>
            <a:off x="7525512" y="2578608"/>
            <a:ext cx="1645920" cy="457200"/>
          </a:xfrm>
          <a:prstGeom prst="roundRect">
            <a:avLst>
              <a:gd name="adj" fmla="val 10000"/>
            </a:avLst>
          </a:prstGeom>
          <a:solidFill>
            <a:srgbClr val="0E2A47"/>
          </a:solidFill>
          <a:ln w="12700">
            <a:solidFill>
              <a:srgbClr val="16395C"/>
            </a:solidFill>
            <a:prstDash val="solid"/>
          </a:ln>
        </p:spPr>
        <p:txBody>
          <a:bodyPr/>
          <a:lstStyle/>
          <a:p>
            <a:endParaRPr lang="zh-CN" altLang="en-US"/>
          </a:p>
        </p:txBody>
      </p:sp>
      <p:sp>
        <p:nvSpPr>
          <p:cNvPr id="31" name="Text 29"/>
          <p:cNvSpPr/>
          <p:nvPr/>
        </p:nvSpPr>
        <p:spPr>
          <a:xfrm>
            <a:off x="7434072" y="2578608"/>
            <a:ext cx="1828800" cy="457200"/>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(M, bh, bw)</a:t>
            </a:r>
            <a:endParaRPr lang="en-US" sz="950" dirty="0"/>
          </a:p>
        </p:txBody>
      </p:sp>
      <p:sp>
        <p:nvSpPr>
          <p:cNvPr id="32" name="Text 30"/>
          <p:cNvSpPr/>
          <p:nvPr/>
        </p:nvSpPr>
        <p:spPr>
          <a:xfrm>
            <a:off x="7342632" y="3108960"/>
            <a:ext cx="2011680" cy="365760"/>
          </a:xfrm>
          <a:prstGeom prst="rect">
            <a:avLst/>
          </a:prstGeom>
          <a:noFill/>
        </p:spPr>
        <p:txBody>
          <a:bodyPr wrap="square" lIns="0" tIns="0" rIns="0" bIns="0" rtlCol="0" anchor="ctr"/>
          <a:lstStyle/>
          <a:p>
            <a:pPr marL="0" indent="0" algn="ctr">
              <a:buNone/>
            </a:pPr>
            <a:r>
              <a:rPr lang="en-US" sz="950" dirty="0">
                <a:solidFill>
                  <a:srgbClr val="64748B"/>
                </a:solidFill>
                <a:latin typeface="Noto Sans CJK SC" pitchFamily="34" charset="0"/>
                <a:ea typeface="Noto Sans CJK SC" pitchFamily="34" charset="-122"/>
                <a:cs typeface="Noto Sans CJK SC" pitchFamily="34" charset="-120"/>
              </a:rPr>
              <a:t>分块处理</a:t>
            </a:r>
            <a:endParaRPr lang="en-US" sz="950" dirty="0"/>
          </a:p>
        </p:txBody>
      </p:sp>
      <p:sp>
        <p:nvSpPr>
          <p:cNvPr id="33" name="Shape 31"/>
          <p:cNvSpPr/>
          <p:nvPr/>
        </p:nvSpPr>
        <p:spPr>
          <a:xfrm>
            <a:off x="9381744" y="2788920"/>
            <a:ext cx="192024" cy="0"/>
          </a:xfrm>
          <a:prstGeom prst="line">
            <a:avLst/>
          </a:prstGeom>
          <a:noFill/>
          <a:ln w="25400">
            <a:solidFill>
              <a:srgbClr val="64748B"/>
            </a:solidFill>
            <a:prstDash val="solid"/>
            <a:tailEnd type="triangle"/>
          </a:ln>
        </p:spPr>
        <p:txBody>
          <a:bodyPr/>
          <a:lstStyle/>
          <a:p>
            <a:endParaRPr lang="zh-CN" altLang="en-US"/>
          </a:p>
        </p:txBody>
      </p:sp>
      <p:sp>
        <p:nvSpPr>
          <p:cNvPr id="34" name="Shape 32"/>
          <p:cNvSpPr/>
          <p:nvPr/>
        </p:nvSpPr>
        <p:spPr>
          <a:xfrm>
            <a:off x="9601200" y="2011680"/>
            <a:ext cx="2011680" cy="1554480"/>
          </a:xfrm>
          <a:prstGeom prst="roundRect">
            <a:avLst>
              <a:gd name="adj" fmla="val 5294"/>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35" name="Shape 33"/>
          <p:cNvSpPr/>
          <p:nvPr/>
        </p:nvSpPr>
        <p:spPr>
          <a:xfrm>
            <a:off x="9601200" y="2011680"/>
            <a:ext cx="2011680" cy="82296"/>
          </a:xfrm>
          <a:prstGeom prst="rect">
            <a:avLst/>
          </a:prstGeom>
          <a:solidFill>
            <a:srgbClr val="22D3EE"/>
          </a:solidFill>
          <a:ln w="12700">
            <a:solidFill>
              <a:srgbClr val="22D3EE"/>
            </a:solidFill>
            <a:prstDash val="solid"/>
          </a:ln>
        </p:spPr>
        <p:txBody>
          <a:bodyPr/>
          <a:lstStyle/>
          <a:p>
            <a:endParaRPr lang="zh-CN" altLang="en-US"/>
          </a:p>
        </p:txBody>
      </p:sp>
      <p:sp>
        <p:nvSpPr>
          <p:cNvPr id="36" name="Text 34"/>
          <p:cNvSpPr/>
          <p:nvPr/>
        </p:nvSpPr>
        <p:spPr>
          <a:xfrm>
            <a:off x="9555480" y="2176272"/>
            <a:ext cx="2103120" cy="329184"/>
          </a:xfrm>
          <a:prstGeom prst="rect">
            <a:avLst/>
          </a:prstGeom>
          <a:noFill/>
        </p:spPr>
        <p:txBody>
          <a:bodyPr wrap="square" lIns="0" tIns="0" rIns="0" bIns="0" rtlCol="0" anchor="ctr"/>
          <a:lstStyle/>
          <a:p>
            <a:pPr marL="0" indent="0" algn="ctr">
              <a:buNone/>
            </a:pPr>
            <a:r>
              <a:rPr lang="en-US" sz="1150" b="1" dirty="0">
                <a:solidFill>
                  <a:srgbClr val="0E2A47"/>
                </a:solidFill>
                <a:latin typeface="DejaVu Sans Mono" pitchFamily="34" charset="0"/>
                <a:ea typeface="DejaVu Sans Mono" pitchFamily="34" charset="-122"/>
                <a:cs typeface="DejaVu Sans Mono" pitchFamily="34" charset="-120"/>
              </a:rPr>
              <a:t>C</a:t>
            </a:r>
            <a:endParaRPr lang="en-US" sz="1150" dirty="0"/>
          </a:p>
        </p:txBody>
      </p:sp>
      <p:sp>
        <p:nvSpPr>
          <p:cNvPr id="37" name="Shape 35"/>
          <p:cNvSpPr/>
          <p:nvPr/>
        </p:nvSpPr>
        <p:spPr>
          <a:xfrm>
            <a:off x="9784080" y="2578608"/>
            <a:ext cx="1645920" cy="457200"/>
          </a:xfrm>
          <a:prstGeom prst="roundRect">
            <a:avLst>
              <a:gd name="adj" fmla="val 10000"/>
            </a:avLst>
          </a:prstGeom>
          <a:solidFill>
            <a:srgbClr val="0E2A47"/>
          </a:solidFill>
          <a:ln w="12700">
            <a:solidFill>
              <a:srgbClr val="16395C"/>
            </a:solidFill>
            <a:prstDash val="solid"/>
          </a:ln>
        </p:spPr>
        <p:txBody>
          <a:bodyPr/>
          <a:lstStyle/>
          <a:p>
            <a:endParaRPr lang="zh-CN" altLang="en-US"/>
          </a:p>
        </p:txBody>
      </p:sp>
      <p:sp>
        <p:nvSpPr>
          <p:cNvPr id="38" name="Text 36"/>
          <p:cNvSpPr/>
          <p:nvPr/>
        </p:nvSpPr>
        <p:spPr>
          <a:xfrm>
            <a:off x="9692640" y="2578608"/>
            <a:ext cx="1828800" cy="457200"/>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(fft_length, bh, bw)</a:t>
            </a:r>
            <a:endParaRPr lang="en-US" sz="950" dirty="0"/>
          </a:p>
        </p:txBody>
      </p:sp>
      <p:sp>
        <p:nvSpPr>
          <p:cNvPr id="39" name="Text 37"/>
          <p:cNvSpPr/>
          <p:nvPr/>
        </p:nvSpPr>
        <p:spPr>
          <a:xfrm>
            <a:off x="9601200" y="3108960"/>
            <a:ext cx="2011680" cy="365760"/>
          </a:xfrm>
          <a:prstGeom prst="rect">
            <a:avLst/>
          </a:prstGeom>
          <a:noFill/>
        </p:spPr>
        <p:txBody>
          <a:bodyPr wrap="square" lIns="0" tIns="0" rIns="0" bIns="0" rtlCol="0" anchor="ctr"/>
          <a:lstStyle/>
          <a:p>
            <a:pPr marL="0" indent="0" algn="ctr">
              <a:buNone/>
            </a:pPr>
            <a:r>
              <a:rPr lang="en-US" sz="950" dirty="0">
                <a:solidFill>
                  <a:srgbClr val="64748B"/>
                </a:solidFill>
                <a:latin typeface="Noto Sans CJK SC" pitchFamily="34" charset="0"/>
                <a:ea typeface="Noto Sans CJK SC" pitchFamily="34" charset="-122"/>
                <a:cs typeface="Noto Sans CJK SC" pitchFamily="34" charset="-120"/>
              </a:rPr>
              <a:t>FFT 输出频谱</a:t>
            </a:r>
            <a:endParaRPr lang="en-US" sz="950" dirty="0"/>
          </a:p>
        </p:txBody>
      </p:sp>
      <p:sp>
        <p:nvSpPr>
          <p:cNvPr id="40" name="Shape 38"/>
          <p:cNvSpPr/>
          <p:nvPr/>
        </p:nvSpPr>
        <p:spPr>
          <a:xfrm>
            <a:off x="566928" y="3913632"/>
            <a:ext cx="5577840" cy="2048256"/>
          </a:xfrm>
          <a:prstGeom prst="roundRect">
            <a:avLst>
              <a:gd name="adj" fmla="val 4018"/>
            </a:avLst>
          </a:prstGeom>
          <a:solidFill>
            <a:srgbClr val="F2F5F9"/>
          </a:solidFill>
          <a:ln w="12700">
            <a:solidFill>
              <a:srgbClr val="E2E8F0"/>
            </a:solidFill>
            <a:prstDash val="solid"/>
          </a:ln>
        </p:spPr>
        <p:txBody>
          <a:bodyPr/>
          <a:lstStyle/>
          <a:p>
            <a:endParaRPr lang="zh-CN" altLang="en-US"/>
          </a:p>
        </p:txBody>
      </p:sp>
      <p:sp>
        <p:nvSpPr>
          <p:cNvPr id="41" name="Text 39"/>
          <p:cNvSpPr/>
          <p:nvPr/>
        </p:nvSpPr>
        <p:spPr>
          <a:xfrm>
            <a:off x="768096" y="4041648"/>
            <a:ext cx="5486400" cy="310896"/>
          </a:xfrm>
          <a:prstGeom prst="rect">
            <a:avLst/>
          </a:prstGeom>
          <a:noFill/>
        </p:spPr>
        <p:txBody>
          <a:bodyPr wrap="square" lIns="0" tIns="0" rIns="0" bIns="0" rtlCol="0" anchor="ctr"/>
          <a:lstStyle/>
          <a:p>
            <a:pPr marL="0" indent="0">
              <a:buNone/>
            </a:pPr>
            <a:r>
              <a:rPr lang="en-US" sz="1250" b="1" dirty="0">
                <a:solidFill>
                  <a:srgbClr val="EF4444"/>
                </a:solidFill>
                <a:latin typeface="Noto Sans CJK SC" pitchFamily="34" charset="0"/>
                <a:ea typeface="Noto Sans CJK SC" pitchFamily="34" charset="-122"/>
                <a:cs typeface="Noto Sans CJK SC" pitchFamily="34" charset="-120"/>
              </a:rPr>
              <a:t>axis = 0  是频率轴，不是图像空间轴</a:t>
            </a:r>
            <a:endParaRPr lang="en-US" sz="1250" dirty="0"/>
          </a:p>
        </p:txBody>
      </p:sp>
      <p:sp>
        <p:nvSpPr>
          <p:cNvPr id="42" name="Text 40"/>
          <p:cNvSpPr/>
          <p:nvPr/>
        </p:nvSpPr>
        <p:spPr>
          <a:xfrm>
            <a:off x="768096" y="4425696"/>
            <a:ext cx="5212080" cy="1463040"/>
          </a:xfrm>
          <a:prstGeom prst="rect">
            <a:avLst/>
          </a:prstGeom>
          <a:noFill/>
        </p:spPr>
        <p:txBody>
          <a:bodyPr wrap="square" lIns="0" tIns="0" rIns="0" bIns="0" rtlCol="0" anchor="t"/>
          <a:lstStyle/>
          <a:p>
            <a:pPr marL="177800" indent="-177800">
              <a:spcAft>
                <a:spcPts val="900"/>
              </a:spcAft>
              <a:buSzPct val="100000"/>
              <a:buChar char="•"/>
            </a:pPr>
            <a:r>
              <a:rPr lang="en-US" sz="1150" dirty="0">
                <a:solidFill>
                  <a:srgbClr val="1E293B"/>
                </a:solidFill>
                <a:latin typeface="Noto Sans CJK SC" pitchFamily="34" charset="0"/>
                <a:ea typeface="Noto Sans CJK SC" pitchFamily="34" charset="-122"/>
                <a:cs typeface="Noto Sans CJK SC" pitchFamily="34" charset="-120"/>
              </a:rPr>
              <a:t>FFT 不是对整幅图做二维傅里叶变换。</a:t>
            </a:r>
            <a:endParaRPr lang="en-US" sz="1150" dirty="0"/>
          </a:p>
          <a:p>
            <a:pPr marL="177800" indent="-177800">
              <a:spcAft>
                <a:spcPts val="900"/>
              </a:spcAft>
              <a:buSzPct val="100000"/>
              <a:buChar char="•"/>
            </a:pPr>
            <a:r>
              <a:rPr lang="en-US" sz="1150" dirty="0">
                <a:solidFill>
                  <a:srgbClr val="FF0000"/>
                </a:solidFill>
                <a:latin typeface="Noto Sans CJK SC" pitchFamily="34" charset="0"/>
                <a:ea typeface="Noto Sans CJK SC" pitchFamily="34" charset="-122"/>
                <a:cs typeface="Noto Sans CJK SC" pitchFamily="34" charset="-120"/>
              </a:rPr>
              <a:t>而是对每个相机像素自己的频率响应序列做一维 FFT</a:t>
            </a:r>
            <a:r>
              <a:rPr lang="en-US" sz="1150" dirty="0">
                <a:solidFill>
                  <a:srgbClr val="1E293B"/>
                </a:solidFill>
                <a:latin typeface="Noto Sans CJK SC" pitchFamily="34" charset="0"/>
                <a:ea typeface="Noto Sans CJK SC" pitchFamily="34" charset="-122"/>
                <a:cs typeface="Noto Sans CJK SC" pitchFamily="34" charset="-120"/>
              </a:rPr>
              <a:t>。</a:t>
            </a:r>
            <a:endParaRPr lang="en-US" sz="1150" dirty="0"/>
          </a:p>
          <a:p>
            <a:pPr marL="177800" indent="-177800">
              <a:spcAft>
                <a:spcPts val="900"/>
              </a:spcAft>
              <a:buSzPct val="100000"/>
              <a:buChar char="•"/>
            </a:pPr>
            <a:r>
              <a:rPr lang="en-US" sz="1150" dirty="0">
                <a:solidFill>
                  <a:srgbClr val="0E7490"/>
                </a:solidFill>
                <a:latin typeface="Noto Sans CJK SC" pitchFamily="34" charset="0"/>
                <a:ea typeface="Noto Sans CJK SC" pitchFamily="34" charset="-122"/>
                <a:cs typeface="Noto Sans CJK SC" pitchFamily="34" charset="-120"/>
              </a:rPr>
              <a:t>I0[:, y, x] 表示像素 (x,y) 在所有频率下的 0° 相移序列。</a:t>
            </a:r>
            <a:endParaRPr lang="en-US" sz="1150" dirty="0"/>
          </a:p>
        </p:txBody>
      </p:sp>
      <p:sp>
        <p:nvSpPr>
          <p:cNvPr id="43" name="Shape 41"/>
          <p:cNvSpPr/>
          <p:nvPr/>
        </p:nvSpPr>
        <p:spPr>
          <a:xfrm>
            <a:off x="6327648" y="3913632"/>
            <a:ext cx="5303520" cy="2048256"/>
          </a:xfrm>
          <a:prstGeom prst="roundRect">
            <a:avLst>
              <a:gd name="adj" fmla="val 2679"/>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4" name="Text 42"/>
          <p:cNvSpPr/>
          <p:nvPr/>
        </p:nvSpPr>
        <p:spPr>
          <a:xfrm>
            <a:off x="6528816" y="4041648"/>
            <a:ext cx="4937760" cy="1792224"/>
          </a:xfrm>
          <a:prstGeom prst="rect">
            <a:avLst/>
          </a:prstGeom>
          <a:noFill/>
        </p:spPr>
        <p:txBody>
          <a:bodyPr wrap="square" lIns="0" tIns="0" rIns="0" bIns="0" rtlCol="0" anchor="t"/>
          <a:lstStyle/>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I0 = images[0::4].astype(np.float32)</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I1 = images[1::4].astype(np.float32)</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I2 = images[2::4].astype(np.float32)</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I3 = images[3::4].astype(np.float32)</a:t>
            </a:r>
            <a:endParaRPr lang="en-US" sz="1050" dirty="0"/>
          </a:p>
          <a:p>
            <a:pPr marL="0" indent="0" algn="l">
              <a:lnSpc>
                <a:spcPts val="1405"/>
              </a:lnSpc>
              <a:buNone/>
            </a:pP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Dc = I0 - I2</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Ds = I3 - I1</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D  = Dc + 1j * Ds   # (M, Hc, Wc)</a:t>
            </a:r>
            <a:endParaRPr lang="en-US" sz="1050" dirty="0"/>
          </a:p>
        </p:txBody>
      </p:sp>
      <p:sp>
        <p:nvSpPr>
          <p:cNvPr id="45" name="Text 4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6" name="Text 4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四 · 主线代码实现与数据形状</a:t>
            </a:r>
            <a:endParaRPr lang="en-US" sz="850" dirty="0"/>
          </a:p>
        </p:txBody>
      </p:sp>
      <p:sp>
        <p:nvSpPr>
          <p:cNvPr id="47" name="Text 4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22 / 42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四 · 分块解码</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分块处理 · 峰值输出 · 质量图</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为控制内存，主线按图像块处理；每块内所有像素同时做 FFT 与峰值检测。</a:t>
            </a:r>
            <a:endParaRPr lang="en-US" sz="1250" dirty="0"/>
          </a:p>
        </p:txBody>
      </p:sp>
      <p:sp>
        <p:nvSpPr>
          <p:cNvPr id="6" name="Shape 4"/>
          <p:cNvSpPr/>
          <p:nvPr/>
        </p:nvSpPr>
        <p:spPr>
          <a:xfrm>
            <a:off x="566928" y="1920240"/>
            <a:ext cx="5943600" cy="2286000"/>
          </a:xfrm>
          <a:prstGeom prst="roundRect">
            <a:avLst>
              <a:gd name="adj" fmla="val 2400"/>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768096" y="2048256"/>
            <a:ext cx="5577840" cy="2029968"/>
          </a:xfrm>
          <a:prstGeom prst="rect">
            <a:avLst/>
          </a:prstGeom>
          <a:noFill/>
        </p:spPr>
        <p:txBody>
          <a:bodyPr wrap="square" lIns="0" tIns="0" rIns="0" bIns="0" rtlCol="0" anchor="t"/>
          <a:lstStyle/>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for ty in range(0, H, block_size):</a:t>
            </a:r>
            <a:endParaRPr lang="en-US" sz="1030" dirty="0"/>
          </a:p>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  for tx in range(0, W, block_size):</a:t>
            </a:r>
            <a:endParaRPr lang="en-US" sz="1030" dirty="0"/>
          </a:p>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    D_block = D[:, ty:ey, tx:ex]</a:t>
            </a:r>
            <a:endParaRPr lang="en-US" sz="1030" dirty="0"/>
          </a:p>
          <a:p>
            <a:pPr marL="0" indent="0" algn="l">
              <a:lnSpc>
                <a:spcPts val="1380"/>
              </a:lnSpc>
              <a:buNone/>
            </a:pPr>
            <a:r>
              <a:rPr lang="en-US" sz="1030" dirty="0">
                <a:solidFill>
                  <a:srgbClr val="FF0000"/>
                </a:solidFill>
                <a:latin typeface="DejaVu Sans Mono" pitchFamily="34" charset="0"/>
                <a:ea typeface="DejaVu Sans Mono" pitchFamily="34" charset="-122"/>
                <a:cs typeface="DejaVu Sans Mono" pitchFamily="34" charset="-120"/>
              </a:rPr>
              <a:t>    C = np.fft.fft(D_block, n=fft_length, axis=0)</a:t>
            </a:r>
            <a:endParaRPr lang="en-US" sz="1030" dirty="0">
              <a:solidFill>
                <a:srgbClr val="FF0000"/>
              </a:solidFill>
            </a:endParaRPr>
          </a:p>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    C_magnitude = np.abs(C)</a:t>
            </a:r>
            <a:endParaRPr lang="en-US" sz="1030" dirty="0"/>
          </a:p>
          <a:p>
            <a:pPr marL="0" indent="0" algn="l">
              <a:lnSpc>
                <a:spcPts val="1380"/>
              </a:lnSpc>
              <a:buNone/>
            </a:pPr>
            <a:endParaRPr lang="en-US" sz="1030" dirty="0"/>
          </a:p>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    freq_index = np.argmax(C_magnitude, axis=0)</a:t>
            </a:r>
            <a:endParaRPr lang="en-US" sz="1030" dirty="0"/>
          </a:p>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    peak = np.max(C_magnitude, axis=0) / fft_length</a:t>
            </a:r>
            <a:endParaRPr lang="en-US" sz="1030" dirty="0"/>
          </a:p>
        </p:txBody>
      </p:sp>
      <p:sp>
        <p:nvSpPr>
          <p:cNvPr id="8" name="Shape 6"/>
          <p:cNvSpPr/>
          <p:nvPr/>
        </p:nvSpPr>
        <p:spPr>
          <a:xfrm>
            <a:off x="566928" y="4443984"/>
            <a:ext cx="5943600" cy="457200"/>
          </a:xfrm>
          <a:prstGeom prst="roundRect">
            <a:avLst>
              <a:gd name="adj" fmla="val 18000"/>
            </a:avLst>
          </a:prstGeom>
          <a:solidFill>
            <a:srgbClr val="F2F5F9"/>
          </a:solidFill>
          <a:ln w="12700">
            <a:solidFill>
              <a:srgbClr val="E2E8F0"/>
            </a:solidFill>
            <a:prstDash val="solid"/>
          </a:ln>
        </p:spPr>
        <p:txBody>
          <a:bodyPr/>
          <a:lstStyle/>
          <a:p>
            <a:endParaRPr lang="zh-CN" altLang="en-US"/>
          </a:p>
        </p:txBody>
      </p:sp>
      <p:sp>
        <p:nvSpPr>
          <p:cNvPr id="9" name="Shape 7"/>
          <p:cNvSpPr/>
          <p:nvPr/>
        </p:nvSpPr>
        <p:spPr>
          <a:xfrm>
            <a:off x="566928" y="4443984"/>
            <a:ext cx="64008" cy="457200"/>
          </a:xfrm>
          <a:prstGeom prst="rect">
            <a:avLst/>
          </a:prstGeom>
          <a:solidFill>
            <a:srgbClr val="3B82F6"/>
          </a:solidFill>
          <a:ln w="12700">
            <a:solidFill>
              <a:srgbClr val="3B82F6"/>
            </a:solidFill>
            <a:prstDash val="solid"/>
          </a:ln>
        </p:spPr>
        <p:txBody>
          <a:bodyPr/>
          <a:lstStyle/>
          <a:p>
            <a:endParaRPr lang="zh-CN" altLang="en-US"/>
          </a:p>
        </p:txBody>
      </p:sp>
      <p:sp>
        <p:nvSpPr>
          <p:cNvPr id="10" name="Text 8"/>
          <p:cNvSpPr/>
          <p:nvPr/>
        </p:nvSpPr>
        <p:spPr>
          <a:xfrm>
            <a:off x="731520" y="4443984"/>
            <a:ext cx="1828800" cy="457200"/>
          </a:xfrm>
          <a:prstGeom prst="rect">
            <a:avLst/>
          </a:prstGeom>
          <a:noFill/>
        </p:spPr>
        <p:txBody>
          <a:bodyPr wrap="square" lIns="0" tIns="0" rIns="0" bIns="0" rtlCol="0" anchor="ctr"/>
          <a:lstStyle/>
          <a:p>
            <a:pPr marL="0" indent="0">
              <a:buNone/>
            </a:pPr>
            <a:r>
              <a:rPr lang="en-US" sz="1050" b="1" dirty="0">
                <a:solidFill>
                  <a:srgbClr val="0E2A47"/>
                </a:solidFill>
                <a:latin typeface="DejaVu Sans Mono" pitchFamily="34" charset="0"/>
                <a:ea typeface="DejaVu Sans Mono" pitchFamily="34" charset="-122"/>
                <a:cs typeface="DejaVu Sans Mono" pitchFamily="34" charset="-120"/>
              </a:rPr>
              <a:t>freq_index</a:t>
            </a:r>
            <a:endParaRPr lang="en-US" sz="1050" dirty="0"/>
          </a:p>
        </p:txBody>
      </p:sp>
      <p:sp>
        <p:nvSpPr>
          <p:cNvPr id="11" name="Text 9"/>
          <p:cNvSpPr/>
          <p:nvPr/>
        </p:nvSpPr>
        <p:spPr>
          <a:xfrm>
            <a:off x="2560320" y="4443984"/>
            <a:ext cx="3657600" cy="457200"/>
          </a:xfrm>
          <a:prstGeom prst="rect">
            <a:avLst/>
          </a:prstGeom>
          <a:noFill/>
        </p:spPr>
        <p:txBody>
          <a:bodyPr wrap="square" lIns="0" tIns="0" rIns="0" bIns="0" rtlCol="0" anchor="ctr"/>
          <a:lstStyle/>
          <a:p>
            <a:pPr marL="0" indent="0">
              <a:buNone/>
            </a:pPr>
            <a:r>
              <a:rPr lang="en-US" sz="1050" dirty="0">
                <a:solidFill>
                  <a:srgbClr val="1E293B"/>
                </a:solidFill>
                <a:latin typeface="Noto Sans CJK SC" pitchFamily="34" charset="0"/>
                <a:ea typeface="Noto Sans CJK SC" pitchFamily="34" charset="-122"/>
                <a:cs typeface="Noto Sans CJK SC" pitchFamily="34" charset="-120"/>
              </a:rPr>
              <a:t>频谱最大峰值所在的 bin</a:t>
            </a:r>
            <a:endParaRPr lang="en-US" sz="1050" dirty="0"/>
          </a:p>
        </p:txBody>
      </p:sp>
      <p:sp>
        <p:nvSpPr>
          <p:cNvPr id="12" name="Shape 10"/>
          <p:cNvSpPr/>
          <p:nvPr/>
        </p:nvSpPr>
        <p:spPr>
          <a:xfrm>
            <a:off x="566928" y="4992624"/>
            <a:ext cx="5943600" cy="457200"/>
          </a:xfrm>
          <a:prstGeom prst="roundRect">
            <a:avLst>
              <a:gd name="adj" fmla="val 18000"/>
            </a:avLst>
          </a:prstGeom>
          <a:solidFill>
            <a:srgbClr val="F2F5F9"/>
          </a:solidFill>
          <a:ln w="12700">
            <a:solidFill>
              <a:srgbClr val="E2E8F0"/>
            </a:solidFill>
            <a:prstDash val="solid"/>
          </a:ln>
        </p:spPr>
        <p:txBody>
          <a:bodyPr/>
          <a:lstStyle/>
          <a:p>
            <a:endParaRPr lang="zh-CN" altLang="en-US"/>
          </a:p>
        </p:txBody>
      </p:sp>
      <p:sp>
        <p:nvSpPr>
          <p:cNvPr id="13" name="Shape 11"/>
          <p:cNvSpPr/>
          <p:nvPr/>
        </p:nvSpPr>
        <p:spPr>
          <a:xfrm>
            <a:off x="566928" y="4992624"/>
            <a:ext cx="64008" cy="457200"/>
          </a:xfrm>
          <a:prstGeom prst="rect">
            <a:avLst/>
          </a:prstGeom>
          <a:solidFill>
            <a:srgbClr val="F59E0B"/>
          </a:solidFill>
          <a:ln w="12700">
            <a:solidFill>
              <a:srgbClr val="F59E0B"/>
            </a:solidFill>
            <a:prstDash val="solid"/>
          </a:ln>
        </p:spPr>
        <p:txBody>
          <a:bodyPr/>
          <a:lstStyle/>
          <a:p>
            <a:endParaRPr lang="zh-CN" altLang="en-US"/>
          </a:p>
        </p:txBody>
      </p:sp>
      <p:sp>
        <p:nvSpPr>
          <p:cNvPr id="14" name="Text 12"/>
          <p:cNvSpPr/>
          <p:nvPr/>
        </p:nvSpPr>
        <p:spPr>
          <a:xfrm>
            <a:off x="731520" y="4992624"/>
            <a:ext cx="1828800" cy="457200"/>
          </a:xfrm>
          <a:prstGeom prst="rect">
            <a:avLst/>
          </a:prstGeom>
          <a:noFill/>
        </p:spPr>
        <p:txBody>
          <a:bodyPr wrap="square" lIns="0" tIns="0" rIns="0" bIns="0" rtlCol="0" anchor="ctr"/>
          <a:lstStyle/>
          <a:p>
            <a:pPr marL="0" indent="0">
              <a:buNone/>
            </a:pPr>
            <a:r>
              <a:rPr lang="en-US" sz="1050" b="1" dirty="0">
                <a:solidFill>
                  <a:srgbClr val="0E2A47"/>
                </a:solidFill>
                <a:latin typeface="DejaVu Sans Mono" pitchFamily="34" charset="0"/>
                <a:ea typeface="DejaVu Sans Mono" pitchFamily="34" charset="-122"/>
                <a:cs typeface="DejaVu Sans Mono" pitchFamily="34" charset="-120"/>
              </a:rPr>
              <a:t>disparity</a:t>
            </a:r>
            <a:endParaRPr lang="en-US" sz="1050" dirty="0"/>
          </a:p>
        </p:txBody>
      </p:sp>
      <p:sp>
        <p:nvSpPr>
          <p:cNvPr id="15" name="Text 13"/>
          <p:cNvSpPr/>
          <p:nvPr/>
        </p:nvSpPr>
        <p:spPr>
          <a:xfrm>
            <a:off x="2560320" y="4992624"/>
            <a:ext cx="3657600" cy="457200"/>
          </a:xfrm>
          <a:prstGeom prst="rect">
            <a:avLst/>
          </a:prstGeom>
          <a:noFill/>
        </p:spPr>
        <p:txBody>
          <a:bodyPr wrap="square" lIns="0" tIns="0" rIns="0" bIns="0" rtlCol="0" anchor="ctr"/>
          <a:lstStyle/>
          <a:p>
            <a:pPr marL="0" indent="0">
              <a:buNone/>
            </a:pPr>
            <a:r>
              <a:rPr lang="en-US" sz="1050" dirty="0">
                <a:solidFill>
                  <a:srgbClr val="FF0000"/>
                </a:solidFill>
                <a:latin typeface="Noto Sans CJK SC" pitchFamily="34" charset="0"/>
                <a:ea typeface="Noto Sans CJK SC" pitchFamily="34" charset="-122"/>
                <a:cs typeface="Noto Sans CJK SC" pitchFamily="34" charset="-120"/>
              </a:rPr>
              <a:t>峰值 bin 映射后的投影仪坐标</a:t>
            </a:r>
            <a:endParaRPr lang="en-US" sz="1050" dirty="0">
              <a:solidFill>
                <a:srgbClr val="FF0000"/>
              </a:solidFill>
            </a:endParaRPr>
          </a:p>
        </p:txBody>
      </p:sp>
      <p:sp>
        <p:nvSpPr>
          <p:cNvPr id="16" name="Shape 14"/>
          <p:cNvSpPr/>
          <p:nvPr/>
        </p:nvSpPr>
        <p:spPr>
          <a:xfrm>
            <a:off x="566928" y="5541264"/>
            <a:ext cx="5943600" cy="457200"/>
          </a:xfrm>
          <a:prstGeom prst="roundRect">
            <a:avLst>
              <a:gd name="adj" fmla="val 18000"/>
            </a:avLst>
          </a:prstGeom>
          <a:solidFill>
            <a:srgbClr val="F2F5F9"/>
          </a:solidFill>
          <a:ln w="12700">
            <a:solidFill>
              <a:srgbClr val="E2E8F0"/>
            </a:solidFill>
            <a:prstDash val="solid"/>
          </a:ln>
        </p:spPr>
        <p:txBody>
          <a:bodyPr/>
          <a:lstStyle/>
          <a:p>
            <a:endParaRPr lang="zh-CN" altLang="en-US"/>
          </a:p>
        </p:txBody>
      </p:sp>
      <p:sp>
        <p:nvSpPr>
          <p:cNvPr id="17" name="Shape 15"/>
          <p:cNvSpPr/>
          <p:nvPr/>
        </p:nvSpPr>
        <p:spPr>
          <a:xfrm>
            <a:off x="566928" y="5541264"/>
            <a:ext cx="64008" cy="457200"/>
          </a:xfrm>
          <a:prstGeom prst="rect">
            <a:avLst/>
          </a:prstGeom>
          <a:solidFill>
            <a:srgbClr val="0E7490"/>
          </a:solidFill>
          <a:ln w="12700">
            <a:solidFill>
              <a:srgbClr val="0E7490"/>
            </a:solidFill>
            <a:prstDash val="solid"/>
          </a:ln>
        </p:spPr>
        <p:txBody>
          <a:bodyPr/>
          <a:lstStyle/>
          <a:p>
            <a:endParaRPr lang="zh-CN" altLang="en-US"/>
          </a:p>
        </p:txBody>
      </p:sp>
      <p:sp>
        <p:nvSpPr>
          <p:cNvPr id="18" name="Text 16"/>
          <p:cNvSpPr/>
          <p:nvPr/>
        </p:nvSpPr>
        <p:spPr>
          <a:xfrm>
            <a:off x="731520" y="5541264"/>
            <a:ext cx="1828800" cy="457200"/>
          </a:xfrm>
          <a:prstGeom prst="rect">
            <a:avLst/>
          </a:prstGeom>
          <a:noFill/>
        </p:spPr>
        <p:txBody>
          <a:bodyPr wrap="square" lIns="0" tIns="0" rIns="0" bIns="0" rtlCol="0" anchor="ctr"/>
          <a:lstStyle/>
          <a:p>
            <a:pPr marL="0" indent="0">
              <a:buNone/>
            </a:pPr>
            <a:r>
              <a:rPr lang="en-US" sz="1050" b="1" dirty="0">
                <a:solidFill>
                  <a:srgbClr val="0E2A47"/>
                </a:solidFill>
                <a:latin typeface="DejaVu Sans Mono" pitchFamily="34" charset="0"/>
                <a:ea typeface="DejaVu Sans Mono" pitchFamily="34" charset="-122"/>
                <a:cs typeface="DejaVu Sans Mono" pitchFamily="34" charset="-120"/>
              </a:rPr>
              <a:t>peak</a:t>
            </a:r>
            <a:endParaRPr lang="en-US" sz="1050" dirty="0"/>
          </a:p>
        </p:txBody>
      </p:sp>
      <p:sp>
        <p:nvSpPr>
          <p:cNvPr id="19" name="Text 17"/>
          <p:cNvSpPr/>
          <p:nvPr/>
        </p:nvSpPr>
        <p:spPr>
          <a:xfrm>
            <a:off x="2560320" y="5541264"/>
            <a:ext cx="3657600" cy="457200"/>
          </a:xfrm>
          <a:prstGeom prst="rect">
            <a:avLst/>
          </a:prstGeom>
          <a:noFill/>
        </p:spPr>
        <p:txBody>
          <a:bodyPr wrap="square" lIns="0" tIns="0" rIns="0" bIns="0" rtlCol="0" anchor="ctr"/>
          <a:lstStyle/>
          <a:p>
            <a:pPr marL="0" indent="0">
              <a:buNone/>
            </a:pPr>
            <a:r>
              <a:rPr lang="en-US" sz="1050" dirty="0">
                <a:solidFill>
                  <a:srgbClr val="1E293B"/>
                </a:solidFill>
                <a:latin typeface="Noto Sans CJK SC" pitchFamily="34" charset="0"/>
                <a:ea typeface="Noto Sans CJK SC" pitchFamily="34" charset="-122"/>
                <a:cs typeface="Noto Sans CJK SC" pitchFamily="34" charset="-120"/>
              </a:rPr>
              <a:t>归一化峰值强度 → 质量 / 置信度</a:t>
            </a:r>
            <a:endParaRPr lang="en-US" sz="1050" dirty="0"/>
          </a:p>
        </p:txBody>
      </p:sp>
      <p:sp>
        <p:nvSpPr>
          <p:cNvPr id="20" name="Shape 18"/>
          <p:cNvSpPr/>
          <p:nvPr/>
        </p:nvSpPr>
        <p:spPr>
          <a:xfrm>
            <a:off x="6748272" y="1984248"/>
            <a:ext cx="4864608" cy="4041648"/>
          </a:xfrm>
          <a:prstGeom prst="roundRect">
            <a:avLst>
              <a:gd name="adj" fmla="val 2036"/>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1" name="Text 19"/>
          <p:cNvSpPr/>
          <p:nvPr/>
        </p:nvSpPr>
        <p:spPr>
          <a:xfrm>
            <a:off x="6967728" y="2048256"/>
            <a:ext cx="457200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峰值图作为质量 / 置信度图</a:t>
            </a:r>
            <a:endParaRPr lang="en-US" sz="1200" dirty="0"/>
          </a:p>
        </p:txBody>
      </p:sp>
      <p:sp>
        <p:nvSpPr>
          <p:cNvPr id="22" name="Shape 20"/>
          <p:cNvSpPr/>
          <p:nvPr/>
        </p:nvSpPr>
        <p:spPr>
          <a:xfrm>
            <a:off x="6967728" y="2432304"/>
            <a:ext cx="4462272" cy="676656"/>
          </a:xfrm>
          <a:prstGeom prst="roundRect">
            <a:avLst>
              <a:gd name="adj" fmla="val 945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3" name="Text 21"/>
          <p:cNvSpPr/>
          <p:nvPr/>
        </p:nvSpPr>
        <p:spPr>
          <a:xfrm>
            <a:off x="7059168" y="2432304"/>
            <a:ext cx="4279392" cy="676656"/>
          </a:xfrm>
          <a:prstGeom prst="rect">
            <a:avLst/>
          </a:prstGeom>
          <a:noFill/>
        </p:spPr>
        <p:txBody>
          <a:bodyPr wrap="square" lIns="0" tIns="0" rIns="0" bIns="0" rtlCol="0" anchor="ctr"/>
          <a:lstStyle/>
          <a:p>
            <a:pPr marL="0" indent="0" algn="ctr">
              <a:buNone/>
            </a:pPr>
            <a:r>
              <a:rPr lang="en-US" sz="1400" b="1" dirty="0">
                <a:solidFill>
                  <a:srgbClr val="22D3EE"/>
                </a:solidFill>
                <a:latin typeface="DejaVu Sans Mono" pitchFamily="34" charset="0"/>
                <a:ea typeface="DejaVu Sans Mono" pitchFamily="34" charset="-122"/>
                <a:cs typeface="DejaVu Sans Mono" pitchFamily="34" charset="-120"/>
              </a:rPr>
              <a:t>peak  =  max(|C|) / fft_length</a:t>
            </a:r>
            <a:endParaRPr lang="en-US" sz="1400" dirty="0"/>
          </a:p>
        </p:txBody>
      </p:sp>
      <p:sp>
        <p:nvSpPr>
          <p:cNvPr id="24" name="Shape 22"/>
          <p:cNvSpPr/>
          <p:nvPr/>
        </p:nvSpPr>
        <p:spPr>
          <a:xfrm>
            <a:off x="7114032" y="3310128"/>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25" name="Shape 23"/>
          <p:cNvSpPr/>
          <p:nvPr/>
        </p:nvSpPr>
        <p:spPr>
          <a:xfrm>
            <a:off x="7498080" y="3310128"/>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26" name="Shape 24"/>
          <p:cNvSpPr/>
          <p:nvPr/>
        </p:nvSpPr>
        <p:spPr>
          <a:xfrm>
            <a:off x="7882128" y="3310128"/>
            <a:ext cx="356616" cy="356616"/>
          </a:xfrm>
          <a:prstGeom prst="rect">
            <a:avLst/>
          </a:prstGeom>
          <a:solidFill>
            <a:srgbClr val="1EB1CD"/>
          </a:solidFill>
          <a:ln w="9525">
            <a:solidFill>
              <a:srgbClr val="FFFFFF"/>
            </a:solidFill>
            <a:prstDash val="solid"/>
          </a:ln>
        </p:spPr>
        <p:txBody>
          <a:bodyPr/>
          <a:lstStyle/>
          <a:p>
            <a:endParaRPr lang="zh-CN" altLang="en-US"/>
          </a:p>
        </p:txBody>
      </p:sp>
      <p:sp>
        <p:nvSpPr>
          <p:cNvPr id="27" name="Shape 25"/>
          <p:cNvSpPr/>
          <p:nvPr/>
        </p:nvSpPr>
        <p:spPr>
          <a:xfrm>
            <a:off x="8266176" y="3310128"/>
            <a:ext cx="356616" cy="356616"/>
          </a:xfrm>
          <a:prstGeom prst="rect">
            <a:avLst/>
          </a:prstGeom>
          <a:solidFill>
            <a:srgbClr val="20C2DD"/>
          </a:solidFill>
          <a:ln w="9525">
            <a:solidFill>
              <a:srgbClr val="FFFFFF"/>
            </a:solidFill>
            <a:prstDash val="solid"/>
          </a:ln>
        </p:spPr>
        <p:txBody>
          <a:bodyPr/>
          <a:lstStyle/>
          <a:p>
            <a:endParaRPr lang="zh-CN" altLang="en-US"/>
          </a:p>
        </p:txBody>
      </p:sp>
      <p:sp>
        <p:nvSpPr>
          <p:cNvPr id="28" name="Shape 26"/>
          <p:cNvSpPr/>
          <p:nvPr/>
        </p:nvSpPr>
        <p:spPr>
          <a:xfrm>
            <a:off x="8650224" y="3310128"/>
            <a:ext cx="356616" cy="356616"/>
          </a:xfrm>
          <a:prstGeom prst="rect">
            <a:avLst/>
          </a:prstGeom>
          <a:solidFill>
            <a:srgbClr val="187F9B"/>
          </a:solidFill>
          <a:ln w="9525">
            <a:solidFill>
              <a:srgbClr val="FFFFFF"/>
            </a:solidFill>
            <a:prstDash val="solid"/>
          </a:ln>
        </p:spPr>
        <p:txBody>
          <a:bodyPr/>
          <a:lstStyle/>
          <a:p>
            <a:endParaRPr lang="zh-CN" altLang="en-US"/>
          </a:p>
        </p:txBody>
      </p:sp>
      <p:sp>
        <p:nvSpPr>
          <p:cNvPr id="29" name="Shape 27"/>
          <p:cNvSpPr/>
          <p:nvPr/>
        </p:nvSpPr>
        <p:spPr>
          <a:xfrm>
            <a:off x="9034272" y="3310128"/>
            <a:ext cx="356616" cy="356616"/>
          </a:xfrm>
          <a:prstGeom prst="rect">
            <a:avLst/>
          </a:prstGeom>
          <a:solidFill>
            <a:srgbClr val="145D79"/>
          </a:solidFill>
          <a:ln w="9525">
            <a:solidFill>
              <a:srgbClr val="FFFFFF"/>
            </a:solidFill>
            <a:prstDash val="solid"/>
          </a:ln>
        </p:spPr>
        <p:txBody>
          <a:bodyPr/>
          <a:lstStyle/>
          <a:p>
            <a:endParaRPr lang="zh-CN" altLang="en-US"/>
          </a:p>
        </p:txBody>
      </p:sp>
      <p:sp>
        <p:nvSpPr>
          <p:cNvPr id="30" name="Shape 28"/>
          <p:cNvSpPr/>
          <p:nvPr/>
        </p:nvSpPr>
        <p:spPr>
          <a:xfrm>
            <a:off x="7114032" y="3694176"/>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31" name="Shape 29"/>
          <p:cNvSpPr/>
          <p:nvPr/>
        </p:nvSpPr>
        <p:spPr>
          <a:xfrm>
            <a:off x="7498080" y="3694176"/>
            <a:ext cx="356616" cy="356616"/>
          </a:xfrm>
          <a:prstGeom prst="rect">
            <a:avLst/>
          </a:prstGeom>
          <a:solidFill>
            <a:srgbClr val="20C2DD"/>
          </a:solidFill>
          <a:ln w="9525">
            <a:solidFill>
              <a:srgbClr val="FFFFFF"/>
            </a:solidFill>
            <a:prstDash val="solid"/>
          </a:ln>
        </p:spPr>
        <p:txBody>
          <a:bodyPr/>
          <a:lstStyle/>
          <a:p>
            <a:endParaRPr lang="zh-CN" altLang="en-US"/>
          </a:p>
        </p:txBody>
      </p:sp>
      <p:sp>
        <p:nvSpPr>
          <p:cNvPr id="32" name="Shape 30"/>
          <p:cNvSpPr/>
          <p:nvPr/>
        </p:nvSpPr>
        <p:spPr>
          <a:xfrm>
            <a:off x="7882128" y="3694176"/>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33" name="Shape 31"/>
          <p:cNvSpPr/>
          <p:nvPr/>
        </p:nvSpPr>
        <p:spPr>
          <a:xfrm>
            <a:off x="8266176" y="3694176"/>
            <a:ext cx="356616" cy="356616"/>
          </a:xfrm>
          <a:prstGeom prst="rect">
            <a:avLst/>
          </a:prstGeom>
          <a:solidFill>
            <a:srgbClr val="1CA0BC"/>
          </a:solidFill>
          <a:ln w="9525">
            <a:solidFill>
              <a:srgbClr val="FFFFFF"/>
            </a:solidFill>
            <a:prstDash val="solid"/>
          </a:ln>
        </p:spPr>
        <p:txBody>
          <a:bodyPr/>
          <a:lstStyle/>
          <a:p>
            <a:endParaRPr lang="zh-CN" altLang="en-US"/>
          </a:p>
        </p:txBody>
      </p:sp>
      <p:sp>
        <p:nvSpPr>
          <p:cNvPr id="34" name="Shape 32"/>
          <p:cNvSpPr/>
          <p:nvPr/>
        </p:nvSpPr>
        <p:spPr>
          <a:xfrm>
            <a:off x="8650224" y="3694176"/>
            <a:ext cx="356616" cy="356616"/>
          </a:xfrm>
          <a:prstGeom prst="rect">
            <a:avLst/>
          </a:prstGeom>
          <a:solidFill>
            <a:srgbClr val="166E8A"/>
          </a:solidFill>
          <a:ln w="9525">
            <a:solidFill>
              <a:srgbClr val="FFFFFF"/>
            </a:solidFill>
            <a:prstDash val="solid"/>
          </a:ln>
        </p:spPr>
        <p:txBody>
          <a:bodyPr/>
          <a:lstStyle/>
          <a:p>
            <a:endParaRPr lang="zh-CN" altLang="en-US"/>
          </a:p>
        </p:txBody>
      </p:sp>
      <p:sp>
        <p:nvSpPr>
          <p:cNvPr id="35" name="Shape 33"/>
          <p:cNvSpPr/>
          <p:nvPr/>
        </p:nvSpPr>
        <p:spPr>
          <a:xfrm>
            <a:off x="9034272" y="3694176"/>
            <a:ext cx="356616" cy="356616"/>
          </a:xfrm>
          <a:prstGeom prst="rect">
            <a:avLst/>
          </a:prstGeom>
          <a:solidFill>
            <a:srgbClr val="1A8FAB"/>
          </a:solidFill>
          <a:ln w="9525">
            <a:solidFill>
              <a:srgbClr val="FFFFFF"/>
            </a:solidFill>
            <a:prstDash val="solid"/>
          </a:ln>
        </p:spPr>
        <p:txBody>
          <a:bodyPr/>
          <a:lstStyle/>
          <a:p>
            <a:endParaRPr lang="zh-CN" altLang="en-US"/>
          </a:p>
        </p:txBody>
      </p:sp>
      <p:sp>
        <p:nvSpPr>
          <p:cNvPr id="36" name="Shape 34"/>
          <p:cNvSpPr/>
          <p:nvPr/>
        </p:nvSpPr>
        <p:spPr>
          <a:xfrm>
            <a:off x="7114032" y="4078224"/>
            <a:ext cx="356616" cy="356616"/>
          </a:xfrm>
          <a:prstGeom prst="rect">
            <a:avLst/>
          </a:prstGeom>
          <a:solidFill>
            <a:srgbClr val="1EB1CD"/>
          </a:solidFill>
          <a:ln w="9525">
            <a:solidFill>
              <a:srgbClr val="FFFFFF"/>
            </a:solidFill>
            <a:prstDash val="solid"/>
          </a:ln>
        </p:spPr>
        <p:txBody>
          <a:bodyPr/>
          <a:lstStyle/>
          <a:p>
            <a:endParaRPr lang="zh-CN" altLang="en-US"/>
          </a:p>
        </p:txBody>
      </p:sp>
      <p:sp>
        <p:nvSpPr>
          <p:cNvPr id="37" name="Shape 35"/>
          <p:cNvSpPr/>
          <p:nvPr/>
        </p:nvSpPr>
        <p:spPr>
          <a:xfrm>
            <a:off x="7498080" y="4078224"/>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38" name="Shape 36"/>
          <p:cNvSpPr/>
          <p:nvPr/>
        </p:nvSpPr>
        <p:spPr>
          <a:xfrm>
            <a:off x="7882128" y="4078224"/>
            <a:ext cx="356616" cy="356616"/>
          </a:xfrm>
          <a:prstGeom prst="rect">
            <a:avLst/>
          </a:prstGeom>
          <a:solidFill>
            <a:srgbClr val="20C2DD"/>
          </a:solidFill>
          <a:ln w="9525">
            <a:solidFill>
              <a:srgbClr val="FFFFFF"/>
            </a:solidFill>
            <a:prstDash val="solid"/>
          </a:ln>
        </p:spPr>
        <p:txBody>
          <a:bodyPr/>
          <a:lstStyle/>
          <a:p>
            <a:endParaRPr lang="zh-CN" altLang="en-US"/>
          </a:p>
        </p:txBody>
      </p:sp>
      <p:sp>
        <p:nvSpPr>
          <p:cNvPr id="39" name="Shape 37"/>
          <p:cNvSpPr/>
          <p:nvPr/>
        </p:nvSpPr>
        <p:spPr>
          <a:xfrm>
            <a:off x="8266176" y="4078224"/>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40" name="Shape 38"/>
          <p:cNvSpPr/>
          <p:nvPr/>
        </p:nvSpPr>
        <p:spPr>
          <a:xfrm>
            <a:off x="8650224" y="4078224"/>
            <a:ext cx="356616" cy="356616"/>
          </a:xfrm>
          <a:prstGeom prst="rect">
            <a:avLst/>
          </a:prstGeom>
          <a:solidFill>
            <a:srgbClr val="1EB1CD"/>
          </a:solidFill>
          <a:ln w="9525">
            <a:solidFill>
              <a:srgbClr val="FFFFFF"/>
            </a:solidFill>
            <a:prstDash val="solid"/>
          </a:ln>
        </p:spPr>
        <p:txBody>
          <a:bodyPr/>
          <a:lstStyle/>
          <a:p>
            <a:endParaRPr lang="zh-CN" altLang="en-US"/>
          </a:p>
        </p:txBody>
      </p:sp>
      <p:sp>
        <p:nvSpPr>
          <p:cNvPr id="41" name="Shape 39"/>
          <p:cNvSpPr/>
          <p:nvPr/>
        </p:nvSpPr>
        <p:spPr>
          <a:xfrm>
            <a:off x="9034272" y="4078224"/>
            <a:ext cx="356616" cy="356616"/>
          </a:xfrm>
          <a:prstGeom prst="rect">
            <a:avLst/>
          </a:prstGeom>
          <a:solidFill>
            <a:srgbClr val="187F9B"/>
          </a:solidFill>
          <a:ln w="9525">
            <a:solidFill>
              <a:srgbClr val="FFFFFF"/>
            </a:solidFill>
            <a:prstDash val="solid"/>
          </a:ln>
        </p:spPr>
        <p:txBody>
          <a:bodyPr/>
          <a:lstStyle/>
          <a:p>
            <a:endParaRPr lang="zh-CN" altLang="en-US"/>
          </a:p>
        </p:txBody>
      </p:sp>
      <p:sp>
        <p:nvSpPr>
          <p:cNvPr id="42" name="Shape 40"/>
          <p:cNvSpPr/>
          <p:nvPr/>
        </p:nvSpPr>
        <p:spPr>
          <a:xfrm>
            <a:off x="7114032" y="4462272"/>
            <a:ext cx="356616" cy="356616"/>
          </a:xfrm>
          <a:prstGeom prst="rect">
            <a:avLst/>
          </a:prstGeom>
          <a:solidFill>
            <a:srgbClr val="1A8FAB"/>
          </a:solidFill>
          <a:ln w="9525">
            <a:solidFill>
              <a:srgbClr val="FFFFFF"/>
            </a:solidFill>
            <a:prstDash val="solid"/>
          </a:ln>
        </p:spPr>
        <p:txBody>
          <a:bodyPr/>
          <a:lstStyle/>
          <a:p>
            <a:endParaRPr lang="zh-CN" altLang="en-US"/>
          </a:p>
        </p:txBody>
      </p:sp>
      <p:sp>
        <p:nvSpPr>
          <p:cNvPr id="43" name="Shape 41"/>
          <p:cNvSpPr/>
          <p:nvPr/>
        </p:nvSpPr>
        <p:spPr>
          <a:xfrm>
            <a:off x="7498080" y="4462272"/>
            <a:ext cx="356616" cy="356616"/>
          </a:xfrm>
          <a:prstGeom prst="rect">
            <a:avLst/>
          </a:prstGeom>
          <a:solidFill>
            <a:srgbClr val="1EB1CD"/>
          </a:solidFill>
          <a:ln w="9525">
            <a:solidFill>
              <a:srgbClr val="FFFFFF"/>
            </a:solidFill>
            <a:prstDash val="solid"/>
          </a:ln>
        </p:spPr>
        <p:txBody>
          <a:bodyPr/>
          <a:lstStyle/>
          <a:p>
            <a:endParaRPr lang="zh-CN" altLang="en-US"/>
          </a:p>
        </p:txBody>
      </p:sp>
      <p:sp>
        <p:nvSpPr>
          <p:cNvPr id="44" name="Shape 42"/>
          <p:cNvSpPr/>
          <p:nvPr/>
        </p:nvSpPr>
        <p:spPr>
          <a:xfrm>
            <a:off x="7882128" y="4462272"/>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45" name="Shape 43"/>
          <p:cNvSpPr/>
          <p:nvPr/>
        </p:nvSpPr>
        <p:spPr>
          <a:xfrm>
            <a:off x="8266176" y="4462272"/>
            <a:ext cx="356616" cy="356616"/>
          </a:xfrm>
          <a:prstGeom prst="rect">
            <a:avLst/>
          </a:prstGeom>
          <a:solidFill>
            <a:srgbClr val="20C2DD"/>
          </a:solidFill>
          <a:ln w="9525">
            <a:solidFill>
              <a:srgbClr val="FFFFFF"/>
            </a:solidFill>
            <a:prstDash val="solid"/>
          </a:ln>
        </p:spPr>
        <p:txBody>
          <a:bodyPr/>
          <a:lstStyle/>
          <a:p>
            <a:endParaRPr lang="zh-CN" altLang="en-US"/>
          </a:p>
        </p:txBody>
      </p:sp>
      <p:sp>
        <p:nvSpPr>
          <p:cNvPr id="46" name="Shape 44"/>
          <p:cNvSpPr/>
          <p:nvPr/>
        </p:nvSpPr>
        <p:spPr>
          <a:xfrm>
            <a:off x="8650224" y="4462272"/>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47" name="Shape 45"/>
          <p:cNvSpPr/>
          <p:nvPr/>
        </p:nvSpPr>
        <p:spPr>
          <a:xfrm>
            <a:off x="9034272" y="4462272"/>
            <a:ext cx="356616" cy="356616"/>
          </a:xfrm>
          <a:prstGeom prst="rect">
            <a:avLst/>
          </a:prstGeom>
          <a:solidFill>
            <a:srgbClr val="1CA0BC"/>
          </a:solidFill>
          <a:ln w="9525">
            <a:solidFill>
              <a:srgbClr val="FFFFFF"/>
            </a:solidFill>
            <a:prstDash val="solid"/>
          </a:ln>
        </p:spPr>
        <p:txBody>
          <a:bodyPr/>
          <a:lstStyle/>
          <a:p>
            <a:endParaRPr lang="zh-CN" altLang="en-US"/>
          </a:p>
        </p:txBody>
      </p:sp>
      <p:sp>
        <p:nvSpPr>
          <p:cNvPr id="48" name="Text 46"/>
          <p:cNvSpPr/>
          <p:nvPr/>
        </p:nvSpPr>
        <p:spPr>
          <a:xfrm>
            <a:off x="7114032" y="4919472"/>
            <a:ext cx="4389120" cy="274320"/>
          </a:xfrm>
          <a:prstGeom prst="rect">
            <a:avLst/>
          </a:prstGeom>
          <a:noFill/>
        </p:spPr>
        <p:txBody>
          <a:bodyPr wrap="square" lIns="0" tIns="0" rIns="0" bIns="0" rtlCol="0" anchor="ctr"/>
          <a:lstStyle/>
          <a:p>
            <a:pPr marL="0" indent="0">
              <a:buNone/>
            </a:pPr>
            <a:r>
              <a:rPr lang="en-US" sz="950" dirty="0">
                <a:solidFill>
                  <a:srgbClr val="64748B"/>
                </a:solidFill>
                <a:latin typeface="Noto Sans CJK SC" pitchFamily="34" charset="0"/>
                <a:ea typeface="Noto Sans CJK SC" pitchFamily="34" charset="-122"/>
                <a:cs typeface="Noto Sans CJK SC" pitchFamily="34" charset="-120"/>
              </a:rPr>
              <a:t>亮 = 高置信度          暗 = 低置信度</a:t>
            </a:r>
            <a:endParaRPr lang="en-US" sz="950" dirty="0"/>
          </a:p>
        </p:txBody>
      </p:sp>
      <p:sp>
        <p:nvSpPr>
          <p:cNvPr id="49" name="Shape 47"/>
          <p:cNvSpPr/>
          <p:nvPr/>
        </p:nvSpPr>
        <p:spPr>
          <a:xfrm>
            <a:off x="6967728" y="5166360"/>
            <a:ext cx="4462272" cy="822960"/>
          </a:xfrm>
          <a:prstGeom prst="roundRect">
            <a:avLst>
              <a:gd name="adj" fmla="val 10000"/>
            </a:avLst>
          </a:prstGeom>
          <a:solidFill>
            <a:srgbClr val="F2F5F9"/>
          </a:solidFill>
          <a:ln w="12700">
            <a:solidFill>
              <a:srgbClr val="E2E8F0"/>
            </a:solidFill>
            <a:prstDash val="solid"/>
          </a:ln>
        </p:spPr>
        <p:txBody>
          <a:bodyPr/>
          <a:lstStyle/>
          <a:p>
            <a:endParaRPr lang="zh-CN" altLang="en-US"/>
          </a:p>
        </p:txBody>
      </p:sp>
      <p:sp>
        <p:nvSpPr>
          <p:cNvPr id="50" name="Text 48"/>
          <p:cNvSpPr/>
          <p:nvPr/>
        </p:nvSpPr>
        <p:spPr>
          <a:xfrm>
            <a:off x="7132320" y="5180076"/>
            <a:ext cx="4160520" cy="822960"/>
          </a:xfrm>
          <a:prstGeom prst="rect">
            <a:avLst/>
          </a:prstGeom>
          <a:noFill/>
        </p:spPr>
        <p:txBody>
          <a:bodyPr wrap="square" lIns="0" tIns="0" rIns="0" bIns="0" rtlCol="0" anchor="ctr"/>
          <a:lstStyle/>
          <a:p>
            <a:pPr marL="0" indent="0">
              <a:lnSpc>
                <a:spcPts val="1400"/>
              </a:lnSpc>
              <a:buNone/>
            </a:pPr>
            <a:r>
              <a:rPr lang="en-US" sz="1050" dirty="0">
                <a:solidFill>
                  <a:srgbClr val="1E293B"/>
                </a:solidFill>
                <a:latin typeface="Noto Sans CJK SC" pitchFamily="34" charset="0"/>
                <a:ea typeface="Noto Sans CJK SC" pitchFamily="34" charset="-122"/>
                <a:cs typeface="Noto Sans CJK SC" pitchFamily="34" charset="-120"/>
              </a:rPr>
              <a:t>peak 图与 disparity 图一一对应，可用于在三维重建前过滤低质量像素。</a:t>
            </a:r>
            <a:endParaRPr lang="en-US" sz="1050" dirty="0"/>
          </a:p>
        </p:txBody>
      </p:sp>
      <p:sp>
        <p:nvSpPr>
          <p:cNvPr id="51" name="Text 4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52" name="Text 5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四 · 主线代码实现与数据形状</a:t>
            </a:r>
            <a:endParaRPr lang="en-US" sz="850" dirty="0"/>
          </a:p>
        </p:txBody>
      </p:sp>
      <p:sp>
        <p:nvSpPr>
          <p:cNvPr id="53" name="Text 5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23 / 42</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874520"/>
            <a:ext cx="4572000" cy="365760"/>
          </a:xfrm>
          <a:prstGeom prst="rect">
            <a:avLst/>
          </a:prstGeom>
          <a:noFill/>
        </p:spPr>
        <p:txBody>
          <a:bodyPr wrap="square" lIns="0" tIns="0" rIns="0" bIns="0" rtlCol="0" anchor="ctr"/>
          <a:lstStyle/>
          <a:p>
            <a:pPr marL="0" indent="0">
              <a:buNone/>
            </a:pPr>
            <a:r>
              <a:rPr lang="en-US" sz="1400" b="1" kern="0" spc="500" dirty="0">
                <a:solidFill>
                  <a:srgbClr val="22D3EE"/>
                </a:solidFill>
                <a:latin typeface="Noto Sans CJK SC" pitchFamily="34" charset="0"/>
                <a:ea typeface="Noto Sans CJK SC" pitchFamily="34" charset="-122"/>
                <a:cs typeface="Noto Sans CJK SC" pitchFamily="34" charset="-120"/>
              </a:rPr>
              <a:t>CHAPTER</a:t>
            </a:r>
            <a:endParaRPr lang="en-US" sz="1400" dirty="0"/>
          </a:p>
        </p:txBody>
      </p:sp>
      <p:sp>
        <p:nvSpPr>
          <p:cNvPr id="3" name="Text 1"/>
          <p:cNvSpPr/>
          <p:nvPr/>
        </p:nvSpPr>
        <p:spPr>
          <a:xfrm>
            <a:off x="822960" y="2103120"/>
            <a:ext cx="3108960" cy="2103120"/>
          </a:xfrm>
          <a:prstGeom prst="rect">
            <a:avLst/>
          </a:prstGeom>
          <a:noFill/>
        </p:spPr>
        <p:txBody>
          <a:bodyPr wrap="square" lIns="0" tIns="0" rIns="0" bIns="0" rtlCol="0" anchor="ctr"/>
          <a:lstStyle/>
          <a:p>
            <a:pPr marL="0" indent="0">
              <a:buNone/>
            </a:pPr>
            <a:r>
              <a:rPr lang="en-US" sz="15000" b="1" dirty="0">
                <a:solidFill>
                  <a:srgbClr val="13395E"/>
                </a:solidFill>
                <a:latin typeface="Noto Sans CJK SC" pitchFamily="34" charset="0"/>
                <a:ea typeface="Noto Sans CJK SC" pitchFamily="34" charset="-122"/>
                <a:cs typeface="Noto Sans CJK SC" pitchFamily="34" charset="-120"/>
              </a:rPr>
              <a:t>五</a:t>
            </a:r>
            <a:endParaRPr lang="en-US" sz="15000" dirty="0"/>
          </a:p>
        </p:txBody>
      </p:sp>
      <p:sp>
        <p:nvSpPr>
          <p:cNvPr id="4" name="Text 2"/>
          <p:cNvSpPr/>
          <p:nvPr/>
        </p:nvSpPr>
        <p:spPr>
          <a:xfrm>
            <a:off x="3246120" y="2395728"/>
            <a:ext cx="7863840" cy="914400"/>
          </a:xfrm>
          <a:prstGeom prst="rect">
            <a:avLst/>
          </a:prstGeom>
          <a:noFill/>
        </p:spPr>
        <p:txBody>
          <a:bodyPr wrap="square" lIns="0" tIns="0" rIns="0" bIns="0" rtlCol="0" anchor="ctr"/>
          <a:lstStyle/>
          <a:p>
            <a:pPr marL="0" indent="0">
              <a:buNone/>
            </a:pPr>
            <a:r>
              <a:rPr lang="en-US" sz="4000" b="1" dirty="0">
                <a:solidFill>
                  <a:srgbClr val="FFFFFF"/>
                </a:solidFill>
                <a:latin typeface="Noto Sans CJK SC" pitchFamily="34" charset="0"/>
                <a:ea typeface="Noto Sans CJK SC" pitchFamily="34" charset="-122"/>
                <a:cs typeface="Noto Sans CJK SC" pitchFamily="34" charset="-120"/>
              </a:rPr>
              <a:t>FFT 长度策略与 frequency_step</a:t>
            </a:r>
            <a:endParaRPr lang="en-US" sz="4000" dirty="0"/>
          </a:p>
        </p:txBody>
      </p:sp>
      <p:sp>
        <p:nvSpPr>
          <p:cNvPr id="5" name="Text 3"/>
          <p:cNvSpPr/>
          <p:nvPr/>
        </p:nvSpPr>
        <p:spPr>
          <a:xfrm>
            <a:off x="3291840" y="3310128"/>
            <a:ext cx="7863840" cy="502920"/>
          </a:xfrm>
          <a:prstGeom prst="rect">
            <a:avLst/>
          </a:prstGeom>
          <a:noFill/>
        </p:spPr>
        <p:txBody>
          <a:bodyPr wrap="square" lIns="0" tIns="0" rIns="0" bIns="0" rtlCol="0" anchor="ctr"/>
          <a:lstStyle/>
          <a:p>
            <a:pPr marL="0" indent="0">
              <a:buNone/>
            </a:pPr>
            <a:r>
              <a:rPr lang="en-US" sz="1700" dirty="0">
                <a:solidFill>
                  <a:srgbClr val="22D3EE"/>
                </a:solidFill>
                <a:latin typeface="Noto Sans CJK SC" pitchFamily="34" charset="0"/>
                <a:ea typeface="Noto Sans CJK SC" pitchFamily="34" charset="-122"/>
                <a:cs typeface="Noto Sans CJK SC" pitchFamily="34" charset="-120"/>
              </a:rPr>
              <a:t>FFT Length Strategy &amp; Step</a:t>
            </a:r>
            <a:endParaRPr lang="en-US" sz="1700" dirty="0"/>
          </a:p>
        </p:txBody>
      </p:sp>
      <p:sp>
        <p:nvSpPr>
          <p:cNvPr id="6" name="Shape 4"/>
          <p:cNvSpPr/>
          <p:nvPr/>
        </p:nvSpPr>
        <p:spPr>
          <a:xfrm>
            <a:off x="3310128" y="3950208"/>
            <a:ext cx="2743200" cy="0"/>
          </a:xfrm>
          <a:prstGeom prst="line">
            <a:avLst/>
          </a:prstGeom>
          <a:noFill/>
          <a:ln w="19050">
            <a:solidFill>
              <a:srgbClr val="1E466E"/>
            </a:solidFill>
            <a:prstDash val="solid"/>
          </a:ln>
        </p:spPr>
        <p:txBody>
          <a:bodyPr/>
          <a:lstStyle/>
          <a:p>
            <a:endParaRPr lang="zh-CN" altLang="en-US"/>
          </a:p>
        </p:txBody>
      </p:sp>
      <p:sp>
        <p:nvSpPr>
          <p:cNvPr id="7" name="Text 5"/>
          <p:cNvSpPr/>
          <p:nvPr/>
        </p:nvSpPr>
        <p:spPr>
          <a:xfrm>
            <a:off x="3310128" y="4078224"/>
            <a:ext cx="7680960" cy="822960"/>
          </a:xfrm>
          <a:prstGeom prst="rect">
            <a:avLst/>
          </a:prstGeom>
          <a:noFill/>
        </p:spPr>
        <p:txBody>
          <a:bodyPr wrap="square" lIns="0" tIns="0" rIns="0" bIns="0" rtlCol="0" anchor="ctr"/>
          <a:lstStyle/>
          <a:p>
            <a:pPr marL="0" indent="0">
              <a:buNone/>
            </a:pPr>
            <a:r>
              <a:rPr lang="en-US" sz="1250" dirty="0">
                <a:solidFill>
                  <a:srgbClr val="CBD5E1"/>
                </a:solidFill>
                <a:latin typeface="Noto Sans CJK SC" pitchFamily="34" charset="0"/>
                <a:ea typeface="Noto Sans CJK SC" pitchFamily="34" charset="-122"/>
                <a:cs typeface="Noto Sans CJK SC" pitchFamily="34" charset="-120"/>
              </a:rPr>
              <a:t>fft_length 与 coord_scale 如何决定坐标精度，标准模式与 0.5 步长的正确处理方式。</a:t>
            </a:r>
            <a:endParaRPr lang="en-US" sz="1250" dirty="0"/>
          </a:p>
        </p:txBody>
      </p:sp>
      <p:sp>
        <p:nvSpPr>
          <p:cNvPr id="8" name="Text 6"/>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9" name="Text 7"/>
          <p:cNvSpPr/>
          <p:nvPr/>
        </p:nvSpPr>
        <p:spPr>
          <a:xfrm>
            <a:off x="5029200" y="6446520"/>
            <a:ext cx="4572000" cy="274320"/>
          </a:xfrm>
          <a:prstGeom prst="rect">
            <a:avLst/>
          </a:prstGeom>
          <a:noFill/>
        </p:spPr>
        <p:txBody>
          <a:bodyPr wrap="square" lIns="0" tIns="0" rIns="0" bIns="0" rtlCol="0" anchor="ctr"/>
          <a:lstStyle/>
          <a:p>
            <a:pPr marL="0" indent="0" algn="ctr">
              <a:buNone/>
            </a:pPr>
            <a:endParaRPr lang="en-US" sz="850" dirty="0"/>
          </a:p>
        </p:txBody>
      </p:sp>
      <p:sp>
        <p:nvSpPr>
          <p:cNvPr id="10" name="Text 8"/>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24 / 42</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核心概念</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fft_length 与 coord_scale 是什么</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两个参数共同决定「</a:t>
            </a:r>
            <a:r>
              <a:rPr lang="en-US" sz="1250" dirty="0">
                <a:solidFill>
                  <a:srgbClr val="FF0000"/>
                </a:solidFill>
                <a:latin typeface="Noto Sans CJK SC" pitchFamily="34" charset="0"/>
                <a:ea typeface="Noto Sans CJK SC" pitchFamily="34" charset="-122"/>
                <a:cs typeface="Noto Sans CJK SC" pitchFamily="34" charset="-120"/>
              </a:rPr>
              <a:t>频谱 bin 索引</a:t>
            </a:r>
            <a:r>
              <a:rPr lang="en-US" sz="1250" dirty="0">
                <a:solidFill>
                  <a:srgbClr val="64748B"/>
                </a:solidFill>
                <a:latin typeface="Noto Sans CJK SC" pitchFamily="34" charset="0"/>
                <a:ea typeface="Noto Sans CJK SC" pitchFamily="34" charset="-122"/>
                <a:cs typeface="Noto Sans CJK SC" pitchFamily="34" charset="-120"/>
              </a:rPr>
              <a:t>」如何换算成「</a:t>
            </a:r>
            <a:r>
              <a:rPr lang="en-US" sz="1250" dirty="0">
                <a:solidFill>
                  <a:srgbClr val="FF0000"/>
                </a:solidFill>
                <a:latin typeface="Noto Sans CJK SC" pitchFamily="34" charset="0"/>
                <a:ea typeface="Noto Sans CJK SC" pitchFamily="34" charset="-122"/>
                <a:cs typeface="Noto Sans CJK SC" pitchFamily="34" charset="-120"/>
              </a:rPr>
              <a:t>投影仪像素坐标</a:t>
            </a:r>
            <a:r>
              <a:rPr lang="en-US" sz="1250" dirty="0">
                <a:solidFill>
                  <a:srgbClr val="64748B"/>
                </a:solidFill>
                <a:latin typeface="Noto Sans CJK SC" pitchFamily="34" charset="0"/>
                <a:ea typeface="Noto Sans CJK SC" pitchFamily="34" charset="-122"/>
                <a:cs typeface="Noto Sans CJK SC" pitchFamily="34" charset="-120"/>
              </a:rPr>
              <a:t>」。</a:t>
            </a:r>
            <a:endParaRPr lang="en-US" sz="1250" dirty="0"/>
          </a:p>
        </p:txBody>
      </p:sp>
      <p:sp>
        <p:nvSpPr>
          <p:cNvPr id="6" name="Shape 4"/>
          <p:cNvSpPr/>
          <p:nvPr/>
        </p:nvSpPr>
        <p:spPr>
          <a:xfrm>
            <a:off x="566928" y="1956816"/>
            <a:ext cx="5376672" cy="1828800"/>
          </a:xfrm>
          <a:prstGeom prst="roundRect">
            <a:avLst>
              <a:gd name="adj" fmla="val 45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Shape 5"/>
          <p:cNvSpPr/>
          <p:nvPr/>
        </p:nvSpPr>
        <p:spPr>
          <a:xfrm>
            <a:off x="566928" y="1956816"/>
            <a:ext cx="5376672" cy="91440"/>
          </a:xfrm>
          <a:prstGeom prst="rect">
            <a:avLst/>
          </a:prstGeom>
          <a:solidFill>
            <a:srgbClr val="0E7490"/>
          </a:solidFill>
          <a:ln w="12700">
            <a:solidFill>
              <a:srgbClr val="0E7490"/>
            </a:solidFill>
            <a:prstDash val="solid"/>
          </a:ln>
        </p:spPr>
        <p:txBody>
          <a:bodyPr/>
          <a:lstStyle/>
          <a:p>
            <a:endParaRPr lang="zh-CN" altLang="en-US"/>
          </a:p>
        </p:txBody>
      </p:sp>
      <p:sp>
        <p:nvSpPr>
          <p:cNvPr id="8" name="Text 6"/>
          <p:cNvSpPr/>
          <p:nvPr/>
        </p:nvSpPr>
        <p:spPr>
          <a:xfrm>
            <a:off x="841248" y="2157984"/>
            <a:ext cx="4828032" cy="365760"/>
          </a:xfrm>
          <a:prstGeom prst="rect">
            <a:avLst/>
          </a:prstGeom>
          <a:noFill/>
        </p:spPr>
        <p:txBody>
          <a:bodyPr wrap="square" lIns="0" tIns="0" rIns="0" bIns="0" rtlCol="0" anchor="ctr"/>
          <a:lstStyle/>
          <a:p>
            <a:pPr marL="0" indent="0">
              <a:buNone/>
            </a:pPr>
            <a:r>
              <a:rPr lang="en-US" sz="1700" b="1" dirty="0">
                <a:solidFill>
                  <a:srgbClr val="0E2A47"/>
                </a:solidFill>
                <a:latin typeface="DejaVu Sans Mono" pitchFamily="34" charset="0"/>
                <a:ea typeface="DejaVu Sans Mono" pitchFamily="34" charset="-122"/>
                <a:cs typeface="DejaVu Sans Mono" pitchFamily="34" charset="-120"/>
              </a:rPr>
              <a:t>fft_length</a:t>
            </a:r>
            <a:endParaRPr lang="en-US" sz="1700" dirty="0"/>
          </a:p>
        </p:txBody>
      </p:sp>
      <p:sp>
        <p:nvSpPr>
          <p:cNvPr id="9" name="Text 7"/>
          <p:cNvSpPr/>
          <p:nvPr/>
        </p:nvSpPr>
        <p:spPr>
          <a:xfrm>
            <a:off x="841248" y="2523744"/>
            <a:ext cx="4828032" cy="292608"/>
          </a:xfrm>
          <a:prstGeom prst="rect">
            <a:avLst/>
          </a:prstGeom>
          <a:noFill/>
        </p:spPr>
        <p:txBody>
          <a:bodyPr wrap="square" lIns="0" tIns="0" rIns="0" bIns="0" rtlCol="0" anchor="ctr"/>
          <a:lstStyle/>
          <a:p>
            <a:pPr marL="0" indent="0">
              <a:buNone/>
            </a:pPr>
            <a:r>
              <a:rPr lang="en-US" sz="1100" b="1" dirty="0">
                <a:solidFill>
                  <a:srgbClr val="FF0000"/>
                </a:solidFill>
                <a:latin typeface="Noto Sans CJK SC" pitchFamily="34" charset="0"/>
                <a:ea typeface="Noto Sans CJK SC" pitchFamily="34" charset="-122"/>
                <a:cs typeface="Noto Sans CJK SC" pitchFamily="34" charset="-120"/>
              </a:rPr>
              <a:t>FFT 的点数 / 频谱长度</a:t>
            </a:r>
            <a:endParaRPr lang="en-US" sz="1100" dirty="0">
              <a:solidFill>
                <a:srgbClr val="FF0000"/>
              </a:solidFill>
            </a:endParaRPr>
          </a:p>
        </p:txBody>
      </p:sp>
      <p:sp>
        <p:nvSpPr>
          <p:cNvPr id="10" name="Text 8"/>
          <p:cNvSpPr/>
          <p:nvPr/>
        </p:nvSpPr>
        <p:spPr>
          <a:xfrm>
            <a:off x="841248" y="2871216"/>
            <a:ext cx="4828032" cy="786384"/>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决定频谱被划分成多少个 bin。</a:t>
            </a:r>
            <a:r>
              <a:rPr lang="en-US" sz="1150" dirty="0">
                <a:solidFill>
                  <a:srgbClr val="FF0000"/>
                </a:solidFill>
                <a:latin typeface="Noto Sans CJK SC" pitchFamily="34" charset="0"/>
                <a:ea typeface="Noto Sans CJK SC" pitchFamily="34" charset="-122"/>
                <a:cs typeface="Noto Sans CJK SC" pitchFamily="34" charset="-120"/>
              </a:rPr>
              <a:t>bin 越多，坐标分辨越细</a:t>
            </a:r>
            <a:r>
              <a:rPr lang="en-US" sz="1150" dirty="0">
                <a:solidFill>
                  <a:srgbClr val="1E293B"/>
                </a:solidFill>
                <a:latin typeface="Noto Sans CJK SC" pitchFamily="34" charset="0"/>
                <a:ea typeface="Noto Sans CJK SC" pitchFamily="34" charset="-122"/>
                <a:cs typeface="Noto Sans CJK SC" pitchFamily="34" charset="-120"/>
              </a:rPr>
              <a:t>。由 _get_fft_params() 计算。</a:t>
            </a:r>
            <a:endParaRPr lang="en-US" sz="1150" dirty="0"/>
          </a:p>
        </p:txBody>
      </p:sp>
      <p:sp>
        <p:nvSpPr>
          <p:cNvPr id="11" name="Shape 9"/>
          <p:cNvSpPr/>
          <p:nvPr/>
        </p:nvSpPr>
        <p:spPr>
          <a:xfrm>
            <a:off x="6245352" y="1956816"/>
            <a:ext cx="5376672" cy="1828800"/>
          </a:xfrm>
          <a:prstGeom prst="roundRect">
            <a:avLst>
              <a:gd name="adj" fmla="val 45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Shape 10"/>
          <p:cNvSpPr/>
          <p:nvPr/>
        </p:nvSpPr>
        <p:spPr>
          <a:xfrm>
            <a:off x="6245352" y="1956816"/>
            <a:ext cx="5376672" cy="91440"/>
          </a:xfrm>
          <a:prstGeom prst="rect">
            <a:avLst/>
          </a:prstGeom>
          <a:solidFill>
            <a:srgbClr val="F59E0B"/>
          </a:solidFill>
          <a:ln w="12700">
            <a:solidFill>
              <a:srgbClr val="F59E0B"/>
            </a:solidFill>
            <a:prstDash val="solid"/>
          </a:ln>
        </p:spPr>
        <p:txBody>
          <a:bodyPr/>
          <a:lstStyle/>
          <a:p>
            <a:endParaRPr lang="zh-CN" altLang="en-US"/>
          </a:p>
        </p:txBody>
      </p:sp>
      <p:sp>
        <p:nvSpPr>
          <p:cNvPr id="13" name="Text 11"/>
          <p:cNvSpPr/>
          <p:nvPr/>
        </p:nvSpPr>
        <p:spPr>
          <a:xfrm>
            <a:off x="6519672" y="2157984"/>
            <a:ext cx="4828032" cy="365760"/>
          </a:xfrm>
          <a:prstGeom prst="rect">
            <a:avLst/>
          </a:prstGeom>
          <a:noFill/>
        </p:spPr>
        <p:txBody>
          <a:bodyPr wrap="square" lIns="0" tIns="0" rIns="0" bIns="0" rtlCol="0" anchor="ctr"/>
          <a:lstStyle/>
          <a:p>
            <a:pPr marL="0" indent="0">
              <a:buNone/>
            </a:pPr>
            <a:r>
              <a:rPr lang="en-US" sz="1700" b="1" dirty="0">
                <a:solidFill>
                  <a:srgbClr val="0E2A47"/>
                </a:solidFill>
                <a:latin typeface="DejaVu Sans Mono" pitchFamily="34" charset="0"/>
                <a:ea typeface="DejaVu Sans Mono" pitchFamily="34" charset="-122"/>
                <a:cs typeface="DejaVu Sans Mono" pitchFamily="34" charset="-120"/>
              </a:rPr>
              <a:t>coord_scale</a:t>
            </a:r>
            <a:endParaRPr lang="en-US" sz="1700" dirty="0"/>
          </a:p>
        </p:txBody>
      </p:sp>
      <p:sp>
        <p:nvSpPr>
          <p:cNvPr id="14" name="Text 12"/>
          <p:cNvSpPr/>
          <p:nvPr/>
        </p:nvSpPr>
        <p:spPr>
          <a:xfrm>
            <a:off x="6519672" y="2523744"/>
            <a:ext cx="4828032" cy="292608"/>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bin → 投影仪像素的换算比例</a:t>
            </a:r>
            <a:endParaRPr lang="en-US" sz="1100" dirty="0"/>
          </a:p>
        </p:txBody>
      </p:sp>
      <p:sp>
        <p:nvSpPr>
          <p:cNvPr id="15" name="Text 13"/>
          <p:cNvSpPr/>
          <p:nvPr/>
        </p:nvSpPr>
        <p:spPr>
          <a:xfrm>
            <a:off x="6519672" y="2871216"/>
            <a:ext cx="4828032" cy="786384"/>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把 argmax 得到的整数 bin 索引乘以它，得到真正的投影仪坐标 disparity。</a:t>
            </a:r>
            <a:endParaRPr lang="en-US" sz="1150" dirty="0"/>
          </a:p>
        </p:txBody>
      </p:sp>
      <p:sp>
        <p:nvSpPr>
          <p:cNvPr id="16" name="Shape 14"/>
          <p:cNvSpPr/>
          <p:nvPr/>
        </p:nvSpPr>
        <p:spPr>
          <a:xfrm>
            <a:off x="566928" y="3968496"/>
            <a:ext cx="5486400" cy="1993392"/>
          </a:xfrm>
          <a:prstGeom prst="roundRect">
            <a:avLst>
              <a:gd name="adj" fmla="val 4128"/>
            </a:avLst>
          </a:prstGeom>
          <a:solidFill>
            <a:srgbClr val="F2F5F9"/>
          </a:solidFill>
          <a:ln w="12700">
            <a:solidFill>
              <a:srgbClr val="E2E8F0"/>
            </a:solidFill>
            <a:prstDash val="solid"/>
          </a:ln>
        </p:spPr>
        <p:txBody>
          <a:bodyPr/>
          <a:lstStyle/>
          <a:p>
            <a:endParaRPr lang="zh-CN" altLang="en-US"/>
          </a:p>
        </p:txBody>
      </p:sp>
      <p:sp>
        <p:nvSpPr>
          <p:cNvPr id="17" name="Text 15"/>
          <p:cNvSpPr/>
          <p:nvPr/>
        </p:nvSpPr>
        <p:spPr>
          <a:xfrm>
            <a:off x="768096" y="4078224"/>
            <a:ext cx="45720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投影仪对应维度 proj_dim</a:t>
            </a:r>
            <a:endParaRPr lang="en-US" sz="1200" dirty="0"/>
          </a:p>
        </p:txBody>
      </p:sp>
      <p:sp>
        <p:nvSpPr>
          <p:cNvPr id="18" name="Text 16"/>
          <p:cNvSpPr/>
          <p:nvPr/>
        </p:nvSpPr>
        <p:spPr>
          <a:xfrm>
            <a:off x="768096" y="4425696"/>
            <a:ext cx="5120640" cy="914400"/>
          </a:xfrm>
          <a:prstGeom prst="rect">
            <a:avLst/>
          </a:prstGeom>
          <a:noFill/>
        </p:spPr>
        <p:txBody>
          <a:bodyPr wrap="square" lIns="0" tIns="0" rIns="0" bIns="0" rtlCol="0" anchor="t"/>
          <a:lstStyle/>
          <a:p>
            <a:pPr marL="177800" indent="-177800">
              <a:spcAft>
                <a:spcPts val="800"/>
              </a:spcAft>
              <a:buSzPct val="100000"/>
              <a:buChar char="•"/>
            </a:pPr>
            <a:r>
              <a:rPr lang="en-US" sz="1150" dirty="0">
                <a:solidFill>
                  <a:srgbClr val="3B82F6"/>
                </a:solidFill>
                <a:latin typeface="Noto Sans CJK SC" pitchFamily="34" charset="0"/>
                <a:ea typeface="Noto Sans CJK SC" pitchFamily="34" charset="-122"/>
                <a:cs typeface="Noto Sans CJK SC" pitchFamily="34" charset="-120"/>
              </a:rPr>
              <a:t>水平条纹 hor → proj_dim = 投影仪高度。</a:t>
            </a:r>
            <a:endParaRPr lang="en-US" sz="1150" dirty="0"/>
          </a:p>
          <a:p>
            <a:pPr marL="177800" indent="-177800">
              <a:spcAft>
                <a:spcPts val="800"/>
              </a:spcAft>
              <a:buSzPct val="100000"/>
              <a:buChar char="•"/>
            </a:pPr>
            <a:r>
              <a:rPr lang="en-US" sz="1150" dirty="0">
                <a:solidFill>
                  <a:srgbClr val="F59E0B"/>
                </a:solidFill>
                <a:latin typeface="Noto Sans CJK SC" pitchFamily="34" charset="0"/>
                <a:ea typeface="Noto Sans CJK SC" pitchFamily="34" charset="-122"/>
                <a:cs typeface="Noto Sans CJK SC" pitchFamily="34" charset="-120"/>
              </a:rPr>
              <a:t>垂直条纹 ver → proj_dim = 投影仪宽度。</a:t>
            </a:r>
            <a:endParaRPr lang="en-US" sz="1150" dirty="0"/>
          </a:p>
        </p:txBody>
      </p:sp>
      <p:sp>
        <p:nvSpPr>
          <p:cNvPr id="19" name="Text 17"/>
          <p:cNvSpPr/>
          <p:nvPr/>
        </p:nvSpPr>
        <p:spPr>
          <a:xfrm>
            <a:off x="768096" y="5413248"/>
            <a:ext cx="5120640" cy="365760"/>
          </a:xfrm>
          <a:prstGeom prst="rect">
            <a:avLst/>
          </a:prstGeom>
          <a:noFill/>
        </p:spPr>
        <p:txBody>
          <a:bodyPr wrap="square" lIns="0" tIns="0" rIns="0" bIns="0" rtlCol="0" anchor="ctr"/>
          <a:lstStyle/>
          <a:p>
            <a:pPr marL="0" indent="0">
              <a:buNone/>
            </a:pPr>
            <a:r>
              <a:rPr lang="en-US" sz="1050" dirty="0">
                <a:solidFill>
                  <a:srgbClr val="64748B"/>
                </a:solidFill>
                <a:latin typeface="Noto Sans CJK SC" pitchFamily="34" charset="0"/>
                <a:ea typeface="Noto Sans CJK SC" pitchFamily="34" charset="-122"/>
                <a:cs typeface="Noto Sans CJK SC" pitchFamily="34" charset="-120"/>
              </a:rPr>
              <a:t>方向不同，参与换算的投影仪尺寸也不同。</a:t>
            </a:r>
            <a:endParaRPr lang="en-US" sz="1050" dirty="0"/>
          </a:p>
        </p:txBody>
      </p:sp>
      <p:sp>
        <p:nvSpPr>
          <p:cNvPr id="20" name="Shape 18"/>
          <p:cNvSpPr/>
          <p:nvPr/>
        </p:nvSpPr>
        <p:spPr>
          <a:xfrm>
            <a:off x="6272784" y="3968496"/>
            <a:ext cx="5349240" cy="1993392"/>
          </a:xfrm>
          <a:prstGeom prst="roundRect">
            <a:avLst>
              <a:gd name="adj" fmla="val 3211"/>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1" name="Text 19"/>
          <p:cNvSpPr/>
          <p:nvPr/>
        </p:nvSpPr>
        <p:spPr>
          <a:xfrm>
            <a:off x="6364224" y="3968496"/>
            <a:ext cx="5166360" cy="1993392"/>
          </a:xfrm>
          <a:prstGeom prst="rect">
            <a:avLst/>
          </a:prstGeom>
          <a:noFill/>
        </p:spPr>
        <p:txBody>
          <a:bodyPr wrap="square" lIns="0" tIns="0" rIns="0" bIns="0" rtlCol="0" anchor="ctr"/>
          <a:lstStyle/>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disparity</a:t>
            </a:r>
            <a:endParaRPr lang="en-US" sz="1800" dirty="0"/>
          </a:p>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a:t>
            </a:r>
            <a:endParaRPr lang="en-US" sz="1800" dirty="0"/>
          </a:p>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freq_index × coord_scale</a:t>
            </a:r>
            <a:endParaRPr lang="en-US" sz="1800" dirty="0"/>
          </a:p>
        </p:txBody>
      </p:sp>
      <p:sp>
        <p:nvSpPr>
          <p:cNvPr id="22" name="Text 20"/>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3" name="Text 21"/>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24" name="Text 22"/>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25 / 42</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标准模式</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frequency_step = 1.0 的标准策略</a:t>
            </a:r>
            <a:endParaRPr lang="en-US" sz="2900" dirty="0"/>
          </a:p>
        </p:txBody>
      </p:sp>
      <p:sp>
        <p:nvSpPr>
          <p:cNvPr id="5" name="Text 3"/>
          <p:cNvSpPr/>
          <p:nvPr/>
        </p:nvSpPr>
        <p:spPr>
          <a:xfrm>
            <a:off x="566928" y="1627632"/>
            <a:ext cx="5349240" cy="2011680"/>
          </a:xfrm>
          <a:prstGeom prst="rect">
            <a:avLst/>
          </a:prstGeom>
          <a:noFill/>
        </p:spPr>
        <p:txBody>
          <a:bodyPr wrap="square" lIns="0" tIns="0" rIns="0" bIns="0" rtlCol="0" anchor="t"/>
          <a:lstStyle/>
          <a:p>
            <a:pPr marL="177800" indent="-177800">
              <a:spcAft>
                <a:spcPts val="1100"/>
              </a:spcAft>
              <a:buSzPct val="100000"/>
              <a:buChar char="•"/>
            </a:pPr>
            <a:r>
              <a:rPr lang="en-US" sz="1300" b="1" dirty="0">
                <a:solidFill>
                  <a:srgbClr val="1E293B"/>
                </a:solidFill>
                <a:latin typeface="Noto Sans CJK SC" pitchFamily="34" charset="0"/>
                <a:ea typeface="Noto Sans CJK SC" pitchFamily="34" charset="-122"/>
                <a:cs typeface="Noto Sans CJK SC" pitchFamily="34" charset="-120"/>
              </a:rPr>
              <a:t>投影频率取整数 0, 1, 2, …，是最常见的设置。</a:t>
            </a:r>
            <a:endParaRPr lang="en-US" sz="1300" dirty="0"/>
          </a:p>
          <a:p>
            <a:pPr marL="177800" indent="-177800">
              <a:spcAft>
                <a:spcPts val="11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此时把 fft_length 直接设为投影仪分辨率 proj_dim。</a:t>
            </a:r>
            <a:endParaRPr lang="en-US" sz="1300" dirty="0"/>
          </a:p>
          <a:p>
            <a:pPr marL="177800" indent="-177800">
              <a:spcAft>
                <a:spcPts val="1100"/>
              </a:spcAft>
              <a:buSzPct val="100000"/>
              <a:buChar char="•"/>
            </a:pPr>
            <a:r>
              <a:rPr lang="en-US" sz="1300" b="1" dirty="0">
                <a:solidFill>
                  <a:srgbClr val="0E7490"/>
                </a:solidFill>
                <a:latin typeface="Noto Sans CJK SC" pitchFamily="34" charset="0"/>
                <a:ea typeface="Noto Sans CJK SC" pitchFamily="34" charset="-122"/>
                <a:cs typeface="Noto Sans CJK SC" pitchFamily="34" charset="-120"/>
              </a:rPr>
              <a:t>coord_scale = 1.0：argmax 得到的 bin 索引就是投影仪坐标。</a:t>
            </a:r>
            <a:endParaRPr lang="en-US" sz="1300" dirty="0"/>
          </a:p>
          <a:p>
            <a:pPr marL="177800" indent="-177800">
              <a:spcAft>
                <a:spcPts val="11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无需任何额外的坐标映射，disparity = freq_index。</a:t>
            </a:r>
            <a:endParaRPr lang="en-US" sz="1300" dirty="0"/>
          </a:p>
        </p:txBody>
      </p:sp>
      <p:sp>
        <p:nvSpPr>
          <p:cNvPr id="6" name="Shape 4"/>
          <p:cNvSpPr/>
          <p:nvPr/>
        </p:nvSpPr>
        <p:spPr>
          <a:xfrm>
            <a:off x="566928" y="3840480"/>
            <a:ext cx="5349240" cy="914400"/>
          </a:xfrm>
          <a:prstGeom prst="roundRect">
            <a:avLst>
              <a:gd name="adj" fmla="val 700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3840480"/>
            <a:ext cx="5166360" cy="914400"/>
          </a:xfrm>
          <a:prstGeom prst="rect">
            <a:avLst/>
          </a:prstGeom>
          <a:noFill/>
        </p:spPr>
        <p:txBody>
          <a:bodyPr wrap="square" lIns="0" tIns="0" rIns="0" bIns="0" rtlCol="0" anchor="ctr"/>
          <a:lstStyle/>
          <a:p>
            <a:pPr marL="0" indent="0" algn="ctr">
              <a:buNone/>
            </a:pPr>
            <a:r>
              <a:rPr lang="en-US" sz="1600" b="1" dirty="0">
                <a:solidFill>
                  <a:srgbClr val="22D3EE"/>
                </a:solidFill>
                <a:latin typeface="DejaVu Sans Mono" pitchFamily="34" charset="0"/>
                <a:ea typeface="DejaVu Sans Mono" pitchFamily="34" charset="-122"/>
                <a:cs typeface="DejaVu Sans Mono" pitchFamily="34" charset="-120"/>
              </a:rPr>
              <a:t>fft_length = proj_dim</a:t>
            </a:r>
            <a:endParaRPr lang="en-US" sz="1600" dirty="0"/>
          </a:p>
          <a:p>
            <a:pPr marL="0" indent="0" algn="ctr">
              <a:buNone/>
            </a:pPr>
            <a:r>
              <a:rPr lang="en-US" sz="1600" b="1" dirty="0">
                <a:solidFill>
                  <a:srgbClr val="22D3EE"/>
                </a:solidFill>
                <a:latin typeface="DejaVu Sans Mono" pitchFamily="34" charset="0"/>
                <a:ea typeface="DejaVu Sans Mono" pitchFamily="34" charset="-122"/>
                <a:cs typeface="DejaVu Sans Mono" pitchFamily="34" charset="-120"/>
              </a:rPr>
              <a:t>coord_scale = 1.0</a:t>
            </a:r>
            <a:endParaRPr lang="en-US" sz="1600" dirty="0"/>
          </a:p>
        </p:txBody>
      </p:sp>
      <p:sp>
        <p:nvSpPr>
          <p:cNvPr id="8" name="Shape 6"/>
          <p:cNvSpPr/>
          <p:nvPr/>
        </p:nvSpPr>
        <p:spPr>
          <a:xfrm>
            <a:off x="566928" y="4937760"/>
            <a:ext cx="5349240" cy="1024128"/>
          </a:xfrm>
          <a:prstGeom prst="roundRect">
            <a:avLst>
              <a:gd name="adj" fmla="val 8036"/>
            </a:avLst>
          </a:prstGeom>
          <a:solidFill>
            <a:srgbClr val="F2F5F9"/>
          </a:solidFill>
          <a:ln w="12700">
            <a:solidFill>
              <a:srgbClr val="E2E8F0"/>
            </a:solidFill>
            <a:prstDash val="solid"/>
          </a:ln>
        </p:spPr>
        <p:txBody>
          <a:bodyPr/>
          <a:lstStyle/>
          <a:p>
            <a:endParaRPr lang="zh-CN" altLang="en-US"/>
          </a:p>
        </p:txBody>
      </p:sp>
      <p:sp>
        <p:nvSpPr>
          <p:cNvPr id="9" name="Text 7"/>
          <p:cNvSpPr/>
          <p:nvPr/>
        </p:nvSpPr>
        <p:spPr>
          <a:xfrm>
            <a:off x="768096" y="5029200"/>
            <a:ext cx="27432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为什么这样设</a:t>
            </a:r>
            <a:endParaRPr lang="en-US" sz="1100" dirty="0"/>
          </a:p>
        </p:txBody>
      </p:sp>
      <p:sp>
        <p:nvSpPr>
          <p:cNvPr id="10" name="Text 8"/>
          <p:cNvSpPr/>
          <p:nvPr/>
        </p:nvSpPr>
        <p:spPr>
          <a:xfrm>
            <a:off x="768096" y="5285232"/>
            <a:ext cx="5029200" cy="603504"/>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让频谱的每个 bin 恰好对应一个投影仪像素 ——</a:t>
            </a:r>
            <a:endParaRPr lang="en-US" sz="1100" dirty="0"/>
          </a:p>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这是避免「量化阶梯」的关键，下一页详述。</a:t>
            </a:r>
            <a:endParaRPr lang="en-US" sz="1100" dirty="0"/>
          </a:p>
        </p:txBody>
      </p:sp>
      <p:sp>
        <p:nvSpPr>
          <p:cNvPr id="11" name="Shape 9"/>
          <p:cNvSpPr/>
          <p:nvPr/>
        </p:nvSpPr>
        <p:spPr>
          <a:xfrm>
            <a:off x="6126480" y="1627632"/>
            <a:ext cx="5504688" cy="4334256"/>
          </a:xfrm>
          <a:prstGeom prst="roundRect">
            <a:avLst>
              <a:gd name="adj" fmla="val 189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400800" y="1792224"/>
            <a:ext cx="4956048" cy="310896"/>
          </a:xfrm>
          <a:prstGeom prst="rect">
            <a:avLst/>
          </a:prstGeom>
          <a:noFill/>
        </p:spPr>
        <p:txBody>
          <a:bodyPr wrap="square" lIns="0" tIns="0" rIns="0" bIns="0" rtlCol="0" anchor="ctr"/>
          <a:lstStyle/>
          <a:p>
            <a:pPr marL="0" indent="0">
              <a:buNone/>
            </a:pPr>
            <a:r>
              <a:rPr lang="en-US" sz="1200" b="1" dirty="0">
                <a:solidFill>
                  <a:srgbClr val="22D3EE"/>
                </a:solidFill>
                <a:latin typeface="Noto Sans CJK SC" pitchFamily="34" charset="0"/>
                <a:ea typeface="Noto Sans CJK SC" pitchFamily="34" charset="-122"/>
                <a:cs typeface="Noto Sans CJK SC" pitchFamily="34" charset="-120"/>
              </a:rPr>
              <a:t>bin 与投影仪像素一一对应</a:t>
            </a:r>
            <a:endParaRPr lang="en-US" sz="1200" dirty="0"/>
          </a:p>
        </p:txBody>
      </p:sp>
      <p:sp>
        <p:nvSpPr>
          <p:cNvPr id="13" name="Shape 11"/>
          <p:cNvSpPr/>
          <p:nvPr/>
        </p:nvSpPr>
        <p:spPr>
          <a:xfrm>
            <a:off x="6583680"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14" name="Text 12"/>
          <p:cNvSpPr/>
          <p:nvPr/>
        </p:nvSpPr>
        <p:spPr>
          <a:xfrm>
            <a:off x="6583680"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0</a:t>
            </a:r>
            <a:endParaRPr lang="en-US" sz="850" dirty="0"/>
          </a:p>
        </p:txBody>
      </p:sp>
      <p:sp>
        <p:nvSpPr>
          <p:cNvPr id="15" name="Shape 13"/>
          <p:cNvSpPr/>
          <p:nvPr/>
        </p:nvSpPr>
        <p:spPr>
          <a:xfrm>
            <a:off x="6867144" y="3200400"/>
            <a:ext cx="0" cy="457200"/>
          </a:xfrm>
          <a:prstGeom prst="line">
            <a:avLst/>
          </a:prstGeom>
          <a:noFill/>
          <a:ln w="19050">
            <a:solidFill>
              <a:srgbClr val="22D3EE"/>
            </a:solidFill>
            <a:prstDash val="solid"/>
            <a:tailEnd type="triangle"/>
          </a:ln>
        </p:spPr>
        <p:txBody>
          <a:bodyPr/>
          <a:lstStyle/>
          <a:p>
            <a:endParaRPr lang="zh-CN" altLang="en-US"/>
          </a:p>
        </p:txBody>
      </p:sp>
      <p:sp>
        <p:nvSpPr>
          <p:cNvPr id="16" name="Shape 14"/>
          <p:cNvSpPr/>
          <p:nvPr/>
        </p:nvSpPr>
        <p:spPr>
          <a:xfrm>
            <a:off x="6583680"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17" name="Text 15"/>
          <p:cNvSpPr/>
          <p:nvPr/>
        </p:nvSpPr>
        <p:spPr>
          <a:xfrm>
            <a:off x="6583680"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0</a:t>
            </a:r>
            <a:endParaRPr lang="en-US" sz="850" dirty="0"/>
          </a:p>
        </p:txBody>
      </p:sp>
      <p:sp>
        <p:nvSpPr>
          <p:cNvPr id="18" name="Shape 16"/>
          <p:cNvSpPr/>
          <p:nvPr/>
        </p:nvSpPr>
        <p:spPr>
          <a:xfrm>
            <a:off x="7260336"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19" name="Text 17"/>
          <p:cNvSpPr/>
          <p:nvPr/>
        </p:nvSpPr>
        <p:spPr>
          <a:xfrm>
            <a:off x="7260336"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1</a:t>
            </a:r>
            <a:endParaRPr lang="en-US" sz="850" dirty="0"/>
          </a:p>
        </p:txBody>
      </p:sp>
      <p:sp>
        <p:nvSpPr>
          <p:cNvPr id="20" name="Shape 18"/>
          <p:cNvSpPr/>
          <p:nvPr/>
        </p:nvSpPr>
        <p:spPr>
          <a:xfrm>
            <a:off x="7543800" y="3200400"/>
            <a:ext cx="0" cy="457200"/>
          </a:xfrm>
          <a:prstGeom prst="line">
            <a:avLst/>
          </a:prstGeom>
          <a:noFill/>
          <a:ln w="19050">
            <a:solidFill>
              <a:srgbClr val="22D3EE"/>
            </a:solidFill>
            <a:prstDash val="solid"/>
            <a:tailEnd type="triangle"/>
          </a:ln>
        </p:spPr>
        <p:txBody>
          <a:bodyPr/>
          <a:lstStyle/>
          <a:p>
            <a:endParaRPr lang="zh-CN" altLang="en-US"/>
          </a:p>
        </p:txBody>
      </p:sp>
      <p:sp>
        <p:nvSpPr>
          <p:cNvPr id="21" name="Shape 19"/>
          <p:cNvSpPr/>
          <p:nvPr/>
        </p:nvSpPr>
        <p:spPr>
          <a:xfrm>
            <a:off x="7260336"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22" name="Text 20"/>
          <p:cNvSpPr/>
          <p:nvPr/>
        </p:nvSpPr>
        <p:spPr>
          <a:xfrm>
            <a:off x="7260336"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1</a:t>
            </a:r>
            <a:endParaRPr lang="en-US" sz="850" dirty="0"/>
          </a:p>
        </p:txBody>
      </p:sp>
      <p:sp>
        <p:nvSpPr>
          <p:cNvPr id="23" name="Shape 21"/>
          <p:cNvSpPr/>
          <p:nvPr/>
        </p:nvSpPr>
        <p:spPr>
          <a:xfrm>
            <a:off x="7936992"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24" name="Text 22"/>
          <p:cNvSpPr/>
          <p:nvPr/>
        </p:nvSpPr>
        <p:spPr>
          <a:xfrm>
            <a:off x="7936992"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2</a:t>
            </a:r>
            <a:endParaRPr lang="en-US" sz="850" dirty="0"/>
          </a:p>
        </p:txBody>
      </p:sp>
      <p:sp>
        <p:nvSpPr>
          <p:cNvPr id="25" name="Shape 23"/>
          <p:cNvSpPr/>
          <p:nvPr/>
        </p:nvSpPr>
        <p:spPr>
          <a:xfrm>
            <a:off x="8220456" y="3200400"/>
            <a:ext cx="0" cy="457200"/>
          </a:xfrm>
          <a:prstGeom prst="line">
            <a:avLst/>
          </a:prstGeom>
          <a:noFill/>
          <a:ln w="19050">
            <a:solidFill>
              <a:srgbClr val="22D3EE"/>
            </a:solidFill>
            <a:prstDash val="solid"/>
            <a:tailEnd type="triangle"/>
          </a:ln>
        </p:spPr>
        <p:txBody>
          <a:bodyPr/>
          <a:lstStyle/>
          <a:p>
            <a:endParaRPr lang="zh-CN" altLang="en-US"/>
          </a:p>
        </p:txBody>
      </p:sp>
      <p:sp>
        <p:nvSpPr>
          <p:cNvPr id="26" name="Shape 24"/>
          <p:cNvSpPr/>
          <p:nvPr/>
        </p:nvSpPr>
        <p:spPr>
          <a:xfrm>
            <a:off x="7936992"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27" name="Text 25"/>
          <p:cNvSpPr/>
          <p:nvPr/>
        </p:nvSpPr>
        <p:spPr>
          <a:xfrm>
            <a:off x="7936992"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2</a:t>
            </a:r>
            <a:endParaRPr lang="en-US" sz="850" dirty="0"/>
          </a:p>
        </p:txBody>
      </p:sp>
      <p:sp>
        <p:nvSpPr>
          <p:cNvPr id="28" name="Shape 26"/>
          <p:cNvSpPr/>
          <p:nvPr/>
        </p:nvSpPr>
        <p:spPr>
          <a:xfrm>
            <a:off x="8613648"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29" name="Text 27"/>
          <p:cNvSpPr/>
          <p:nvPr/>
        </p:nvSpPr>
        <p:spPr>
          <a:xfrm>
            <a:off x="8613648"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3</a:t>
            </a:r>
            <a:endParaRPr lang="en-US" sz="850" dirty="0"/>
          </a:p>
        </p:txBody>
      </p:sp>
      <p:sp>
        <p:nvSpPr>
          <p:cNvPr id="30" name="Shape 28"/>
          <p:cNvSpPr/>
          <p:nvPr/>
        </p:nvSpPr>
        <p:spPr>
          <a:xfrm>
            <a:off x="8897112" y="3200400"/>
            <a:ext cx="0" cy="457200"/>
          </a:xfrm>
          <a:prstGeom prst="line">
            <a:avLst/>
          </a:prstGeom>
          <a:noFill/>
          <a:ln w="19050">
            <a:solidFill>
              <a:srgbClr val="22D3EE"/>
            </a:solidFill>
            <a:prstDash val="solid"/>
            <a:tailEnd type="triangle"/>
          </a:ln>
        </p:spPr>
        <p:txBody>
          <a:bodyPr/>
          <a:lstStyle/>
          <a:p>
            <a:endParaRPr lang="zh-CN" altLang="en-US"/>
          </a:p>
        </p:txBody>
      </p:sp>
      <p:sp>
        <p:nvSpPr>
          <p:cNvPr id="31" name="Shape 29"/>
          <p:cNvSpPr/>
          <p:nvPr/>
        </p:nvSpPr>
        <p:spPr>
          <a:xfrm>
            <a:off x="8613648"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32" name="Text 30"/>
          <p:cNvSpPr/>
          <p:nvPr/>
        </p:nvSpPr>
        <p:spPr>
          <a:xfrm>
            <a:off x="8613648"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3</a:t>
            </a:r>
            <a:endParaRPr lang="en-US" sz="850" dirty="0"/>
          </a:p>
        </p:txBody>
      </p:sp>
      <p:sp>
        <p:nvSpPr>
          <p:cNvPr id="33" name="Shape 31"/>
          <p:cNvSpPr/>
          <p:nvPr/>
        </p:nvSpPr>
        <p:spPr>
          <a:xfrm>
            <a:off x="9290304"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34" name="Text 32"/>
          <p:cNvSpPr/>
          <p:nvPr/>
        </p:nvSpPr>
        <p:spPr>
          <a:xfrm>
            <a:off x="9290304"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4</a:t>
            </a:r>
            <a:endParaRPr lang="en-US" sz="850" dirty="0"/>
          </a:p>
        </p:txBody>
      </p:sp>
      <p:sp>
        <p:nvSpPr>
          <p:cNvPr id="35" name="Shape 33"/>
          <p:cNvSpPr/>
          <p:nvPr/>
        </p:nvSpPr>
        <p:spPr>
          <a:xfrm>
            <a:off x="9573768" y="3200400"/>
            <a:ext cx="0" cy="457200"/>
          </a:xfrm>
          <a:prstGeom prst="line">
            <a:avLst/>
          </a:prstGeom>
          <a:noFill/>
          <a:ln w="19050">
            <a:solidFill>
              <a:srgbClr val="22D3EE"/>
            </a:solidFill>
            <a:prstDash val="solid"/>
            <a:tailEnd type="triangle"/>
          </a:ln>
        </p:spPr>
        <p:txBody>
          <a:bodyPr/>
          <a:lstStyle/>
          <a:p>
            <a:endParaRPr lang="zh-CN" altLang="en-US"/>
          </a:p>
        </p:txBody>
      </p:sp>
      <p:sp>
        <p:nvSpPr>
          <p:cNvPr id="36" name="Shape 34"/>
          <p:cNvSpPr/>
          <p:nvPr/>
        </p:nvSpPr>
        <p:spPr>
          <a:xfrm>
            <a:off x="9290304"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37" name="Text 35"/>
          <p:cNvSpPr/>
          <p:nvPr/>
        </p:nvSpPr>
        <p:spPr>
          <a:xfrm>
            <a:off x="9290304"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4</a:t>
            </a:r>
            <a:endParaRPr lang="en-US" sz="850" dirty="0"/>
          </a:p>
        </p:txBody>
      </p:sp>
      <p:sp>
        <p:nvSpPr>
          <p:cNvPr id="38" name="Shape 36"/>
          <p:cNvSpPr/>
          <p:nvPr/>
        </p:nvSpPr>
        <p:spPr>
          <a:xfrm>
            <a:off x="9966960"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39" name="Text 37"/>
          <p:cNvSpPr/>
          <p:nvPr/>
        </p:nvSpPr>
        <p:spPr>
          <a:xfrm>
            <a:off x="9966960"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5</a:t>
            </a:r>
            <a:endParaRPr lang="en-US" sz="850" dirty="0"/>
          </a:p>
        </p:txBody>
      </p:sp>
      <p:sp>
        <p:nvSpPr>
          <p:cNvPr id="40" name="Shape 38"/>
          <p:cNvSpPr/>
          <p:nvPr/>
        </p:nvSpPr>
        <p:spPr>
          <a:xfrm>
            <a:off x="10250424" y="3200400"/>
            <a:ext cx="0" cy="457200"/>
          </a:xfrm>
          <a:prstGeom prst="line">
            <a:avLst/>
          </a:prstGeom>
          <a:noFill/>
          <a:ln w="19050">
            <a:solidFill>
              <a:srgbClr val="22D3EE"/>
            </a:solidFill>
            <a:prstDash val="solid"/>
            <a:tailEnd type="triangle"/>
          </a:ln>
        </p:spPr>
        <p:txBody>
          <a:bodyPr/>
          <a:lstStyle/>
          <a:p>
            <a:endParaRPr lang="zh-CN" altLang="en-US"/>
          </a:p>
        </p:txBody>
      </p:sp>
      <p:sp>
        <p:nvSpPr>
          <p:cNvPr id="41" name="Shape 39"/>
          <p:cNvSpPr/>
          <p:nvPr/>
        </p:nvSpPr>
        <p:spPr>
          <a:xfrm>
            <a:off x="9966960"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42" name="Text 40"/>
          <p:cNvSpPr/>
          <p:nvPr/>
        </p:nvSpPr>
        <p:spPr>
          <a:xfrm>
            <a:off x="9966960"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5</a:t>
            </a:r>
            <a:endParaRPr lang="en-US" sz="850" dirty="0"/>
          </a:p>
        </p:txBody>
      </p:sp>
      <p:sp>
        <p:nvSpPr>
          <p:cNvPr id="43" name="Shape 41"/>
          <p:cNvSpPr/>
          <p:nvPr/>
        </p:nvSpPr>
        <p:spPr>
          <a:xfrm>
            <a:off x="10643616"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44" name="Text 42"/>
          <p:cNvSpPr/>
          <p:nvPr/>
        </p:nvSpPr>
        <p:spPr>
          <a:xfrm>
            <a:off x="10643616"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6</a:t>
            </a:r>
            <a:endParaRPr lang="en-US" sz="850" dirty="0"/>
          </a:p>
        </p:txBody>
      </p:sp>
      <p:sp>
        <p:nvSpPr>
          <p:cNvPr id="45" name="Shape 43"/>
          <p:cNvSpPr/>
          <p:nvPr/>
        </p:nvSpPr>
        <p:spPr>
          <a:xfrm>
            <a:off x="10927080" y="3200400"/>
            <a:ext cx="0" cy="457200"/>
          </a:xfrm>
          <a:prstGeom prst="line">
            <a:avLst/>
          </a:prstGeom>
          <a:noFill/>
          <a:ln w="19050">
            <a:solidFill>
              <a:srgbClr val="22D3EE"/>
            </a:solidFill>
            <a:prstDash val="solid"/>
            <a:tailEnd type="triangle"/>
          </a:ln>
        </p:spPr>
        <p:txBody>
          <a:bodyPr/>
          <a:lstStyle/>
          <a:p>
            <a:endParaRPr lang="zh-CN" altLang="en-US"/>
          </a:p>
        </p:txBody>
      </p:sp>
      <p:sp>
        <p:nvSpPr>
          <p:cNvPr id="46" name="Shape 44"/>
          <p:cNvSpPr/>
          <p:nvPr/>
        </p:nvSpPr>
        <p:spPr>
          <a:xfrm>
            <a:off x="10643616"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47" name="Text 45"/>
          <p:cNvSpPr/>
          <p:nvPr/>
        </p:nvSpPr>
        <p:spPr>
          <a:xfrm>
            <a:off x="10643616"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6</a:t>
            </a:r>
            <a:endParaRPr lang="en-US" sz="850" dirty="0"/>
          </a:p>
        </p:txBody>
      </p:sp>
      <p:sp>
        <p:nvSpPr>
          <p:cNvPr id="48" name="Text 46"/>
          <p:cNvSpPr/>
          <p:nvPr/>
        </p:nvSpPr>
        <p:spPr>
          <a:xfrm>
            <a:off x="6400800" y="2779776"/>
            <a:ext cx="0" cy="274320"/>
          </a:xfrm>
          <a:prstGeom prst="rect">
            <a:avLst/>
          </a:prstGeom>
          <a:noFill/>
        </p:spPr>
        <p:txBody>
          <a:bodyPr wrap="square" lIns="0" tIns="0" rIns="0" bIns="0" rtlCol="0" anchor="ctr"/>
          <a:lstStyle/>
          <a:p>
            <a:pPr marL="0" indent="0">
              <a:buNone/>
            </a:pPr>
            <a:r>
              <a:rPr lang="en-US" sz="900" dirty="0">
                <a:solidFill>
                  <a:srgbClr val="94A3B8"/>
                </a:solidFill>
                <a:latin typeface="Noto Sans CJK SC" pitchFamily="34" charset="0"/>
                <a:ea typeface="Noto Sans CJK SC" pitchFamily="34" charset="-122"/>
                <a:cs typeface="Noto Sans CJK SC" pitchFamily="34" charset="-120"/>
              </a:rPr>
              <a:t>频谱 bin</a:t>
            </a:r>
            <a:endParaRPr lang="en-US" sz="900" dirty="0"/>
          </a:p>
        </p:txBody>
      </p:sp>
      <p:sp>
        <p:nvSpPr>
          <p:cNvPr id="49" name="Shape 47"/>
          <p:cNvSpPr/>
          <p:nvPr/>
        </p:nvSpPr>
        <p:spPr>
          <a:xfrm>
            <a:off x="6583680" y="4681728"/>
            <a:ext cx="4590288" cy="868680"/>
          </a:xfrm>
          <a:prstGeom prst="roundRect">
            <a:avLst>
              <a:gd name="adj" fmla="val 7368"/>
            </a:avLst>
          </a:prstGeom>
          <a:solidFill>
            <a:srgbClr val="123A5C"/>
          </a:solidFill>
          <a:ln w="12700">
            <a:solidFill>
              <a:srgbClr val="1E466E"/>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50" name="Text 48"/>
          <p:cNvSpPr/>
          <p:nvPr/>
        </p:nvSpPr>
        <p:spPr>
          <a:xfrm>
            <a:off x="6675120" y="4681728"/>
            <a:ext cx="4407408" cy="868680"/>
          </a:xfrm>
          <a:prstGeom prst="rect">
            <a:avLst/>
          </a:prstGeom>
          <a:noFill/>
        </p:spPr>
        <p:txBody>
          <a:bodyPr wrap="square" lIns="0" tIns="0" rIns="0" bIns="0" rtlCol="0" anchor="ctr"/>
          <a:lstStyle/>
          <a:p>
            <a:pPr marL="0" indent="0" algn="ctr">
              <a:buNone/>
            </a:pPr>
            <a:r>
              <a:rPr lang="en-US" sz="1400" b="1" dirty="0">
                <a:solidFill>
                  <a:srgbClr val="22D3EE"/>
                </a:solidFill>
                <a:latin typeface="Noto Sans CJK SC" pitchFamily="34" charset="0"/>
                <a:ea typeface="Noto Sans CJK SC" pitchFamily="34" charset="-122"/>
                <a:cs typeface="Noto Sans CJK SC" pitchFamily="34" charset="-120"/>
              </a:rPr>
              <a:t>coord_scale = 1.0  ⟹  disparity = freq_index</a:t>
            </a:r>
            <a:endParaRPr lang="en-US" sz="1400" dirty="0"/>
          </a:p>
        </p:txBody>
      </p:sp>
      <p:sp>
        <p:nvSpPr>
          <p:cNvPr id="51" name="Text 4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52" name="Text 5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53" name="Text 5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26 / 42</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M 小于投影仪分辨率为何仍可用</a:t>
            </a:r>
          </a:p>
        </p:txBody>
      </p:sp>
      <p:sp>
        <p:nvSpPr>
          <p:cNvPr id="5" name="TextBox 4"/>
          <p:cNvSpPr txBox="1"/>
          <p:nvPr/>
        </p:nvSpPr>
        <p:spPr>
          <a:xfrm>
            <a:off x="567246" y="1719072"/>
            <a:ext cx="5303520" cy="2098040"/>
          </a:xfrm>
          <a:prstGeom prst="rect">
            <a:avLst/>
          </a:prstGeom>
          <a:noFill/>
        </p:spPr>
        <p:txBody>
          <a:bodyPr wrap="square" lIns="0" tIns="0" rIns="0" bIns="0">
            <a:spAutoFit/>
          </a:bodyPr>
          <a:lstStyle/>
          <a:p>
            <a:pPr>
              <a:lnSpc>
                <a:spcPct val="112000"/>
              </a:lnSpc>
              <a:spcAft>
                <a:spcPts val="600"/>
              </a:spcAft>
            </a:pPr>
            <a:r>
              <a:rPr sz="1550" b="1">
                <a:solidFill>
                  <a:srgbClr val="0E7490"/>
                </a:solidFill>
                <a:latin typeface="Noto Sans CJK SC"/>
              </a:rPr>
              <a:t>•  </a:t>
            </a:r>
            <a:r>
              <a:rPr sz="1550" b="0">
                <a:solidFill>
                  <a:srgbClr val="0E2A47"/>
                </a:solidFill>
                <a:latin typeface="Noto Sans CJK SC"/>
              </a:rPr>
              <a:t>原始采集只有 M 个复数样本 D[k]。</a:t>
            </a:r>
            <a:r>
              <a:rPr sz="1550" b="0">
                <a:solidFill>
                  <a:srgbClr val="64748B"/>
                </a:solidFill>
                <a:latin typeface="Noto Sans CJK SC"/>
              </a:rPr>
              <a:t>例如 M=151，远小于投影仪宽度 N=1920。</a:t>
            </a:r>
            <a:endParaRPr sz="1550" b="0">
              <a:solidFill>
                <a:srgbClr val="64748B"/>
              </a:solidFill>
              <a:latin typeface="Noto Sans CJK SC"/>
            </a:endParaRPr>
          </a:p>
          <a:p>
            <a:pPr>
              <a:lnSpc>
                <a:spcPct val="112000"/>
              </a:lnSpc>
              <a:spcAft>
                <a:spcPts val="600"/>
              </a:spcAft>
            </a:pPr>
            <a:r>
              <a:rPr sz="1550" b="1">
                <a:solidFill>
                  <a:srgbClr val="0E7490"/>
                </a:solidFill>
                <a:latin typeface="Noto Sans CJK SC"/>
              </a:rPr>
              <a:t>•  </a:t>
            </a:r>
            <a:r>
              <a:rPr sz="1550" b="0">
                <a:solidFill>
                  <a:srgbClr val="0E2A47"/>
                </a:solidFill>
                <a:latin typeface="Noto Sans CJK SC"/>
              </a:rPr>
              <a:t>当 fft_length &gt; M 时，</a:t>
            </a:r>
            <a:r>
              <a:rPr sz="1550" b="1">
                <a:solidFill>
                  <a:srgbClr val="EF4444"/>
                </a:solidFill>
                <a:latin typeface="Noto Sans CJK SC"/>
              </a:rPr>
              <a:t>np.fft.fft(D, n=fft_length) 会在序列后自动补零。</a:t>
            </a:r>
            <a:endParaRPr sz="1550" b="1">
              <a:solidFill>
                <a:srgbClr val="EF4444"/>
              </a:solidFill>
              <a:latin typeface="Noto Sans CJK SC"/>
            </a:endParaRPr>
          </a:p>
          <a:p>
            <a:pPr>
              <a:lnSpc>
                <a:spcPct val="112000"/>
              </a:lnSpc>
              <a:spcAft>
                <a:spcPts val="600"/>
              </a:spcAft>
            </a:pPr>
            <a:r>
              <a:rPr sz="1550" b="1">
                <a:solidFill>
                  <a:srgbClr val="0E7490"/>
                </a:solidFill>
                <a:latin typeface="Noto Sans CJK SC"/>
              </a:rPr>
              <a:t>•  </a:t>
            </a:r>
            <a:r>
              <a:rPr sz="1550" b="0">
                <a:solidFill>
                  <a:srgbClr val="EF4444"/>
                </a:solidFill>
                <a:latin typeface="Noto Sans CJK SC"/>
              </a:rPr>
              <a:t>补零让 FFT 在更多分析频率上取样，</a:t>
            </a:r>
            <a:r>
              <a:rPr sz="1550" b="0">
                <a:solidFill>
                  <a:srgbClr val="0E2A47"/>
                </a:solidFill>
                <a:latin typeface="Noto Sans CJK SC"/>
              </a:rPr>
              <a:t>但不增加原始采集信息。</a:t>
            </a:r>
            <a:endParaRPr sz="1550" b="0">
              <a:solidFill>
                <a:srgbClr val="0E2A47"/>
              </a:solidFill>
              <a:latin typeface="Noto Sans CJK SC"/>
            </a:endParaRPr>
          </a:p>
          <a:p>
            <a:pPr>
              <a:lnSpc>
                <a:spcPct val="112000"/>
              </a:lnSpc>
              <a:spcAft>
                <a:spcPts val="600"/>
              </a:spcAft>
            </a:pPr>
            <a:r>
              <a:rPr sz="1550" b="1">
                <a:solidFill>
                  <a:srgbClr val="0E7490"/>
                </a:solidFill>
                <a:latin typeface="Noto Sans CJK SC"/>
              </a:rPr>
              <a:t>•  </a:t>
            </a:r>
            <a:r>
              <a:rPr sz="1550" b="1">
                <a:solidFill>
                  <a:srgbClr val="0E7490"/>
                </a:solidFill>
                <a:latin typeface="Noto Sans CJK SC"/>
              </a:rPr>
              <a:t>它的价值：</a:t>
            </a:r>
            <a:r>
              <a:rPr sz="1550" b="1">
                <a:solidFill>
                  <a:srgbClr val="0E7490"/>
                </a:solidFill>
                <a:latin typeface="Noto Sans CJK SC"/>
              </a:rPr>
              <a:t>避免把峰值强行量化到 M 个粗 bin 上。</a:t>
            </a:r>
            <a:endParaRPr sz="1550" b="1">
              <a:solidFill>
                <a:srgbClr val="0E7490"/>
              </a:solidFill>
              <a:latin typeface="Noto Sans CJK SC"/>
            </a:endParaRPr>
          </a:p>
        </p:txBody>
      </p:sp>
      <p:sp>
        <p:nvSpPr>
          <p:cNvPr id="6" name="Rounded Rectangle 5"/>
          <p:cNvSpPr/>
          <p:nvPr/>
        </p:nvSpPr>
        <p:spPr>
          <a:xfrm>
            <a:off x="567246" y="4279392"/>
            <a:ext cx="5349240" cy="1591056"/>
          </a:xfrm>
          <a:prstGeom prst="roundRect">
            <a:avLst/>
          </a:prstGeom>
          <a:solidFill>
            <a:srgbClr val="F1F5F9"/>
          </a:solidFill>
          <a:ln w="1270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414" y="4462272"/>
            <a:ext cx="1828800" cy="201295"/>
          </a:xfrm>
          <a:prstGeom prst="rect">
            <a:avLst/>
          </a:prstGeom>
          <a:noFill/>
        </p:spPr>
        <p:txBody>
          <a:bodyPr wrap="square" lIns="0" tIns="0" rIns="0" bIns="0">
            <a:spAutoFit/>
          </a:bodyPr>
          <a:lstStyle/>
          <a:p>
            <a:pPr>
              <a:lnSpc>
                <a:spcPct val="105000"/>
              </a:lnSpc>
              <a:spcAft>
                <a:spcPts val="200"/>
              </a:spcAft>
              <a:defRPr sz="1250" b="1">
                <a:solidFill>
                  <a:srgbClr val="F59E0B"/>
                </a:solidFill>
                <a:latin typeface="Noto Sans CJK SC"/>
              </a:defRPr>
            </a:pPr>
            <a:r>
              <a:t>更准确的一句话</a:t>
            </a:r>
          </a:p>
        </p:txBody>
      </p:sp>
      <p:sp>
        <p:nvSpPr>
          <p:cNvPr id="8" name="TextBox 7"/>
          <p:cNvSpPr txBox="1"/>
          <p:nvPr/>
        </p:nvSpPr>
        <p:spPr>
          <a:xfrm>
            <a:off x="768414" y="4800600"/>
            <a:ext cx="4846320" cy="542290"/>
          </a:xfrm>
          <a:prstGeom prst="rect">
            <a:avLst/>
          </a:prstGeom>
          <a:noFill/>
        </p:spPr>
        <p:txBody>
          <a:bodyPr wrap="square" lIns="0" tIns="0" rIns="0" bIns="0">
            <a:spAutoFit/>
          </a:bodyPr>
          <a:lstStyle/>
          <a:p>
            <a:pPr>
              <a:lnSpc>
                <a:spcPct val="105000"/>
              </a:lnSpc>
              <a:spcAft>
                <a:spcPts val="200"/>
              </a:spcAft>
              <a:defRPr sz="1600" b="1">
                <a:solidFill>
                  <a:srgbClr val="0E2A47"/>
                </a:solidFill>
                <a:latin typeface="Noto Sans CJK SC"/>
              </a:defRPr>
            </a:pPr>
            <a:r>
              <a:t>「FFT 长度使用投影仪分辨率」</a:t>
            </a:r>
          </a:p>
          <a:p>
            <a:pPr>
              <a:lnSpc>
                <a:spcPct val="105000"/>
              </a:lnSpc>
              <a:spcAft>
                <a:spcPts val="200"/>
              </a:spcAft>
              <a:defRPr sz="1600" b="1">
                <a:solidFill>
                  <a:srgbClr val="0E2A47"/>
                </a:solidFill>
                <a:latin typeface="Noto Sans CJK SC"/>
              </a:defRPr>
            </a:pPr>
            <a:r>
              <a:t>=「用投影仪像素坐标尺度采样频谱峰值位置」。</a:t>
            </a:r>
          </a:p>
        </p:txBody>
      </p:sp>
      <p:sp>
        <p:nvSpPr>
          <p:cNvPr id="9" name="TextBox 8"/>
          <p:cNvSpPr txBox="1"/>
          <p:nvPr/>
        </p:nvSpPr>
        <p:spPr>
          <a:xfrm>
            <a:off x="768414" y="5468112"/>
            <a:ext cx="4846320" cy="370205"/>
          </a:xfrm>
          <a:prstGeom prst="rect">
            <a:avLst/>
          </a:prstGeom>
          <a:noFill/>
        </p:spPr>
        <p:txBody>
          <a:bodyPr wrap="square" lIns="0" tIns="0" rIns="0" bIns="0">
            <a:spAutoFit/>
          </a:bodyPr>
          <a:lstStyle/>
          <a:p>
            <a:pPr>
              <a:lnSpc>
                <a:spcPct val="105000"/>
              </a:lnSpc>
              <a:spcAft>
                <a:spcPts val="200"/>
              </a:spcAft>
              <a:defRPr sz="1150" b="0">
                <a:solidFill>
                  <a:srgbClr val="64748B"/>
                </a:solidFill>
                <a:latin typeface="Noto Sans CJK SC"/>
              </a:defRPr>
            </a:pPr>
            <a:r>
              <a:t>补零不能替代更密集采集，也不能替代亚像素估计；它只是把寻找峰值的网格变细。</a:t>
            </a:r>
          </a:p>
        </p:txBody>
      </p:sp>
      <p:sp>
        <p:nvSpPr>
          <p:cNvPr id="10" name="Rounded Rectangle 9"/>
          <p:cNvSpPr/>
          <p:nvPr/>
        </p:nvSpPr>
        <p:spPr>
          <a:xfrm>
            <a:off x="6263958" y="1664208"/>
            <a:ext cx="5321808" cy="43159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4270" y="1901952"/>
            <a:ext cx="2926080" cy="225425"/>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t>补零前后：粗 bin → 细 bin</a:t>
            </a:r>
          </a:p>
        </p:txBody>
      </p:sp>
      <p:sp>
        <p:nvSpPr>
          <p:cNvPr id="12" name="TextBox 11"/>
          <p:cNvSpPr txBox="1"/>
          <p:nvPr/>
        </p:nvSpPr>
        <p:spPr>
          <a:xfrm>
            <a:off x="6721158" y="2395728"/>
            <a:ext cx="2194560" cy="141605"/>
          </a:xfrm>
          <a:prstGeom prst="rect">
            <a:avLst/>
          </a:prstGeom>
          <a:noFill/>
        </p:spPr>
        <p:txBody>
          <a:bodyPr wrap="square" lIns="0" tIns="0" rIns="0" bIns="0">
            <a:spAutoFit/>
          </a:bodyPr>
          <a:lstStyle/>
          <a:p>
            <a:pPr algn="ctr">
              <a:lnSpc>
                <a:spcPct val="105000"/>
              </a:lnSpc>
              <a:spcAft>
                <a:spcPts val="200"/>
              </a:spcAft>
              <a:defRPr sz="880" b="1">
                <a:solidFill>
                  <a:srgbClr val="0E2A47"/>
                </a:solidFill>
                <a:latin typeface="Noto Sans CJK SC"/>
              </a:defRPr>
            </a:pPr>
            <a:r>
              <a:t>fft_length = M：只有 M 个粗 bin</a:t>
            </a:r>
          </a:p>
        </p:txBody>
      </p:sp>
      <p:sp>
        <p:nvSpPr>
          <p:cNvPr id="13" name="Rectangle 12"/>
          <p:cNvSpPr/>
          <p:nvPr/>
        </p:nvSpPr>
        <p:spPr>
          <a:xfrm>
            <a:off x="6565710" y="2606040"/>
            <a:ext cx="2304288" cy="1417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V="1">
            <a:off x="6702870" y="3606100"/>
            <a:ext cx="0" cy="105449"/>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670866" y="3574096"/>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V="1">
            <a:off x="6822279" y="3606100"/>
            <a:ext cx="0" cy="105449"/>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790275" y="3574096"/>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6941689" y="3606100"/>
            <a:ext cx="0" cy="105449"/>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909685" y="3574096"/>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7061099" y="3606100"/>
            <a:ext cx="0" cy="105449"/>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029095" y="3574096"/>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flipV="1">
            <a:off x="7180509" y="3606082"/>
            <a:ext cx="0" cy="105467"/>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148505" y="3574078"/>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V="1">
            <a:off x="7299919" y="3605689"/>
            <a:ext cx="0" cy="105860"/>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267915" y="3573685"/>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flipV="1">
            <a:off x="7419329" y="3600678"/>
            <a:ext cx="0" cy="110871"/>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7387325" y="3568674"/>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flipV="1">
            <a:off x="7538739" y="3564807"/>
            <a:ext cx="0" cy="146742"/>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7506735" y="3532803"/>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flipV="1">
            <a:off x="7658149" y="3424433"/>
            <a:ext cx="0" cy="287116"/>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7626145" y="3392429"/>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flipV="1">
            <a:off x="7777558" y="3144378"/>
            <a:ext cx="0" cy="567171"/>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7745554" y="3112374"/>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flipV="1">
            <a:off x="7896968" y="2928165"/>
            <a:ext cx="0" cy="783384"/>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7864964" y="2896161"/>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flipV="1">
            <a:off x="8016378" y="3031059"/>
            <a:ext cx="0" cy="680490"/>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7984374" y="2999055"/>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flipV="1">
            <a:off x="8135788" y="3324318"/>
            <a:ext cx="0" cy="387231"/>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8103784" y="3292314"/>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flipV="1">
            <a:off x="8255198" y="3526332"/>
            <a:ext cx="0" cy="185217"/>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8223194" y="3494328"/>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flipV="1">
            <a:off x="8374608" y="3593055"/>
            <a:ext cx="0" cy="118494"/>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342604" y="3561051"/>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flipV="1">
            <a:off x="8494018" y="3604868"/>
            <a:ext cx="0" cy="106681"/>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8462014" y="3572864"/>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flipV="1">
            <a:off x="8613428" y="3606033"/>
            <a:ext cx="0" cy="105516"/>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8581424" y="3574029"/>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flipV="1">
            <a:off x="8732838" y="3606098"/>
            <a:ext cx="0" cy="105451"/>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8700834" y="3574094"/>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Isosceles Triangle 49"/>
          <p:cNvSpPr/>
          <p:nvPr/>
        </p:nvSpPr>
        <p:spPr>
          <a:xfrm>
            <a:off x="7828388" y="2763573"/>
            <a:ext cx="137160" cy="118872"/>
          </a:xfrm>
          <a:prstGeom prst="triangl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6702870" y="3711549"/>
            <a:ext cx="2029967"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7498397" y="4050791"/>
            <a:ext cx="548640" cy="115570"/>
          </a:xfrm>
          <a:prstGeom prst="rect">
            <a:avLst/>
          </a:prstGeom>
          <a:noFill/>
        </p:spPr>
        <p:txBody>
          <a:bodyPr wrap="square" lIns="0" tIns="0" rIns="0" bIns="0">
            <a:spAutoFit/>
          </a:bodyPr>
          <a:lstStyle/>
          <a:p>
            <a:pPr algn="ctr">
              <a:lnSpc>
                <a:spcPct val="105000"/>
              </a:lnSpc>
              <a:spcAft>
                <a:spcPts val="200"/>
              </a:spcAft>
              <a:defRPr sz="720" b="0">
                <a:solidFill>
                  <a:srgbClr val="64748B"/>
                </a:solidFill>
                <a:latin typeface="Noto Sans CJK SC"/>
              </a:defRPr>
            </a:pPr>
            <a:r>
              <a:t>粗 bin</a:t>
            </a:r>
          </a:p>
        </p:txBody>
      </p:sp>
      <p:sp>
        <p:nvSpPr>
          <p:cNvPr id="53" name="TextBox 52"/>
          <p:cNvSpPr txBox="1"/>
          <p:nvPr/>
        </p:nvSpPr>
        <p:spPr>
          <a:xfrm>
            <a:off x="9162606" y="2395728"/>
            <a:ext cx="2194560" cy="141605"/>
          </a:xfrm>
          <a:prstGeom prst="rect">
            <a:avLst/>
          </a:prstGeom>
          <a:noFill/>
        </p:spPr>
        <p:txBody>
          <a:bodyPr wrap="square" lIns="0" tIns="0" rIns="0" bIns="0">
            <a:spAutoFit/>
          </a:bodyPr>
          <a:lstStyle/>
          <a:p>
            <a:pPr algn="ctr">
              <a:lnSpc>
                <a:spcPct val="105000"/>
              </a:lnSpc>
              <a:spcAft>
                <a:spcPts val="200"/>
              </a:spcAft>
              <a:defRPr sz="880" b="1">
                <a:solidFill>
                  <a:srgbClr val="0E2A47"/>
                </a:solidFill>
                <a:latin typeface="Noto Sans CJK SC"/>
              </a:defRPr>
            </a:pPr>
            <a:r>
              <a:t>fft_length = N：补零后细 bin</a:t>
            </a:r>
          </a:p>
        </p:txBody>
      </p:sp>
      <p:sp>
        <p:nvSpPr>
          <p:cNvPr id="54" name="Rectangle 53"/>
          <p:cNvSpPr/>
          <p:nvPr/>
        </p:nvSpPr>
        <p:spPr>
          <a:xfrm>
            <a:off x="9034590" y="2606040"/>
            <a:ext cx="2304288" cy="1417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9171750"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06156"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240562"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274968"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309374"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343781"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378187"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9412593"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446999"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481406"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515812"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550218"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584624"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619031"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653437"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687843"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722249"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756656"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791062"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825468"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859874"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9894280"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928687"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963093"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997499"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031905"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0066312" y="3623673"/>
            <a:ext cx="34406" cy="2"/>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0100718" y="3623656"/>
            <a:ext cx="34406" cy="17"/>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0135124" y="3623512"/>
            <a:ext cx="34406" cy="144"/>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0169530" y="3622598"/>
            <a:ext cx="34407" cy="914"/>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0203937" y="3618085"/>
            <a:ext cx="34406" cy="4513"/>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0238343" y="3600858"/>
            <a:ext cx="34406" cy="17227"/>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0272749" y="3550395"/>
            <a:ext cx="34406" cy="50463"/>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0307155" y="3438496"/>
            <a:ext cx="34407" cy="111899"/>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341562" y="3255483"/>
            <a:ext cx="34406" cy="183013"/>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375968" y="3047658"/>
            <a:ext cx="34406" cy="207825"/>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0410374" y="2914630"/>
            <a:ext cx="34406" cy="133028"/>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0444780" y="2914630"/>
            <a:ext cx="34407" cy="22307"/>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0479187" y="2936937"/>
            <a:ext cx="34406" cy="163395"/>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0513593" y="3100332"/>
            <a:ext cx="34406" cy="209538"/>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0547999" y="3309870"/>
            <a:ext cx="34406" cy="165754"/>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0582405" y="3475624"/>
            <a:ext cx="34406" cy="93092"/>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0616811" y="3568716"/>
            <a:ext cx="34407" cy="38907"/>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10651218" y="3607623"/>
            <a:ext cx="34406" cy="12363"/>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10685624" y="3619986"/>
            <a:ext cx="34406" cy="3022"/>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0720030" y="3623008"/>
            <a:ext cx="34406" cy="572"/>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754436" y="3623580"/>
            <a:ext cx="34407" cy="85"/>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10788843" y="3623665"/>
            <a:ext cx="34406" cy="9"/>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823249" y="3623674"/>
            <a:ext cx="34406" cy="1"/>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10857655"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10892061"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10926468"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10960874"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10995280"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11029686"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11064093"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11098499"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1132905"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11167311"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sp>
        <p:nvSpPr>
          <p:cNvPr id="114" name="Isosceles Triangle 113"/>
          <p:cNvSpPr/>
          <p:nvPr/>
        </p:nvSpPr>
        <p:spPr>
          <a:xfrm>
            <a:off x="10371628" y="2740894"/>
            <a:ext cx="146304" cy="128016"/>
          </a:xfrm>
          <a:prstGeom prst="triangl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5" name="Connector 114"/>
          <p:cNvCxnSpPr/>
          <p:nvPr/>
        </p:nvCxnSpPr>
        <p:spPr>
          <a:xfrm>
            <a:off x="9171750" y="3711549"/>
            <a:ext cx="202996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830118" y="4050791"/>
            <a:ext cx="1143000" cy="115570"/>
          </a:xfrm>
          <a:prstGeom prst="rect">
            <a:avLst/>
          </a:prstGeom>
          <a:noFill/>
        </p:spPr>
        <p:txBody>
          <a:bodyPr wrap="square" lIns="0" tIns="0" rIns="0" bIns="0">
            <a:spAutoFit/>
          </a:bodyPr>
          <a:lstStyle/>
          <a:p>
            <a:pPr algn="ctr">
              <a:lnSpc>
                <a:spcPct val="105000"/>
              </a:lnSpc>
              <a:spcAft>
                <a:spcPts val="200"/>
              </a:spcAft>
              <a:defRPr sz="720" b="0">
                <a:solidFill>
                  <a:srgbClr val="64748B"/>
                </a:solidFill>
                <a:latin typeface="Noto Sans CJK SC"/>
              </a:defRPr>
            </a:pPr>
            <a:r>
              <a:t>投影仪像素坐标尺度</a:t>
            </a:r>
          </a:p>
        </p:txBody>
      </p:sp>
      <p:sp>
        <p:nvSpPr>
          <p:cNvPr id="117" name="Rounded Rectangle 116"/>
          <p:cNvSpPr/>
          <p:nvPr/>
        </p:nvSpPr>
        <p:spPr>
          <a:xfrm>
            <a:off x="6474270" y="4462272"/>
            <a:ext cx="4901184" cy="1024128"/>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675438" y="4672584"/>
            <a:ext cx="4443984" cy="419100"/>
          </a:xfrm>
          <a:prstGeom prst="rect">
            <a:avLst/>
          </a:prstGeom>
          <a:noFill/>
        </p:spPr>
        <p:txBody>
          <a:bodyPr wrap="square" lIns="0" tIns="0" rIns="0" bIns="0">
            <a:spAutoFit/>
          </a:bodyPr>
          <a:lstStyle/>
          <a:p>
            <a:pPr>
              <a:lnSpc>
                <a:spcPct val="105000"/>
              </a:lnSpc>
              <a:spcAft>
                <a:spcPts val="200"/>
              </a:spcAft>
              <a:defRPr sz="1220" b="0">
                <a:solidFill>
                  <a:srgbClr val="CBD5E1"/>
                </a:solidFill>
                <a:latin typeface="Noto Sans CJK SC"/>
              </a:defRPr>
            </a:pPr>
            <a:r>
              <a:t>左：bin 间距大，argmax 只能落在少数粗格点。</a:t>
            </a:r>
          </a:p>
          <a:p>
            <a:pPr>
              <a:lnSpc>
                <a:spcPct val="105000"/>
              </a:lnSpc>
              <a:spcAft>
                <a:spcPts val="200"/>
              </a:spcAft>
              <a:defRPr sz="1220" b="0">
                <a:solidFill>
                  <a:srgbClr val="CBD5E1"/>
                </a:solidFill>
                <a:latin typeface="Noto Sans CJK SC"/>
              </a:defRPr>
            </a:pPr>
            <a:r>
              <a:t>右：bin 间距变成 1 像素，argmax 可直接落到投影仪坐标尺度。</a:t>
            </a:r>
          </a:p>
        </p:txBody>
      </p:sp>
      <p:sp>
        <p:nvSpPr>
          <p:cNvPr id="119" name="TextBox 118"/>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120" name="TextBox 119"/>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121" name="TextBox 120"/>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27 / 49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补零在 numpy 里到底发生了什么</a:t>
            </a:r>
          </a:p>
        </p:txBody>
      </p:sp>
      <p:sp>
        <p:nvSpPr>
          <p:cNvPr id="5" name="TextBox 4"/>
          <p:cNvSpPr txBox="1"/>
          <p:nvPr/>
        </p:nvSpPr>
        <p:spPr>
          <a:xfrm>
            <a:off x="594678" y="1691640"/>
            <a:ext cx="1371600" cy="225425"/>
          </a:xfrm>
          <a:prstGeom prst="rect">
            <a:avLst/>
          </a:prstGeom>
          <a:noFill/>
        </p:spPr>
        <p:txBody>
          <a:bodyPr wrap="square" lIns="0" tIns="0" rIns="0" bIns="0">
            <a:spAutoFit/>
          </a:bodyPr>
          <a:lstStyle/>
          <a:p>
            <a:pPr>
              <a:lnSpc>
                <a:spcPct val="105000"/>
              </a:lnSpc>
              <a:spcAft>
                <a:spcPts val="200"/>
              </a:spcAft>
              <a:defRPr sz="1400" b="1">
                <a:solidFill>
                  <a:srgbClr val="0E7490"/>
                </a:solidFill>
                <a:latin typeface="Noto Sans CJK SC"/>
              </a:defRPr>
            </a:pPr>
            <a:r>
              <a:t>调用方式</a:t>
            </a:r>
          </a:p>
        </p:txBody>
      </p:sp>
      <p:sp>
        <p:nvSpPr>
          <p:cNvPr id="6" name="Rounded Rectangle 5"/>
          <p:cNvSpPr/>
          <p:nvPr/>
        </p:nvSpPr>
        <p:spPr>
          <a:xfrm>
            <a:off x="594678" y="2011680"/>
            <a:ext cx="40690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846" y="2176272"/>
            <a:ext cx="3666744"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N &gt; len(D)=M 时</a:t>
            </a:r>
          </a:p>
        </p:txBody>
      </p:sp>
      <p:sp>
        <p:nvSpPr>
          <p:cNvPr id="8" name="TextBox 7"/>
          <p:cNvSpPr txBox="1"/>
          <p:nvPr/>
        </p:nvSpPr>
        <p:spPr>
          <a:xfrm>
            <a:off x="795846" y="2481707"/>
            <a:ext cx="3666744" cy="257810"/>
          </a:xfrm>
          <a:prstGeom prst="rect">
            <a:avLst/>
          </a:prstGeom>
          <a:noFill/>
        </p:spPr>
        <p:txBody>
          <a:bodyPr wrap="square" lIns="0" tIns="0" rIns="0" bIns="0" anchor="ctr">
            <a:spAutoFit/>
          </a:bodyPr>
          <a:lstStyle/>
          <a:p>
            <a:pPr algn="ctr">
              <a:lnSpc>
                <a:spcPct val="105000"/>
              </a:lnSpc>
              <a:spcAft>
                <a:spcPts val="200"/>
              </a:spcAft>
              <a:defRPr sz="1600" b="1">
                <a:solidFill>
                  <a:srgbClr val="0E2A47"/>
                </a:solidFill>
                <a:latin typeface="DejaVu Sans Mono"/>
              </a:defRPr>
            </a:pPr>
            <a:r>
              <a:t>np.fft.fft(D, n=N)</a:t>
            </a:r>
          </a:p>
        </p:txBody>
      </p:sp>
      <p:sp>
        <p:nvSpPr>
          <p:cNvPr id="9" name="TextBox 8"/>
          <p:cNvSpPr txBox="1"/>
          <p:nvPr/>
        </p:nvSpPr>
        <p:spPr>
          <a:xfrm>
            <a:off x="594678" y="3246120"/>
            <a:ext cx="4389120" cy="241300"/>
          </a:xfrm>
          <a:prstGeom prst="rect">
            <a:avLst/>
          </a:prstGeom>
          <a:noFill/>
        </p:spPr>
        <p:txBody>
          <a:bodyPr wrap="square" lIns="0" tIns="0" rIns="0" bIns="0">
            <a:spAutoFit/>
          </a:bodyPr>
          <a:lstStyle/>
          <a:p>
            <a:pPr>
              <a:lnSpc>
                <a:spcPct val="105000"/>
              </a:lnSpc>
              <a:spcAft>
                <a:spcPts val="200"/>
              </a:spcAft>
              <a:defRPr sz="1500" b="1">
                <a:solidFill>
                  <a:srgbClr val="0E2A47"/>
                </a:solidFill>
                <a:latin typeface="Noto Sans CJK SC"/>
              </a:defRPr>
            </a:pPr>
            <a:r>
              <a:t>numpy 会把长度 M 的序列临时扩展为长度 N：</a:t>
            </a:r>
          </a:p>
        </p:txBody>
      </p:sp>
      <p:sp>
        <p:nvSpPr>
          <p:cNvPr id="10" name="Rounded Rectangle 9"/>
          <p:cNvSpPr/>
          <p:nvPr/>
        </p:nvSpPr>
        <p:spPr>
          <a:xfrm>
            <a:off x="594678" y="3675887"/>
            <a:ext cx="5120640" cy="153619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989" y="3977639"/>
            <a:ext cx="4663440" cy="241300"/>
          </a:xfrm>
          <a:prstGeom prst="rect">
            <a:avLst/>
          </a:prstGeom>
          <a:noFill/>
        </p:spPr>
        <p:txBody>
          <a:bodyPr wrap="square" lIns="0" tIns="0" rIns="0" bIns="0">
            <a:spAutoFit/>
          </a:bodyPr>
          <a:lstStyle/>
          <a:p>
            <a:pPr algn="ctr">
              <a:lnSpc>
                <a:spcPct val="105000"/>
              </a:lnSpc>
              <a:spcAft>
                <a:spcPts val="200"/>
              </a:spcAft>
              <a:defRPr sz="1500" b="1">
                <a:solidFill>
                  <a:srgbClr val="0E2A47"/>
                </a:solidFill>
                <a:latin typeface="DejaVu Sans Mono"/>
              </a:defRPr>
            </a:pPr>
            <a:r>
              <a:t>D_padded = [D[0], D[1], …, D[M−1], 0, 0, …, 0]</a:t>
            </a:r>
          </a:p>
        </p:txBody>
      </p:sp>
      <p:sp>
        <p:nvSpPr>
          <p:cNvPr id="12" name="TextBox 11"/>
          <p:cNvSpPr txBox="1"/>
          <p:nvPr/>
        </p:nvSpPr>
        <p:spPr>
          <a:xfrm>
            <a:off x="804989" y="4599432"/>
            <a:ext cx="4663440" cy="201295"/>
          </a:xfrm>
          <a:prstGeom prst="rect">
            <a:avLst/>
          </a:prstGeom>
          <a:noFill/>
        </p:spPr>
        <p:txBody>
          <a:bodyPr wrap="square" lIns="0" tIns="0" rIns="0" bIns="0">
            <a:spAutoFit/>
          </a:bodyPr>
          <a:lstStyle/>
          <a:p>
            <a:pPr algn="ctr">
              <a:lnSpc>
                <a:spcPct val="105000"/>
              </a:lnSpc>
              <a:spcAft>
                <a:spcPts val="200"/>
              </a:spcAft>
              <a:defRPr sz="1250" b="1">
                <a:solidFill>
                  <a:srgbClr val="EF4444"/>
                </a:solidFill>
                <a:latin typeface="Noto Sans CJK SC"/>
              </a:defRPr>
            </a:pPr>
            <a:r>
              <a:t>注意：这是 FFT 计算内部的补零；不是新增测量数据。</a:t>
            </a:r>
          </a:p>
        </p:txBody>
      </p:sp>
      <p:sp>
        <p:nvSpPr>
          <p:cNvPr id="13" name="Rounded Rectangle 12"/>
          <p:cNvSpPr/>
          <p:nvPr/>
        </p:nvSpPr>
        <p:spPr>
          <a:xfrm>
            <a:off x="6126798" y="1719072"/>
            <a:ext cx="53492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398" y="1993392"/>
            <a:ext cx="2377440" cy="212725"/>
          </a:xfrm>
          <a:prstGeom prst="rect">
            <a:avLst/>
          </a:prstGeom>
          <a:noFill/>
        </p:spPr>
        <p:txBody>
          <a:bodyPr wrap="square" lIns="0" tIns="0" rIns="0" bIns="0">
            <a:spAutoFit/>
          </a:bodyPr>
          <a:lstStyle/>
          <a:p>
            <a:pPr>
              <a:lnSpc>
                <a:spcPct val="105000"/>
              </a:lnSpc>
              <a:spcAft>
                <a:spcPts val="200"/>
              </a:spcAft>
              <a:defRPr sz="1320" b="1">
                <a:solidFill>
                  <a:srgbClr val="0E2A47"/>
                </a:solidFill>
                <a:latin typeface="Noto Sans CJK SC"/>
              </a:defRPr>
            </a:pPr>
            <a:r>
              <a:t>原始序列：M 个复数样本</a:t>
            </a:r>
          </a:p>
        </p:txBody>
      </p:sp>
      <p:sp>
        <p:nvSpPr>
          <p:cNvPr id="15" name="Rounded Rectangle 14"/>
          <p:cNvSpPr/>
          <p:nvPr/>
        </p:nvSpPr>
        <p:spPr>
          <a:xfrm>
            <a:off x="6446838"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838"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D[0]</a:t>
            </a:r>
          </a:p>
        </p:txBody>
      </p:sp>
      <p:sp>
        <p:nvSpPr>
          <p:cNvPr id="17" name="Rounded Rectangle 16"/>
          <p:cNvSpPr/>
          <p:nvPr/>
        </p:nvSpPr>
        <p:spPr>
          <a:xfrm>
            <a:off x="7199694"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99694"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D[1]</a:t>
            </a:r>
          </a:p>
        </p:txBody>
      </p:sp>
      <p:sp>
        <p:nvSpPr>
          <p:cNvPr id="19" name="Rounded Rectangle 18"/>
          <p:cNvSpPr/>
          <p:nvPr/>
        </p:nvSpPr>
        <p:spPr>
          <a:xfrm>
            <a:off x="7952550"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2550"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D[2]</a:t>
            </a:r>
          </a:p>
        </p:txBody>
      </p:sp>
      <p:sp>
        <p:nvSpPr>
          <p:cNvPr id="21" name="Rounded Rectangle 20"/>
          <p:cNvSpPr/>
          <p:nvPr/>
        </p:nvSpPr>
        <p:spPr>
          <a:xfrm>
            <a:off x="8705406"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05406"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D[3]</a:t>
            </a:r>
          </a:p>
        </p:txBody>
      </p:sp>
      <p:sp>
        <p:nvSpPr>
          <p:cNvPr id="23" name="Rounded Rectangle 22"/>
          <p:cNvSpPr/>
          <p:nvPr/>
        </p:nvSpPr>
        <p:spPr>
          <a:xfrm>
            <a:off x="9458262"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58262"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D[4]</a:t>
            </a:r>
          </a:p>
        </p:txBody>
      </p:sp>
      <p:sp>
        <p:nvSpPr>
          <p:cNvPr id="25" name="Rounded Rectangle 24"/>
          <p:cNvSpPr/>
          <p:nvPr/>
        </p:nvSpPr>
        <p:spPr>
          <a:xfrm>
            <a:off x="10211118"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11118"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D[5]</a:t>
            </a:r>
          </a:p>
        </p:txBody>
      </p:sp>
      <p:sp>
        <p:nvSpPr>
          <p:cNvPr id="27" name="TextBox 26"/>
          <p:cNvSpPr txBox="1"/>
          <p:nvPr/>
        </p:nvSpPr>
        <p:spPr>
          <a:xfrm>
            <a:off x="10150158" y="2871216"/>
            <a:ext cx="731520" cy="153035"/>
          </a:xfrm>
          <a:prstGeom prst="rect">
            <a:avLst/>
          </a:prstGeom>
          <a:noFill/>
        </p:spPr>
        <p:txBody>
          <a:bodyPr wrap="square" lIns="0" tIns="0" rIns="0" bIns="0">
            <a:spAutoFit/>
          </a:bodyPr>
          <a:lstStyle/>
          <a:p>
            <a:pPr algn="ctr">
              <a:lnSpc>
                <a:spcPct val="105000"/>
              </a:lnSpc>
              <a:spcAft>
                <a:spcPts val="200"/>
              </a:spcAft>
              <a:defRPr sz="950" b="0">
                <a:solidFill>
                  <a:srgbClr val="0E7490"/>
                </a:solidFill>
                <a:latin typeface="DejaVu Sans Mono"/>
              </a:defRPr>
            </a:pPr>
            <a:r>
              <a:t>长度 M</a:t>
            </a:r>
          </a:p>
        </p:txBody>
      </p:sp>
      <p:cxnSp>
        <p:nvCxnSpPr>
          <p:cNvPr id="28" name="Connector 27"/>
          <p:cNvCxnSpPr/>
          <p:nvPr/>
        </p:nvCxnSpPr>
        <p:spPr>
          <a:xfrm>
            <a:off x="8668830" y="3063240"/>
            <a:ext cx="0" cy="457200"/>
          </a:xfrm>
          <a:prstGeom prst="line">
            <a:avLst/>
          </a:prstGeom>
          <a:ln w="17780">
            <a:solidFill>
              <a:srgbClr val="0E749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824278" y="3218688"/>
            <a:ext cx="548640" cy="160655"/>
          </a:xfrm>
          <a:prstGeom prst="rect">
            <a:avLst/>
          </a:prstGeom>
          <a:noFill/>
        </p:spPr>
        <p:txBody>
          <a:bodyPr wrap="square" lIns="0" tIns="0" rIns="0" bIns="0">
            <a:spAutoFit/>
          </a:bodyPr>
          <a:lstStyle/>
          <a:p>
            <a:pPr>
              <a:lnSpc>
                <a:spcPct val="105000"/>
              </a:lnSpc>
              <a:spcAft>
                <a:spcPts val="200"/>
              </a:spcAft>
              <a:defRPr sz="1000" b="1">
                <a:solidFill>
                  <a:srgbClr val="0E7490"/>
                </a:solidFill>
                <a:latin typeface="DejaVu Sans Mono"/>
              </a:defRPr>
            </a:pPr>
            <a:r>
              <a:t>n = N</a:t>
            </a:r>
          </a:p>
        </p:txBody>
      </p:sp>
      <p:sp>
        <p:nvSpPr>
          <p:cNvPr id="30" name="TextBox 29"/>
          <p:cNvSpPr txBox="1"/>
          <p:nvPr/>
        </p:nvSpPr>
        <p:spPr>
          <a:xfrm>
            <a:off x="6355398" y="3767328"/>
            <a:ext cx="2743200" cy="212725"/>
          </a:xfrm>
          <a:prstGeom prst="rect">
            <a:avLst/>
          </a:prstGeom>
          <a:noFill/>
        </p:spPr>
        <p:txBody>
          <a:bodyPr wrap="square" lIns="0" tIns="0" rIns="0" bIns="0">
            <a:spAutoFit/>
          </a:bodyPr>
          <a:lstStyle/>
          <a:p>
            <a:pPr>
              <a:lnSpc>
                <a:spcPct val="105000"/>
              </a:lnSpc>
              <a:spcAft>
                <a:spcPts val="200"/>
              </a:spcAft>
              <a:defRPr sz="1320" b="1">
                <a:solidFill>
                  <a:srgbClr val="0E2A47"/>
                </a:solidFill>
                <a:latin typeface="Noto Sans CJK SC"/>
              </a:defRPr>
            </a:pPr>
            <a:r>
              <a:t>补零后参与 DFT 的序列</a:t>
            </a:r>
          </a:p>
        </p:txBody>
      </p:sp>
      <p:sp>
        <p:nvSpPr>
          <p:cNvPr id="31" name="Rounded Rectangle 30"/>
          <p:cNvSpPr/>
          <p:nvPr/>
        </p:nvSpPr>
        <p:spPr>
          <a:xfrm>
            <a:off x="6446838"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838"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D[0]</a:t>
            </a:r>
          </a:p>
        </p:txBody>
      </p:sp>
      <p:sp>
        <p:nvSpPr>
          <p:cNvPr id="33" name="Rounded Rectangle 32"/>
          <p:cNvSpPr/>
          <p:nvPr/>
        </p:nvSpPr>
        <p:spPr>
          <a:xfrm>
            <a:off x="6823265"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23265"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D[1]</a:t>
            </a:r>
          </a:p>
        </p:txBody>
      </p:sp>
      <p:sp>
        <p:nvSpPr>
          <p:cNvPr id="35" name="Rounded Rectangle 34"/>
          <p:cNvSpPr/>
          <p:nvPr/>
        </p:nvSpPr>
        <p:spPr>
          <a:xfrm>
            <a:off x="7199694"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99694"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D[2]</a:t>
            </a:r>
          </a:p>
        </p:txBody>
      </p:sp>
      <p:sp>
        <p:nvSpPr>
          <p:cNvPr id="37" name="Rounded Rectangle 36"/>
          <p:cNvSpPr/>
          <p:nvPr/>
        </p:nvSpPr>
        <p:spPr>
          <a:xfrm>
            <a:off x="7576122"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6122"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D[3]</a:t>
            </a:r>
          </a:p>
        </p:txBody>
      </p:sp>
      <p:sp>
        <p:nvSpPr>
          <p:cNvPr id="39" name="Rounded Rectangle 38"/>
          <p:cNvSpPr/>
          <p:nvPr/>
        </p:nvSpPr>
        <p:spPr>
          <a:xfrm>
            <a:off x="7952549"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52549"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D[4]</a:t>
            </a:r>
          </a:p>
        </p:txBody>
      </p:sp>
      <p:sp>
        <p:nvSpPr>
          <p:cNvPr id="41" name="Rounded Rectangle 40"/>
          <p:cNvSpPr/>
          <p:nvPr/>
        </p:nvSpPr>
        <p:spPr>
          <a:xfrm>
            <a:off x="8328977"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28977"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D[5]</a:t>
            </a:r>
          </a:p>
        </p:txBody>
      </p:sp>
      <p:sp>
        <p:nvSpPr>
          <p:cNvPr id="43" name="Rounded Rectangle 42"/>
          <p:cNvSpPr/>
          <p:nvPr/>
        </p:nvSpPr>
        <p:spPr>
          <a:xfrm>
            <a:off x="8705406"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05406"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45" name="Rounded Rectangle 44"/>
          <p:cNvSpPr/>
          <p:nvPr/>
        </p:nvSpPr>
        <p:spPr>
          <a:xfrm>
            <a:off x="9081834"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81834"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47" name="Rounded Rectangle 46"/>
          <p:cNvSpPr/>
          <p:nvPr/>
        </p:nvSpPr>
        <p:spPr>
          <a:xfrm>
            <a:off x="9458262"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458262"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49" name="Rounded Rectangle 48"/>
          <p:cNvSpPr/>
          <p:nvPr/>
        </p:nvSpPr>
        <p:spPr>
          <a:xfrm>
            <a:off x="9834690"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34690"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51" name="Rounded Rectangle 50"/>
          <p:cNvSpPr/>
          <p:nvPr/>
        </p:nvSpPr>
        <p:spPr>
          <a:xfrm>
            <a:off x="10211118"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211118"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53" name="Rounded Rectangle 52"/>
          <p:cNvSpPr/>
          <p:nvPr/>
        </p:nvSpPr>
        <p:spPr>
          <a:xfrm>
            <a:off x="10587546"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587546"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55" name="TextBox 54"/>
          <p:cNvSpPr txBox="1"/>
          <p:nvPr/>
        </p:nvSpPr>
        <p:spPr>
          <a:xfrm>
            <a:off x="10150158" y="4645152"/>
            <a:ext cx="731520" cy="153035"/>
          </a:xfrm>
          <a:prstGeom prst="rect">
            <a:avLst/>
          </a:prstGeom>
          <a:noFill/>
        </p:spPr>
        <p:txBody>
          <a:bodyPr wrap="square" lIns="0" tIns="0" rIns="0" bIns="0">
            <a:spAutoFit/>
          </a:bodyPr>
          <a:lstStyle/>
          <a:p>
            <a:pPr algn="ctr">
              <a:lnSpc>
                <a:spcPct val="105000"/>
              </a:lnSpc>
              <a:spcAft>
                <a:spcPts val="200"/>
              </a:spcAft>
              <a:defRPr sz="950" b="0">
                <a:solidFill>
                  <a:srgbClr val="0E7490"/>
                </a:solidFill>
                <a:latin typeface="DejaVu Sans Mono"/>
              </a:defRPr>
            </a:pPr>
            <a:r>
              <a:t>长度 N</a:t>
            </a:r>
          </a:p>
        </p:txBody>
      </p:sp>
      <p:sp>
        <p:nvSpPr>
          <p:cNvPr id="56" name="TextBox 55"/>
          <p:cNvSpPr txBox="1"/>
          <p:nvPr/>
        </p:nvSpPr>
        <p:spPr>
          <a:xfrm>
            <a:off x="6446838" y="5074920"/>
            <a:ext cx="4663440" cy="198120"/>
          </a:xfrm>
          <a:prstGeom prst="rect">
            <a:avLst/>
          </a:prstGeom>
          <a:noFill/>
        </p:spPr>
        <p:txBody>
          <a:bodyPr wrap="square" lIns="0" tIns="0" rIns="0" bIns="0">
            <a:spAutoFit/>
          </a:bodyPr>
          <a:lstStyle/>
          <a:p>
            <a:pPr>
              <a:lnSpc>
                <a:spcPct val="105000"/>
              </a:lnSpc>
              <a:spcAft>
                <a:spcPts val="200"/>
              </a:spcAft>
              <a:defRPr sz="1230" b="0">
                <a:solidFill>
                  <a:srgbClr val="64748B"/>
                </a:solidFill>
                <a:latin typeface="Noto Sans CJK SC"/>
              </a:defRPr>
            </a:pPr>
            <a:r>
              <a:t>前 M 项保留；后 N−M 项全部是 0。FFT 输出也因此有 N 个 bin。</a:t>
            </a:r>
          </a:p>
        </p:txBody>
      </p:sp>
      <p:sp>
        <p:nvSpPr>
          <p:cNvPr id="57" name="TextBox 56"/>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58" name="TextBox 57"/>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59" name="TextBox 58"/>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28 / 49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DFT 长度 L 决定“分析频率网格”</a:t>
            </a:r>
          </a:p>
        </p:txBody>
      </p:sp>
      <p:sp>
        <p:nvSpPr>
          <p:cNvPr id="5" name="TextBox 4"/>
          <p:cNvSpPr txBox="1"/>
          <p:nvPr/>
        </p:nvSpPr>
        <p:spPr>
          <a:xfrm>
            <a:off x="594678" y="1600200"/>
            <a:ext cx="6583680" cy="257810"/>
          </a:xfrm>
          <a:prstGeom prst="rect">
            <a:avLst/>
          </a:prstGeom>
          <a:noFill/>
        </p:spPr>
        <p:txBody>
          <a:bodyPr wrap="square" lIns="0" tIns="0" rIns="0" bIns="0">
            <a:spAutoFit/>
          </a:bodyPr>
          <a:lstStyle/>
          <a:p>
            <a:pPr>
              <a:lnSpc>
                <a:spcPct val="105000"/>
              </a:lnSpc>
              <a:spcAft>
                <a:spcPts val="200"/>
              </a:spcAft>
              <a:defRPr sz="1600" b="1">
                <a:solidFill>
                  <a:srgbClr val="0E2A47"/>
                </a:solidFill>
                <a:latin typeface="Noto Sans CJK SC"/>
              </a:defRPr>
            </a:pPr>
            <a:r>
              <a:t>核心概念：数据长度 M 与 FFT 长度 L 是两个角色</a:t>
            </a:r>
          </a:p>
        </p:txBody>
      </p:sp>
      <p:sp>
        <p:nvSpPr>
          <p:cNvPr id="6" name="Rounded Rectangle 5"/>
          <p:cNvSpPr/>
          <p:nvPr/>
        </p:nvSpPr>
        <p:spPr>
          <a:xfrm>
            <a:off x="594678" y="2057400"/>
            <a:ext cx="5212080" cy="1143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566" y="2267712"/>
            <a:ext cx="1371600" cy="225425"/>
          </a:xfrm>
          <a:prstGeom prst="rect">
            <a:avLst/>
          </a:prstGeom>
          <a:noFill/>
        </p:spPr>
        <p:txBody>
          <a:bodyPr wrap="square" lIns="0" tIns="0" rIns="0" bIns="0">
            <a:spAutoFit/>
          </a:bodyPr>
          <a:lstStyle/>
          <a:p>
            <a:pPr>
              <a:lnSpc>
                <a:spcPct val="105000"/>
              </a:lnSpc>
              <a:spcAft>
                <a:spcPts val="200"/>
              </a:spcAft>
              <a:defRPr sz="1400" b="1">
                <a:solidFill>
                  <a:srgbClr val="0E7490"/>
                </a:solidFill>
                <a:latin typeface="Noto Sans CJK SC"/>
              </a:defRPr>
            </a:pPr>
            <a:r>
              <a:t>数据长度 M</a:t>
            </a:r>
          </a:p>
        </p:txBody>
      </p:sp>
      <p:sp>
        <p:nvSpPr>
          <p:cNvPr id="8" name="TextBox 7"/>
          <p:cNvSpPr txBox="1"/>
          <p:nvPr/>
        </p:nvSpPr>
        <p:spPr>
          <a:xfrm>
            <a:off x="2057718" y="2295144"/>
            <a:ext cx="3383280" cy="212725"/>
          </a:xfrm>
          <a:prstGeom prst="rect">
            <a:avLst/>
          </a:prstGeom>
          <a:noFill/>
        </p:spPr>
        <p:txBody>
          <a:bodyPr wrap="square" lIns="0" tIns="0" rIns="0" bIns="0">
            <a:spAutoFit/>
          </a:bodyPr>
          <a:lstStyle/>
          <a:p>
            <a:pPr>
              <a:lnSpc>
                <a:spcPct val="105000"/>
              </a:lnSpc>
              <a:spcAft>
                <a:spcPts val="200"/>
              </a:spcAft>
              <a:defRPr sz="1320" b="0">
                <a:solidFill>
                  <a:srgbClr val="0E2A47"/>
                </a:solidFill>
                <a:latin typeface="Noto Sans CJK SC"/>
              </a:defRPr>
            </a:pPr>
            <a:r>
              <a:t>决定你原始测到了多少信息：D[0] … D[M−1]</a:t>
            </a:r>
          </a:p>
        </p:txBody>
      </p:sp>
      <p:sp>
        <p:nvSpPr>
          <p:cNvPr id="9" name="Rounded Rectangle 8"/>
          <p:cNvSpPr/>
          <p:nvPr/>
        </p:nvSpPr>
        <p:spPr>
          <a:xfrm>
            <a:off x="594678" y="3456432"/>
            <a:ext cx="5212080" cy="1143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566" y="3666744"/>
            <a:ext cx="1371600" cy="225425"/>
          </a:xfrm>
          <a:prstGeom prst="rect">
            <a:avLst/>
          </a:prstGeom>
          <a:noFill/>
        </p:spPr>
        <p:txBody>
          <a:bodyPr wrap="square" lIns="0" tIns="0" rIns="0" bIns="0">
            <a:spAutoFit/>
          </a:bodyPr>
          <a:lstStyle/>
          <a:p>
            <a:pPr>
              <a:lnSpc>
                <a:spcPct val="105000"/>
              </a:lnSpc>
              <a:spcAft>
                <a:spcPts val="200"/>
              </a:spcAft>
              <a:defRPr sz="1400" b="1">
                <a:solidFill>
                  <a:srgbClr val="F59E0B"/>
                </a:solidFill>
                <a:latin typeface="Noto Sans CJK SC"/>
              </a:defRPr>
            </a:pPr>
            <a:r>
              <a:t>FFT 长度 L</a:t>
            </a:r>
          </a:p>
        </p:txBody>
      </p:sp>
      <p:sp>
        <p:nvSpPr>
          <p:cNvPr id="11" name="TextBox 10"/>
          <p:cNvSpPr txBox="1"/>
          <p:nvPr/>
        </p:nvSpPr>
        <p:spPr>
          <a:xfrm>
            <a:off x="2057718" y="3694176"/>
            <a:ext cx="3383280" cy="212725"/>
          </a:xfrm>
          <a:prstGeom prst="rect">
            <a:avLst/>
          </a:prstGeom>
          <a:noFill/>
        </p:spPr>
        <p:txBody>
          <a:bodyPr wrap="square" lIns="0" tIns="0" rIns="0" bIns="0">
            <a:spAutoFit/>
          </a:bodyPr>
          <a:lstStyle/>
          <a:p>
            <a:pPr>
              <a:lnSpc>
                <a:spcPct val="105000"/>
              </a:lnSpc>
              <a:spcAft>
                <a:spcPts val="200"/>
              </a:spcAft>
              <a:defRPr sz="1320" b="0">
                <a:solidFill>
                  <a:srgbClr val="0E2A47"/>
                </a:solidFill>
                <a:latin typeface="Noto Sans CJK SC"/>
              </a:defRPr>
            </a:pPr>
            <a:r>
              <a:rPr>
                <a:solidFill>
                  <a:srgbClr val="FF0000"/>
                </a:solidFill>
              </a:rPr>
              <a:t>决定在哪些频率位置求值</a:t>
            </a:r>
            <a:r>
              <a:t>：q/L，q=0…L−1</a:t>
            </a:r>
          </a:p>
        </p:txBody>
      </p:sp>
      <p:sp>
        <p:nvSpPr>
          <p:cNvPr id="12" name="Rounded Rectangle 11"/>
          <p:cNvSpPr/>
          <p:nvPr/>
        </p:nvSpPr>
        <p:spPr>
          <a:xfrm>
            <a:off x="6263958" y="1700784"/>
            <a:ext cx="516636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5124" y="1865376"/>
            <a:ext cx="4764024"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DFT 输出的 bin</a:t>
            </a:r>
          </a:p>
        </p:txBody>
      </p:sp>
      <p:sp>
        <p:nvSpPr>
          <p:cNvPr id="14" name="TextBox 13"/>
          <p:cNvSpPr txBox="1"/>
          <p:nvPr/>
        </p:nvSpPr>
        <p:spPr>
          <a:xfrm>
            <a:off x="6465124" y="2257171"/>
            <a:ext cx="4764024" cy="542290"/>
          </a:xfrm>
          <a:prstGeom prst="rect">
            <a:avLst/>
          </a:prstGeom>
          <a:noFill/>
        </p:spPr>
        <p:txBody>
          <a:bodyPr wrap="square" lIns="0" tIns="0" rIns="0" bIns="0" anchor="ctr">
            <a:spAutoFit/>
          </a:bodyPr>
          <a:lstStyle/>
          <a:p>
            <a:pPr algn="ctr">
              <a:lnSpc>
                <a:spcPct val="105000"/>
              </a:lnSpc>
              <a:spcAft>
                <a:spcPts val="200"/>
              </a:spcAft>
              <a:defRPr sz="1600" b="1">
                <a:solidFill>
                  <a:srgbClr val="0E2A47"/>
                </a:solidFill>
                <a:latin typeface="DejaVu Sans Mono"/>
              </a:defRPr>
            </a:pPr>
            <a:r>
              <a:t>C[q] = Σ D_padded[k] · e^(−j·2π·q·k/L)</a:t>
            </a:r>
          </a:p>
          <a:p>
            <a:pPr algn="ctr">
              <a:lnSpc>
                <a:spcPct val="105000"/>
              </a:lnSpc>
              <a:spcAft>
                <a:spcPts val="200"/>
              </a:spcAft>
              <a:defRPr sz="1600" b="1">
                <a:solidFill>
                  <a:srgbClr val="0E2A47"/>
                </a:solidFill>
                <a:latin typeface="DejaVu Sans Mono"/>
              </a:defRPr>
            </a:pPr>
            <a:r>
              <a:t>q = 0, 1, …, L−1</a:t>
            </a:r>
          </a:p>
        </p:txBody>
      </p:sp>
      <p:sp>
        <p:nvSpPr>
          <p:cNvPr id="15" name="Rounded Rectangle 14"/>
          <p:cNvSpPr/>
          <p:nvPr/>
        </p:nvSpPr>
        <p:spPr>
          <a:xfrm>
            <a:off x="6263958" y="3429000"/>
            <a:ext cx="516636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558" y="3639312"/>
            <a:ext cx="4480560" cy="241300"/>
          </a:xfrm>
          <a:prstGeom prst="rect">
            <a:avLst/>
          </a:prstGeom>
          <a:noFill/>
        </p:spPr>
        <p:txBody>
          <a:bodyPr wrap="square" lIns="0" tIns="0" rIns="0" bIns="0">
            <a:spAutoFit/>
          </a:bodyPr>
          <a:lstStyle/>
          <a:p>
            <a:pPr>
              <a:lnSpc>
                <a:spcPct val="105000"/>
              </a:lnSpc>
              <a:spcAft>
                <a:spcPts val="200"/>
              </a:spcAft>
              <a:defRPr sz="1500" b="1">
                <a:solidFill>
                  <a:srgbClr val="EF4444"/>
                </a:solidFill>
                <a:latin typeface="Noto Sans CJK SC"/>
              </a:defRPr>
            </a:pPr>
            <a:r>
              <a:t>bin 编号不是 0 到 L，而是 0 到 L−1</a:t>
            </a:r>
          </a:p>
        </p:txBody>
      </p:sp>
      <p:cxnSp>
        <p:nvCxnSpPr>
          <p:cNvPr id="17" name="Connector 16"/>
          <p:cNvCxnSpPr/>
          <p:nvPr/>
        </p:nvCxnSpPr>
        <p:spPr>
          <a:xfrm>
            <a:off x="6629718" y="4315968"/>
            <a:ext cx="4315967" cy="0"/>
          </a:xfrm>
          <a:prstGeom prst="line">
            <a:avLst/>
          </a:prstGeom>
          <a:ln w="1524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629718"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92558"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0</a:t>
            </a:r>
          </a:p>
        </p:txBody>
      </p:sp>
      <p:cxnSp>
        <p:nvCxnSpPr>
          <p:cNvPr id="20" name="Connector 19"/>
          <p:cNvCxnSpPr/>
          <p:nvPr/>
        </p:nvCxnSpPr>
        <p:spPr>
          <a:xfrm>
            <a:off x="7022078"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84918"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1</a:t>
            </a:r>
          </a:p>
        </p:txBody>
      </p:sp>
      <p:cxnSp>
        <p:nvCxnSpPr>
          <p:cNvPr id="22" name="Connector 21"/>
          <p:cNvCxnSpPr/>
          <p:nvPr/>
        </p:nvCxnSpPr>
        <p:spPr>
          <a:xfrm>
            <a:off x="7414439"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277279"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2</a:t>
            </a:r>
          </a:p>
        </p:txBody>
      </p:sp>
      <p:cxnSp>
        <p:nvCxnSpPr>
          <p:cNvPr id="24" name="Connector 23"/>
          <p:cNvCxnSpPr/>
          <p:nvPr/>
        </p:nvCxnSpPr>
        <p:spPr>
          <a:xfrm>
            <a:off x="7806800"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669640"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3</a:t>
            </a:r>
          </a:p>
        </p:txBody>
      </p:sp>
      <p:cxnSp>
        <p:nvCxnSpPr>
          <p:cNvPr id="26" name="Connector 25"/>
          <p:cNvCxnSpPr/>
          <p:nvPr/>
        </p:nvCxnSpPr>
        <p:spPr>
          <a:xfrm>
            <a:off x="8199160"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062000"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4</a:t>
            </a:r>
          </a:p>
        </p:txBody>
      </p:sp>
      <p:cxnSp>
        <p:nvCxnSpPr>
          <p:cNvPr id="28" name="Connector 27"/>
          <p:cNvCxnSpPr/>
          <p:nvPr/>
        </p:nvCxnSpPr>
        <p:spPr>
          <a:xfrm>
            <a:off x="8591521"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454361"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5</a:t>
            </a:r>
          </a:p>
        </p:txBody>
      </p:sp>
      <p:cxnSp>
        <p:nvCxnSpPr>
          <p:cNvPr id="30" name="Connector 29"/>
          <p:cNvCxnSpPr/>
          <p:nvPr/>
        </p:nvCxnSpPr>
        <p:spPr>
          <a:xfrm>
            <a:off x="8983882"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846722"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6</a:t>
            </a:r>
          </a:p>
        </p:txBody>
      </p:sp>
      <p:cxnSp>
        <p:nvCxnSpPr>
          <p:cNvPr id="32" name="Connector 31"/>
          <p:cNvCxnSpPr/>
          <p:nvPr/>
        </p:nvCxnSpPr>
        <p:spPr>
          <a:xfrm>
            <a:off x="9376243"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239083"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7</a:t>
            </a:r>
          </a:p>
        </p:txBody>
      </p:sp>
      <p:cxnSp>
        <p:nvCxnSpPr>
          <p:cNvPr id="34" name="Connector 33"/>
          <p:cNvCxnSpPr/>
          <p:nvPr/>
        </p:nvCxnSpPr>
        <p:spPr>
          <a:xfrm>
            <a:off x="9768603"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631443"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8</a:t>
            </a:r>
          </a:p>
        </p:txBody>
      </p:sp>
      <p:cxnSp>
        <p:nvCxnSpPr>
          <p:cNvPr id="36" name="Connector 35"/>
          <p:cNvCxnSpPr/>
          <p:nvPr/>
        </p:nvCxnSpPr>
        <p:spPr>
          <a:xfrm>
            <a:off x="10160964"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0023804"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9</a:t>
            </a:r>
          </a:p>
        </p:txBody>
      </p:sp>
      <p:cxnSp>
        <p:nvCxnSpPr>
          <p:cNvPr id="38" name="Connector 37"/>
          <p:cNvCxnSpPr/>
          <p:nvPr/>
        </p:nvCxnSpPr>
        <p:spPr>
          <a:xfrm>
            <a:off x="10553325"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416164"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10</a:t>
            </a:r>
          </a:p>
        </p:txBody>
      </p:sp>
      <p:cxnSp>
        <p:nvCxnSpPr>
          <p:cNvPr id="40" name="Connector 39"/>
          <p:cNvCxnSpPr/>
          <p:nvPr/>
        </p:nvCxnSpPr>
        <p:spPr>
          <a:xfrm>
            <a:off x="10945685" y="4261104"/>
            <a:ext cx="0" cy="109727"/>
          </a:xfrm>
          <a:prstGeom prst="line">
            <a:avLst/>
          </a:prstGeom>
          <a:ln w="22860">
            <a:solidFill>
              <a:srgbClr val="EF4444"/>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0808525"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EF4444"/>
                </a:solidFill>
                <a:latin typeface="DejaVu Sans Mono"/>
              </a:defRPr>
            </a:pPr>
            <a:r>
              <a:t>11</a:t>
            </a:r>
          </a:p>
        </p:txBody>
      </p:sp>
      <p:sp>
        <p:nvSpPr>
          <p:cNvPr id="42" name="TextBox 41"/>
          <p:cNvSpPr txBox="1"/>
          <p:nvPr/>
        </p:nvSpPr>
        <p:spPr>
          <a:xfrm>
            <a:off x="6510846" y="4846320"/>
            <a:ext cx="4617720" cy="386715"/>
          </a:xfrm>
          <a:prstGeom prst="rect">
            <a:avLst/>
          </a:prstGeom>
          <a:noFill/>
        </p:spPr>
        <p:txBody>
          <a:bodyPr wrap="square" lIns="0" tIns="0" rIns="0" bIns="0">
            <a:spAutoFit/>
          </a:bodyPr>
          <a:lstStyle/>
          <a:p>
            <a:pPr>
              <a:lnSpc>
                <a:spcPct val="105000"/>
              </a:lnSpc>
              <a:spcAft>
                <a:spcPts val="200"/>
              </a:spcAft>
              <a:defRPr sz="1200" b="0">
                <a:solidFill>
                  <a:srgbClr val="64748B"/>
                </a:solidFill>
                <a:latin typeface="Noto Sans CJK SC"/>
              </a:defRPr>
            </a:pPr>
            <a:r>
              <a:t>如果 L = N = 1920，则 bin 是 0…1919，共 1920 个，刚好覆盖投影仪像素编号。</a:t>
            </a:r>
          </a:p>
        </p:txBody>
      </p:sp>
      <p:sp>
        <p:nvSpPr>
          <p:cNvPr id="43" name="Rounded Rectangle 42"/>
          <p:cNvSpPr/>
          <p:nvPr/>
        </p:nvSpPr>
        <p:spPr>
          <a:xfrm>
            <a:off x="594678" y="5212080"/>
            <a:ext cx="5212080" cy="502920"/>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1566" y="5376672"/>
            <a:ext cx="4709160" cy="406400"/>
          </a:xfrm>
          <a:prstGeom prst="rect">
            <a:avLst/>
          </a:prstGeom>
          <a:noFill/>
        </p:spPr>
        <p:txBody>
          <a:bodyPr wrap="square" lIns="0" tIns="0" rIns="0" bIns="0">
            <a:spAutoFit/>
          </a:bodyPr>
          <a:lstStyle/>
          <a:p>
            <a:pPr algn="ctr">
              <a:lnSpc>
                <a:spcPct val="105000"/>
              </a:lnSpc>
              <a:spcAft>
                <a:spcPts val="200"/>
              </a:spcAft>
              <a:defRPr sz="1260" b="1">
                <a:solidFill>
                  <a:srgbClr val="D8E3EE"/>
                </a:solidFill>
                <a:latin typeface="Noto Sans CJK SC"/>
              </a:defRPr>
            </a:pPr>
            <a:r>
              <a:t>一句话：补零不是改变 D[k]，而是</a:t>
            </a:r>
            <a:r>
              <a:rPr>
                <a:solidFill>
                  <a:srgbClr val="FF0000"/>
                </a:solidFill>
              </a:rPr>
              <a:t>把“求值网格”从 M 个点变成 L </a:t>
            </a:r>
            <a:r>
              <a:t>个点。</a:t>
            </a:r>
          </a:p>
        </p:txBody>
      </p:sp>
      <p:sp>
        <p:nvSpPr>
          <p:cNvPr id="45" name="TextBox 44"/>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46" name="TextBox 45"/>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47" name="TextBox 46"/>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29 / 49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情况 A：L = M，不补零会怎样</a:t>
            </a:r>
          </a:p>
        </p:txBody>
      </p:sp>
      <p:sp>
        <p:nvSpPr>
          <p:cNvPr id="5" name="TextBox 4"/>
          <p:cNvSpPr txBox="1"/>
          <p:nvPr/>
        </p:nvSpPr>
        <p:spPr>
          <a:xfrm>
            <a:off x="594678" y="1600200"/>
            <a:ext cx="4572000" cy="249555"/>
          </a:xfrm>
          <a:prstGeom prst="rect">
            <a:avLst/>
          </a:prstGeom>
          <a:noFill/>
        </p:spPr>
        <p:txBody>
          <a:bodyPr wrap="square" lIns="0" tIns="0" rIns="0" bIns="0">
            <a:spAutoFit/>
          </a:bodyPr>
          <a:lstStyle/>
          <a:p>
            <a:pPr>
              <a:lnSpc>
                <a:spcPct val="105000"/>
              </a:lnSpc>
              <a:spcAft>
                <a:spcPts val="200"/>
              </a:spcAft>
              <a:defRPr sz="1550" b="1">
                <a:solidFill>
                  <a:srgbClr val="0E2A47"/>
                </a:solidFill>
                <a:latin typeface="Noto Sans CJK SC"/>
              </a:defRPr>
            </a:pPr>
            <a:r>
              <a:t>理想 FSA 信号的真实归一化频率是 u/N</a:t>
            </a:r>
          </a:p>
        </p:txBody>
      </p:sp>
      <p:sp>
        <p:nvSpPr>
          <p:cNvPr id="6" name="Rounded Rectangle 5"/>
          <p:cNvSpPr/>
          <p:nvPr/>
        </p:nvSpPr>
        <p:spPr>
          <a:xfrm>
            <a:off x="594678" y="2011680"/>
            <a:ext cx="4663440"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846" y="2176272"/>
            <a:ext cx="4261103"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投影仪坐标 u，分辨率 N=proj_dim</a:t>
            </a:r>
          </a:p>
        </p:txBody>
      </p:sp>
      <p:sp>
        <p:nvSpPr>
          <p:cNvPr id="8" name="TextBox 7"/>
          <p:cNvSpPr txBox="1"/>
          <p:nvPr/>
        </p:nvSpPr>
        <p:spPr>
          <a:xfrm>
            <a:off x="795846" y="2458847"/>
            <a:ext cx="4261103" cy="257810"/>
          </a:xfrm>
          <a:prstGeom prst="rect">
            <a:avLst/>
          </a:prstGeom>
          <a:noFill/>
        </p:spPr>
        <p:txBody>
          <a:bodyPr wrap="square" lIns="0" tIns="0" rIns="0" bIns="0" anchor="ctr">
            <a:spAutoFit/>
          </a:bodyPr>
          <a:lstStyle/>
          <a:p>
            <a:pPr algn="ctr">
              <a:lnSpc>
                <a:spcPct val="105000"/>
              </a:lnSpc>
              <a:spcAft>
                <a:spcPts val="200"/>
              </a:spcAft>
              <a:defRPr sz="1600" b="1">
                <a:solidFill>
                  <a:srgbClr val="0E2A47"/>
                </a:solidFill>
                <a:latin typeface="DejaVu Sans Mono"/>
              </a:defRPr>
            </a:pPr>
            <a:r>
              <a:t>D[k] = A · e^(j·2π·k·u/N)</a:t>
            </a:r>
          </a:p>
        </p:txBody>
      </p:sp>
      <p:sp>
        <p:nvSpPr>
          <p:cNvPr id="9" name="Rounded Rectangle 8"/>
          <p:cNvSpPr/>
          <p:nvPr/>
        </p:nvSpPr>
        <p:spPr>
          <a:xfrm>
            <a:off x="594678" y="3154680"/>
            <a:ext cx="4663440"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3278" y="3401568"/>
            <a:ext cx="4160520" cy="225425"/>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t>不补零时：分析频率网格间隔 = 1/M</a:t>
            </a:r>
          </a:p>
        </p:txBody>
      </p:sp>
      <p:sp>
        <p:nvSpPr>
          <p:cNvPr id="11" name="TextBox 10"/>
          <p:cNvSpPr txBox="1"/>
          <p:nvPr/>
        </p:nvSpPr>
        <p:spPr>
          <a:xfrm>
            <a:off x="823278" y="3822191"/>
            <a:ext cx="4160520" cy="508635"/>
          </a:xfrm>
          <a:prstGeom prst="rect">
            <a:avLst/>
          </a:prstGeom>
          <a:noFill/>
        </p:spPr>
        <p:txBody>
          <a:bodyPr wrap="square" lIns="0" tIns="0" rIns="0" bIns="0">
            <a:spAutoFit/>
          </a:bodyPr>
          <a:lstStyle/>
          <a:p>
            <a:pPr>
              <a:lnSpc>
                <a:spcPct val="105000"/>
              </a:lnSpc>
              <a:spcAft>
                <a:spcPts val="200"/>
              </a:spcAft>
              <a:defRPr sz="1500" b="0">
                <a:solidFill>
                  <a:srgbClr val="0E2A47"/>
                </a:solidFill>
                <a:latin typeface="DejaVu Sans Mono"/>
              </a:defRPr>
            </a:pPr>
            <a:r>
              <a:t>峰值匹配需要：q/M = u/N</a:t>
            </a:r>
          </a:p>
          <a:p>
            <a:pPr>
              <a:lnSpc>
                <a:spcPct val="105000"/>
              </a:lnSpc>
              <a:spcAft>
                <a:spcPts val="200"/>
              </a:spcAft>
              <a:defRPr sz="1500" b="0">
                <a:solidFill>
                  <a:srgbClr val="0E2A47"/>
                </a:solidFill>
                <a:latin typeface="DejaVu Sans Mono"/>
              </a:defRPr>
            </a:pPr>
            <a:r>
              <a:t>所以 q = M·u/N，通常不是整数。</a:t>
            </a:r>
          </a:p>
        </p:txBody>
      </p:sp>
      <p:sp>
        <p:nvSpPr>
          <p:cNvPr id="12" name="TextBox 11"/>
          <p:cNvSpPr txBox="1"/>
          <p:nvPr/>
        </p:nvSpPr>
        <p:spPr>
          <a:xfrm>
            <a:off x="823278" y="4553712"/>
            <a:ext cx="3840480" cy="203200"/>
          </a:xfrm>
          <a:prstGeom prst="rect">
            <a:avLst/>
          </a:prstGeom>
          <a:noFill/>
        </p:spPr>
        <p:txBody>
          <a:bodyPr wrap="square" lIns="0" tIns="0" rIns="0" bIns="0">
            <a:spAutoFit/>
          </a:bodyPr>
          <a:lstStyle/>
          <a:p>
            <a:pPr>
              <a:lnSpc>
                <a:spcPct val="105000"/>
              </a:lnSpc>
              <a:spcAft>
                <a:spcPts val="200"/>
              </a:spcAft>
              <a:defRPr sz="1260" b="0">
                <a:solidFill>
                  <a:srgbClr val="64748B"/>
                </a:solidFill>
                <a:latin typeface="Noto Sans CJK SC"/>
              </a:defRPr>
            </a:pPr>
            <a:r>
              <a:t>argmax 只能输出整数 q，因此只能估计：</a:t>
            </a:r>
          </a:p>
        </p:txBody>
      </p:sp>
      <p:sp>
        <p:nvSpPr>
          <p:cNvPr id="13" name="TextBox 12"/>
          <p:cNvSpPr txBox="1"/>
          <p:nvPr/>
        </p:nvSpPr>
        <p:spPr>
          <a:xfrm>
            <a:off x="823278" y="4800600"/>
            <a:ext cx="4160520" cy="257810"/>
          </a:xfrm>
          <a:prstGeom prst="rect">
            <a:avLst/>
          </a:prstGeom>
          <a:noFill/>
        </p:spPr>
        <p:txBody>
          <a:bodyPr wrap="square" lIns="0" tIns="0" rIns="0" bIns="0">
            <a:spAutoFit/>
          </a:bodyPr>
          <a:lstStyle/>
          <a:p>
            <a:pPr algn="ctr">
              <a:lnSpc>
                <a:spcPct val="105000"/>
              </a:lnSpc>
              <a:spcAft>
                <a:spcPts val="200"/>
              </a:spcAft>
              <a:defRPr sz="1600" b="1">
                <a:solidFill>
                  <a:srgbClr val="EF4444"/>
                </a:solidFill>
                <a:latin typeface="DejaVu Sans Mono"/>
              </a:defRPr>
            </a:pPr>
            <a:r>
              <a:t>u ≈ argmax × (N/M)</a:t>
            </a:r>
          </a:p>
        </p:txBody>
      </p:sp>
      <p:sp>
        <p:nvSpPr>
          <p:cNvPr id="14" name="Rounded Rectangle 13"/>
          <p:cNvSpPr/>
          <p:nvPr/>
        </p:nvSpPr>
        <p:spPr>
          <a:xfrm>
            <a:off x="5761038" y="1627632"/>
            <a:ext cx="5532120" cy="43159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7070" y="1874519"/>
            <a:ext cx="4663440" cy="225425"/>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t>粗 bin 映射到投影仪坐标：一个 bin 覆盖多像素</a:t>
            </a:r>
          </a:p>
        </p:txBody>
      </p:sp>
      <p:sp>
        <p:nvSpPr>
          <p:cNvPr id="16" name="TextBox 15"/>
          <p:cNvSpPr txBox="1"/>
          <p:nvPr/>
        </p:nvSpPr>
        <p:spPr>
          <a:xfrm>
            <a:off x="6401118" y="2468880"/>
            <a:ext cx="2011680" cy="168910"/>
          </a:xfrm>
          <a:prstGeom prst="rect">
            <a:avLst/>
          </a:prstGeom>
          <a:noFill/>
        </p:spPr>
        <p:txBody>
          <a:bodyPr wrap="square" lIns="0" tIns="0" rIns="0" bIns="0">
            <a:spAutoFit/>
          </a:bodyPr>
          <a:lstStyle/>
          <a:p>
            <a:pPr>
              <a:lnSpc>
                <a:spcPct val="105000"/>
              </a:lnSpc>
              <a:spcAft>
                <a:spcPts val="200"/>
              </a:spcAft>
              <a:defRPr sz="1050" b="0">
                <a:solidFill>
                  <a:srgbClr val="64748B"/>
                </a:solidFill>
                <a:latin typeface="DejaVu Sans Mono"/>
              </a:defRPr>
            </a:pPr>
            <a:r>
              <a:t>投影仪像素轴 N=1920</a:t>
            </a:r>
          </a:p>
        </p:txBody>
      </p:sp>
      <p:cxnSp>
        <p:nvCxnSpPr>
          <p:cNvPr id="17" name="Connector 16"/>
          <p:cNvCxnSpPr/>
          <p:nvPr/>
        </p:nvCxnSpPr>
        <p:spPr>
          <a:xfrm>
            <a:off x="6401118" y="2834640"/>
            <a:ext cx="4206240" cy="0"/>
          </a:xfrm>
          <a:prstGeom prst="line">
            <a:avLst/>
          </a:prstGeom>
          <a:ln w="25400">
            <a:solidFill>
              <a:srgbClr val="E2E8F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401118" y="3054096"/>
            <a:ext cx="507491" cy="384048"/>
          </a:xfrm>
          <a:prstGeom prst="rect">
            <a:avLst/>
          </a:prstGeom>
          <a:solidFill>
            <a:srgbClr val="E0F2F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111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0</a:t>
            </a:r>
          </a:p>
        </p:txBody>
      </p:sp>
      <p:sp>
        <p:nvSpPr>
          <p:cNvPr id="20" name="Rectangle 19"/>
          <p:cNvSpPr/>
          <p:nvPr/>
        </p:nvSpPr>
        <p:spPr>
          <a:xfrm>
            <a:off x="6926898" y="3054096"/>
            <a:ext cx="507491"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2689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1</a:t>
            </a:r>
          </a:p>
        </p:txBody>
      </p:sp>
      <p:sp>
        <p:nvSpPr>
          <p:cNvPr id="22" name="Rectangle 21"/>
          <p:cNvSpPr/>
          <p:nvPr/>
        </p:nvSpPr>
        <p:spPr>
          <a:xfrm>
            <a:off x="7452678" y="3054096"/>
            <a:ext cx="507491" cy="384048"/>
          </a:xfrm>
          <a:prstGeom prst="rect">
            <a:avLst/>
          </a:prstGeom>
          <a:solidFill>
            <a:srgbClr val="E0F2F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5267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2</a:t>
            </a:r>
          </a:p>
        </p:txBody>
      </p:sp>
      <p:sp>
        <p:nvSpPr>
          <p:cNvPr id="24" name="Rectangle 23"/>
          <p:cNvSpPr/>
          <p:nvPr/>
        </p:nvSpPr>
        <p:spPr>
          <a:xfrm>
            <a:off x="7978458" y="3054096"/>
            <a:ext cx="507491"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7845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3</a:t>
            </a:r>
          </a:p>
        </p:txBody>
      </p:sp>
      <p:sp>
        <p:nvSpPr>
          <p:cNvPr id="26" name="Rectangle 25"/>
          <p:cNvSpPr/>
          <p:nvPr/>
        </p:nvSpPr>
        <p:spPr>
          <a:xfrm>
            <a:off x="8504238" y="3054096"/>
            <a:ext cx="507491" cy="384048"/>
          </a:xfrm>
          <a:prstGeom prst="rect">
            <a:avLst/>
          </a:prstGeom>
          <a:solidFill>
            <a:srgbClr val="E0F2F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423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4</a:t>
            </a:r>
          </a:p>
        </p:txBody>
      </p:sp>
      <p:sp>
        <p:nvSpPr>
          <p:cNvPr id="28" name="Rectangle 27"/>
          <p:cNvSpPr/>
          <p:nvPr/>
        </p:nvSpPr>
        <p:spPr>
          <a:xfrm>
            <a:off x="9030018" y="3054096"/>
            <a:ext cx="507491"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3001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5</a:t>
            </a:r>
          </a:p>
        </p:txBody>
      </p:sp>
      <p:sp>
        <p:nvSpPr>
          <p:cNvPr id="30" name="Rectangle 29"/>
          <p:cNvSpPr/>
          <p:nvPr/>
        </p:nvSpPr>
        <p:spPr>
          <a:xfrm>
            <a:off x="9555798" y="3054096"/>
            <a:ext cx="507491" cy="384048"/>
          </a:xfrm>
          <a:prstGeom prst="rect">
            <a:avLst/>
          </a:prstGeom>
          <a:solidFill>
            <a:srgbClr val="E0F2F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5579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6</a:t>
            </a:r>
          </a:p>
        </p:txBody>
      </p:sp>
      <p:sp>
        <p:nvSpPr>
          <p:cNvPr id="32" name="Rectangle 31"/>
          <p:cNvSpPr/>
          <p:nvPr/>
        </p:nvSpPr>
        <p:spPr>
          <a:xfrm>
            <a:off x="10081577" y="3054096"/>
            <a:ext cx="507491"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81577"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7</a:t>
            </a:r>
          </a:p>
        </p:txBody>
      </p:sp>
      <p:sp>
        <p:nvSpPr>
          <p:cNvPr id="34" name="Isosceles Triangle 33"/>
          <p:cNvSpPr/>
          <p:nvPr/>
        </p:nvSpPr>
        <p:spPr>
          <a:xfrm>
            <a:off x="8776729" y="2615184"/>
            <a:ext cx="128016" cy="109728"/>
          </a:xfrm>
          <a:prstGeom prst="triangl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20697" y="2331720"/>
            <a:ext cx="640080" cy="153035"/>
          </a:xfrm>
          <a:prstGeom prst="rect">
            <a:avLst/>
          </a:prstGeom>
          <a:noFill/>
        </p:spPr>
        <p:txBody>
          <a:bodyPr wrap="square" lIns="0" tIns="0" rIns="0" bIns="0">
            <a:spAutoFit/>
          </a:bodyPr>
          <a:lstStyle/>
          <a:p>
            <a:pPr algn="ctr">
              <a:lnSpc>
                <a:spcPct val="105000"/>
              </a:lnSpc>
              <a:spcAft>
                <a:spcPts val="200"/>
              </a:spcAft>
              <a:defRPr sz="950" b="1">
                <a:solidFill>
                  <a:srgbClr val="EF4444"/>
                </a:solidFill>
                <a:latin typeface="Noto Sans CJK SC"/>
              </a:defRPr>
            </a:pPr>
            <a:r>
              <a:t>真实 u</a:t>
            </a:r>
          </a:p>
        </p:txBody>
      </p:sp>
      <p:sp>
        <p:nvSpPr>
          <p:cNvPr id="36" name="TextBox 35"/>
          <p:cNvSpPr txBox="1"/>
          <p:nvPr/>
        </p:nvSpPr>
        <p:spPr>
          <a:xfrm>
            <a:off x="8109216" y="3584448"/>
            <a:ext cx="1463040" cy="153035"/>
          </a:xfrm>
          <a:prstGeom prst="rect">
            <a:avLst/>
          </a:prstGeom>
          <a:noFill/>
        </p:spPr>
        <p:txBody>
          <a:bodyPr wrap="square" lIns="0" tIns="0" rIns="0" bIns="0">
            <a:spAutoFit/>
          </a:bodyPr>
          <a:lstStyle/>
          <a:p>
            <a:pPr algn="ctr">
              <a:lnSpc>
                <a:spcPct val="105000"/>
              </a:lnSpc>
              <a:spcAft>
                <a:spcPts val="200"/>
              </a:spcAft>
              <a:defRPr sz="950" b="1">
                <a:solidFill>
                  <a:srgbClr val="0E7490"/>
                </a:solidFill>
                <a:latin typeface="Noto Sans CJK SC"/>
              </a:defRPr>
            </a:pPr>
            <a:r>
              <a:t>只能落到最近粗 bin</a:t>
            </a:r>
          </a:p>
        </p:txBody>
      </p:sp>
      <p:sp>
        <p:nvSpPr>
          <p:cNvPr id="37" name="Rounded Rectangle 36"/>
          <p:cNvSpPr/>
          <p:nvPr/>
        </p:nvSpPr>
        <p:spPr>
          <a:xfrm>
            <a:off x="6218238" y="4224528"/>
            <a:ext cx="4663440" cy="987552"/>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46838" y="4462272"/>
            <a:ext cx="4206240" cy="419100"/>
          </a:xfrm>
          <a:prstGeom prst="rect">
            <a:avLst/>
          </a:prstGeom>
          <a:noFill/>
        </p:spPr>
        <p:txBody>
          <a:bodyPr wrap="square" lIns="0" tIns="0" rIns="0" bIns="0">
            <a:spAutoFit/>
          </a:bodyPr>
          <a:lstStyle/>
          <a:p>
            <a:pPr>
              <a:lnSpc>
                <a:spcPct val="105000"/>
              </a:lnSpc>
              <a:spcAft>
                <a:spcPts val="200"/>
              </a:spcAft>
              <a:defRPr sz="1220" b="1">
                <a:solidFill>
                  <a:srgbClr val="D8E3EE"/>
                </a:solidFill>
                <a:latin typeface="Noto Sans CJK SC"/>
              </a:defRPr>
            </a:pPr>
            <a:r>
              <a:t>示例：N=1920，M=151</a:t>
            </a:r>
          </a:p>
          <a:p>
            <a:pPr>
              <a:lnSpc>
                <a:spcPct val="105000"/>
              </a:lnSpc>
              <a:spcAft>
                <a:spcPts val="200"/>
              </a:spcAft>
              <a:defRPr sz="1220" b="1">
                <a:solidFill>
                  <a:srgbClr val="D8E3EE"/>
                </a:solidFill>
                <a:latin typeface="Noto Sans CJK SC"/>
              </a:defRPr>
            </a:pPr>
            <a:r>
              <a:t>bin 宽度 = N/M ≈ 12.7 像素；量化误差 ≈ ±6.4 像素。</a:t>
            </a:r>
          </a:p>
        </p:txBody>
      </p:sp>
      <p:sp>
        <p:nvSpPr>
          <p:cNvPr id="39" name="TextBox 38"/>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40" name="TextBox 39"/>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41" name="TextBox 40"/>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30 / 49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情况 B：L = N，补零到投影仪分辨率</a:t>
            </a:r>
          </a:p>
        </p:txBody>
      </p:sp>
      <p:sp>
        <p:nvSpPr>
          <p:cNvPr id="5" name="Rounded Rectangle 4"/>
          <p:cNvSpPr/>
          <p:nvPr/>
        </p:nvSpPr>
        <p:spPr>
          <a:xfrm>
            <a:off x="594678" y="1700784"/>
            <a:ext cx="5120640"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566" y="1920240"/>
            <a:ext cx="4572000" cy="241300"/>
          </a:xfrm>
          <a:prstGeom prst="rect">
            <a:avLst/>
          </a:prstGeom>
          <a:noFill/>
        </p:spPr>
        <p:txBody>
          <a:bodyPr wrap="square" lIns="0" tIns="0" rIns="0" bIns="0">
            <a:spAutoFit/>
          </a:bodyPr>
          <a:lstStyle/>
          <a:p>
            <a:pPr>
              <a:lnSpc>
                <a:spcPct val="105000"/>
              </a:lnSpc>
              <a:spcAft>
                <a:spcPts val="200"/>
              </a:spcAft>
              <a:defRPr sz="1500" b="1">
                <a:solidFill>
                  <a:srgbClr val="0E2A47"/>
                </a:solidFill>
                <a:latin typeface="Noto Sans CJK SC"/>
              </a:defRPr>
            </a:pPr>
            <a:r>
              <a:t>补零后：分析频率网格间隔 = 1/N</a:t>
            </a:r>
          </a:p>
        </p:txBody>
      </p:sp>
      <p:sp>
        <p:nvSpPr>
          <p:cNvPr id="7" name="TextBox 6"/>
          <p:cNvSpPr txBox="1"/>
          <p:nvPr/>
        </p:nvSpPr>
        <p:spPr>
          <a:xfrm>
            <a:off x="841566" y="2331720"/>
            <a:ext cx="4572000" cy="274320"/>
          </a:xfrm>
          <a:prstGeom prst="rect">
            <a:avLst/>
          </a:prstGeom>
          <a:noFill/>
        </p:spPr>
        <p:txBody>
          <a:bodyPr wrap="square" lIns="0" tIns="0" rIns="0" bIns="0">
            <a:spAutoFit/>
          </a:bodyPr>
          <a:lstStyle/>
          <a:p>
            <a:pPr algn="ctr">
              <a:lnSpc>
                <a:spcPct val="105000"/>
              </a:lnSpc>
              <a:spcAft>
                <a:spcPts val="200"/>
              </a:spcAft>
              <a:defRPr sz="1700" b="1">
                <a:solidFill>
                  <a:srgbClr val="0E7490"/>
                </a:solidFill>
                <a:latin typeface="DejaVu Sans Mono"/>
              </a:defRPr>
            </a:pPr>
            <a:r>
              <a:t>峰值匹配：q/N = u/N  →  q = u</a:t>
            </a:r>
          </a:p>
        </p:txBody>
      </p:sp>
      <p:sp>
        <p:nvSpPr>
          <p:cNvPr id="8" name="Rounded Rectangle 7"/>
          <p:cNvSpPr/>
          <p:nvPr/>
        </p:nvSpPr>
        <p:spPr>
          <a:xfrm>
            <a:off x="594678" y="3264408"/>
            <a:ext cx="512064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66" y="3529584"/>
            <a:ext cx="914400" cy="209550"/>
          </a:xfrm>
          <a:prstGeom prst="rect">
            <a:avLst/>
          </a:prstGeom>
          <a:noFill/>
        </p:spPr>
        <p:txBody>
          <a:bodyPr wrap="square" lIns="0" tIns="0" rIns="0" bIns="0">
            <a:spAutoFit/>
          </a:bodyPr>
          <a:lstStyle/>
          <a:p>
            <a:pPr>
              <a:lnSpc>
                <a:spcPct val="105000"/>
              </a:lnSpc>
              <a:spcAft>
                <a:spcPts val="200"/>
              </a:spcAft>
              <a:defRPr sz="1300" b="1">
                <a:solidFill>
                  <a:srgbClr val="F59E0B"/>
                </a:solidFill>
                <a:latin typeface="Noto Sans CJK SC"/>
              </a:defRPr>
            </a:pPr>
            <a:r>
              <a:t>直接结果</a:t>
            </a:r>
          </a:p>
        </p:txBody>
      </p:sp>
      <p:sp>
        <p:nvSpPr>
          <p:cNvPr id="10" name="TextBox 9"/>
          <p:cNvSpPr txBox="1"/>
          <p:nvPr/>
        </p:nvSpPr>
        <p:spPr>
          <a:xfrm>
            <a:off x="841566" y="3877056"/>
            <a:ext cx="4572000" cy="697230"/>
          </a:xfrm>
          <a:prstGeom prst="rect">
            <a:avLst/>
          </a:prstGeom>
          <a:noFill/>
        </p:spPr>
        <p:txBody>
          <a:bodyPr wrap="square" lIns="0" tIns="0" rIns="0" bIns="0">
            <a:spAutoFit/>
          </a:bodyPr>
          <a:lstStyle/>
          <a:p>
            <a:pPr>
              <a:lnSpc>
                <a:spcPct val="112000"/>
              </a:lnSpc>
              <a:spcAft>
                <a:spcPts val="200"/>
              </a:spcAft>
            </a:pPr>
            <a:r>
              <a:rPr sz="1250" b="1">
                <a:solidFill>
                  <a:srgbClr val="0E7490"/>
                </a:solidFill>
                <a:latin typeface="Noto Sans CJK SC"/>
              </a:rPr>
              <a:t>•  </a:t>
            </a:r>
            <a:r>
              <a:rPr sz="1250" b="1">
                <a:solidFill>
                  <a:srgbClr val="0E2A47"/>
                </a:solidFill>
                <a:latin typeface="Noto Sans CJK SC"/>
              </a:rPr>
              <a:t>argmax 输出的 bin q 就是投影仪像素坐标 u。</a:t>
            </a:r>
            <a:endParaRPr sz="1250" b="1">
              <a:solidFill>
                <a:srgbClr val="0E2A47"/>
              </a:solidFill>
              <a:latin typeface="Noto Sans CJK SC"/>
            </a:endParaRPr>
          </a:p>
          <a:p>
            <a:pPr>
              <a:lnSpc>
                <a:spcPct val="112000"/>
              </a:lnSpc>
              <a:spcAft>
                <a:spcPts val="200"/>
              </a:spcAft>
            </a:pPr>
            <a:r>
              <a:rPr sz="1250" b="1">
                <a:solidFill>
                  <a:srgbClr val="0E7490"/>
                </a:solidFill>
                <a:latin typeface="Noto Sans CJK SC"/>
              </a:rPr>
              <a:t>•  </a:t>
            </a:r>
            <a:r>
              <a:rPr sz="1250" b="1">
                <a:solidFill>
                  <a:srgbClr val="EF4444"/>
                </a:solidFill>
                <a:latin typeface="Noto Sans CJK SC"/>
              </a:rPr>
              <a:t>不再需要 coord_scale = N/M。</a:t>
            </a:r>
            <a:endParaRPr sz="1250" b="1">
              <a:solidFill>
                <a:srgbClr val="EF4444"/>
              </a:solidFill>
              <a:latin typeface="Noto Sans CJK SC"/>
            </a:endParaRPr>
          </a:p>
          <a:p>
            <a:pPr>
              <a:lnSpc>
                <a:spcPct val="112000"/>
              </a:lnSpc>
              <a:spcAft>
                <a:spcPts val="200"/>
              </a:spcAft>
            </a:pPr>
            <a:r>
              <a:rPr sz="1250" b="1">
                <a:solidFill>
                  <a:srgbClr val="0E7490"/>
                </a:solidFill>
                <a:latin typeface="Noto Sans CJK SC"/>
              </a:rPr>
              <a:t>•  </a:t>
            </a:r>
            <a:r>
              <a:rPr sz="1250" b="0">
                <a:solidFill>
                  <a:srgbClr val="0E2A47"/>
                </a:solidFill>
                <a:latin typeface="Noto Sans CJK SC"/>
              </a:rPr>
              <a:t>整数像素级量化误差约 ±0.5 像素。</a:t>
            </a:r>
            <a:endParaRPr sz="1250" b="0">
              <a:solidFill>
                <a:srgbClr val="0E2A47"/>
              </a:solidFill>
              <a:latin typeface="Noto Sans CJK SC"/>
            </a:endParaRPr>
          </a:p>
        </p:txBody>
      </p:sp>
      <p:sp>
        <p:nvSpPr>
          <p:cNvPr id="11" name="Rounded Rectangle 10"/>
          <p:cNvSpPr/>
          <p:nvPr/>
        </p:nvSpPr>
        <p:spPr>
          <a:xfrm>
            <a:off x="6126798" y="1664208"/>
            <a:ext cx="5230368" cy="4343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830" y="1901952"/>
            <a:ext cx="3657600" cy="225425"/>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t>bin 坐标与投影仪像素坐标重合</a:t>
            </a:r>
          </a:p>
        </p:txBody>
      </p:sp>
      <p:sp>
        <p:nvSpPr>
          <p:cNvPr id="13" name="TextBox 12"/>
          <p:cNvSpPr txBox="1"/>
          <p:nvPr/>
        </p:nvSpPr>
        <p:spPr>
          <a:xfrm>
            <a:off x="6538278" y="2633472"/>
            <a:ext cx="1463040" cy="168910"/>
          </a:xfrm>
          <a:prstGeom prst="rect">
            <a:avLst/>
          </a:prstGeom>
          <a:noFill/>
        </p:spPr>
        <p:txBody>
          <a:bodyPr wrap="square" lIns="0" tIns="0" rIns="0" bIns="0">
            <a:spAutoFit/>
          </a:bodyPr>
          <a:lstStyle/>
          <a:p>
            <a:pPr>
              <a:lnSpc>
                <a:spcPct val="105000"/>
              </a:lnSpc>
              <a:spcAft>
                <a:spcPts val="200"/>
              </a:spcAft>
              <a:defRPr sz="1050" b="0">
                <a:solidFill>
                  <a:srgbClr val="64748B"/>
                </a:solidFill>
                <a:latin typeface="DejaVu Sans Mono"/>
              </a:defRPr>
            </a:pPr>
            <a:r>
              <a:t>bin q：0 … N−1</a:t>
            </a:r>
          </a:p>
        </p:txBody>
      </p:sp>
      <p:cxnSp>
        <p:nvCxnSpPr>
          <p:cNvPr id="14" name="Connector 13"/>
          <p:cNvCxnSpPr/>
          <p:nvPr/>
        </p:nvCxnSpPr>
        <p:spPr>
          <a:xfrm>
            <a:off x="7406958" y="2761488"/>
            <a:ext cx="3337560" cy="0"/>
          </a:xfrm>
          <a:prstGeom prst="line">
            <a:avLst/>
          </a:prstGeom>
          <a:ln w="1524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406958"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269797"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0</a:t>
            </a:r>
          </a:p>
        </p:txBody>
      </p:sp>
      <p:cxnSp>
        <p:nvCxnSpPr>
          <p:cNvPr id="17" name="Connector 16"/>
          <p:cNvCxnSpPr/>
          <p:nvPr/>
        </p:nvCxnSpPr>
        <p:spPr>
          <a:xfrm>
            <a:off x="7883752"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46591"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1</a:t>
            </a:r>
          </a:p>
        </p:txBody>
      </p:sp>
      <p:cxnSp>
        <p:nvCxnSpPr>
          <p:cNvPr id="19" name="Connector 18"/>
          <p:cNvCxnSpPr/>
          <p:nvPr/>
        </p:nvCxnSpPr>
        <p:spPr>
          <a:xfrm>
            <a:off x="8360546"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23386"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2</a:t>
            </a:r>
          </a:p>
        </p:txBody>
      </p:sp>
      <p:cxnSp>
        <p:nvCxnSpPr>
          <p:cNvPr id="21" name="Connector 20"/>
          <p:cNvCxnSpPr/>
          <p:nvPr/>
        </p:nvCxnSpPr>
        <p:spPr>
          <a:xfrm>
            <a:off x="8837340"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700180"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3</a:t>
            </a:r>
          </a:p>
        </p:txBody>
      </p:sp>
      <p:cxnSp>
        <p:nvCxnSpPr>
          <p:cNvPr id="23" name="Connector 22"/>
          <p:cNvCxnSpPr/>
          <p:nvPr/>
        </p:nvCxnSpPr>
        <p:spPr>
          <a:xfrm>
            <a:off x="9314135"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176975"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a:t>
            </a:r>
          </a:p>
        </p:txBody>
      </p:sp>
      <p:cxnSp>
        <p:nvCxnSpPr>
          <p:cNvPr id="25" name="Connector 24"/>
          <p:cNvCxnSpPr/>
          <p:nvPr/>
        </p:nvCxnSpPr>
        <p:spPr>
          <a:xfrm>
            <a:off x="9790929" y="2706624"/>
            <a:ext cx="0" cy="109728"/>
          </a:xfrm>
          <a:prstGeom prst="line">
            <a:avLst/>
          </a:prstGeom>
          <a:ln w="22860">
            <a:solidFill>
              <a:srgbClr val="EF444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653769"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EF4444"/>
                </a:solidFill>
                <a:latin typeface="DejaVu Sans Mono"/>
              </a:defRPr>
            </a:pPr>
            <a:r>
              <a:t>u</a:t>
            </a:r>
          </a:p>
        </p:txBody>
      </p:sp>
      <p:cxnSp>
        <p:nvCxnSpPr>
          <p:cNvPr id="27" name="Connector 26"/>
          <p:cNvCxnSpPr/>
          <p:nvPr/>
        </p:nvCxnSpPr>
        <p:spPr>
          <a:xfrm>
            <a:off x="10267723"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130563"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a:t>
            </a:r>
          </a:p>
        </p:txBody>
      </p:sp>
      <p:cxnSp>
        <p:nvCxnSpPr>
          <p:cNvPr id="29" name="Connector 28"/>
          <p:cNvCxnSpPr/>
          <p:nvPr/>
        </p:nvCxnSpPr>
        <p:spPr>
          <a:xfrm>
            <a:off x="10744518"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607358"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N−1</a:t>
            </a:r>
          </a:p>
        </p:txBody>
      </p:sp>
      <p:sp>
        <p:nvSpPr>
          <p:cNvPr id="31" name="TextBox 30"/>
          <p:cNvSpPr txBox="1"/>
          <p:nvPr/>
        </p:nvSpPr>
        <p:spPr>
          <a:xfrm>
            <a:off x="6538278" y="3822191"/>
            <a:ext cx="1600200" cy="168910"/>
          </a:xfrm>
          <a:prstGeom prst="rect">
            <a:avLst/>
          </a:prstGeom>
          <a:noFill/>
        </p:spPr>
        <p:txBody>
          <a:bodyPr wrap="square" lIns="0" tIns="0" rIns="0" bIns="0">
            <a:spAutoFit/>
          </a:bodyPr>
          <a:lstStyle/>
          <a:p>
            <a:pPr>
              <a:lnSpc>
                <a:spcPct val="105000"/>
              </a:lnSpc>
              <a:spcAft>
                <a:spcPts val="200"/>
              </a:spcAft>
              <a:defRPr sz="1050" b="0">
                <a:solidFill>
                  <a:srgbClr val="64748B"/>
                </a:solidFill>
                <a:latin typeface="DejaVu Sans Mono"/>
              </a:defRPr>
            </a:pPr>
            <a:r>
              <a:t>像素 u：0 … N−1</a:t>
            </a:r>
          </a:p>
        </p:txBody>
      </p:sp>
      <p:cxnSp>
        <p:nvCxnSpPr>
          <p:cNvPr id="32" name="Connector 31"/>
          <p:cNvCxnSpPr/>
          <p:nvPr/>
        </p:nvCxnSpPr>
        <p:spPr>
          <a:xfrm>
            <a:off x="7406958" y="3950208"/>
            <a:ext cx="3337560" cy="0"/>
          </a:xfrm>
          <a:prstGeom prst="line">
            <a:avLst/>
          </a:prstGeom>
          <a:ln w="1524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406958"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269797"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0</a:t>
            </a:r>
          </a:p>
        </p:txBody>
      </p:sp>
      <p:cxnSp>
        <p:nvCxnSpPr>
          <p:cNvPr id="35" name="Connector 34"/>
          <p:cNvCxnSpPr/>
          <p:nvPr/>
        </p:nvCxnSpPr>
        <p:spPr>
          <a:xfrm>
            <a:off x="7883752"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46591"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1</a:t>
            </a:r>
          </a:p>
        </p:txBody>
      </p:sp>
      <p:cxnSp>
        <p:nvCxnSpPr>
          <p:cNvPr id="37" name="Connector 36"/>
          <p:cNvCxnSpPr/>
          <p:nvPr/>
        </p:nvCxnSpPr>
        <p:spPr>
          <a:xfrm>
            <a:off x="8360546"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223386"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2</a:t>
            </a:r>
          </a:p>
        </p:txBody>
      </p:sp>
      <p:cxnSp>
        <p:nvCxnSpPr>
          <p:cNvPr id="39" name="Connector 38"/>
          <p:cNvCxnSpPr/>
          <p:nvPr/>
        </p:nvCxnSpPr>
        <p:spPr>
          <a:xfrm>
            <a:off x="8837340"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700180"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3</a:t>
            </a:r>
          </a:p>
        </p:txBody>
      </p:sp>
      <p:cxnSp>
        <p:nvCxnSpPr>
          <p:cNvPr id="41" name="Connector 40"/>
          <p:cNvCxnSpPr/>
          <p:nvPr/>
        </p:nvCxnSpPr>
        <p:spPr>
          <a:xfrm>
            <a:off x="9314135"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176975"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a:t>
            </a:r>
          </a:p>
        </p:txBody>
      </p:sp>
      <p:cxnSp>
        <p:nvCxnSpPr>
          <p:cNvPr id="43" name="Connector 42"/>
          <p:cNvCxnSpPr/>
          <p:nvPr/>
        </p:nvCxnSpPr>
        <p:spPr>
          <a:xfrm>
            <a:off x="9790929" y="3895344"/>
            <a:ext cx="0" cy="109728"/>
          </a:xfrm>
          <a:prstGeom prst="line">
            <a:avLst/>
          </a:prstGeom>
          <a:ln w="22860">
            <a:solidFill>
              <a:srgbClr val="EF4444"/>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653769"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EF4444"/>
                </a:solidFill>
                <a:latin typeface="DejaVu Sans Mono"/>
              </a:defRPr>
            </a:pPr>
            <a:r>
              <a:t>u</a:t>
            </a:r>
          </a:p>
        </p:txBody>
      </p:sp>
      <p:cxnSp>
        <p:nvCxnSpPr>
          <p:cNvPr id="45" name="Connector 44"/>
          <p:cNvCxnSpPr/>
          <p:nvPr/>
        </p:nvCxnSpPr>
        <p:spPr>
          <a:xfrm>
            <a:off x="10267723"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0130563"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a:t>
            </a:r>
          </a:p>
        </p:txBody>
      </p:sp>
      <p:cxnSp>
        <p:nvCxnSpPr>
          <p:cNvPr id="47" name="Connector 46"/>
          <p:cNvCxnSpPr/>
          <p:nvPr/>
        </p:nvCxnSpPr>
        <p:spPr>
          <a:xfrm>
            <a:off x="10744518"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0607358"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N−1</a:t>
            </a:r>
          </a:p>
        </p:txBody>
      </p:sp>
      <p:cxnSp>
        <p:nvCxnSpPr>
          <p:cNvPr id="49" name="Connector 48"/>
          <p:cNvCxnSpPr/>
          <p:nvPr/>
        </p:nvCxnSpPr>
        <p:spPr>
          <a:xfrm>
            <a:off x="9790929" y="2971800"/>
            <a:ext cx="0" cy="786384"/>
          </a:xfrm>
          <a:prstGeom prst="line">
            <a:avLst/>
          </a:prstGeom>
          <a:ln w="17780">
            <a:solidFill>
              <a:srgbClr val="EF4444"/>
            </a:solidFill>
            <a:prstDash val="dash"/>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470889" y="3310128"/>
            <a:ext cx="640080" cy="193040"/>
          </a:xfrm>
          <a:prstGeom prst="rect">
            <a:avLst/>
          </a:prstGeom>
          <a:noFill/>
        </p:spPr>
        <p:txBody>
          <a:bodyPr wrap="square" lIns="0" tIns="0" rIns="0" bIns="0">
            <a:spAutoFit/>
          </a:bodyPr>
          <a:lstStyle/>
          <a:p>
            <a:pPr algn="ctr">
              <a:lnSpc>
                <a:spcPct val="105000"/>
              </a:lnSpc>
              <a:spcAft>
                <a:spcPts val="200"/>
              </a:spcAft>
              <a:defRPr sz="1200" b="1">
                <a:solidFill>
                  <a:srgbClr val="EF4444"/>
                </a:solidFill>
                <a:latin typeface="DejaVu Sans Mono"/>
              </a:defRPr>
            </a:pPr>
            <a:r>
              <a:t>q = u</a:t>
            </a:r>
          </a:p>
        </p:txBody>
      </p:sp>
      <p:sp>
        <p:nvSpPr>
          <p:cNvPr id="51" name="Rounded Rectangle 50"/>
          <p:cNvSpPr/>
          <p:nvPr/>
        </p:nvSpPr>
        <p:spPr>
          <a:xfrm>
            <a:off x="6419406" y="4754880"/>
            <a:ext cx="4617720" cy="713232"/>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29718" y="4937760"/>
            <a:ext cx="4206240" cy="389255"/>
          </a:xfrm>
          <a:prstGeom prst="rect">
            <a:avLst/>
          </a:prstGeom>
          <a:noFill/>
        </p:spPr>
        <p:txBody>
          <a:bodyPr wrap="square" lIns="0" tIns="0" rIns="0" bIns="0">
            <a:spAutoFit/>
          </a:bodyPr>
          <a:lstStyle/>
          <a:p>
            <a:pPr algn="ctr">
              <a:lnSpc>
                <a:spcPct val="105000"/>
              </a:lnSpc>
              <a:spcAft>
                <a:spcPts val="200"/>
              </a:spcAft>
              <a:defRPr sz="1130" b="0">
                <a:solidFill>
                  <a:srgbClr val="D8E3EE"/>
                </a:solidFill>
                <a:latin typeface="Noto Sans CJK SC"/>
              </a:defRPr>
            </a:pPr>
            <a:r>
              <a:t>这就是“补零到投影仪分辨率”的真正含义：</a:t>
            </a:r>
          </a:p>
          <a:p>
            <a:pPr algn="ctr">
              <a:lnSpc>
                <a:spcPct val="105000"/>
              </a:lnSpc>
              <a:spcAft>
                <a:spcPts val="200"/>
              </a:spcAft>
              <a:defRPr sz="1130" b="0">
                <a:solidFill>
                  <a:srgbClr val="D8E3EE"/>
                </a:solidFill>
                <a:latin typeface="Noto Sans CJK SC"/>
              </a:defRPr>
            </a:pPr>
            <a:r>
              <a:t>让 FFT 输出 bin 的编号集合与投影仪像素编号集合对齐。</a:t>
            </a:r>
          </a:p>
        </p:txBody>
      </p:sp>
      <p:sp>
        <p:nvSpPr>
          <p:cNvPr id="53" name="TextBox 52"/>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54" name="TextBox 53"/>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55" name="TextBox 54"/>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31 / 49</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为什么 L = N 时峰值会落在 q = u</a:t>
            </a:r>
          </a:p>
        </p:txBody>
      </p:sp>
      <p:sp>
        <p:nvSpPr>
          <p:cNvPr id="5" name="TextBox 4"/>
          <p:cNvSpPr txBox="1"/>
          <p:nvPr/>
        </p:nvSpPr>
        <p:spPr>
          <a:xfrm>
            <a:off x="594678" y="1600200"/>
            <a:ext cx="10058400" cy="241300"/>
          </a:xfrm>
          <a:prstGeom prst="rect">
            <a:avLst/>
          </a:prstGeom>
          <a:noFill/>
        </p:spPr>
        <p:txBody>
          <a:bodyPr wrap="square" lIns="0" tIns="0" rIns="0" bIns="0">
            <a:spAutoFit/>
          </a:bodyPr>
          <a:lstStyle/>
          <a:p>
            <a:pPr>
              <a:lnSpc>
                <a:spcPct val="105000"/>
              </a:lnSpc>
              <a:spcAft>
                <a:spcPts val="200"/>
              </a:spcAft>
              <a:defRPr sz="1500" b="1">
                <a:solidFill>
                  <a:srgbClr val="0E2A47"/>
                </a:solidFill>
                <a:latin typeface="Noto Sans CJK SC"/>
              </a:defRPr>
            </a:pPr>
            <a:r>
              <a:t>把 D[k] 代入 N 点 DFT，零填充后的后半段为 0，所以</a:t>
            </a:r>
            <a:r>
              <a:rPr>
                <a:solidFill>
                  <a:srgbClr val="FF0000"/>
                </a:solidFill>
              </a:rPr>
              <a:t>有效求和仍然只到 M−1</a:t>
            </a:r>
            <a:r>
              <a:t>：</a:t>
            </a:r>
          </a:p>
        </p:txBody>
      </p:sp>
      <p:sp>
        <p:nvSpPr>
          <p:cNvPr id="6" name="Rounded Rectangle 5"/>
          <p:cNvSpPr/>
          <p:nvPr/>
        </p:nvSpPr>
        <p:spPr>
          <a:xfrm>
            <a:off x="868998" y="2121408"/>
            <a:ext cx="1051560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0166" y="2286000"/>
            <a:ext cx="10113264"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关键式</a:t>
            </a:r>
          </a:p>
        </p:txBody>
      </p:sp>
      <p:sp>
        <p:nvSpPr>
          <p:cNvPr id="8" name="TextBox 7"/>
          <p:cNvSpPr txBox="1"/>
          <p:nvPr/>
        </p:nvSpPr>
        <p:spPr>
          <a:xfrm>
            <a:off x="1070166" y="2614295"/>
            <a:ext cx="10113264" cy="257810"/>
          </a:xfrm>
          <a:prstGeom prst="rect">
            <a:avLst/>
          </a:prstGeom>
          <a:noFill/>
        </p:spPr>
        <p:txBody>
          <a:bodyPr wrap="square" lIns="0" tIns="0" rIns="0" bIns="0" anchor="ctr">
            <a:spAutoFit/>
          </a:bodyPr>
          <a:lstStyle/>
          <a:p>
            <a:pPr algn="ctr">
              <a:lnSpc>
                <a:spcPct val="105000"/>
              </a:lnSpc>
              <a:spcAft>
                <a:spcPts val="200"/>
              </a:spcAft>
              <a:defRPr sz="1600" b="1">
                <a:solidFill>
                  <a:srgbClr val="0E2A47"/>
                </a:solidFill>
                <a:latin typeface="DejaVu Sans Mono"/>
              </a:defRPr>
            </a:pPr>
            <a:r>
              <a:t>C[q] = A · Σ(k=0…M−1) e^(j·2π·k·(u−q)/N)</a:t>
            </a:r>
          </a:p>
        </p:txBody>
      </p:sp>
      <p:sp>
        <p:nvSpPr>
          <p:cNvPr id="9" name="Rounded Rectangle 8"/>
          <p:cNvSpPr/>
          <p:nvPr/>
        </p:nvSpPr>
        <p:spPr>
          <a:xfrm>
            <a:off x="868998" y="3520440"/>
            <a:ext cx="4937760" cy="1508760"/>
          </a:xfrm>
          <a:prstGeom prst="roundRect">
            <a:avLst/>
          </a:prstGeom>
          <a:solidFill>
            <a:srgbClr val="ECFDF5"/>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598" y="3730752"/>
            <a:ext cx="1280160" cy="241300"/>
          </a:xfrm>
          <a:prstGeom prst="rect">
            <a:avLst/>
          </a:prstGeom>
          <a:noFill/>
        </p:spPr>
        <p:txBody>
          <a:bodyPr wrap="square" lIns="0" tIns="0" rIns="0" bIns="0">
            <a:spAutoFit/>
          </a:bodyPr>
          <a:lstStyle/>
          <a:p>
            <a:pPr>
              <a:lnSpc>
                <a:spcPct val="105000"/>
              </a:lnSpc>
              <a:spcAft>
                <a:spcPts val="200"/>
              </a:spcAft>
              <a:defRPr sz="1500" b="1">
                <a:solidFill>
                  <a:srgbClr val="16A34A"/>
                </a:solidFill>
                <a:latin typeface="Noto Sans CJK SC"/>
              </a:defRPr>
            </a:pPr>
            <a:r>
              <a:t>当 q = u</a:t>
            </a:r>
          </a:p>
        </p:txBody>
      </p:sp>
      <p:sp>
        <p:nvSpPr>
          <p:cNvPr id="11" name="TextBox 10"/>
          <p:cNvSpPr txBox="1"/>
          <p:nvPr/>
        </p:nvSpPr>
        <p:spPr>
          <a:xfrm>
            <a:off x="1097598" y="4096512"/>
            <a:ext cx="4389120" cy="450850"/>
          </a:xfrm>
          <a:prstGeom prst="rect">
            <a:avLst/>
          </a:prstGeom>
          <a:noFill/>
        </p:spPr>
        <p:txBody>
          <a:bodyPr wrap="square" lIns="0" tIns="0" rIns="0" bIns="0">
            <a:spAutoFit/>
          </a:bodyPr>
          <a:lstStyle/>
          <a:p>
            <a:pPr>
              <a:lnSpc>
                <a:spcPct val="105000"/>
              </a:lnSpc>
              <a:spcAft>
                <a:spcPts val="200"/>
              </a:spcAft>
              <a:defRPr sz="1320" b="0">
                <a:solidFill>
                  <a:srgbClr val="0E2A47"/>
                </a:solidFill>
                <a:latin typeface="Noto Sans CJK SC"/>
              </a:defRPr>
            </a:pPr>
            <a:r>
              <a:t>指数项 e^(j·0)=1，每一项方向相同。</a:t>
            </a:r>
          </a:p>
          <a:p>
            <a:pPr>
              <a:lnSpc>
                <a:spcPct val="105000"/>
              </a:lnSpc>
              <a:spcAft>
                <a:spcPts val="200"/>
              </a:spcAft>
              <a:defRPr sz="1320" b="0">
                <a:solidFill>
                  <a:srgbClr val="0E2A47"/>
                </a:solidFill>
                <a:latin typeface="Noto Sans CJK SC"/>
              </a:defRPr>
            </a:pPr>
            <a:r>
              <a:t>因此 |C[u]| = M·|A|，出现最大峰值。</a:t>
            </a:r>
          </a:p>
        </p:txBody>
      </p:sp>
      <p:sp>
        <p:nvSpPr>
          <p:cNvPr id="12" name="Rounded Rectangle 11"/>
          <p:cNvSpPr/>
          <p:nvPr/>
        </p:nvSpPr>
        <p:spPr>
          <a:xfrm>
            <a:off x="6446838" y="3520440"/>
            <a:ext cx="4937760" cy="150876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438" y="3730752"/>
            <a:ext cx="1280160" cy="241300"/>
          </a:xfrm>
          <a:prstGeom prst="rect">
            <a:avLst/>
          </a:prstGeom>
          <a:noFill/>
        </p:spPr>
        <p:txBody>
          <a:bodyPr wrap="square" lIns="0" tIns="0" rIns="0" bIns="0">
            <a:spAutoFit/>
          </a:bodyPr>
          <a:lstStyle/>
          <a:p>
            <a:pPr>
              <a:lnSpc>
                <a:spcPct val="105000"/>
              </a:lnSpc>
              <a:spcAft>
                <a:spcPts val="200"/>
              </a:spcAft>
              <a:defRPr sz="1500" b="1">
                <a:solidFill>
                  <a:srgbClr val="EF4444"/>
                </a:solidFill>
                <a:latin typeface="Noto Sans CJK SC"/>
              </a:defRPr>
            </a:pPr>
            <a:r>
              <a:t>当 q ≠ u</a:t>
            </a:r>
          </a:p>
        </p:txBody>
      </p:sp>
      <p:sp>
        <p:nvSpPr>
          <p:cNvPr id="14" name="TextBox 13"/>
          <p:cNvSpPr txBox="1"/>
          <p:nvPr/>
        </p:nvSpPr>
        <p:spPr>
          <a:xfrm>
            <a:off x="6675438" y="4096512"/>
            <a:ext cx="4389120" cy="450850"/>
          </a:xfrm>
          <a:prstGeom prst="rect">
            <a:avLst/>
          </a:prstGeom>
          <a:noFill/>
        </p:spPr>
        <p:txBody>
          <a:bodyPr wrap="square" lIns="0" tIns="0" rIns="0" bIns="0">
            <a:spAutoFit/>
          </a:bodyPr>
          <a:lstStyle/>
          <a:p>
            <a:pPr>
              <a:lnSpc>
                <a:spcPct val="105000"/>
              </a:lnSpc>
              <a:spcAft>
                <a:spcPts val="200"/>
              </a:spcAft>
              <a:defRPr sz="1320" b="0">
                <a:solidFill>
                  <a:srgbClr val="0E2A47"/>
                </a:solidFill>
                <a:latin typeface="Noto Sans CJK SC"/>
              </a:defRPr>
            </a:pPr>
            <a:r>
              <a:t>每一项相位不同，向量会相互抵消。</a:t>
            </a:r>
          </a:p>
          <a:p>
            <a:pPr>
              <a:lnSpc>
                <a:spcPct val="105000"/>
              </a:lnSpc>
              <a:spcAft>
                <a:spcPts val="200"/>
              </a:spcAft>
              <a:defRPr sz="1320" b="0">
                <a:solidFill>
                  <a:srgbClr val="0E2A47"/>
                </a:solidFill>
                <a:latin typeface="Noto Sans CJK SC"/>
              </a:defRPr>
            </a:pPr>
            <a:r>
              <a:t>因此 |C[q]| 变小，峰值不会落在这里。</a:t>
            </a:r>
          </a:p>
        </p:txBody>
      </p:sp>
      <p:sp>
        <p:nvSpPr>
          <p:cNvPr id="15" name="Rounded Rectangle 14"/>
          <p:cNvSpPr/>
          <p:nvPr/>
        </p:nvSpPr>
        <p:spPr>
          <a:xfrm>
            <a:off x="868998" y="5321808"/>
            <a:ext cx="10515600" cy="594360"/>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15885" y="5513832"/>
            <a:ext cx="10012680" cy="212725"/>
          </a:xfrm>
          <a:prstGeom prst="rect">
            <a:avLst/>
          </a:prstGeom>
          <a:noFill/>
        </p:spPr>
        <p:txBody>
          <a:bodyPr wrap="square" lIns="0" tIns="0" rIns="0" bIns="0">
            <a:spAutoFit/>
          </a:bodyPr>
          <a:lstStyle/>
          <a:p>
            <a:pPr algn="ctr">
              <a:lnSpc>
                <a:spcPct val="105000"/>
              </a:lnSpc>
              <a:spcAft>
                <a:spcPts val="200"/>
              </a:spcAft>
              <a:defRPr sz="1320" b="1">
                <a:solidFill>
                  <a:srgbClr val="D8E3EE"/>
                </a:solidFill>
                <a:latin typeface="Noto Sans CJK SC"/>
              </a:defRPr>
            </a:pPr>
            <a:r>
              <a:t>因为 u 和 q 都是整数坐标，N 点 FFT 的网格包含 q=u 这个点，所以真实峰值可以被直接采到。</a:t>
            </a:r>
          </a:p>
        </p:txBody>
      </p:sp>
      <p:sp>
        <p:nvSpPr>
          <p:cNvPr id="17" name="TextBox 16"/>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18" name="TextBox 17"/>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19" name="TextBox 18"/>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32 / 49</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补零的本质：</a:t>
            </a:r>
            <a:r>
              <a:rPr>
                <a:solidFill>
                  <a:srgbClr val="FF0000"/>
                </a:solidFill>
              </a:rPr>
              <a:t>更密的频谱采样</a:t>
            </a:r>
            <a:r>
              <a:t>，而不是更多信息</a:t>
            </a:r>
          </a:p>
        </p:txBody>
      </p:sp>
      <p:sp>
        <p:nvSpPr>
          <p:cNvPr id="5" name="TextBox 4"/>
          <p:cNvSpPr txBox="1"/>
          <p:nvPr/>
        </p:nvSpPr>
        <p:spPr>
          <a:xfrm>
            <a:off x="594678" y="1600200"/>
            <a:ext cx="5486400" cy="249555"/>
          </a:xfrm>
          <a:prstGeom prst="rect">
            <a:avLst/>
          </a:prstGeom>
          <a:noFill/>
        </p:spPr>
        <p:txBody>
          <a:bodyPr wrap="square" lIns="0" tIns="0" rIns="0" bIns="0">
            <a:spAutoFit/>
          </a:bodyPr>
          <a:lstStyle/>
          <a:p>
            <a:pPr>
              <a:lnSpc>
                <a:spcPct val="105000"/>
              </a:lnSpc>
              <a:spcAft>
                <a:spcPts val="200"/>
              </a:spcAft>
              <a:defRPr sz="1550" b="1">
                <a:solidFill>
                  <a:srgbClr val="0E2A47"/>
                </a:solidFill>
                <a:latin typeface="Noto Sans CJK SC"/>
              </a:defRPr>
            </a:pPr>
            <a:r>
              <a:t>把长度 M 的有限序列补到 N 点 FFT，等价于：</a:t>
            </a:r>
          </a:p>
        </p:txBody>
      </p:sp>
      <p:sp>
        <p:nvSpPr>
          <p:cNvPr id="6" name="Rounded Rectangle 5"/>
          <p:cNvSpPr/>
          <p:nvPr/>
        </p:nvSpPr>
        <p:spPr>
          <a:xfrm>
            <a:off x="594678" y="2103120"/>
            <a:ext cx="516636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998" y="2359152"/>
            <a:ext cx="4617720" cy="574040"/>
          </a:xfrm>
          <a:prstGeom prst="rect">
            <a:avLst/>
          </a:prstGeom>
          <a:noFill/>
        </p:spPr>
        <p:txBody>
          <a:bodyPr wrap="square" lIns="0" tIns="0" rIns="0" bIns="0">
            <a:spAutoFit/>
          </a:bodyPr>
          <a:lstStyle/>
          <a:p>
            <a:pPr algn="ctr">
              <a:lnSpc>
                <a:spcPct val="105000"/>
              </a:lnSpc>
              <a:spcAft>
                <a:spcPts val="200"/>
              </a:spcAft>
              <a:defRPr sz="1700" b="1">
                <a:solidFill>
                  <a:srgbClr val="0E7490"/>
                </a:solidFill>
                <a:latin typeface="Noto Sans CJK SC"/>
              </a:defRPr>
            </a:pPr>
            <a:r>
              <a:t>对原序列隐含的连续频谱</a:t>
            </a:r>
          </a:p>
          <a:p>
            <a:pPr algn="ctr">
              <a:lnSpc>
                <a:spcPct val="105000"/>
              </a:lnSpc>
              <a:spcAft>
                <a:spcPts val="200"/>
              </a:spcAft>
              <a:defRPr sz="1700" b="1">
                <a:solidFill>
                  <a:srgbClr val="0E7490"/>
                </a:solidFill>
                <a:latin typeface="Noto Sans CJK SC"/>
              </a:defRPr>
            </a:pPr>
            <a:r>
              <a:t>在 N 个更密的位置重新采样</a:t>
            </a:r>
          </a:p>
        </p:txBody>
      </p:sp>
      <p:sp>
        <p:nvSpPr>
          <p:cNvPr id="8" name="Rounded Rectangle 7"/>
          <p:cNvSpPr/>
          <p:nvPr/>
        </p:nvSpPr>
        <p:spPr>
          <a:xfrm>
            <a:off x="594678" y="3703320"/>
            <a:ext cx="5166360" cy="1298448"/>
          </a:xfrm>
          <a:prstGeom prst="roundRect">
            <a:avLst/>
          </a:prstGeom>
          <a:solidFill>
            <a:srgbClr val="FFF7ED"/>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998" y="3886200"/>
            <a:ext cx="1097280" cy="209550"/>
          </a:xfrm>
          <a:prstGeom prst="rect">
            <a:avLst/>
          </a:prstGeom>
          <a:noFill/>
        </p:spPr>
        <p:txBody>
          <a:bodyPr wrap="square" lIns="0" tIns="0" rIns="0" bIns="0">
            <a:spAutoFit/>
          </a:bodyPr>
          <a:lstStyle/>
          <a:p>
            <a:pPr>
              <a:lnSpc>
                <a:spcPct val="105000"/>
              </a:lnSpc>
              <a:spcAft>
                <a:spcPts val="200"/>
              </a:spcAft>
              <a:defRPr sz="1300" b="1">
                <a:solidFill>
                  <a:srgbClr val="F59E0B"/>
                </a:solidFill>
                <a:latin typeface="Noto Sans CJK SC"/>
              </a:defRPr>
            </a:pPr>
            <a:r>
              <a:t>不要误解</a:t>
            </a:r>
          </a:p>
        </p:txBody>
      </p:sp>
      <p:sp>
        <p:nvSpPr>
          <p:cNvPr id="10" name="TextBox 9"/>
          <p:cNvSpPr txBox="1"/>
          <p:nvPr/>
        </p:nvSpPr>
        <p:spPr>
          <a:xfrm>
            <a:off x="868998" y="4224528"/>
            <a:ext cx="4617720" cy="461645"/>
          </a:xfrm>
          <a:prstGeom prst="rect">
            <a:avLst/>
          </a:prstGeom>
          <a:noFill/>
        </p:spPr>
        <p:txBody>
          <a:bodyPr wrap="square" lIns="0" tIns="0" rIns="0" bIns="0">
            <a:spAutoFit/>
          </a:bodyPr>
          <a:lstStyle/>
          <a:p>
            <a:pPr>
              <a:lnSpc>
                <a:spcPct val="105000"/>
              </a:lnSpc>
              <a:spcAft>
                <a:spcPts val="200"/>
              </a:spcAft>
              <a:defRPr sz="1350" b="1">
                <a:solidFill>
                  <a:srgbClr val="0E2A47"/>
                </a:solidFill>
                <a:latin typeface="Noto Sans CJK SC"/>
              </a:defRPr>
            </a:pPr>
            <a:r>
              <a:t>补零不会提升信噪比，也不会创造新的高频信息；</a:t>
            </a:r>
          </a:p>
          <a:p>
            <a:pPr>
              <a:lnSpc>
                <a:spcPct val="105000"/>
              </a:lnSpc>
              <a:spcAft>
                <a:spcPts val="200"/>
              </a:spcAft>
              <a:defRPr sz="1350" b="1">
                <a:solidFill>
                  <a:srgbClr val="0E2A47"/>
                </a:solidFill>
                <a:latin typeface="Noto Sans CJK SC"/>
              </a:defRPr>
            </a:pPr>
            <a:r>
              <a:t>它只是把同一个峰看得更细。</a:t>
            </a:r>
          </a:p>
        </p:txBody>
      </p:sp>
      <p:sp>
        <p:nvSpPr>
          <p:cNvPr id="11" name="Rounded Rectangle 10"/>
          <p:cNvSpPr/>
          <p:nvPr/>
        </p:nvSpPr>
        <p:spPr>
          <a:xfrm>
            <a:off x="6263958" y="1700784"/>
            <a:ext cx="5074920" cy="409651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558" y="1920240"/>
            <a:ext cx="2743200" cy="225425"/>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t>从“稀疏取样”到“密集取样”</a:t>
            </a:r>
          </a:p>
        </p:txBody>
      </p:sp>
      <p:cxnSp>
        <p:nvCxnSpPr>
          <p:cNvPr id="13" name="Connector 12"/>
          <p:cNvCxnSpPr/>
          <p:nvPr/>
        </p:nvCxnSpPr>
        <p:spPr>
          <a:xfrm>
            <a:off x="6629718" y="4387291"/>
            <a:ext cx="48288" cy="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678006" y="4387290"/>
            <a:ext cx="48289" cy="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726295" y="4387290"/>
            <a:ext cx="48288" cy="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774583" y="4387288"/>
            <a:ext cx="48289" cy="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6822872" y="4387284"/>
            <a:ext cx="48288" cy="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6871160" y="4387272"/>
            <a:ext cx="48289" cy="1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919449" y="4387244"/>
            <a:ext cx="48288" cy="28"/>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6967737" y="4387179"/>
            <a:ext cx="48289" cy="6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016026" y="4387035"/>
            <a:ext cx="48288" cy="14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064314" y="4386734"/>
            <a:ext cx="48289" cy="30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112603" y="4386138"/>
            <a:ext cx="48288" cy="59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7160891" y="4385021"/>
            <a:ext cx="48289" cy="111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209180" y="4383040"/>
            <a:ext cx="48289" cy="198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7257469" y="4379724"/>
            <a:ext cx="48288" cy="331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7305757" y="4374484"/>
            <a:ext cx="48289" cy="524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7354046" y="4366681"/>
            <a:ext cx="48288" cy="780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402334" y="4355757"/>
            <a:ext cx="48289" cy="1092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450623" y="4341418"/>
            <a:ext cx="48288" cy="14339"/>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498911" y="4323840"/>
            <a:ext cx="48289" cy="17578"/>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547200" y="4303839"/>
            <a:ext cx="48288" cy="2000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595488" y="4282921"/>
            <a:ext cx="48289" cy="20918"/>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643777" y="4263151"/>
            <a:ext cx="48288" cy="1977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7692065" y="4246837"/>
            <a:ext cx="48289" cy="1631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7740354" y="4236070"/>
            <a:ext cx="48288" cy="1076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7788642" y="4232245"/>
            <a:ext cx="48289" cy="382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836931" y="4232245"/>
            <a:ext cx="48289" cy="345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885220" y="4235700"/>
            <a:ext cx="48288" cy="988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933508" y="4245580"/>
            <a:ext cx="48289" cy="1439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981797" y="4259974"/>
            <a:ext cx="48288" cy="1628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030085" y="4276260"/>
            <a:ext cx="48289" cy="1529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078374" y="4291556"/>
            <a:ext cx="48288" cy="1156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126662" y="4303121"/>
            <a:ext cx="48289" cy="550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8174951" y="4306210"/>
            <a:ext cx="48288" cy="241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8223239" y="4294459"/>
            <a:ext cx="48289" cy="1175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271528" y="4272210"/>
            <a:ext cx="48288" cy="22249"/>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8319816" y="4238439"/>
            <a:ext cx="48289" cy="3377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368105" y="4192182"/>
            <a:ext cx="48288" cy="4625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8416393" y="4132568"/>
            <a:ext cx="48289" cy="5961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8464682" y="4058945"/>
            <a:ext cx="48289" cy="7362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8512971" y="3971080"/>
            <a:ext cx="48288" cy="8786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8561259" y="3869385"/>
            <a:ext cx="48289" cy="10169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8609548" y="3755132"/>
            <a:ext cx="48288" cy="11425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8657836" y="3630610"/>
            <a:ext cx="48289" cy="12452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8706125" y="3499193"/>
            <a:ext cx="48288" cy="13141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8754413" y="3365288"/>
            <a:ext cx="48289" cy="13390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8802702" y="3234157"/>
            <a:ext cx="48288" cy="13113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8850990" y="3111611"/>
            <a:ext cx="48289" cy="12254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8899279" y="3003605"/>
            <a:ext cx="48288" cy="10800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8947567" y="2915771"/>
            <a:ext cx="48289" cy="8783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995856" y="2852929"/>
            <a:ext cx="48288" cy="6284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9044144" y="2818652"/>
            <a:ext cx="48289" cy="3427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9092433" y="2814935"/>
            <a:ext cx="48289" cy="371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140722" y="2814935"/>
            <a:ext cx="48288" cy="27059"/>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189010" y="2841994"/>
            <a:ext cx="48289" cy="5625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237299" y="2898251"/>
            <a:ext cx="48288" cy="8223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285587" y="2980487"/>
            <a:ext cx="48289" cy="10365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333876" y="3084142"/>
            <a:ext cx="48288" cy="11959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382164" y="3203739"/>
            <a:ext cx="48289" cy="12961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430453" y="3333356"/>
            <a:ext cx="48288" cy="13375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478741" y="3467109"/>
            <a:ext cx="48289" cy="13247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527030" y="3599581"/>
            <a:ext cx="48288" cy="12657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575318" y="3726153"/>
            <a:ext cx="48289" cy="11707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623607" y="3843225"/>
            <a:ext cx="48288" cy="105088"/>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9671895" y="3948313"/>
            <a:ext cx="48289" cy="9170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720184" y="4040020"/>
            <a:ext cx="48289" cy="7791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768473" y="4117935"/>
            <a:ext cx="48288" cy="6451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816761" y="4182449"/>
            <a:ext cx="48289" cy="5210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9865050" y="4234555"/>
            <a:ext cx="48288" cy="4107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9913338" y="4275630"/>
            <a:ext cx="48289" cy="3162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961627" y="4307254"/>
            <a:ext cx="48288" cy="23788"/>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0009915" y="4331042"/>
            <a:ext cx="48289" cy="1749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058204" y="4348532"/>
            <a:ext cx="48288" cy="1257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106492" y="4361105"/>
            <a:ext cx="48289" cy="884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154781" y="4369945"/>
            <a:ext cx="48288" cy="608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203069" y="4376026"/>
            <a:ext cx="48289" cy="409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0251358" y="4380117"/>
            <a:ext cx="48288" cy="269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0299646" y="4382812"/>
            <a:ext cx="48289" cy="173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10347935" y="4384549"/>
            <a:ext cx="48289" cy="109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0396224" y="4385645"/>
            <a:ext cx="48288" cy="67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0444512" y="4386322"/>
            <a:ext cx="48289" cy="41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0492801" y="4386732"/>
            <a:ext cx="48288" cy="24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0541089" y="4386975"/>
            <a:ext cx="48289" cy="14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0589378" y="4387115"/>
            <a:ext cx="48288" cy="8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0637666" y="4387195"/>
            <a:ext cx="48289" cy="4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0685955" y="4387240"/>
            <a:ext cx="48288" cy="2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10734243" y="4387264"/>
            <a:ext cx="48289" cy="1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10782532" y="4387277"/>
            <a:ext cx="48288" cy="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0830820" y="4387284"/>
            <a:ext cx="48289" cy="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879109" y="4387287"/>
            <a:ext cx="48289" cy="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sp>
        <p:nvSpPr>
          <p:cNvPr id="102" name="Oval 101"/>
          <p:cNvSpPr/>
          <p:nvPr/>
        </p:nvSpPr>
        <p:spPr>
          <a:xfrm>
            <a:off x="6803454" y="4346139"/>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448106" y="4303411"/>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8092758" y="4263235"/>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737410" y="3391092"/>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382062" y="3272361"/>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10026714" y="4310251"/>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10671366" y="4346107"/>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6748590" y="4892040"/>
            <a:ext cx="1463040" cy="153035"/>
          </a:xfrm>
          <a:prstGeom prst="rect">
            <a:avLst/>
          </a:prstGeom>
          <a:noFill/>
        </p:spPr>
        <p:txBody>
          <a:bodyPr wrap="square" lIns="0" tIns="0" rIns="0" bIns="0">
            <a:spAutoFit/>
          </a:bodyPr>
          <a:lstStyle/>
          <a:p>
            <a:pPr algn="ctr">
              <a:lnSpc>
                <a:spcPct val="105000"/>
              </a:lnSpc>
              <a:spcAft>
                <a:spcPts val="200"/>
              </a:spcAft>
              <a:defRPr sz="950" b="1">
                <a:solidFill>
                  <a:srgbClr val="EF4444"/>
                </a:solidFill>
                <a:latin typeface="Noto Sans CJK SC"/>
              </a:defRPr>
            </a:pPr>
            <a:r>
              <a:t>M 个粗采样点</a:t>
            </a:r>
          </a:p>
        </p:txBody>
      </p:sp>
      <p:sp>
        <p:nvSpPr>
          <p:cNvPr id="110" name="Oval 109"/>
          <p:cNvSpPr/>
          <p:nvPr/>
        </p:nvSpPr>
        <p:spPr>
          <a:xfrm>
            <a:off x="6605943" y="4363516"/>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6785013" y="4363515"/>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6964083" y="4363449"/>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7143153" y="4362258"/>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7322223" y="4351743"/>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7501293" y="4308488"/>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7680363" y="4234885"/>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7859433" y="4211643"/>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8038503" y="4262968"/>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8217573" y="4279190"/>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8396643" y="4163961"/>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8575713" y="3867889"/>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8754783" y="3408465"/>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8933853" y="2959694"/>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9112923" y="2790286"/>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9291993" y="3019320"/>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9471063" y="3487882"/>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9650133" y="3928632"/>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9829203" y="4198847"/>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10008273" y="4315978"/>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0187343" y="4353053"/>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10366413" y="4361760"/>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10545483" y="4363292"/>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0724553" y="4363494"/>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10903623" y="4363515"/>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8979726" y="4892040"/>
            <a:ext cx="1645920" cy="153035"/>
          </a:xfrm>
          <a:prstGeom prst="rect">
            <a:avLst/>
          </a:prstGeom>
          <a:noFill/>
        </p:spPr>
        <p:txBody>
          <a:bodyPr wrap="square" lIns="0" tIns="0" rIns="0" bIns="0">
            <a:spAutoFit/>
          </a:bodyPr>
          <a:lstStyle/>
          <a:p>
            <a:pPr algn="ctr">
              <a:lnSpc>
                <a:spcPct val="105000"/>
              </a:lnSpc>
              <a:spcAft>
                <a:spcPts val="200"/>
              </a:spcAft>
              <a:defRPr sz="950" b="1">
                <a:solidFill>
                  <a:srgbClr val="0E2A47"/>
                </a:solidFill>
                <a:latin typeface="Noto Sans CJK SC"/>
              </a:defRPr>
            </a:pPr>
            <a:r>
              <a:t>N 个更密采样点</a:t>
            </a:r>
          </a:p>
        </p:txBody>
      </p:sp>
      <p:sp>
        <p:nvSpPr>
          <p:cNvPr id="136" name="TextBox 135"/>
          <p:cNvSpPr txBox="1"/>
          <p:nvPr/>
        </p:nvSpPr>
        <p:spPr>
          <a:xfrm>
            <a:off x="6492558" y="5230368"/>
            <a:ext cx="4572000" cy="389255"/>
          </a:xfrm>
          <a:prstGeom prst="rect">
            <a:avLst/>
          </a:prstGeom>
          <a:noFill/>
        </p:spPr>
        <p:txBody>
          <a:bodyPr wrap="square" lIns="0" tIns="0" rIns="0" bIns="0">
            <a:spAutoFit/>
          </a:bodyPr>
          <a:lstStyle/>
          <a:p>
            <a:pPr>
              <a:lnSpc>
                <a:spcPct val="105000"/>
              </a:lnSpc>
              <a:spcAft>
                <a:spcPts val="200"/>
              </a:spcAft>
              <a:defRPr sz="1130" b="0">
                <a:solidFill>
                  <a:srgbClr val="64748B"/>
                </a:solidFill>
                <a:latin typeface="Noto Sans CJK SC"/>
              </a:defRPr>
            </a:pPr>
            <a:r>
              <a:t>可以理解为 sinc 插值后的频谱重采样。</a:t>
            </a:r>
          </a:p>
          <a:p>
            <a:pPr>
              <a:lnSpc>
                <a:spcPct val="105000"/>
              </a:lnSpc>
              <a:spcAft>
                <a:spcPts val="200"/>
              </a:spcAft>
              <a:defRPr sz="1130" b="0">
                <a:solidFill>
                  <a:srgbClr val="64748B"/>
                </a:solidFill>
                <a:latin typeface="Noto Sans CJK SC"/>
              </a:defRPr>
            </a:pPr>
            <a:r>
              <a:t>峰值位置更容易落到正确像素，但物理信息量仍由 M 决定。</a:t>
            </a:r>
          </a:p>
        </p:txBody>
      </p:sp>
      <p:sp>
        <p:nvSpPr>
          <p:cNvPr id="137" name="TextBox 136"/>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138" name="TextBox 137"/>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139" name="TextBox 138"/>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33 / 49</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实操策略：什么时候该用 fft_length = proj_dim</a:t>
            </a:r>
          </a:p>
        </p:txBody>
      </p:sp>
      <p:sp>
        <p:nvSpPr>
          <p:cNvPr id="5" name="TextBox 4"/>
          <p:cNvSpPr txBox="1"/>
          <p:nvPr/>
        </p:nvSpPr>
        <p:spPr>
          <a:xfrm>
            <a:off x="594678" y="1600200"/>
            <a:ext cx="9875520" cy="245110"/>
          </a:xfrm>
          <a:prstGeom prst="rect">
            <a:avLst/>
          </a:prstGeom>
          <a:noFill/>
        </p:spPr>
        <p:txBody>
          <a:bodyPr wrap="square" lIns="0" tIns="0" rIns="0" bIns="0">
            <a:spAutoFit/>
          </a:bodyPr>
          <a:lstStyle/>
          <a:p>
            <a:pPr>
              <a:lnSpc>
                <a:spcPct val="105000"/>
              </a:lnSpc>
              <a:spcAft>
                <a:spcPts val="200"/>
              </a:spcAft>
              <a:defRPr sz="1520" b="1">
                <a:solidFill>
                  <a:srgbClr val="0E2A47"/>
                </a:solidFill>
                <a:latin typeface="Noto Sans CJK SC"/>
              </a:defRPr>
            </a:pPr>
            <a:r>
              <a:t>在 FSA/FSM 的投影仪坐标恢复里，推荐把 FFT 长度设为对应方向的投影仪分辨率。</a:t>
            </a:r>
          </a:p>
        </p:txBody>
      </p:sp>
      <p:sp>
        <p:nvSpPr>
          <p:cNvPr id="6" name="Rounded Rectangle 5"/>
          <p:cNvSpPr/>
          <p:nvPr/>
        </p:nvSpPr>
        <p:spPr>
          <a:xfrm>
            <a:off x="594678" y="2084831"/>
            <a:ext cx="512064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566" y="2313432"/>
            <a:ext cx="1280160" cy="225425"/>
          </a:xfrm>
          <a:prstGeom prst="rect">
            <a:avLst/>
          </a:prstGeom>
          <a:noFill/>
        </p:spPr>
        <p:txBody>
          <a:bodyPr wrap="square" lIns="0" tIns="0" rIns="0" bIns="0">
            <a:spAutoFit/>
          </a:bodyPr>
          <a:lstStyle/>
          <a:p>
            <a:pPr>
              <a:lnSpc>
                <a:spcPct val="105000"/>
              </a:lnSpc>
              <a:spcAft>
                <a:spcPts val="200"/>
              </a:spcAft>
              <a:defRPr sz="1400" b="1">
                <a:solidFill>
                  <a:srgbClr val="0E7490"/>
                </a:solidFill>
                <a:latin typeface="Noto Sans CJK SC"/>
              </a:defRPr>
            </a:pPr>
            <a:r>
              <a:t>横向坐标 u</a:t>
            </a:r>
          </a:p>
        </p:txBody>
      </p:sp>
      <p:sp>
        <p:nvSpPr>
          <p:cNvPr id="8" name="TextBox 7"/>
          <p:cNvSpPr txBox="1"/>
          <p:nvPr/>
        </p:nvSpPr>
        <p:spPr>
          <a:xfrm>
            <a:off x="2103438" y="2350008"/>
            <a:ext cx="3154680" cy="209550"/>
          </a:xfrm>
          <a:prstGeom prst="rect">
            <a:avLst/>
          </a:prstGeom>
          <a:noFill/>
        </p:spPr>
        <p:txBody>
          <a:bodyPr wrap="square" lIns="0" tIns="0" rIns="0" bIns="0">
            <a:spAutoFit/>
          </a:bodyPr>
          <a:lstStyle/>
          <a:p>
            <a:pPr>
              <a:lnSpc>
                <a:spcPct val="105000"/>
              </a:lnSpc>
              <a:spcAft>
                <a:spcPts val="200"/>
              </a:spcAft>
              <a:defRPr sz="1300" b="0">
                <a:solidFill>
                  <a:srgbClr val="0E2A47"/>
                </a:solidFill>
                <a:latin typeface="DejaVu Sans Mono"/>
              </a:defRPr>
            </a:pPr>
            <a:r>
              <a:t>fft_length = projector_width，例如 1920</a:t>
            </a:r>
          </a:p>
        </p:txBody>
      </p:sp>
      <p:sp>
        <p:nvSpPr>
          <p:cNvPr id="9" name="TextBox 8"/>
          <p:cNvSpPr txBox="1"/>
          <p:nvPr/>
        </p:nvSpPr>
        <p:spPr>
          <a:xfrm>
            <a:off x="841566" y="2834640"/>
            <a:ext cx="1280160" cy="225425"/>
          </a:xfrm>
          <a:prstGeom prst="rect">
            <a:avLst/>
          </a:prstGeom>
          <a:noFill/>
        </p:spPr>
        <p:txBody>
          <a:bodyPr wrap="square" lIns="0" tIns="0" rIns="0" bIns="0">
            <a:spAutoFit/>
          </a:bodyPr>
          <a:lstStyle/>
          <a:p>
            <a:pPr>
              <a:lnSpc>
                <a:spcPct val="105000"/>
              </a:lnSpc>
              <a:spcAft>
                <a:spcPts val="200"/>
              </a:spcAft>
              <a:defRPr sz="1400" b="1">
                <a:solidFill>
                  <a:srgbClr val="0E7490"/>
                </a:solidFill>
                <a:latin typeface="Noto Sans CJK SC"/>
              </a:defRPr>
            </a:pPr>
            <a:r>
              <a:t>纵向坐标 v</a:t>
            </a:r>
          </a:p>
        </p:txBody>
      </p:sp>
      <p:sp>
        <p:nvSpPr>
          <p:cNvPr id="10" name="TextBox 9"/>
          <p:cNvSpPr txBox="1"/>
          <p:nvPr/>
        </p:nvSpPr>
        <p:spPr>
          <a:xfrm>
            <a:off x="2103438" y="2871216"/>
            <a:ext cx="3154680" cy="209550"/>
          </a:xfrm>
          <a:prstGeom prst="rect">
            <a:avLst/>
          </a:prstGeom>
          <a:noFill/>
        </p:spPr>
        <p:txBody>
          <a:bodyPr wrap="square" lIns="0" tIns="0" rIns="0" bIns="0">
            <a:spAutoFit/>
          </a:bodyPr>
          <a:lstStyle/>
          <a:p>
            <a:pPr>
              <a:lnSpc>
                <a:spcPct val="105000"/>
              </a:lnSpc>
              <a:spcAft>
                <a:spcPts val="200"/>
              </a:spcAft>
              <a:defRPr sz="1300" b="0">
                <a:solidFill>
                  <a:srgbClr val="0E2A47"/>
                </a:solidFill>
                <a:latin typeface="DejaVu Sans Mono"/>
              </a:defRPr>
            </a:pPr>
            <a:r>
              <a:t>fft_length = projector_height，例如 1080</a:t>
            </a:r>
          </a:p>
        </p:txBody>
      </p:sp>
      <p:sp>
        <p:nvSpPr>
          <p:cNvPr id="11" name="Rounded Rectangle 10"/>
          <p:cNvSpPr/>
          <p:nvPr/>
        </p:nvSpPr>
        <p:spPr>
          <a:xfrm>
            <a:off x="594678" y="3822191"/>
            <a:ext cx="5120640" cy="1508760"/>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566" y="4041648"/>
            <a:ext cx="1828800" cy="209550"/>
          </a:xfrm>
          <a:prstGeom prst="rect">
            <a:avLst/>
          </a:prstGeom>
          <a:noFill/>
        </p:spPr>
        <p:txBody>
          <a:bodyPr wrap="square" lIns="0" tIns="0" rIns="0" bIns="0">
            <a:spAutoFit/>
          </a:bodyPr>
          <a:lstStyle/>
          <a:p>
            <a:pPr>
              <a:lnSpc>
                <a:spcPct val="105000"/>
              </a:lnSpc>
              <a:spcAft>
                <a:spcPts val="200"/>
              </a:spcAft>
              <a:defRPr sz="1300" b="1">
                <a:solidFill>
                  <a:srgbClr val="D8E3EE"/>
                </a:solidFill>
                <a:latin typeface="Noto Sans CJK SC"/>
              </a:defRPr>
            </a:pPr>
            <a:r>
              <a:t>代码层面的核心差异</a:t>
            </a:r>
          </a:p>
        </p:txBody>
      </p:sp>
      <p:sp>
        <p:nvSpPr>
          <p:cNvPr id="13" name="TextBox 12"/>
          <p:cNvSpPr txBox="1"/>
          <p:nvPr/>
        </p:nvSpPr>
        <p:spPr>
          <a:xfrm>
            <a:off x="841565" y="4407408"/>
            <a:ext cx="4553712" cy="508635"/>
          </a:xfrm>
          <a:prstGeom prst="rect">
            <a:avLst/>
          </a:prstGeom>
          <a:noFill/>
        </p:spPr>
        <p:txBody>
          <a:bodyPr wrap="square" lIns="0" tIns="0" rIns="0" bIns="0">
            <a:spAutoFit/>
          </a:bodyPr>
          <a:lstStyle/>
          <a:p>
            <a:pPr algn="ctr">
              <a:lnSpc>
                <a:spcPct val="105000"/>
              </a:lnSpc>
              <a:spcAft>
                <a:spcPts val="200"/>
              </a:spcAft>
              <a:defRPr sz="1500" b="1">
                <a:solidFill>
                  <a:srgbClr val="FFFFFF"/>
                </a:solidFill>
                <a:latin typeface="DejaVu Sans Mono"/>
              </a:defRPr>
            </a:pPr>
            <a:r>
              <a:t>L = M：u_est = argmax * (N / M)</a:t>
            </a:r>
          </a:p>
          <a:p>
            <a:pPr algn="ctr">
              <a:lnSpc>
                <a:spcPct val="105000"/>
              </a:lnSpc>
              <a:spcAft>
                <a:spcPts val="200"/>
              </a:spcAft>
              <a:defRPr sz="1500" b="1">
                <a:solidFill>
                  <a:srgbClr val="FFFFFF"/>
                </a:solidFill>
                <a:latin typeface="DejaVu Sans Mono"/>
              </a:defRPr>
            </a:pPr>
            <a:r>
              <a:t>L = N：u_est = argmax</a:t>
            </a:r>
          </a:p>
        </p:txBody>
      </p:sp>
      <p:sp>
        <p:nvSpPr>
          <p:cNvPr id="14" name="Rounded Rectangle 13"/>
          <p:cNvSpPr/>
          <p:nvPr/>
        </p:nvSpPr>
        <p:spPr>
          <a:xfrm>
            <a:off x="6263958" y="2084831"/>
            <a:ext cx="5074920" cy="3246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0846" y="2331720"/>
            <a:ext cx="1554480" cy="225425"/>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t>记住三件事</a:t>
            </a:r>
          </a:p>
        </p:txBody>
      </p:sp>
      <p:sp>
        <p:nvSpPr>
          <p:cNvPr id="16" name="TextBox 15"/>
          <p:cNvSpPr txBox="1"/>
          <p:nvPr/>
        </p:nvSpPr>
        <p:spPr>
          <a:xfrm>
            <a:off x="6510846" y="2816352"/>
            <a:ext cx="4617720" cy="1074420"/>
          </a:xfrm>
          <a:prstGeom prst="rect">
            <a:avLst/>
          </a:prstGeom>
          <a:noFill/>
        </p:spPr>
        <p:txBody>
          <a:bodyPr wrap="square" lIns="0" tIns="0" rIns="0" bIns="0">
            <a:spAutoFit/>
          </a:bodyPr>
          <a:lstStyle/>
          <a:p>
            <a:pPr>
              <a:lnSpc>
                <a:spcPct val="112000"/>
              </a:lnSpc>
              <a:spcAft>
                <a:spcPts val="500"/>
              </a:spcAft>
            </a:pPr>
            <a:r>
              <a:rPr sz="1280" b="1">
                <a:solidFill>
                  <a:srgbClr val="0E7490"/>
                </a:solidFill>
                <a:latin typeface="Noto Sans CJK SC"/>
              </a:rPr>
              <a:t>•  </a:t>
            </a:r>
            <a:r>
              <a:rPr sz="1280" b="1">
                <a:solidFill>
                  <a:srgbClr val="0E2A47"/>
                </a:solidFill>
                <a:latin typeface="Noto Sans CJK SC"/>
              </a:rPr>
              <a:t>补零后 FFT 输出 N 个 bin：</a:t>
            </a:r>
            <a:r>
              <a:rPr sz="1280" b="1">
                <a:solidFill>
                  <a:srgbClr val="EF4444"/>
                </a:solidFill>
                <a:latin typeface="Noto Sans CJK SC"/>
              </a:rPr>
              <a:t>0 到 N−1。</a:t>
            </a:r>
            <a:endParaRPr sz="1280" b="1">
              <a:solidFill>
                <a:srgbClr val="EF4444"/>
              </a:solidFill>
              <a:latin typeface="Noto Sans CJK SC"/>
            </a:endParaRPr>
          </a:p>
          <a:p>
            <a:pPr>
              <a:lnSpc>
                <a:spcPct val="112000"/>
              </a:lnSpc>
              <a:spcAft>
                <a:spcPts val="500"/>
              </a:spcAft>
            </a:pPr>
            <a:r>
              <a:rPr sz="1280" b="1">
                <a:solidFill>
                  <a:srgbClr val="0E7490"/>
                </a:solidFill>
                <a:latin typeface="Noto Sans CJK SC"/>
              </a:rPr>
              <a:t>•  </a:t>
            </a:r>
            <a:r>
              <a:rPr sz="1280" b="0">
                <a:solidFill>
                  <a:srgbClr val="0E2A47"/>
                </a:solidFill>
                <a:latin typeface="Noto Sans CJK SC"/>
              </a:rPr>
              <a:t>当真实坐标 u 是像素整数时，</a:t>
            </a:r>
            <a:r>
              <a:rPr sz="1280" b="1">
                <a:solidFill>
                  <a:srgbClr val="0E7490"/>
                </a:solidFill>
                <a:latin typeface="Noto Sans CJK SC"/>
              </a:rPr>
              <a:t>N 点 FFT 的 q=u 刚好存在。</a:t>
            </a:r>
            <a:endParaRPr sz="1280" b="1">
              <a:solidFill>
                <a:srgbClr val="0E7490"/>
              </a:solidFill>
              <a:latin typeface="Noto Sans CJK SC"/>
            </a:endParaRPr>
          </a:p>
          <a:p>
            <a:pPr>
              <a:lnSpc>
                <a:spcPct val="112000"/>
              </a:lnSpc>
              <a:spcAft>
                <a:spcPts val="500"/>
              </a:spcAft>
            </a:pPr>
            <a:r>
              <a:rPr sz="1280" b="1">
                <a:solidFill>
                  <a:srgbClr val="0E7490"/>
                </a:solidFill>
                <a:latin typeface="Noto Sans CJK SC"/>
              </a:rPr>
              <a:t>•  </a:t>
            </a:r>
            <a:r>
              <a:rPr sz="1280" b="0">
                <a:solidFill>
                  <a:srgbClr val="0E2A47"/>
                </a:solidFill>
                <a:latin typeface="Noto Sans CJK SC"/>
              </a:rPr>
              <a:t>补零提升的是峰值定位网格，</a:t>
            </a:r>
            <a:r>
              <a:rPr sz="1280" b="1">
                <a:solidFill>
                  <a:srgbClr val="EF4444"/>
                </a:solidFill>
                <a:latin typeface="Noto Sans CJK SC"/>
              </a:rPr>
              <a:t>不是采集信息量。</a:t>
            </a:r>
            <a:endParaRPr sz="1280" b="1">
              <a:solidFill>
                <a:srgbClr val="EF4444"/>
              </a:solidFill>
              <a:latin typeface="Noto Sans CJK SC"/>
            </a:endParaRPr>
          </a:p>
          <a:p>
            <a:pPr>
              <a:lnSpc>
                <a:spcPct val="112000"/>
              </a:lnSpc>
              <a:spcAft>
                <a:spcPts val="500"/>
              </a:spcAft>
            </a:pPr>
            <a:r>
              <a:rPr sz="1280" b="1">
                <a:solidFill>
                  <a:srgbClr val="0E7490"/>
                </a:solidFill>
                <a:latin typeface="Noto Sans CJK SC"/>
              </a:rPr>
              <a:t>•  </a:t>
            </a:r>
            <a:r>
              <a:rPr sz="1280" b="0">
                <a:solidFill>
                  <a:srgbClr val="0E2A47"/>
                </a:solidFill>
                <a:latin typeface="Noto Sans CJK SC"/>
              </a:rPr>
              <a:t>仍可配合质心 / 抛物线拟合做亚像素估计。</a:t>
            </a:r>
            <a:endParaRPr sz="1280" b="0">
              <a:solidFill>
                <a:srgbClr val="0E2A47"/>
              </a:solidFill>
              <a:latin typeface="Noto Sans CJK SC"/>
            </a:endParaRPr>
          </a:p>
        </p:txBody>
      </p:sp>
      <p:sp>
        <p:nvSpPr>
          <p:cNvPr id="17" name="Rounded Rectangle 16"/>
          <p:cNvSpPr/>
          <p:nvPr/>
        </p:nvSpPr>
        <p:spPr>
          <a:xfrm>
            <a:off x="6510846" y="4663440"/>
            <a:ext cx="4617720" cy="411480"/>
          </a:xfrm>
          <a:prstGeom prst="roundRect">
            <a:avLst/>
          </a:prstGeom>
          <a:solidFill>
            <a:srgbClr val="ECFEFF"/>
          </a:solidFill>
          <a:ln w="12700">
            <a:solidFill>
              <a:srgbClr val="A5F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3726" y="4800600"/>
            <a:ext cx="4251960" cy="186690"/>
          </a:xfrm>
          <a:prstGeom prst="rect">
            <a:avLst/>
          </a:prstGeom>
          <a:noFill/>
        </p:spPr>
        <p:txBody>
          <a:bodyPr wrap="square" lIns="0" tIns="0" rIns="0" bIns="0">
            <a:spAutoFit/>
          </a:bodyPr>
          <a:lstStyle/>
          <a:p>
            <a:pPr algn="ctr">
              <a:lnSpc>
                <a:spcPct val="105000"/>
              </a:lnSpc>
              <a:spcAft>
                <a:spcPts val="200"/>
              </a:spcAft>
              <a:defRPr sz="1160" b="1">
                <a:solidFill>
                  <a:srgbClr val="0E7490"/>
                </a:solidFill>
                <a:latin typeface="Noto Sans CJK SC"/>
              </a:defRPr>
            </a:pPr>
            <a:r>
              <a:t>最终解释：用投影仪像素坐标尺度去“读”同一段频谱。</a:t>
            </a:r>
          </a:p>
        </p:txBody>
      </p:sp>
      <p:sp>
        <p:nvSpPr>
          <p:cNvPr id="19" name="TextBox 18"/>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20" name="TextBox 19"/>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21" name="TextBox 20"/>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34 / 49</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常见错误</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FFT 长度设错 → 三维重建出现量化阶梯</a:t>
            </a:r>
            <a:endParaRPr lang="en-US" sz="2900" dirty="0"/>
          </a:p>
        </p:txBody>
      </p:sp>
      <p:sp>
        <p:nvSpPr>
          <p:cNvPr id="5" name="Shape 3"/>
          <p:cNvSpPr/>
          <p:nvPr/>
        </p:nvSpPr>
        <p:spPr>
          <a:xfrm>
            <a:off x="566928" y="1591056"/>
            <a:ext cx="11055096" cy="2743200"/>
          </a:xfrm>
          <a:prstGeom prst="roundRect">
            <a:avLst>
              <a:gd name="adj" fmla="val 30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768096" y="1700784"/>
            <a:ext cx="1005840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错误 fft_length = M  vs  正确 fft_length = proj_dim</a:t>
            </a:r>
            <a:endParaRPr lang="en-US" sz="1200" dirty="0"/>
          </a:p>
        </p:txBody>
      </p:sp>
      <p:pic>
        <p:nvPicPr>
          <p:cNvPr id="7" name="Image 0" descr="/home/claude/work/assets/fig_quantization.png"/>
          <p:cNvPicPr>
            <a:picLocks noChangeAspect="1"/>
          </p:cNvPicPr>
          <p:nvPr/>
        </p:nvPicPr>
        <p:blipFill>
          <a:blip r:embed="rId1"/>
          <a:stretch>
            <a:fillRect/>
          </a:stretch>
        </p:blipFill>
        <p:spPr>
          <a:xfrm>
            <a:off x="2253996" y="2121408"/>
            <a:ext cx="7680960" cy="2999085"/>
          </a:xfrm>
          <a:prstGeom prst="rect">
            <a:avLst/>
          </a:prstGeom>
        </p:spPr>
      </p:pic>
      <p:sp>
        <p:nvSpPr>
          <p:cNvPr id="8" name="Shape 5"/>
          <p:cNvSpPr/>
          <p:nvPr/>
        </p:nvSpPr>
        <p:spPr>
          <a:xfrm>
            <a:off x="566928" y="4498848"/>
            <a:ext cx="6903720" cy="1463040"/>
          </a:xfrm>
          <a:prstGeom prst="roundRect">
            <a:avLst>
              <a:gd name="adj" fmla="val 5625"/>
            </a:avLst>
          </a:prstGeom>
          <a:solidFill>
            <a:srgbClr val="F2F5F9"/>
          </a:solidFill>
          <a:ln w="12700">
            <a:solidFill>
              <a:srgbClr val="E2E8F0"/>
            </a:solidFill>
            <a:prstDash val="solid"/>
          </a:ln>
        </p:spPr>
        <p:txBody>
          <a:bodyPr/>
          <a:lstStyle/>
          <a:p>
            <a:endParaRPr lang="zh-CN" altLang="en-US"/>
          </a:p>
        </p:txBody>
      </p:sp>
      <p:sp>
        <p:nvSpPr>
          <p:cNvPr id="9" name="Text 6"/>
          <p:cNvSpPr/>
          <p:nvPr/>
        </p:nvSpPr>
        <p:spPr>
          <a:xfrm>
            <a:off x="768096" y="4608576"/>
            <a:ext cx="6583680" cy="1280160"/>
          </a:xfrm>
          <a:prstGeom prst="rect">
            <a:avLst/>
          </a:prstGeom>
          <a:noFill/>
        </p:spPr>
        <p:txBody>
          <a:bodyPr wrap="square" lIns="0" tIns="0" rIns="0" bIns="0" rtlCol="0" anchor="t"/>
          <a:lstStyle/>
          <a:p>
            <a:pPr marL="177800" indent="-177800">
              <a:spcAft>
                <a:spcPts val="700"/>
              </a:spcAft>
              <a:buSzPct val="100000"/>
              <a:buChar char="•"/>
            </a:pPr>
            <a:r>
              <a:rPr lang="en-US" sz="1080" b="1" dirty="0">
                <a:solidFill>
                  <a:srgbClr val="EF4444"/>
                </a:solidFill>
                <a:latin typeface="Noto Sans CJK SC" pitchFamily="34" charset="0"/>
                <a:ea typeface="Noto Sans CJK SC" pitchFamily="34" charset="-122"/>
                <a:cs typeface="Noto Sans CJK SC" pitchFamily="34" charset="-120"/>
              </a:rPr>
              <a:t>若标准模式下误用 fft_length = M，频谱只有 M 个 bin。</a:t>
            </a:r>
            <a:endParaRPr lang="en-US" sz="1080" dirty="0"/>
          </a:p>
          <a:p>
            <a:pPr marL="177800" indent="-177800">
              <a:spcAft>
                <a:spcPts val="700"/>
              </a:spcAft>
              <a:buSzPct val="100000"/>
              <a:buChar char="•"/>
            </a:pPr>
            <a:r>
              <a:rPr lang="en-US" sz="1080" dirty="0">
                <a:solidFill>
                  <a:srgbClr val="1E293B"/>
                </a:solidFill>
                <a:latin typeface="Noto Sans CJK SC" pitchFamily="34" charset="0"/>
                <a:ea typeface="Noto Sans CJK SC" pitchFamily="34" charset="-122"/>
                <a:cs typeface="Noto Sans CJK SC" pitchFamily="34" charset="-120"/>
              </a:rPr>
              <a:t>argmax 只能返回整数索引，乘以换算比例后 disparity 只能取离散值。</a:t>
            </a:r>
            <a:endParaRPr lang="en-US" sz="1080" dirty="0"/>
          </a:p>
          <a:p>
            <a:pPr marL="177800" indent="-177800">
              <a:spcAft>
                <a:spcPts val="700"/>
              </a:spcAft>
              <a:buSzPct val="100000"/>
              <a:buChar char="•"/>
            </a:pPr>
            <a:r>
              <a:rPr lang="en-US" sz="1080" b="1" dirty="0">
                <a:solidFill>
                  <a:srgbClr val="22C55E"/>
                </a:solidFill>
                <a:latin typeface="Noto Sans CJK SC" pitchFamily="34" charset="0"/>
                <a:ea typeface="Noto Sans CJK SC" pitchFamily="34" charset="-122"/>
                <a:cs typeface="Noto Sans CJK SC" pitchFamily="34" charset="-120"/>
              </a:rPr>
              <a:t>恢复 fft_length = 投影仪分辨率后，最小步长回到 1 个投影仪像素。</a:t>
            </a:r>
            <a:endParaRPr lang="en-US" sz="1080" dirty="0"/>
          </a:p>
        </p:txBody>
      </p:sp>
      <p:sp>
        <p:nvSpPr>
          <p:cNvPr id="10" name="Shape 7"/>
          <p:cNvSpPr/>
          <p:nvPr/>
        </p:nvSpPr>
        <p:spPr>
          <a:xfrm>
            <a:off x="7680960" y="4498848"/>
            <a:ext cx="3941064" cy="1463040"/>
          </a:xfrm>
          <a:prstGeom prst="roundRect">
            <a:avLst>
              <a:gd name="adj" fmla="val 4375"/>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1" name="Text 8"/>
          <p:cNvSpPr/>
          <p:nvPr/>
        </p:nvSpPr>
        <p:spPr>
          <a:xfrm>
            <a:off x="7772400" y="4498848"/>
            <a:ext cx="3758184" cy="1463040"/>
          </a:xfrm>
          <a:prstGeom prst="rect">
            <a:avLst/>
          </a:prstGeom>
          <a:noFill/>
        </p:spPr>
        <p:txBody>
          <a:bodyPr wrap="square" lIns="0" tIns="0" rIns="0" bIns="0" rtlCol="0" anchor="ctr"/>
          <a:lstStyle/>
          <a:p>
            <a:pPr marL="0" indent="0" algn="ctr">
              <a:buNone/>
            </a:pPr>
            <a:r>
              <a:rPr lang="en-US" sz="1700" b="1" dirty="0">
                <a:solidFill>
                  <a:srgbClr val="EF4444"/>
                </a:solidFill>
                <a:latin typeface="DejaVu Sans Mono" pitchFamily="34" charset="0"/>
                <a:ea typeface="DejaVu Sans Mono" pitchFamily="34" charset="-122"/>
                <a:cs typeface="DejaVu Sans Mono" pitchFamily="34" charset="-120"/>
              </a:rPr>
              <a:t>1920 / 340</a:t>
            </a:r>
            <a:endParaRPr lang="en-US" sz="1700" dirty="0"/>
          </a:p>
          <a:p>
            <a:pPr marL="0" indent="0" algn="ctr">
              <a:buNone/>
            </a:pPr>
            <a:r>
              <a:rPr lang="en-US" sz="1700" b="1" dirty="0">
                <a:solidFill>
                  <a:srgbClr val="EF4444"/>
                </a:solidFill>
                <a:latin typeface="DejaVu Sans Mono" pitchFamily="34" charset="0"/>
                <a:ea typeface="DejaVu Sans Mono" pitchFamily="34" charset="-122"/>
                <a:cs typeface="DejaVu Sans Mono" pitchFamily="34" charset="-120"/>
              </a:rPr>
              <a:t>≈ 5.65 px / bin</a:t>
            </a:r>
            <a:endParaRPr lang="en-US" sz="1700" dirty="0"/>
          </a:p>
        </p:txBody>
      </p:sp>
      <p:sp>
        <p:nvSpPr>
          <p:cNvPr id="12" name="Text 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3" name="Text 1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14" name="Text 1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28 / 42</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半步长</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frequency_step = 0.5 不能伪装成 1.0</a:t>
            </a:r>
            <a:endParaRPr lang="en-US" sz="2900" dirty="0"/>
          </a:p>
        </p:txBody>
      </p:sp>
      <p:sp>
        <p:nvSpPr>
          <p:cNvPr id="5" name="Shape 3"/>
          <p:cNvSpPr/>
          <p:nvPr/>
        </p:nvSpPr>
        <p:spPr>
          <a:xfrm>
            <a:off x="566928" y="1591056"/>
            <a:ext cx="11055096" cy="2286000"/>
          </a:xfrm>
          <a:prstGeom prst="roundRect">
            <a:avLst>
              <a:gd name="adj" fmla="val 36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579120" y="1248156"/>
            <a:ext cx="4603242" cy="301752"/>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整步 1.0  与  半步 0.5  的频率轴</a:t>
            </a:r>
            <a:endParaRPr lang="en-US" sz="1200" dirty="0"/>
          </a:p>
        </p:txBody>
      </p:sp>
      <p:pic>
        <p:nvPicPr>
          <p:cNvPr id="7" name="Image 0" descr="/home/claude/work/assets/fig_halfstep.png"/>
          <p:cNvPicPr>
            <a:picLocks noChangeAspect="1"/>
          </p:cNvPicPr>
          <p:nvPr/>
        </p:nvPicPr>
        <p:blipFill>
          <a:blip r:embed="rId1"/>
          <a:stretch>
            <a:fillRect/>
          </a:stretch>
        </p:blipFill>
        <p:spPr>
          <a:xfrm>
            <a:off x="2808732" y="1664208"/>
            <a:ext cx="7863840" cy="2662828"/>
          </a:xfrm>
          <a:prstGeom prst="rect">
            <a:avLst/>
          </a:prstGeom>
        </p:spPr>
      </p:pic>
      <p:sp>
        <p:nvSpPr>
          <p:cNvPr id="8" name="Shape 5"/>
          <p:cNvSpPr/>
          <p:nvPr/>
        </p:nvSpPr>
        <p:spPr>
          <a:xfrm>
            <a:off x="566928" y="4041648"/>
            <a:ext cx="5376672" cy="1207008"/>
          </a:xfrm>
          <a:prstGeom prst="roundRect">
            <a:avLst>
              <a:gd name="adj" fmla="val 68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Shape 6"/>
          <p:cNvSpPr/>
          <p:nvPr/>
        </p:nvSpPr>
        <p:spPr>
          <a:xfrm>
            <a:off x="566928" y="4041648"/>
            <a:ext cx="5376672" cy="82296"/>
          </a:xfrm>
          <a:prstGeom prst="rect">
            <a:avLst/>
          </a:prstGeom>
          <a:solidFill>
            <a:srgbClr val="EF4444"/>
          </a:solidFill>
          <a:ln w="12700">
            <a:solidFill>
              <a:srgbClr val="EF4444"/>
            </a:solidFill>
            <a:prstDash val="solid"/>
          </a:ln>
        </p:spPr>
        <p:txBody>
          <a:bodyPr/>
          <a:lstStyle/>
          <a:p>
            <a:endParaRPr lang="zh-CN" altLang="en-US"/>
          </a:p>
        </p:txBody>
      </p:sp>
      <p:sp>
        <p:nvSpPr>
          <p:cNvPr id="10" name="Text 7"/>
          <p:cNvSpPr/>
          <p:nvPr/>
        </p:nvSpPr>
        <p:spPr>
          <a:xfrm>
            <a:off x="822960" y="4187952"/>
            <a:ext cx="4919472" cy="310896"/>
          </a:xfrm>
          <a:prstGeom prst="rect">
            <a:avLst/>
          </a:prstGeom>
          <a:noFill/>
        </p:spPr>
        <p:txBody>
          <a:bodyPr wrap="square" lIns="0" tIns="0" rIns="0" bIns="0" rtlCol="0" anchor="ctr"/>
          <a:lstStyle/>
          <a:p>
            <a:pPr marL="0" indent="0">
              <a:buNone/>
            </a:pPr>
            <a:r>
              <a:rPr lang="en-US" sz="1300" b="1" dirty="0">
                <a:solidFill>
                  <a:srgbClr val="EF4444"/>
                </a:solidFill>
                <a:latin typeface="Noto Sans CJK SC" pitchFamily="34" charset="0"/>
                <a:ea typeface="Noto Sans CJK SC" pitchFamily="34" charset="-122"/>
                <a:cs typeface="Noto Sans CJK SC" pitchFamily="34" charset="-120"/>
              </a:rPr>
              <a:t>错误做法</a:t>
            </a:r>
            <a:endParaRPr lang="en-US" sz="1300" dirty="0"/>
          </a:p>
        </p:txBody>
      </p:sp>
      <p:sp>
        <p:nvSpPr>
          <p:cNvPr id="11" name="Text 8"/>
          <p:cNvSpPr/>
          <p:nvPr/>
        </p:nvSpPr>
        <p:spPr>
          <a:xfrm>
            <a:off x="822960" y="4498848"/>
            <a:ext cx="4864608" cy="658368"/>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把 frequency_step=0.5 的数据直接当作 1.0 处理，沿用 fft_length=proj_dim。</a:t>
            </a:r>
            <a:endParaRPr lang="en-US" sz="1100" dirty="0"/>
          </a:p>
        </p:txBody>
      </p:sp>
      <p:sp>
        <p:nvSpPr>
          <p:cNvPr id="12" name="Shape 9"/>
          <p:cNvSpPr/>
          <p:nvPr/>
        </p:nvSpPr>
        <p:spPr>
          <a:xfrm>
            <a:off x="6245352" y="4041648"/>
            <a:ext cx="5376672" cy="1207008"/>
          </a:xfrm>
          <a:prstGeom prst="roundRect">
            <a:avLst>
              <a:gd name="adj" fmla="val 68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3" name="Shape 10"/>
          <p:cNvSpPr/>
          <p:nvPr/>
        </p:nvSpPr>
        <p:spPr>
          <a:xfrm>
            <a:off x="6245352" y="4041648"/>
            <a:ext cx="5376672" cy="82296"/>
          </a:xfrm>
          <a:prstGeom prst="rect">
            <a:avLst/>
          </a:prstGeom>
          <a:solidFill>
            <a:srgbClr val="22C55E"/>
          </a:solidFill>
          <a:ln w="12700">
            <a:solidFill>
              <a:srgbClr val="22C55E"/>
            </a:solidFill>
            <a:prstDash val="solid"/>
          </a:ln>
        </p:spPr>
        <p:txBody>
          <a:bodyPr/>
          <a:lstStyle/>
          <a:p>
            <a:endParaRPr lang="zh-CN" altLang="en-US"/>
          </a:p>
        </p:txBody>
      </p:sp>
      <p:sp>
        <p:nvSpPr>
          <p:cNvPr id="14" name="Text 11"/>
          <p:cNvSpPr/>
          <p:nvPr/>
        </p:nvSpPr>
        <p:spPr>
          <a:xfrm>
            <a:off x="6501384" y="4187952"/>
            <a:ext cx="4919472" cy="310896"/>
          </a:xfrm>
          <a:prstGeom prst="rect">
            <a:avLst/>
          </a:prstGeom>
          <a:noFill/>
        </p:spPr>
        <p:txBody>
          <a:bodyPr wrap="square" lIns="0" tIns="0" rIns="0" bIns="0" rtlCol="0" anchor="ctr"/>
          <a:lstStyle/>
          <a:p>
            <a:pPr marL="0" indent="0">
              <a:buNone/>
            </a:pPr>
            <a:r>
              <a:rPr lang="en-US" sz="1300" b="1" dirty="0">
                <a:solidFill>
                  <a:srgbClr val="22C55E"/>
                </a:solidFill>
                <a:latin typeface="Noto Sans CJK SC" pitchFamily="34" charset="0"/>
                <a:ea typeface="Noto Sans CJK SC" pitchFamily="34" charset="-122"/>
                <a:cs typeface="Noto Sans CJK SC" pitchFamily="34" charset="-120"/>
              </a:rPr>
              <a:t>正确认识</a:t>
            </a:r>
            <a:endParaRPr lang="en-US" sz="1300" dirty="0"/>
          </a:p>
        </p:txBody>
      </p:sp>
      <p:sp>
        <p:nvSpPr>
          <p:cNvPr id="15" name="Text 12"/>
          <p:cNvSpPr/>
          <p:nvPr/>
        </p:nvSpPr>
        <p:spPr>
          <a:xfrm>
            <a:off x="6501384" y="4498848"/>
            <a:ext cx="4864608" cy="658368"/>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步长减半 → </a:t>
            </a:r>
            <a:r>
              <a:rPr lang="en-US" sz="1100" dirty="0">
                <a:solidFill>
                  <a:srgbClr val="FF0000"/>
                </a:solidFill>
                <a:latin typeface="Noto Sans CJK SC" pitchFamily="34" charset="0"/>
                <a:ea typeface="Noto Sans CJK SC" pitchFamily="34" charset="-122"/>
                <a:cs typeface="Noto Sans CJK SC" pitchFamily="34" charset="-120"/>
              </a:rPr>
              <a:t>相位增量减半</a:t>
            </a:r>
            <a:r>
              <a:rPr lang="en-US" sz="1100" dirty="0">
                <a:solidFill>
                  <a:srgbClr val="1E293B"/>
                </a:solidFill>
                <a:latin typeface="Noto Sans CJK SC" pitchFamily="34" charset="0"/>
                <a:ea typeface="Noto Sans CJK SC" pitchFamily="34" charset="-122"/>
                <a:cs typeface="Noto Sans CJK SC" pitchFamily="34" charset="-120"/>
              </a:rPr>
              <a:t> → </a:t>
            </a:r>
            <a:r>
              <a:rPr lang="en-US" sz="1100" dirty="0">
                <a:solidFill>
                  <a:srgbClr val="FF0000"/>
                </a:solidFill>
                <a:latin typeface="Noto Sans CJK SC" pitchFamily="34" charset="0"/>
                <a:ea typeface="Noto Sans CJK SC" pitchFamily="34" charset="-122"/>
                <a:cs typeface="Noto Sans CJK SC" pitchFamily="34" charset="-120"/>
              </a:rPr>
              <a:t>频谱坐标尺度改变</a:t>
            </a:r>
            <a:r>
              <a:rPr lang="en-US" sz="1100" dirty="0">
                <a:solidFill>
                  <a:srgbClr val="1E293B"/>
                </a:solidFill>
                <a:latin typeface="Noto Sans CJK SC" pitchFamily="34" charset="0"/>
                <a:ea typeface="Noto Sans CJK SC" pitchFamily="34" charset="-122"/>
                <a:cs typeface="Noto Sans CJK SC" pitchFamily="34" charset="-120"/>
              </a:rPr>
              <a:t>，必须显式调整 FFT 长度与映射。</a:t>
            </a:r>
            <a:endParaRPr lang="en-US" sz="1100" dirty="0"/>
          </a:p>
        </p:txBody>
      </p:sp>
      <p:sp>
        <p:nvSpPr>
          <p:cNvPr id="16" name="Shape 13"/>
          <p:cNvSpPr/>
          <p:nvPr/>
        </p:nvSpPr>
        <p:spPr>
          <a:xfrm>
            <a:off x="566928" y="5358384"/>
            <a:ext cx="11055096" cy="603504"/>
          </a:xfrm>
          <a:prstGeom prst="roundRect">
            <a:avLst>
              <a:gd name="adj" fmla="val 13636"/>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7" name="Text 14"/>
          <p:cNvSpPr/>
          <p:nvPr/>
        </p:nvSpPr>
        <p:spPr>
          <a:xfrm>
            <a:off x="566928" y="5358384"/>
            <a:ext cx="11055096" cy="603504"/>
          </a:xfrm>
          <a:prstGeom prst="rect">
            <a:avLst/>
          </a:prstGeom>
          <a:noFill/>
        </p:spPr>
        <p:txBody>
          <a:bodyPr wrap="square" lIns="0" tIns="0" rIns="0" bIns="0" rtlCol="0" anchor="ctr"/>
          <a:lstStyle/>
          <a:p>
            <a:pPr marL="0" indent="0" algn="ctr">
              <a:buNone/>
            </a:pPr>
            <a:r>
              <a:rPr lang="en-US" sz="1150" dirty="0">
                <a:solidFill>
                  <a:srgbClr val="22D3EE"/>
                </a:solidFill>
                <a:latin typeface="Noto Sans CJK SC" pitchFamily="34" charset="0"/>
                <a:ea typeface="Noto Sans CJK SC" pitchFamily="34" charset="-122"/>
                <a:cs typeface="Noto Sans CJK SC" pitchFamily="34" charset="-120"/>
              </a:rPr>
              <a:t>关键：frequency_step 改变了「</a:t>
            </a:r>
            <a:r>
              <a:rPr lang="en-US" sz="1150" dirty="0">
                <a:solidFill>
                  <a:srgbClr val="FF0000"/>
                </a:solidFill>
                <a:latin typeface="Noto Sans CJK SC" pitchFamily="34" charset="0"/>
                <a:ea typeface="Noto Sans CJK SC" pitchFamily="34" charset="-122"/>
                <a:cs typeface="Noto Sans CJK SC" pitchFamily="34" charset="-120"/>
              </a:rPr>
              <a:t>k 每加 1 相位转多少</a:t>
            </a:r>
            <a:r>
              <a:rPr lang="en-US" sz="1150" dirty="0">
                <a:solidFill>
                  <a:srgbClr val="22D3EE"/>
                </a:solidFill>
                <a:latin typeface="Noto Sans CJK SC" pitchFamily="34" charset="0"/>
                <a:ea typeface="Noto Sans CJK SC" pitchFamily="34" charset="-122"/>
                <a:cs typeface="Noto Sans CJK SC" pitchFamily="34" charset="-120"/>
              </a:rPr>
              <a:t>」，因此 FFT 长度与坐标换算都要随之改变。</a:t>
            </a:r>
            <a:endParaRPr lang="en-US" sz="1150" dirty="0"/>
          </a:p>
        </p:txBody>
      </p:sp>
      <p:sp>
        <p:nvSpPr>
          <p:cNvPr id="18" name="Text 15"/>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9" name="Text 16"/>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20" name="Text 17"/>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29 / 42</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通用公式</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任意 frequency_step 的坐标映射公式</a:t>
            </a:r>
            <a:endParaRPr lang="en-US" sz="2900" dirty="0"/>
          </a:p>
        </p:txBody>
      </p:sp>
      <p:sp>
        <p:nvSpPr>
          <p:cNvPr id="5" name="Shape 3"/>
          <p:cNvSpPr/>
          <p:nvPr/>
        </p:nvSpPr>
        <p:spPr>
          <a:xfrm>
            <a:off x="566928" y="1627632"/>
            <a:ext cx="11055096" cy="914400"/>
          </a:xfrm>
          <a:prstGeom prst="roundRect">
            <a:avLst>
              <a:gd name="adj" fmla="val 700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658368" y="1627632"/>
            <a:ext cx="10872216" cy="914400"/>
          </a:xfrm>
          <a:prstGeom prst="rect">
            <a:avLst/>
          </a:prstGeom>
          <a:noFill/>
        </p:spPr>
        <p:txBody>
          <a:bodyPr wrap="square" lIns="0" tIns="0" rIns="0" bIns="0" rtlCol="0" anchor="ctr"/>
          <a:lstStyle/>
          <a:p>
            <a:pPr marL="0" indent="0" algn="ctr">
              <a:buNone/>
            </a:pPr>
            <a:r>
              <a:rPr lang="en-US" sz="2000" b="1" dirty="0">
                <a:solidFill>
                  <a:srgbClr val="22D3EE"/>
                </a:solidFill>
                <a:latin typeface="Noto Sans CJK SC" pitchFamily="34" charset="0"/>
                <a:ea typeface="Noto Sans CJK SC" pitchFamily="34" charset="-122"/>
                <a:cs typeface="Noto Sans CJK SC" pitchFamily="34" charset="-120"/>
              </a:rPr>
              <a:t>coord_scale  =  proj_dim  /  ( fft_length × frequency_step )</a:t>
            </a:r>
            <a:endParaRPr lang="en-US" sz="2000" dirty="0"/>
          </a:p>
        </p:txBody>
      </p:sp>
      <p:sp>
        <p:nvSpPr>
          <p:cNvPr id="7" name="Text 5"/>
          <p:cNvSpPr/>
          <p:nvPr/>
        </p:nvSpPr>
        <p:spPr>
          <a:xfrm>
            <a:off x="566928" y="2615184"/>
            <a:ext cx="10972800" cy="274320"/>
          </a:xfrm>
          <a:prstGeom prst="rect">
            <a:avLst/>
          </a:prstGeom>
          <a:noFill/>
        </p:spPr>
        <p:txBody>
          <a:bodyPr wrap="square" lIns="0" tIns="0" rIns="0" bIns="0" rtlCol="0" anchor="ctr"/>
          <a:lstStyle/>
          <a:p>
            <a:pPr marL="0" indent="0" algn="ctr">
              <a:buNone/>
            </a:pPr>
            <a:r>
              <a:rPr lang="en-US" sz="1050" dirty="0">
                <a:solidFill>
                  <a:srgbClr val="94A3B8"/>
                </a:solidFill>
                <a:latin typeface="Noto Sans CJK SC" pitchFamily="34" charset="0"/>
                <a:ea typeface="Noto Sans CJK SC" pitchFamily="34" charset="-122"/>
                <a:cs typeface="Noto Sans CJK SC" pitchFamily="34" charset="-120"/>
              </a:rPr>
              <a:t>由「频谱 bin 间隔」与「投影仪坐标间隔」的对应关系推导得出。</a:t>
            </a:r>
            <a:endParaRPr lang="en-US" sz="1050" dirty="0"/>
          </a:p>
        </p:txBody>
      </p:sp>
      <p:sp>
        <p:nvSpPr>
          <p:cNvPr id="8" name="Shape 6"/>
          <p:cNvSpPr/>
          <p:nvPr/>
        </p:nvSpPr>
        <p:spPr>
          <a:xfrm>
            <a:off x="566928" y="3072384"/>
            <a:ext cx="5376672" cy="2139696"/>
          </a:xfrm>
          <a:prstGeom prst="roundRect">
            <a:avLst>
              <a:gd name="adj" fmla="val 3846"/>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Shape 7"/>
          <p:cNvSpPr/>
          <p:nvPr/>
        </p:nvSpPr>
        <p:spPr>
          <a:xfrm>
            <a:off x="566928" y="3072384"/>
            <a:ext cx="5376672" cy="82296"/>
          </a:xfrm>
          <a:prstGeom prst="rect">
            <a:avLst/>
          </a:prstGeom>
          <a:solidFill>
            <a:srgbClr val="3B82F6"/>
          </a:solidFill>
          <a:ln w="12700">
            <a:solidFill>
              <a:srgbClr val="3B82F6"/>
            </a:solidFill>
            <a:prstDash val="solid"/>
          </a:ln>
        </p:spPr>
        <p:txBody>
          <a:bodyPr/>
          <a:lstStyle/>
          <a:p>
            <a:endParaRPr lang="zh-CN" altLang="en-US"/>
          </a:p>
        </p:txBody>
      </p:sp>
      <p:sp>
        <p:nvSpPr>
          <p:cNvPr id="10" name="Text 8"/>
          <p:cNvSpPr/>
          <p:nvPr/>
        </p:nvSpPr>
        <p:spPr>
          <a:xfrm>
            <a:off x="822960" y="3236976"/>
            <a:ext cx="4919472" cy="329184"/>
          </a:xfrm>
          <a:prstGeom prst="rect">
            <a:avLst/>
          </a:prstGeom>
          <a:noFill/>
        </p:spPr>
        <p:txBody>
          <a:bodyPr wrap="square" lIns="0" tIns="0" rIns="0" bIns="0" rtlCol="0" anchor="ctr"/>
          <a:lstStyle/>
          <a:p>
            <a:pPr marL="0" indent="0">
              <a:buNone/>
            </a:pPr>
            <a:r>
              <a:rPr lang="en-US" sz="1300" b="1" dirty="0">
                <a:solidFill>
                  <a:srgbClr val="3B82F6"/>
                </a:solidFill>
                <a:latin typeface="Noto Sans CJK SC" pitchFamily="34" charset="0"/>
                <a:ea typeface="Noto Sans CJK SC" pitchFamily="34" charset="-122"/>
                <a:cs typeface="Noto Sans CJK SC" pitchFamily="34" charset="-120"/>
              </a:rPr>
              <a:t>代入 frequency_step = 1.0</a:t>
            </a:r>
            <a:endParaRPr lang="en-US" sz="1300" dirty="0"/>
          </a:p>
        </p:txBody>
      </p:sp>
      <p:sp>
        <p:nvSpPr>
          <p:cNvPr id="11" name="Shape 9"/>
          <p:cNvSpPr/>
          <p:nvPr/>
        </p:nvSpPr>
        <p:spPr>
          <a:xfrm>
            <a:off x="822960" y="3657600"/>
            <a:ext cx="4864608" cy="841248"/>
          </a:xfrm>
          <a:prstGeom prst="roundRect">
            <a:avLst>
              <a:gd name="adj" fmla="val 6522"/>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1024128" y="3785616"/>
            <a:ext cx="4498848" cy="585216"/>
          </a:xfrm>
          <a:prstGeom prst="rect">
            <a:avLst/>
          </a:prstGeom>
          <a:noFill/>
        </p:spPr>
        <p:txBody>
          <a:bodyPr wrap="square" lIns="0" tIns="0" rIns="0" bIns="0" rtlCol="0" anchor="t"/>
          <a:lstStyle/>
          <a:p>
            <a:pPr marL="0" indent="0" algn="l">
              <a:lnSpc>
                <a:spcPts val="1275"/>
              </a:lnSpc>
              <a:buNone/>
            </a:pPr>
            <a:r>
              <a:rPr lang="en-US" sz="950" dirty="0">
                <a:solidFill>
                  <a:srgbClr val="D7E6F2"/>
                </a:solidFill>
                <a:latin typeface="DejaVu Sans Mono" pitchFamily="34" charset="0"/>
                <a:ea typeface="DejaVu Sans Mono" pitchFamily="34" charset="-122"/>
                <a:cs typeface="DejaVu Sans Mono" pitchFamily="34" charset="-120"/>
              </a:rPr>
              <a:t>fft_length = proj_dim</a:t>
            </a:r>
            <a:endParaRPr lang="en-US" sz="950" dirty="0"/>
          </a:p>
          <a:p>
            <a:pPr marL="0" indent="0" algn="l">
              <a:lnSpc>
                <a:spcPts val="1275"/>
              </a:lnSpc>
              <a:buNone/>
            </a:pPr>
            <a:r>
              <a:rPr lang="en-US" sz="950" dirty="0">
                <a:solidFill>
                  <a:srgbClr val="D7E6F2"/>
                </a:solidFill>
                <a:latin typeface="DejaVu Sans Mono" pitchFamily="34" charset="0"/>
                <a:ea typeface="DejaVu Sans Mono" pitchFamily="34" charset="-122"/>
                <a:cs typeface="DejaVu Sans Mono" pitchFamily="34" charset="-120"/>
              </a:rPr>
              <a:t>coord_scale = proj_dim / (proj_dim × 1.0) = 1.0</a:t>
            </a:r>
            <a:endParaRPr lang="en-US" sz="950" dirty="0"/>
          </a:p>
        </p:txBody>
      </p:sp>
      <p:sp>
        <p:nvSpPr>
          <p:cNvPr id="13" name="Shape 11"/>
          <p:cNvSpPr/>
          <p:nvPr/>
        </p:nvSpPr>
        <p:spPr>
          <a:xfrm>
            <a:off x="822960" y="4590288"/>
            <a:ext cx="4864608" cy="457200"/>
          </a:xfrm>
          <a:prstGeom prst="roundRect">
            <a:avLst>
              <a:gd name="adj" fmla="val 18000"/>
            </a:avLst>
          </a:prstGeom>
          <a:solidFill>
            <a:srgbClr val="F2F5F9"/>
          </a:solidFill>
          <a:ln w="12700">
            <a:solidFill>
              <a:srgbClr val="E2E8F0"/>
            </a:solidFill>
            <a:prstDash val="solid"/>
          </a:ln>
        </p:spPr>
        <p:txBody>
          <a:bodyPr/>
          <a:lstStyle/>
          <a:p>
            <a:endParaRPr lang="zh-CN" altLang="en-US"/>
          </a:p>
        </p:txBody>
      </p:sp>
      <p:sp>
        <p:nvSpPr>
          <p:cNvPr id="14" name="Text 12"/>
          <p:cNvSpPr/>
          <p:nvPr/>
        </p:nvSpPr>
        <p:spPr>
          <a:xfrm>
            <a:off x="969264" y="4590288"/>
            <a:ext cx="4608576" cy="457200"/>
          </a:xfrm>
          <a:prstGeom prst="rect">
            <a:avLst/>
          </a:prstGeom>
          <a:noFill/>
        </p:spPr>
        <p:txBody>
          <a:bodyPr wrap="square" lIns="0" tIns="0" rIns="0" bIns="0" rtlCol="0" anchor="ctr"/>
          <a:lstStyle/>
          <a:p>
            <a:pPr marL="0" indent="0">
              <a:buNone/>
            </a:pPr>
            <a:r>
              <a:rPr lang="en-US" sz="1050" b="1" dirty="0">
                <a:solidFill>
                  <a:srgbClr val="3B82F6"/>
                </a:solidFill>
                <a:latin typeface="Noto Sans CJK SC" pitchFamily="34" charset="0"/>
                <a:ea typeface="Noto Sans CJK SC" pitchFamily="34" charset="-122"/>
                <a:cs typeface="Noto Sans CJK SC" pitchFamily="34" charset="-120"/>
              </a:rPr>
              <a:t>与标准模式完全一致 ✓</a:t>
            </a:r>
            <a:endParaRPr lang="en-US" sz="1050" dirty="0"/>
          </a:p>
        </p:txBody>
      </p:sp>
      <p:sp>
        <p:nvSpPr>
          <p:cNvPr id="15" name="Shape 13"/>
          <p:cNvSpPr/>
          <p:nvPr/>
        </p:nvSpPr>
        <p:spPr>
          <a:xfrm>
            <a:off x="6245352" y="3072384"/>
            <a:ext cx="5376672" cy="2139696"/>
          </a:xfrm>
          <a:prstGeom prst="roundRect">
            <a:avLst>
              <a:gd name="adj" fmla="val 3846"/>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6" name="Shape 14"/>
          <p:cNvSpPr/>
          <p:nvPr/>
        </p:nvSpPr>
        <p:spPr>
          <a:xfrm>
            <a:off x="6245352" y="3072384"/>
            <a:ext cx="5376672" cy="82296"/>
          </a:xfrm>
          <a:prstGeom prst="rect">
            <a:avLst/>
          </a:prstGeom>
          <a:solidFill>
            <a:srgbClr val="F59E0B"/>
          </a:solidFill>
          <a:ln w="12700">
            <a:solidFill>
              <a:srgbClr val="F59E0B"/>
            </a:solidFill>
            <a:prstDash val="solid"/>
          </a:ln>
        </p:spPr>
        <p:txBody>
          <a:bodyPr/>
          <a:lstStyle/>
          <a:p>
            <a:endParaRPr lang="zh-CN" altLang="en-US"/>
          </a:p>
        </p:txBody>
      </p:sp>
      <p:sp>
        <p:nvSpPr>
          <p:cNvPr id="17" name="Text 15"/>
          <p:cNvSpPr/>
          <p:nvPr/>
        </p:nvSpPr>
        <p:spPr>
          <a:xfrm>
            <a:off x="6501384" y="3236976"/>
            <a:ext cx="4919472" cy="329184"/>
          </a:xfrm>
          <a:prstGeom prst="rect">
            <a:avLst/>
          </a:prstGeom>
          <a:noFill/>
        </p:spPr>
        <p:txBody>
          <a:bodyPr wrap="square" lIns="0" tIns="0" rIns="0" bIns="0" rtlCol="0" anchor="ctr"/>
          <a:lstStyle/>
          <a:p>
            <a:pPr marL="0" indent="0">
              <a:buNone/>
            </a:pPr>
            <a:r>
              <a:rPr lang="en-US" sz="1300" b="1" dirty="0">
                <a:solidFill>
                  <a:srgbClr val="F59E0B"/>
                </a:solidFill>
                <a:latin typeface="Noto Sans CJK SC" pitchFamily="34" charset="0"/>
                <a:ea typeface="Noto Sans CJK SC" pitchFamily="34" charset="-122"/>
                <a:cs typeface="Noto Sans CJK SC" pitchFamily="34" charset="-120"/>
              </a:rPr>
              <a:t>代入 frequency_step = 0.5</a:t>
            </a:r>
            <a:endParaRPr lang="en-US" sz="1300" dirty="0"/>
          </a:p>
        </p:txBody>
      </p:sp>
      <p:sp>
        <p:nvSpPr>
          <p:cNvPr id="18" name="Shape 16"/>
          <p:cNvSpPr/>
          <p:nvPr/>
        </p:nvSpPr>
        <p:spPr>
          <a:xfrm>
            <a:off x="6501384" y="3657600"/>
            <a:ext cx="4864608" cy="841248"/>
          </a:xfrm>
          <a:prstGeom prst="roundRect">
            <a:avLst>
              <a:gd name="adj" fmla="val 6522"/>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9" name="Text 17"/>
          <p:cNvSpPr/>
          <p:nvPr/>
        </p:nvSpPr>
        <p:spPr>
          <a:xfrm>
            <a:off x="6702552" y="3785616"/>
            <a:ext cx="4498848" cy="585216"/>
          </a:xfrm>
          <a:prstGeom prst="rect">
            <a:avLst/>
          </a:prstGeom>
          <a:noFill/>
        </p:spPr>
        <p:txBody>
          <a:bodyPr wrap="square" lIns="0" tIns="0" rIns="0" bIns="0" rtlCol="0" anchor="t"/>
          <a:lstStyle/>
          <a:p>
            <a:pPr marL="0" indent="0" algn="l">
              <a:lnSpc>
                <a:spcPts val="1275"/>
              </a:lnSpc>
              <a:buNone/>
            </a:pPr>
            <a:r>
              <a:rPr lang="en-US" sz="950" dirty="0">
                <a:solidFill>
                  <a:srgbClr val="D7E6F2"/>
                </a:solidFill>
                <a:latin typeface="DejaVu Sans Mono" pitchFamily="34" charset="0"/>
                <a:ea typeface="DejaVu Sans Mono" pitchFamily="34" charset="-122"/>
                <a:cs typeface="DejaVu Sans Mono" pitchFamily="34" charset="-120"/>
              </a:rPr>
              <a:t>fft_length = 2 · proj_dim</a:t>
            </a:r>
            <a:endParaRPr lang="en-US" sz="950" dirty="0"/>
          </a:p>
          <a:p>
            <a:pPr marL="0" indent="0" algn="l">
              <a:lnSpc>
                <a:spcPts val="1275"/>
              </a:lnSpc>
              <a:buNone/>
            </a:pPr>
            <a:r>
              <a:rPr lang="en-US" sz="950" dirty="0">
                <a:solidFill>
                  <a:srgbClr val="D7E6F2"/>
                </a:solidFill>
                <a:latin typeface="DejaVu Sans Mono" pitchFamily="34" charset="0"/>
                <a:ea typeface="DejaVu Sans Mono" pitchFamily="34" charset="-122"/>
                <a:cs typeface="DejaVu Sans Mono" pitchFamily="34" charset="-120"/>
              </a:rPr>
              <a:t>coord_scale = proj_dim / (2·proj_dim × 0.5) = 1.0</a:t>
            </a:r>
            <a:endParaRPr lang="en-US" sz="950" dirty="0"/>
          </a:p>
        </p:txBody>
      </p:sp>
      <p:sp>
        <p:nvSpPr>
          <p:cNvPr id="20" name="Shape 18"/>
          <p:cNvSpPr/>
          <p:nvPr/>
        </p:nvSpPr>
        <p:spPr>
          <a:xfrm>
            <a:off x="6501384" y="4590288"/>
            <a:ext cx="4864608" cy="457200"/>
          </a:xfrm>
          <a:prstGeom prst="roundRect">
            <a:avLst>
              <a:gd name="adj" fmla="val 18000"/>
            </a:avLst>
          </a:prstGeom>
          <a:solidFill>
            <a:srgbClr val="F2F5F9"/>
          </a:solidFill>
          <a:ln w="12700">
            <a:solidFill>
              <a:srgbClr val="E2E8F0"/>
            </a:solidFill>
            <a:prstDash val="solid"/>
          </a:ln>
        </p:spPr>
        <p:txBody>
          <a:bodyPr/>
          <a:lstStyle/>
          <a:p>
            <a:endParaRPr lang="zh-CN" altLang="en-US"/>
          </a:p>
        </p:txBody>
      </p:sp>
      <p:sp>
        <p:nvSpPr>
          <p:cNvPr id="21" name="Text 19"/>
          <p:cNvSpPr/>
          <p:nvPr/>
        </p:nvSpPr>
        <p:spPr>
          <a:xfrm>
            <a:off x="6647688" y="4590288"/>
            <a:ext cx="4608576" cy="457200"/>
          </a:xfrm>
          <a:prstGeom prst="rect">
            <a:avLst/>
          </a:prstGeom>
          <a:noFill/>
        </p:spPr>
        <p:txBody>
          <a:bodyPr wrap="square" lIns="0" tIns="0" rIns="0" bIns="0" rtlCol="0" anchor="ctr"/>
          <a:lstStyle/>
          <a:p>
            <a:pPr marL="0" indent="0">
              <a:buNone/>
            </a:pPr>
            <a:r>
              <a:rPr lang="en-US" sz="1050" b="1" dirty="0">
                <a:solidFill>
                  <a:srgbClr val="F59E0B"/>
                </a:solidFill>
                <a:latin typeface="Noto Sans CJK SC" pitchFamily="34" charset="0"/>
                <a:ea typeface="Noto Sans CJK SC" pitchFamily="34" charset="-122"/>
                <a:cs typeface="Noto Sans CJK SC" pitchFamily="34" charset="-120"/>
              </a:rPr>
              <a:t>换算比例仍为 1.0，但 FFT 长度需翻倍 ✓</a:t>
            </a:r>
            <a:endParaRPr lang="en-US" sz="1050" dirty="0"/>
          </a:p>
        </p:txBody>
      </p:sp>
      <p:sp>
        <p:nvSpPr>
          <p:cNvPr id="22" name="Shape 20"/>
          <p:cNvSpPr/>
          <p:nvPr/>
        </p:nvSpPr>
        <p:spPr>
          <a:xfrm>
            <a:off x="566928" y="5376672"/>
            <a:ext cx="11055096" cy="585216"/>
          </a:xfrm>
          <a:prstGeom prst="roundRect">
            <a:avLst>
              <a:gd name="adj" fmla="val 14063"/>
            </a:avLst>
          </a:prstGeom>
          <a:solidFill>
            <a:srgbClr val="EAF0F6"/>
          </a:solidFill>
          <a:ln w="12700">
            <a:solidFill>
              <a:srgbClr val="E2E8F0"/>
            </a:solidFill>
            <a:prstDash val="solid"/>
          </a:ln>
        </p:spPr>
        <p:txBody>
          <a:bodyPr/>
          <a:lstStyle/>
          <a:p>
            <a:endParaRPr lang="zh-CN" altLang="en-US"/>
          </a:p>
        </p:txBody>
      </p:sp>
      <p:sp>
        <p:nvSpPr>
          <p:cNvPr id="23" name="Text 21"/>
          <p:cNvSpPr/>
          <p:nvPr/>
        </p:nvSpPr>
        <p:spPr>
          <a:xfrm>
            <a:off x="566928" y="5376672"/>
            <a:ext cx="11055096" cy="58521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通用公式同时覆盖标准模式与半步长模式 —— 只需正确填入 fft_length 与 frequency_step。</a:t>
            </a:r>
            <a:endParaRPr lang="en-US" sz="1100" dirty="0"/>
          </a:p>
        </p:txBody>
      </p:sp>
      <p:sp>
        <p:nvSpPr>
          <p:cNvPr id="24" name="Text 22"/>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5" name="Text 23"/>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26" name="Text 24"/>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30 / 42</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半步长实现</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0.5 步长的推荐 FFT 长度与有效频谱裁切</a:t>
            </a:r>
            <a:endParaRPr lang="en-US" sz="2900" dirty="0"/>
          </a:p>
        </p:txBody>
      </p:sp>
      <p:sp>
        <p:nvSpPr>
          <p:cNvPr id="5" name="Text 3"/>
          <p:cNvSpPr/>
          <p:nvPr/>
        </p:nvSpPr>
        <p:spPr>
          <a:xfrm>
            <a:off x="566928" y="1627632"/>
            <a:ext cx="5349240" cy="1828800"/>
          </a:xfrm>
          <a:prstGeom prst="rect">
            <a:avLst/>
          </a:prstGeom>
          <a:noFill/>
        </p:spPr>
        <p:txBody>
          <a:bodyPr wrap="square" lIns="0" tIns="0" rIns="0" bIns="0" rtlCol="0" anchor="t"/>
          <a:lstStyle/>
          <a:p>
            <a:pPr marL="177800" indent="-177800">
              <a:spcAft>
                <a:spcPts val="1000"/>
              </a:spcAft>
              <a:buSzPct val="100000"/>
              <a:buChar char="•"/>
            </a:pPr>
            <a:r>
              <a:rPr lang="en-US" sz="1250" b="1" dirty="0">
                <a:solidFill>
                  <a:srgbClr val="1E293B"/>
                </a:solidFill>
                <a:latin typeface="Noto Sans CJK SC" pitchFamily="34" charset="0"/>
                <a:ea typeface="Noto Sans CJK SC" pitchFamily="34" charset="-122"/>
                <a:cs typeface="Noto Sans CJK SC" pitchFamily="34" charset="-120"/>
              </a:rPr>
              <a:t>推荐 fft_length = proj_dim / frequency_step = 2 · proj_dim。</a:t>
            </a:r>
            <a:endParaRPr lang="en-US" sz="1250" dirty="0"/>
          </a:p>
          <a:p>
            <a:pPr marL="177800" indent="-177800">
              <a:spcAft>
                <a:spcPts val="1000"/>
              </a:spcAft>
              <a:buSzPct val="100000"/>
              <a:buChar char="•"/>
            </a:pPr>
            <a:r>
              <a:rPr lang="en-US" sz="1250" dirty="0">
                <a:solidFill>
                  <a:srgbClr val="1E293B"/>
                </a:solidFill>
                <a:latin typeface="Noto Sans CJK SC" pitchFamily="34" charset="0"/>
                <a:ea typeface="Noto Sans CJK SC" pitchFamily="34" charset="-122"/>
                <a:cs typeface="Noto Sans CJK SC" pitchFamily="34" charset="-120"/>
              </a:rPr>
              <a:t>此时频谱前一半对应有效投影仪坐标 [0, proj_dim)。</a:t>
            </a:r>
            <a:endParaRPr lang="en-US" sz="1250" dirty="0"/>
          </a:p>
          <a:p>
            <a:pPr marL="177800" indent="-177800">
              <a:spcAft>
                <a:spcPts val="1000"/>
              </a:spcAft>
              <a:buSzPct val="100000"/>
              <a:buChar char="•"/>
            </a:pPr>
            <a:r>
              <a:rPr lang="en-US" sz="1250" b="1" dirty="0">
                <a:solidFill>
                  <a:srgbClr val="EF4444"/>
                </a:solidFill>
                <a:latin typeface="Noto Sans CJK SC" pitchFamily="34" charset="0"/>
                <a:ea typeface="Noto Sans CJK SC" pitchFamily="34" charset="-122"/>
                <a:cs typeface="Noto Sans CJK SC" pitchFamily="34" charset="-120"/>
              </a:rPr>
              <a:t>频谱后一半对应负频率，不参与最终坐标输出。</a:t>
            </a:r>
            <a:endParaRPr lang="en-US" sz="1250" dirty="0"/>
          </a:p>
        </p:txBody>
      </p:sp>
      <p:sp>
        <p:nvSpPr>
          <p:cNvPr id="6" name="Shape 4"/>
          <p:cNvSpPr/>
          <p:nvPr/>
        </p:nvSpPr>
        <p:spPr>
          <a:xfrm>
            <a:off x="566928" y="3657600"/>
            <a:ext cx="5349240" cy="786384"/>
          </a:xfrm>
          <a:prstGeom prst="roundRect">
            <a:avLst>
              <a:gd name="adj" fmla="val 814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3657600"/>
            <a:ext cx="5166360" cy="786384"/>
          </a:xfrm>
          <a:prstGeom prst="rect">
            <a:avLst/>
          </a:prstGeom>
          <a:noFill/>
        </p:spPr>
        <p:txBody>
          <a:bodyPr wrap="square" lIns="0" tIns="0" rIns="0" bIns="0" rtlCol="0" anchor="ctr"/>
          <a:lstStyle/>
          <a:p>
            <a:pPr marL="0" indent="0" algn="ctr">
              <a:buNone/>
            </a:pPr>
            <a:r>
              <a:rPr lang="en-US" sz="1400" b="1" dirty="0">
                <a:solidFill>
                  <a:srgbClr val="22D3EE"/>
                </a:solidFill>
                <a:latin typeface="DejaVu Sans Mono" pitchFamily="34" charset="0"/>
                <a:ea typeface="DejaVu Sans Mono" pitchFamily="34" charset="-122"/>
                <a:cs typeface="DejaVu Sans Mono" pitchFamily="34" charset="-120"/>
              </a:rPr>
              <a:t>fft_length = proj_dim / frequency_step</a:t>
            </a:r>
            <a:endParaRPr lang="en-US" sz="1400" dirty="0"/>
          </a:p>
        </p:txBody>
      </p:sp>
      <p:sp>
        <p:nvSpPr>
          <p:cNvPr id="8" name="Shape 6"/>
          <p:cNvSpPr/>
          <p:nvPr/>
        </p:nvSpPr>
        <p:spPr>
          <a:xfrm>
            <a:off x="566928" y="4608576"/>
            <a:ext cx="5349240" cy="1353312"/>
          </a:xfrm>
          <a:prstGeom prst="roundRect">
            <a:avLst>
              <a:gd name="adj" fmla="val 6081"/>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Text 7"/>
          <p:cNvSpPr/>
          <p:nvPr/>
        </p:nvSpPr>
        <p:spPr>
          <a:xfrm>
            <a:off x="768096" y="4718304"/>
            <a:ext cx="3657600" cy="274320"/>
          </a:xfrm>
          <a:prstGeom prst="rect">
            <a:avLst/>
          </a:prstGeom>
          <a:noFill/>
        </p:spPr>
        <p:txBody>
          <a:bodyPr wrap="square" lIns="0" tIns="0" rIns="0" bIns="0" rtlCol="0" anchor="ctr"/>
          <a:lstStyle/>
          <a:p>
            <a:pPr marL="0" indent="0">
              <a:buNone/>
            </a:pPr>
            <a:r>
              <a:rPr lang="en-US" sz="1100" b="1" dirty="0">
                <a:solidFill>
                  <a:srgbClr val="22D3EE"/>
                </a:solidFill>
                <a:latin typeface="Noto Sans CJK SC" pitchFamily="34" charset="0"/>
                <a:ea typeface="Noto Sans CJK SC" pitchFamily="34" charset="-122"/>
                <a:cs typeface="Noto Sans CJK SC" pitchFamily="34" charset="-120"/>
              </a:rPr>
              <a:t>有效频谱裁切</a:t>
            </a:r>
            <a:endParaRPr lang="en-US" sz="1100" dirty="0"/>
          </a:p>
        </p:txBody>
      </p:sp>
      <p:sp>
        <p:nvSpPr>
          <p:cNvPr id="10" name="Text 8"/>
          <p:cNvSpPr/>
          <p:nvPr/>
        </p:nvSpPr>
        <p:spPr>
          <a:xfrm>
            <a:off x="768096" y="4992624"/>
            <a:ext cx="4937760" cy="877824"/>
          </a:xfrm>
          <a:prstGeom prst="rect">
            <a:avLst/>
          </a:prstGeom>
          <a:noFill/>
        </p:spPr>
        <p:txBody>
          <a:bodyPr wrap="square" lIns="0" tIns="0" rIns="0" bIns="0" rtlCol="0" anchor="ctr"/>
          <a:lstStyle/>
          <a:p>
            <a:pPr marL="0" indent="0">
              <a:lnSpc>
                <a:spcPts val="1600"/>
              </a:lnSpc>
              <a:buNone/>
            </a:pPr>
            <a:r>
              <a:rPr lang="en-US" sz="1150" dirty="0">
                <a:solidFill>
                  <a:srgbClr val="CBD5E1"/>
                </a:solidFill>
                <a:latin typeface="Noto Sans CJK SC" pitchFamily="34" charset="0"/>
                <a:ea typeface="Noto Sans CJK SC" pitchFamily="34" charset="-122"/>
                <a:cs typeface="Noto Sans CJK SC" pitchFamily="34" charset="-120"/>
              </a:rPr>
              <a:t>argmax 只在有效区 [0, proj_dim) 内搜索，</a:t>
            </a:r>
            <a:endParaRPr lang="en-US" sz="1150" dirty="0"/>
          </a:p>
          <a:p>
            <a:pPr marL="0" indent="0">
              <a:lnSpc>
                <a:spcPts val="1600"/>
              </a:lnSpc>
              <a:buNone/>
            </a:pPr>
            <a:r>
              <a:rPr lang="en-US" sz="1150" dirty="0">
                <a:solidFill>
                  <a:srgbClr val="CBD5E1"/>
                </a:solidFill>
                <a:latin typeface="Noto Sans CJK SC" pitchFamily="34" charset="0"/>
                <a:ea typeface="Noto Sans CJK SC" pitchFamily="34" charset="-122"/>
                <a:cs typeface="Noto Sans CJK SC" pitchFamily="34" charset="-120"/>
              </a:rPr>
              <a:t>避免把负频率 bin 误判为投影仪坐标。</a:t>
            </a:r>
            <a:endParaRPr lang="en-US" sz="1150" dirty="0"/>
          </a:p>
        </p:txBody>
      </p:sp>
      <p:sp>
        <p:nvSpPr>
          <p:cNvPr id="11" name="Shape 9"/>
          <p:cNvSpPr/>
          <p:nvPr/>
        </p:nvSpPr>
        <p:spPr>
          <a:xfrm>
            <a:off x="6126480" y="1627632"/>
            <a:ext cx="5504688"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327648" y="1755648"/>
            <a:ext cx="512064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有效区 vs 负频率区</a:t>
            </a:r>
            <a:endParaRPr lang="en-US" sz="1200" dirty="0"/>
          </a:p>
        </p:txBody>
      </p:sp>
      <p:pic>
        <p:nvPicPr>
          <p:cNvPr id="13" name="Image 0" descr="/home/claude/work/assets/fig_valid_spectrum.png"/>
          <p:cNvPicPr>
            <a:picLocks noChangeAspect="1"/>
          </p:cNvPicPr>
          <p:nvPr/>
        </p:nvPicPr>
        <p:blipFill>
          <a:blip r:embed="rId1"/>
          <a:stretch>
            <a:fillRect/>
          </a:stretch>
        </p:blipFill>
        <p:spPr>
          <a:xfrm>
            <a:off x="6355080" y="2286000"/>
            <a:ext cx="5029200" cy="1909502"/>
          </a:xfrm>
          <a:prstGeom prst="rect">
            <a:avLst/>
          </a:prstGeom>
        </p:spPr>
      </p:pic>
      <p:sp>
        <p:nvSpPr>
          <p:cNvPr id="14" name="Shape 11"/>
          <p:cNvSpPr/>
          <p:nvPr/>
        </p:nvSpPr>
        <p:spPr>
          <a:xfrm>
            <a:off x="6327648" y="4370832"/>
            <a:ext cx="5120640" cy="1408176"/>
          </a:xfrm>
          <a:prstGeom prst="roundRect">
            <a:avLst>
              <a:gd name="adj" fmla="val 5844"/>
            </a:avLst>
          </a:prstGeom>
          <a:solidFill>
            <a:srgbClr val="F2F5F9"/>
          </a:solidFill>
          <a:ln w="12700">
            <a:solidFill>
              <a:srgbClr val="E2E8F0"/>
            </a:solidFill>
            <a:prstDash val="solid"/>
          </a:ln>
        </p:spPr>
        <p:txBody>
          <a:bodyPr/>
          <a:lstStyle/>
          <a:p>
            <a:endParaRPr lang="zh-CN" altLang="en-US"/>
          </a:p>
        </p:txBody>
      </p:sp>
      <p:sp>
        <p:nvSpPr>
          <p:cNvPr id="15" name="Text 12"/>
          <p:cNvSpPr/>
          <p:nvPr/>
        </p:nvSpPr>
        <p:spPr>
          <a:xfrm>
            <a:off x="6510528" y="4370832"/>
            <a:ext cx="4754880" cy="1408176"/>
          </a:xfrm>
          <a:prstGeom prst="rect">
            <a:avLst/>
          </a:prstGeom>
          <a:noFill/>
        </p:spPr>
        <p:txBody>
          <a:bodyPr wrap="square" lIns="0" tIns="0" rIns="0" bIns="0" rtlCol="0" anchor="ctr"/>
          <a:lstStyle/>
          <a:p>
            <a:pPr marL="0" indent="0">
              <a:lnSpc>
                <a:spcPts val="1500"/>
              </a:lnSpc>
              <a:buNone/>
            </a:pPr>
            <a:r>
              <a:rPr lang="en-US" sz="1080" dirty="0">
                <a:solidFill>
                  <a:srgbClr val="1E293B"/>
                </a:solidFill>
                <a:latin typeface="Noto Sans CJK SC" pitchFamily="34" charset="0"/>
                <a:ea typeface="Noto Sans CJK SC" pitchFamily="34" charset="-122"/>
                <a:cs typeface="Noto Sans CJK SC" pitchFamily="34" charset="-120"/>
              </a:rPr>
              <a:t>青色区为有效投影仪坐标范围，峰值只在此搜索；灰色区为负频率，需在 argmax 前裁掉。</a:t>
            </a:r>
            <a:endParaRPr lang="en-US" sz="1080" dirty="0"/>
          </a:p>
        </p:txBody>
      </p:sp>
      <p:sp>
        <p:nvSpPr>
          <p:cNvPr id="16" name="Text 1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7" name="Text 1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18" name="Text 1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31 / 42</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具体例子</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N = 8 的半步频率 bin 分布</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用一个小例子看清半步长下 FFT bin 如何划分为有效坐标区与负频率区。</a:t>
            </a:r>
            <a:endParaRPr lang="en-US" sz="1250" dirty="0"/>
          </a:p>
        </p:txBody>
      </p:sp>
      <p:sp>
        <p:nvSpPr>
          <p:cNvPr id="6" name="Shape 4"/>
          <p:cNvSpPr/>
          <p:nvPr/>
        </p:nvSpPr>
        <p:spPr>
          <a:xfrm>
            <a:off x="566928" y="1920240"/>
            <a:ext cx="6903720" cy="4041648"/>
          </a:xfrm>
          <a:prstGeom prst="roundRect">
            <a:avLst>
              <a:gd name="adj" fmla="val 2036"/>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768096" y="2048256"/>
            <a:ext cx="649224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16 个 bin —— 前 8 个为有效坐标，后 8 个为负频率</a:t>
            </a:r>
            <a:endParaRPr lang="en-US" sz="1200" dirty="0"/>
          </a:p>
        </p:txBody>
      </p:sp>
      <p:pic>
        <p:nvPicPr>
          <p:cNvPr id="8" name="Image 0" descr="/home/claude/work/assets/fig_n8_bins.png"/>
          <p:cNvPicPr>
            <a:picLocks noChangeAspect="1"/>
          </p:cNvPicPr>
          <p:nvPr/>
        </p:nvPicPr>
        <p:blipFill>
          <a:blip r:embed="rId1"/>
          <a:stretch>
            <a:fillRect/>
          </a:stretch>
        </p:blipFill>
        <p:spPr>
          <a:xfrm>
            <a:off x="841248" y="2615184"/>
            <a:ext cx="6355080" cy="2678781"/>
          </a:xfrm>
          <a:prstGeom prst="rect">
            <a:avLst/>
          </a:prstGeom>
        </p:spPr>
      </p:pic>
      <p:sp>
        <p:nvSpPr>
          <p:cNvPr id="9" name="Shape 6"/>
          <p:cNvSpPr/>
          <p:nvPr/>
        </p:nvSpPr>
        <p:spPr>
          <a:xfrm>
            <a:off x="7635240" y="1920240"/>
            <a:ext cx="3995928" cy="4041648"/>
          </a:xfrm>
          <a:prstGeom prst="roundRect">
            <a:avLst>
              <a:gd name="adj" fmla="val 205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0" name="Text 7"/>
          <p:cNvSpPr/>
          <p:nvPr/>
        </p:nvSpPr>
        <p:spPr>
          <a:xfrm>
            <a:off x="7836408" y="2048256"/>
            <a:ext cx="27432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读法</a:t>
            </a:r>
            <a:endParaRPr lang="en-US" sz="1200" dirty="0"/>
          </a:p>
        </p:txBody>
      </p:sp>
      <p:sp>
        <p:nvSpPr>
          <p:cNvPr id="11" name="Text 8"/>
          <p:cNvSpPr/>
          <p:nvPr/>
        </p:nvSpPr>
        <p:spPr>
          <a:xfrm>
            <a:off x="7836408" y="2395728"/>
            <a:ext cx="3611880" cy="2286000"/>
          </a:xfrm>
          <a:prstGeom prst="rect">
            <a:avLst/>
          </a:prstGeom>
          <a:noFill/>
        </p:spPr>
        <p:txBody>
          <a:bodyPr wrap="square" lIns="0" tIns="0" rIns="0" bIns="0" rtlCol="0" anchor="t"/>
          <a:lstStyle/>
          <a:p>
            <a:pPr marL="177800" indent="-177800">
              <a:spcAft>
                <a:spcPts val="900"/>
              </a:spcAft>
              <a:buSzPct val="100000"/>
              <a:buChar char="•"/>
            </a:pPr>
            <a:r>
              <a:rPr lang="en-US" sz="1080" b="1" dirty="0">
                <a:solidFill>
                  <a:srgbClr val="1E293B"/>
                </a:solidFill>
                <a:latin typeface="Noto Sans CJK SC" pitchFamily="34" charset="0"/>
                <a:ea typeface="Noto Sans CJK SC" pitchFamily="34" charset="-122"/>
                <a:cs typeface="Noto Sans CJK SC" pitchFamily="34" charset="-120"/>
              </a:rPr>
              <a:t>proj_dim = 8，frequency_step = 0.5。</a:t>
            </a:r>
            <a:endParaRPr lang="en-US" sz="1080" dirty="0"/>
          </a:p>
          <a:p>
            <a:pPr marL="177800" indent="-177800">
              <a:spcAft>
                <a:spcPts val="900"/>
              </a:spcAft>
              <a:buSzPct val="100000"/>
              <a:buChar char="•"/>
            </a:pPr>
            <a:r>
              <a:rPr lang="en-US" sz="1080" dirty="0">
                <a:solidFill>
                  <a:srgbClr val="1E293B"/>
                </a:solidFill>
                <a:latin typeface="Noto Sans CJK SC" pitchFamily="34" charset="0"/>
                <a:ea typeface="Noto Sans CJK SC" pitchFamily="34" charset="-122"/>
                <a:cs typeface="Noto Sans CJK SC" pitchFamily="34" charset="-120"/>
              </a:rPr>
              <a:t>fft_length = 8 / 0.5 = 16，得 16 个 bin。</a:t>
            </a:r>
            <a:endParaRPr lang="en-US" sz="1080" dirty="0"/>
          </a:p>
          <a:p>
            <a:pPr marL="177800" indent="-177800">
              <a:spcAft>
                <a:spcPts val="900"/>
              </a:spcAft>
              <a:buSzPct val="100000"/>
              <a:buChar char="•"/>
            </a:pPr>
            <a:r>
              <a:rPr lang="en-US" sz="1080" dirty="0">
                <a:solidFill>
                  <a:srgbClr val="0E7490"/>
                </a:solidFill>
                <a:latin typeface="Noto Sans CJK SC" pitchFamily="34" charset="0"/>
                <a:ea typeface="Noto Sans CJK SC" pitchFamily="34" charset="-122"/>
                <a:cs typeface="Noto Sans CJK SC" pitchFamily="34" charset="-120"/>
              </a:rPr>
              <a:t>bin 0–7：有效投影仪坐标。</a:t>
            </a:r>
            <a:endParaRPr lang="en-US" sz="1080" dirty="0"/>
          </a:p>
          <a:p>
            <a:pPr marL="177800" indent="-177800">
              <a:spcAft>
                <a:spcPts val="900"/>
              </a:spcAft>
              <a:buSzPct val="100000"/>
              <a:buChar char="•"/>
            </a:pPr>
            <a:r>
              <a:rPr lang="en-US" sz="1080" dirty="0">
                <a:solidFill>
                  <a:srgbClr val="64748B"/>
                </a:solidFill>
                <a:latin typeface="Noto Sans CJK SC" pitchFamily="34" charset="0"/>
                <a:ea typeface="Noto Sans CJK SC" pitchFamily="34" charset="-122"/>
                <a:cs typeface="Noto Sans CJK SC" pitchFamily="34" charset="-120"/>
              </a:rPr>
              <a:t>bin 9–15：对应 −7…−1，为负频率。</a:t>
            </a:r>
            <a:endParaRPr lang="en-US" sz="1080" dirty="0"/>
          </a:p>
          <a:p>
            <a:pPr marL="177800" indent="-177800">
              <a:spcAft>
                <a:spcPts val="900"/>
              </a:spcAft>
              <a:buSzPct val="100000"/>
              <a:buChar char="•"/>
            </a:pPr>
            <a:r>
              <a:rPr lang="en-US" sz="1080" dirty="0">
                <a:solidFill>
                  <a:srgbClr val="1E293B"/>
                </a:solidFill>
                <a:latin typeface="Noto Sans CJK SC" pitchFamily="34" charset="0"/>
                <a:ea typeface="Noto Sans CJK SC" pitchFamily="34" charset="-122"/>
                <a:cs typeface="Noto Sans CJK SC" pitchFamily="34" charset="-120"/>
              </a:rPr>
              <a:t>峰值落在 bin 5 → 投影仪坐标 5。</a:t>
            </a:r>
            <a:endParaRPr lang="en-US" sz="1080" dirty="0"/>
          </a:p>
        </p:txBody>
      </p:sp>
      <p:sp>
        <p:nvSpPr>
          <p:cNvPr id="12" name="Shape 9"/>
          <p:cNvSpPr/>
          <p:nvPr/>
        </p:nvSpPr>
        <p:spPr>
          <a:xfrm>
            <a:off x="7836408" y="4901184"/>
            <a:ext cx="3611880" cy="877824"/>
          </a:xfrm>
          <a:prstGeom prst="roundRect">
            <a:avLst>
              <a:gd name="adj" fmla="val 9375"/>
            </a:avLst>
          </a:prstGeom>
          <a:solidFill>
            <a:srgbClr val="F2F5F9"/>
          </a:solidFill>
          <a:ln w="12700">
            <a:solidFill>
              <a:srgbClr val="E2E8F0"/>
            </a:solidFill>
            <a:prstDash val="solid"/>
          </a:ln>
        </p:spPr>
        <p:txBody>
          <a:bodyPr/>
          <a:lstStyle/>
          <a:p>
            <a:endParaRPr lang="zh-CN" altLang="en-US"/>
          </a:p>
        </p:txBody>
      </p:sp>
      <p:sp>
        <p:nvSpPr>
          <p:cNvPr id="13" name="Text 10"/>
          <p:cNvSpPr/>
          <p:nvPr/>
        </p:nvSpPr>
        <p:spPr>
          <a:xfrm>
            <a:off x="7982712" y="4901184"/>
            <a:ext cx="3383280" cy="877824"/>
          </a:xfrm>
          <a:prstGeom prst="rect">
            <a:avLst/>
          </a:prstGeom>
          <a:noFill/>
        </p:spPr>
        <p:txBody>
          <a:bodyPr wrap="square" lIns="0" tIns="0" rIns="0" bIns="0" rtlCol="0" anchor="ctr"/>
          <a:lstStyle/>
          <a:p>
            <a:pPr marL="0" indent="0">
              <a:lnSpc>
                <a:spcPts val="1500"/>
              </a:lnSpc>
              <a:buNone/>
            </a:pPr>
            <a:r>
              <a:rPr lang="en-US" sz="1050" b="1" dirty="0">
                <a:solidFill>
                  <a:srgbClr val="0E2A47"/>
                </a:solidFill>
                <a:latin typeface="Noto Sans CJK SC" pitchFamily="34" charset="0"/>
                <a:ea typeface="Noto Sans CJK SC" pitchFamily="34" charset="-122"/>
                <a:cs typeface="Noto Sans CJK SC" pitchFamily="34" charset="-120"/>
              </a:rPr>
              <a:t>只在 bin 0–7 内取 argmax，</a:t>
            </a:r>
            <a:endParaRPr lang="en-US" sz="1050" dirty="0"/>
          </a:p>
          <a:p>
            <a:pPr marL="0" indent="0">
              <a:lnSpc>
                <a:spcPts val="1500"/>
              </a:lnSpc>
              <a:buNone/>
            </a:pPr>
            <a:r>
              <a:rPr lang="en-US" sz="1050" b="1" dirty="0">
                <a:solidFill>
                  <a:srgbClr val="0E2A47"/>
                </a:solidFill>
                <a:latin typeface="Noto Sans CJK SC" pitchFamily="34" charset="0"/>
                <a:ea typeface="Noto Sans CJK SC" pitchFamily="34" charset="-122"/>
                <a:cs typeface="Noto Sans CJK SC" pitchFamily="34" charset="-120"/>
              </a:rPr>
              <a:t>负频率区一律忽略。</a:t>
            </a:r>
            <a:endParaRPr lang="en-US" sz="1050" dirty="0"/>
          </a:p>
        </p:txBody>
      </p:sp>
      <p:sp>
        <p:nvSpPr>
          <p:cNvPr id="14" name="Text 11"/>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5" name="Text 12"/>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16" name="Text 13"/>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32 / 42</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误区澄清</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关于 FFT 长度的常见误解</a:t>
            </a:r>
            <a:endParaRPr lang="en-US" sz="2900" dirty="0"/>
          </a:p>
        </p:txBody>
      </p:sp>
      <p:sp>
        <p:nvSpPr>
          <p:cNvPr id="5" name="Shape 3"/>
          <p:cNvSpPr/>
          <p:nvPr/>
        </p:nvSpPr>
        <p:spPr>
          <a:xfrm>
            <a:off x="566928" y="1645920"/>
            <a:ext cx="5486400" cy="2048256"/>
          </a:xfrm>
          <a:prstGeom prst="roundRect">
            <a:avLst>
              <a:gd name="adj" fmla="val 40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Shape 4"/>
          <p:cNvSpPr/>
          <p:nvPr/>
        </p:nvSpPr>
        <p:spPr>
          <a:xfrm>
            <a:off x="566928" y="1645920"/>
            <a:ext cx="82296" cy="2048256"/>
          </a:xfrm>
          <a:prstGeom prst="rect">
            <a:avLst/>
          </a:prstGeom>
          <a:solidFill>
            <a:srgbClr val="EF4444"/>
          </a:solidFill>
          <a:ln w="12700">
            <a:solidFill>
              <a:srgbClr val="EF4444"/>
            </a:solidFill>
            <a:prstDash val="solid"/>
          </a:ln>
        </p:spPr>
        <p:txBody>
          <a:bodyPr/>
          <a:lstStyle/>
          <a:p>
            <a:endParaRPr lang="zh-CN" altLang="en-US"/>
          </a:p>
        </p:txBody>
      </p:sp>
      <p:sp>
        <p:nvSpPr>
          <p:cNvPr id="7" name="Shape 5"/>
          <p:cNvSpPr/>
          <p:nvPr/>
        </p:nvSpPr>
        <p:spPr>
          <a:xfrm>
            <a:off x="822960" y="1847088"/>
            <a:ext cx="914400" cy="365760"/>
          </a:xfrm>
          <a:prstGeom prst="roundRect">
            <a:avLst>
              <a:gd name="adj" fmla="val 15000"/>
            </a:avLst>
          </a:prstGeom>
          <a:solidFill>
            <a:srgbClr val="EF4444"/>
          </a:solidFill>
          <a:ln w="12700">
            <a:solidFill>
              <a:srgbClr val="EF4444"/>
            </a:solidFill>
            <a:prstDash val="solid"/>
          </a:ln>
        </p:spPr>
        <p:txBody>
          <a:bodyPr/>
          <a:lstStyle/>
          <a:p>
            <a:endParaRPr lang="zh-CN" altLang="en-US"/>
          </a:p>
        </p:txBody>
      </p:sp>
      <p:sp>
        <p:nvSpPr>
          <p:cNvPr id="8" name="Text 6"/>
          <p:cNvSpPr/>
          <p:nvPr/>
        </p:nvSpPr>
        <p:spPr>
          <a:xfrm>
            <a:off x="731520" y="1847088"/>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误解</a:t>
            </a:r>
            <a:endParaRPr lang="en-US" sz="1000" dirty="0"/>
          </a:p>
        </p:txBody>
      </p:sp>
      <p:sp>
        <p:nvSpPr>
          <p:cNvPr id="9" name="Text 7"/>
          <p:cNvSpPr/>
          <p:nvPr/>
        </p:nvSpPr>
        <p:spPr>
          <a:xfrm>
            <a:off x="1865376" y="1828800"/>
            <a:ext cx="3931920" cy="420624"/>
          </a:xfrm>
          <a:prstGeom prst="rect">
            <a:avLst/>
          </a:prstGeom>
          <a:noFill/>
        </p:spPr>
        <p:txBody>
          <a:bodyPr wrap="square" lIns="0" tIns="0" rIns="0" bIns="0" rtlCol="0" anchor="ctr"/>
          <a:lstStyle/>
          <a:p>
            <a:pPr marL="0" indent="0">
              <a:lnSpc>
                <a:spcPts val="1500"/>
              </a:lnSpc>
              <a:buNone/>
            </a:pPr>
            <a:r>
              <a:rPr lang="en-US" sz="1200" b="1" dirty="0">
                <a:solidFill>
                  <a:srgbClr val="0E2A47"/>
                </a:solidFill>
                <a:latin typeface="Noto Sans CJK SC" pitchFamily="34" charset="0"/>
                <a:ea typeface="Noto Sans CJK SC" pitchFamily="34" charset="-122"/>
                <a:cs typeface="Noto Sans CJK SC" pitchFamily="34" charset="-120"/>
              </a:rPr>
              <a:t>补零等于提高了采集精度</a:t>
            </a:r>
            <a:endParaRPr lang="en-US" sz="1200" dirty="0"/>
          </a:p>
        </p:txBody>
      </p:sp>
      <p:sp>
        <p:nvSpPr>
          <p:cNvPr id="10" name="Shape 8"/>
          <p:cNvSpPr/>
          <p:nvPr/>
        </p:nvSpPr>
        <p:spPr>
          <a:xfrm>
            <a:off x="841248" y="2432304"/>
            <a:ext cx="4937760" cy="0"/>
          </a:xfrm>
          <a:prstGeom prst="line">
            <a:avLst/>
          </a:prstGeom>
          <a:noFill/>
          <a:ln w="12700">
            <a:solidFill>
              <a:srgbClr val="E2E8F0"/>
            </a:solidFill>
            <a:prstDash val="solid"/>
          </a:ln>
        </p:spPr>
        <p:txBody>
          <a:bodyPr/>
          <a:lstStyle/>
          <a:p>
            <a:endParaRPr lang="zh-CN" altLang="en-US"/>
          </a:p>
        </p:txBody>
      </p:sp>
      <p:sp>
        <p:nvSpPr>
          <p:cNvPr id="11" name="Shape 9"/>
          <p:cNvSpPr/>
          <p:nvPr/>
        </p:nvSpPr>
        <p:spPr>
          <a:xfrm>
            <a:off x="822960" y="2596896"/>
            <a:ext cx="914400" cy="365760"/>
          </a:xfrm>
          <a:prstGeom prst="roundRect">
            <a:avLst>
              <a:gd name="adj" fmla="val 15000"/>
            </a:avLst>
          </a:prstGeom>
          <a:solidFill>
            <a:srgbClr val="22C55E"/>
          </a:solidFill>
          <a:ln w="12700">
            <a:solidFill>
              <a:srgbClr val="22C55E"/>
            </a:solidFill>
            <a:prstDash val="solid"/>
          </a:ln>
        </p:spPr>
        <p:txBody>
          <a:bodyPr/>
          <a:lstStyle/>
          <a:p>
            <a:endParaRPr lang="zh-CN" altLang="en-US"/>
          </a:p>
        </p:txBody>
      </p:sp>
      <p:sp>
        <p:nvSpPr>
          <p:cNvPr id="12" name="Text 10"/>
          <p:cNvSpPr/>
          <p:nvPr/>
        </p:nvSpPr>
        <p:spPr>
          <a:xfrm>
            <a:off x="731520" y="259689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澄清</a:t>
            </a:r>
            <a:endParaRPr lang="en-US" sz="1000" dirty="0"/>
          </a:p>
        </p:txBody>
      </p:sp>
      <p:sp>
        <p:nvSpPr>
          <p:cNvPr id="13" name="Text 11"/>
          <p:cNvSpPr/>
          <p:nvPr/>
        </p:nvSpPr>
        <p:spPr>
          <a:xfrm>
            <a:off x="841248" y="3017520"/>
            <a:ext cx="4937760" cy="603504"/>
          </a:xfrm>
          <a:prstGeom prst="rect">
            <a:avLst/>
          </a:prstGeom>
          <a:noFill/>
        </p:spPr>
        <p:txBody>
          <a:bodyPr wrap="square" lIns="0" tIns="0" rIns="0" bIns="0" rtlCol="0" anchor="ctr"/>
          <a:lstStyle/>
          <a:p>
            <a:pPr marL="0" indent="0">
              <a:lnSpc>
                <a:spcPts val="1500"/>
              </a:lnSpc>
              <a:buNone/>
            </a:pPr>
            <a:r>
              <a:rPr lang="en-US" sz="1100" dirty="0">
                <a:solidFill>
                  <a:srgbClr val="FF0000"/>
                </a:solidFill>
                <a:latin typeface="Noto Sans CJK SC" pitchFamily="34" charset="0"/>
                <a:ea typeface="Noto Sans CJK SC" pitchFamily="34" charset="-122"/>
                <a:cs typeface="Noto Sans CJK SC" pitchFamily="34" charset="-120"/>
              </a:rPr>
              <a:t>补零只是更密集地采样同一段频谱，不增加原始信息；真正的精度由采集频率数 M 与信噪比决定</a:t>
            </a:r>
            <a:r>
              <a:rPr lang="en-US" sz="1100" dirty="0">
                <a:solidFill>
                  <a:srgbClr val="1E293B"/>
                </a:solidFill>
                <a:latin typeface="Noto Sans CJK SC" pitchFamily="34" charset="0"/>
                <a:ea typeface="Noto Sans CJK SC" pitchFamily="34" charset="-122"/>
                <a:cs typeface="Noto Sans CJK SC" pitchFamily="34" charset="-120"/>
              </a:rPr>
              <a:t>。</a:t>
            </a:r>
            <a:endParaRPr lang="en-US" sz="1100" dirty="0"/>
          </a:p>
        </p:txBody>
      </p:sp>
      <p:sp>
        <p:nvSpPr>
          <p:cNvPr id="14" name="Shape 12"/>
          <p:cNvSpPr/>
          <p:nvPr/>
        </p:nvSpPr>
        <p:spPr>
          <a:xfrm>
            <a:off x="6373368" y="1645920"/>
            <a:ext cx="5486400" cy="2048256"/>
          </a:xfrm>
          <a:prstGeom prst="roundRect">
            <a:avLst>
              <a:gd name="adj" fmla="val 40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5" name="Shape 13"/>
          <p:cNvSpPr/>
          <p:nvPr/>
        </p:nvSpPr>
        <p:spPr>
          <a:xfrm>
            <a:off x="6373368" y="1645920"/>
            <a:ext cx="82296" cy="2048256"/>
          </a:xfrm>
          <a:prstGeom prst="rect">
            <a:avLst/>
          </a:prstGeom>
          <a:solidFill>
            <a:srgbClr val="EF4444"/>
          </a:solidFill>
          <a:ln w="12700">
            <a:solidFill>
              <a:srgbClr val="EF4444"/>
            </a:solidFill>
            <a:prstDash val="solid"/>
          </a:ln>
        </p:spPr>
        <p:txBody>
          <a:bodyPr/>
          <a:lstStyle/>
          <a:p>
            <a:endParaRPr lang="zh-CN" altLang="en-US"/>
          </a:p>
        </p:txBody>
      </p:sp>
      <p:sp>
        <p:nvSpPr>
          <p:cNvPr id="16" name="Shape 14"/>
          <p:cNvSpPr/>
          <p:nvPr/>
        </p:nvSpPr>
        <p:spPr>
          <a:xfrm>
            <a:off x="6629400" y="1847088"/>
            <a:ext cx="914400" cy="365760"/>
          </a:xfrm>
          <a:prstGeom prst="roundRect">
            <a:avLst>
              <a:gd name="adj" fmla="val 15000"/>
            </a:avLst>
          </a:prstGeom>
          <a:solidFill>
            <a:srgbClr val="EF4444"/>
          </a:solidFill>
          <a:ln w="12700">
            <a:solidFill>
              <a:srgbClr val="EF4444"/>
            </a:solidFill>
            <a:prstDash val="solid"/>
          </a:ln>
        </p:spPr>
        <p:txBody>
          <a:bodyPr/>
          <a:lstStyle/>
          <a:p>
            <a:endParaRPr lang="zh-CN" altLang="en-US"/>
          </a:p>
        </p:txBody>
      </p:sp>
      <p:sp>
        <p:nvSpPr>
          <p:cNvPr id="17" name="Text 15"/>
          <p:cNvSpPr/>
          <p:nvPr/>
        </p:nvSpPr>
        <p:spPr>
          <a:xfrm>
            <a:off x="6537960" y="1847088"/>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误解</a:t>
            </a:r>
            <a:endParaRPr lang="en-US" sz="1000" dirty="0"/>
          </a:p>
        </p:txBody>
      </p:sp>
      <p:sp>
        <p:nvSpPr>
          <p:cNvPr id="18" name="Text 16"/>
          <p:cNvSpPr/>
          <p:nvPr/>
        </p:nvSpPr>
        <p:spPr>
          <a:xfrm>
            <a:off x="7671816" y="1828800"/>
            <a:ext cx="3931920" cy="420624"/>
          </a:xfrm>
          <a:prstGeom prst="rect">
            <a:avLst/>
          </a:prstGeom>
          <a:noFill/>
        </p:spPr>
        <p:txBody>
          <a:bodyPr wrap="square" lIns="0" tIns="0" rIns="0" bIns="0" rtlCol="0" anchor="ctr"/>
          <a:lstStyle/>
          <a:p>
            <a:pPr marL="0" indent="0">
              <a:lnSpc>
                <a:spcPts val="1500"/>
              </a:lnSpc>
              <a:buNone/>
            </a:pPr>
            <a:r>
              <a:rPr lang="en-US" sz="1200" b="1" dirty="0">
                <a:solidFill>
                  <a:srgbClr val="0E2A47"/>
                </a:solidFill>
                <a:latin typeface="Noto Sans CJK SC" pitchFamily="34" charset="0"/>
                <a:ea typeface="Noto Sans CJK SC" pitchFamily="34" charset="-122"/>
                <a:cs typeface="Noto Sans CJK SC" pitchFamily="34" charset="-120"/>
              </a:rPr>
              <a:t>frequency_step 改了，FFT 长度可以不动</a:t>
            </a:r>
            <a:endParaRPr lang="en-US" sz="1200" dirty="0"/>
          </a:p>
        </p:txBody>
      </p:sp>
      <p:sp>
        <p:nvSpPr>
          <p:cNvPr id="19" name="Shape 17"/>
          <p:cNvSpPr/>
          <p:nvPr/>
        </p:nvSpPr>
        <p:spPr>
          <a:xfrm>
            <a:off x="6647688" y="2432304"/>
            <a:ext cx="4937760" cy="0"/>
          </a:xfrm>
          <a:prstGeom prst="line">
            <a:avLst/>
          </a:prstGeom>
          <a:noFill/>
          <a:ln w="12700">
            <a:solidFill>
              <a:srgbClr val="E2E8F0"/>
            </a:solidFill>
            <a:prstDash val="solid"/>
          </a:ln>
        </p:spPr>
        <p:txBody>
          <a:bodyPr/>
          <a:lstStyle/>
          <a:p>
            <a:endParaRPr lang="zh-CN" altLang="en-US"/>
          </a:p>
        </p:txBody>
      </p:sp>
      <p:sp>
        <p:nvSpPr>
          <p:cNvPr id="20" name="Shape 18"/>
          <p:cNvSpPr/>
          <p:nvPr/>
        </p:nvSpPr>
        <p:spPr>
          <a:xfrm>
            <a:off x="6629400" y="2596896"/>
            <a:ext cx="914400" cy="365760"/>
          </a:xfrm>
          <a:prstGeom prst="roundRect">
            <a:avLst>
              <a:gd name="adj" fmla="val 15000"/>
            </a:avLst>
          </a:prstGeom>
          <a:solidFill>
            <a:srgbClr val="22C55E"/>
          </a:solidFill>
          <a:ln w="12700">
            <a:solidFill>
              <a:srgbClr val="22C55E"/>
            </a:solidFill>
            <a:prstDash val="solid"/>
          </a:ln>
        </p:spPr>
        <p:txBody>
          <a:bodyPr/>
          <a:lstStyle/>
          <a:p>
            <a:endParaRPr lang="zh-CN" altLang="en-US"/>
          </a:p>
        </p:txBody>
      </p:sp>
      <p:sp>
        <p:nvSpPr>
          <p:cNvPr id="21" name="Text 19"/>
          <p:cNvSpPr/>
          <p:nvPr/>
        </p:nvSpPr>
        <p:spPr>
          <a:xfrm>
            <a:off x="6537960" y="259689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澄清</a:t>
            </a:r>
            <a:endParaRPr lang="en-US" sz="1000" dirty="0"/>
          </a:p>
        </p:txBody>
      </p:sp>
      <p:sp>
        <p:nvSpPr>
          <p:cNvPr id="22" name="Text 20"/>
          <p:cNvSpPr/>
          <p:nvPr/>
        </p:nvSpPr>
        <p:spPr>
          <a:xfrm>
            <a:off x="6647688" y="3017520"/>
            <a:ext cx="4937760" cy="603504"/>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步长改变了相位增量，fft_length 与 coord_scale 必须随之更新，否则坐标系统性偏移。</a:t>
            </a:r>
            <a:endParaRPr lang="en-US" sz="1100" dirty="0"/>
          </a:p>
        </p:txBody>
      </p:sp>
      <p:sp>
        <p:nvSpPr>
          <p:cNvPr id="23" name="Shape 21"/>
          <p:cNvSpPr/>
          <p:nvPr/>
        </p:nvSpPr>
        <p:spPr>
          <a:xfrm>
            <a:off x="566928" y="3858768"/>
            <a:ext cx="5486400" cy="2048256"/>
          </a:xfrm>
          <a:prstGeom prst="roundRect">
            <a:avLst>
              <a:gd name="adj" fmla="val 40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4" name="Shape 22"/>
          <p:cNvSpPr/>
          <p:nvPr/>
        </p:nvSpPr>
        <p:spPr>
          <a:xfrm>
            <a:off x="566928" y="3858768"/>
            <a:ext cx="82296" cy="2048256"/>
          </a:xfrm>
          <a:prstGeom prst="rect">
            <a:avLst/>
          </a:prstGeom>
          <a:solidFill>
            <a:srgbClr val="EF4444"/>
          </a:solidFill>
          <a:ln w="12700">
            <a:solidFill>
              <a:srgbClr val="EF4444"/>
            </a:solidFill>
            <a:prstDash val="solid"/>
          </a:ln>
        </p:spPr>
        <p:txBody>
          <a:bodyPr/>
          <a:lstStyle/>
          <a:p>
            <a:endParaRPr lang="zh-CN" altLang="en-US"/>
          </a:p>
        </p:txBody>
      </p:sp>
      <p:sp>
        <p:nvSpPr>
          <p:cNvPr id="25" name="Shape 23"/>
          <p:cNvSpPr/>
          <p:nvPr/>
        </p:nvSpPr>
        <p:spPr>
          <a:xfrm>
            <a:off x="822960" y="4059936"/>
            <a:ext cx="914400" cy="365760"/>
          </a:xfrm>
          <a:prstGeom prst="roundRect">
            <a:avLst>
              <a:gd name="adj" fmla="val 15000"/>
            </a:avLst>
          </a:prstGeom>
          <a:solidFill>
            <a:srgbClr val="EF4444"/>
          </a:solidFill>
          <a:ln w="12700">
            <a:solidFill>
              <a:srgbClr val="EF4444"/>
            </a:solidFill>
            <a:prstDash val="solid"/>
          </a:ln>
        </p:spPr>
        <p:txBody>
          <a:bodyPr/>
          <a:lstStyle/>
          <a:p>
            <a:endParaRPr lang="zh-CN" altLang="en-US"/>
          </a:p>
        </p:txBody>
      </p:sp>
      <p:sp>
        <p:nvSpPr>
          <p:cNvPr id="26" name="Text 24"/>
          <p:cNvSpPr/>
          <p:nvPr/>
        </p:nvSpPr>
        <p:spPr>
          <a:xfrm>
            <a:off x="731520" y="405993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误解</a:t>
            </a:r>
            <a:endParaRPr lang="en-US" sz="1000" dirty="0"/>
          </a:p>
        </p:txBody>
      </p:sp>
      <p:sp>
        <p:nvSpPr>
          <p:cNvPr id="27" name="Text 25"/>
          <p:cNvSpPr/>
          <p:nvPr/>
        </p:nvSpPr>
        <p:spPr>
          <a:xfrm>
            <a:off x="1865376" y="4041648"/>
            <a:ext cx="3931920" cy="420624"/>
          </a:xfrm>
          <a:prstGeom prst="rect">
            <a:avLst/>
          </a:prstGeom>
          <a:noFill/>
        </p:spPr>
        <p:txBody>
          <a:bodyPr wrap="square" lIns="0" tIns="0" rIns="0" bIns="0" rtlCol="0" anchor="ctr"/>
          <a:lstStyle/>
          <a:p>
            <a:pPr marL="0" indent="0">
              <a:lnSpc>
                <a:spcPts val="1500"/>
              </a:lnSpc>
              <a:buNone/>
            </a:pPr>
            <a:r>
              <a:rPr lang="en-US" sz="1200" b="1" dirty="0">
                <a:solidFill>
                  <a:srgbClr val="0E2A47"/>
                </a:solidFill>
                <a:latin typeface="Noto Sans CJK SC" pitchFamily="34" charset="0"/>
                <a:ea typeface="Noto Sans CJK SC" pitchFamily="34" charset="-122"/>
                <a:cs typeface="Noto Sans CJK SC" pitchFamily="34" charset="-120"/>
              </a:rPr>
              <a:t>fft_length 越大，重建一定越准</a:t>
            </a:r>
            <a:endParaRPr lang="en-US" sz="1200" dirty="0"/>
          </a:p>
        </p:txBody>
      </p:sp>
      <p:sp>
        <p:nvSpPr>
          <p:cNvPr id="28" name="Shape 26"/>
          <p:cNvSpPr/>
          <p:nvPr/>
        </p:nvSpPr>
        <p:spPr>
          <a:xfrm>
            <a:off x="841248" y="4645152"/>
            <a:ext cx="4937760" cy="0"/>
          </a:xfrm>
          <a:prstGeom prst="line">
            <a:avLst/>
          </a:prstGeom>
          <a:noFill/>
          <a:ln w="12700">
            <a:solidFill>
              <a:srgbClr val="E2E8F0"/>
            </a:solidFill>
            <a:prstDash val="solid"/>
          </a:ln>
        </p:spPr>
        <p:txBody>
          <a:bodyPr/>
          <a:lstStyle/>
          <a:p>
            <a:endParaRPr lang="zh-CN" altLang="en-US"/>
          </a:p>
        </p:txBody>
      </p:sp>
      <p:sp>
        <p:nvSpPr>
          <p:cNvPr id="29" name="Shape 27"/>
          <p:cNvSpPr/>
          <p:nvPr/>
        </p:nvSpPr>
        <p:spPr>
          <a:xfrm>
            <a:off x="822960" y="4809744"/>
            <a:ext cx="914400" cy="365760"/>
          </a:xfrm>
          <a:prstGeom prst="roundRect">
            <a:avLst>
              <a:gd name="adj" fmla="val 15000"/>
            </a:avLst>
          </a:prstGeom>
          <a:solidFill>
            <a:srgbClr val="22C55E"/>
          </a:solidFill>
          <a:ln w="12700">
            <a:solidFill>
              <a:srgbClr val="22C55E"/>
            </a:solidFill>
            <a:prstDash val="solid"/>
          </a:ln>
        </p:spPr>
        <p:txBody>
          <a:bodyPr/>
          <a:lstStyle/>
          <a:p>
            <a:endParaRPr lang="zh-CN" altLang="en-US"/>
          </a:p>
        </p:txBody>
      </p:sp>
      <p:sp>
        <p:nvSpPr>
          <p:cNvPr id="30" name="Text 28"/>
          <p:cNvSpPr/>
          <p:nvPr/>
        </p:nvSpPr>
        <p:spPr>
          <a:xfrm>
            <a:off x="731520" y="480974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澄清</a:t>
            </a:r>
            <a:endParaRPr lang="en-US" sz="1000" dirty="0"/>
          </a:p>
        </p:txBody>
      </p:sp>
      <p:sp>
        <p:nvSpPr>
          <p:cNvPr id="31" name="Text 29"/>
          <p:cNvSpPr/>
          <p:nvPr/>
        </p:nvSpPr>
        <p:spPr>
          <a:xfrm>
            <a:off x="841248" y="5230368"/>
            <a:ext cx="4937760" cy="603504"/>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超过 proj_dim 的部分只是更细地插值同一频谱，对真实分辨率无益，反而增加计算量。</a:t>
            </a:r>
            <a:endParaRPr lang="en-US" sz="1100" dirty="0"/>
          </a:p>
        </p:txBody>
      </p:sp>
      <p:sp>
        <p:nvSpPr>
          <p:cNvPr id="32" name="Shape 30"/>
          <p:cNvSpPr/>
          <p:nvPr/>
        </p:nvSpPr>
        <p:spPr>
          <a:xfrm>
            <a:off x="6373368" y="3858768"/>
            <a:ext cx="5486400" cy="2048256"/>
          </a:xfrm>
          <a:prstGeom prst="roundRect">
            <a:avLst>
              <a:gd name="adj" fmla="val 40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33" name="Shape 31"/>
          <p:cNvSpPr/>
          <p:nvPr/>
        </p:nvSpPr>
        <p:spPr>
          <a:xfrm>
            <a:off x="6373368" y="3858768"/>
            <a:ext cx="82296" cy="2048256"/>
          </a:xfrm>
          <a:prstGeom prst="rect">
            <a:avLst/>
          </a:prstGeom>
          <a:solidFill>
            <a:srgbClr val="EF4444"/>
          </a:solidFill>
          <a:ln w="12700">
            <a:solidFill>
              <a:srgbClr val="EF4444"/>
            </a:solidFill>
            <a:prstDash val="solid"/>
          </a:ln>
        </p:spPr>
        <p:txBody>
          <a:bodyPr/>
          <a:lstStyle/>
          <a:p>
            <a:endParaRPr lang="zh-CN" altLang="en-US"/>
          </a:p>
        </p:txBody>
      </p:sp>
      <p:sp>
        <p:nvSpPr>
          <p:cNvPr id="34" name="Shape 32"/>
          <p:cNvSpPr/>
          <p:nvPr/>
        </p:nvSpPr>
        <p:spPr>
          <a:xfrm>
            <a:off x="6629400" y="4059936"/>
            <a:ext cx="914400" cy="365760"/>
          </a:xfrm>
          <a:prstGeom prst="roundRect">
            <a:avLst>
              <a:gd name="adj" fmla="val 15000"/>
            </a:avLst>
          </a:prstGeom>
          <a:solidFill>
            <a:srgbClr val="EF4444"/>
          </a:solidFill>
          <a:ln w="12700">
            <a:solidFill>
              <a:srgbClr val="EF4444"/>
            </a:solidFill>
            <a:prstDash val="solid"/>
          </a:ln>
        </p:spPr>
        <p:txBody>
          <a:bodyPr/>
          <a:lstStyle/>
          <a:p>
            <a:endParaRPr lang="zh-CN" altLang="en-US"/>
          </a:p>
        </p:txBody>
      </p:sp>
      <p:sp>
        <p:nvSpPr>
          <p:cNvPr id="35" name="Text 33"/>
          <p:cNvSpPr/>
          <p:nvPr/>
        </p:nvSpPr>
        <p:spPr>
          <a:xfrm>
            <a:off x="6537960" y="405993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误解</a:t>
            </a:r>
            <a:endParaRPr lang="en-US" sz="1000" dirty="0"/>
          </a:p>
        </p:txBody>
      </p:sp>
      <p:sp>
        <p:nvSpPr>
          <p:cNvPr id="36" name="Text 34"/>
          <p:cNvSpPr/>
          <p:nvPr/>
        </p:nvSpPr>
        <p:spPr>
          <a:xfrm>
            <a:off x="7671816" y="4041648"/>
            <a:ext cx="3931920" cy="420624"/>
          </a:xfrm>
          <a:prstGeom prst="rect">
            <a:avLst/>
          </a:prstGeom>
          <a:noFill/>
        </p:spPr>
        <p:txBody>
          <a:bodyPr wrap="square" lIns="0" tIns="0" rIns="0" bIns="0" rtlCol="0" anchor="ctr"/>
          <a:lstStyle/>
          <a:p>
            <a:pPr marL="0" indent="0">
              <a:lnSpc>
                <a:spcPts val="1500"/>
              </a:lnSpc>
              <a:buNone/>
            </a:pPr>
            <a:r>
              <a:rPr lang="en-US" sz="1200" b="1" dirty="0">
                <a:solidFill>
                  <a:srgbClr val="0E2A47"/>
                </a:solidFill>
                <a:latin typeface="Noto Sans CJK SC" pitchFamily="34" charset="0"/>
                <a:ea typeface="Noto Sans CJK SC" pitchFamily="34" charset="-122"/>
                <a:cs typeface="Noto Sans CJK SC" pitchFamily="34" charset="-120"/>
              </a:rPr>
              <a:t>负频率 bin 也能当坐标用</a:t>
            </a:r>
            <a:endParaRPr lang="en-US" sz="1200" dirty="0"/>
          </a:p>
        </p:txBody>
      </p:sp>
      <p:sp>
        <p:nvSpPr>
          <p:cNvPr id="37" name="Shape 35"/>
          <p:cNvSpPr/>
          <p:nvPr/>
        </p:nvSpPr>
        <p:spPr>
          <a:xfrm>
            <a:off x="6647688" y="4645152"/>
            <a:ext cx="4937760" cy="0"/>
          </a:xfrm>
          <a:prstGeom prst="line">
            <a:avLst/>
          </a:prstGeom>
          <a:noFill/>
          <a:ln w="12700">
            <a:solidFill>
              <a:srgbClr val="E2E8F0"/>
            </a:solidFill>
            <a:prstDash val="solid"/>
          </a:ln>
        </p:spPr>
        <p:txBody>
          <a:bodyPr/>
          <a:lstStyle/>
          <a:p>
            <a:endParaRPr lang="zh-CN" altLang="en-US"/>
          </a:p>
        </p:txBody>
      </p:sp>
      <p:sp>
        <p:nvSpPr>
          <p:cNvPr id="38" name="Shape 36"/>
          <p:cNvSpPr/>
          <p:nvPr/>
        </p:nvSpPr>
        <p:spPr>
          <a:xfrm>
            <a:off x="6629400" y="4809744"/>
            <a:ext cx="914400" cy="365760"/>
          </a:xfrm>
          <a:prstGeom prst="roundRect">
            <a:avLst>
              <a:gd name="adj" fmla="val 15000"/>
            </a:avLst>
          </a:prstGeom>
          <a:solidFill>
            <a:srgbClr val="22C55E"/>
          </a:solidFill>
          <a:ln w="12700">
            <a:solidFill>
              <a:srgbClr val="22C55E"/>
            </a:solidFill>
            <a:prstDash val="solid"/>
          </a:ln>
        </p:spPr>
        <p:txBody>
          <a:bodyPr/>
          <a:lstStyle/>
          <a:p>
            <a:endParaRPr lang="zh-CN" altLang="en-US"/>
          </a:p>
        </p:txBody>
      </p:sp>
      <p:sp>
        <p:nvSpPr>
          <p:cNvPr id="39" name="Text 37"/>
          <p:cNvSpPr/>
          <p:nvPr/>
        </p:nvSpPr>
        <p:spPr>
          <a:xfrm>
            <a:off x="6537960" y="480974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澄清</a:t>
            </a:r>
            <a:endParaRPr lang="en-US" sz="1000" dirty="0"/>
          </a:p>
        </p:txBody>
      </p:sp>
      <p:sp>
        <p:nvSpPr>
          <p:cNvPr id="40" name="Text 38"/>
          <p:cNvSpPr/>
          <p:nvPr/>
        </p:nvSpPr>
        <p:spPr>
          <a:xfrm>
            <a:off x="6647688" y="5230368"/>
            <a:ext cx="4937760" cy="603504"/>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半步长下频谱后一半是负频率，必须在 argmax 前裁掉，否则会出现非法的投影仪坐标。</a:t>
            </a:r>
            <a:endParaRPr lang="en-US" sz="1100" dirty="0"/>
          </a:p>
        </p:txBody>
      </p:sp>
      <p:sp>
        <p:nvSpPr>
          <p:cNvPr id="41" name="Text 3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2" name="Text 4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43" name="Text 4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33 / 42</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推荐实现</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_get_fft_params 与解码逻辑的推荐修改</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用通用公式统一两种步长，并在 argmax 前裁掉负频率区。</a:t>
            </a:r>
            <a:endParaRPr lang="en-US" sz="1250" dirty="0"/>
          </a:p>
        </p:txBody>
      </p:sp>
      <p:sp>
        <p:nvSpPr>
          <p:cNvPr id="6" name="Text 4"/>
          <p:cNvSpPr/>
          <p:nvPr/>
        </p:nvSpPr>
        <p:spPr>
          <a:xfrm>
            <a:off x="566928" y="1901952"/>
            <a:ext cx="5486400" cy="292608"/>
          </a:xfrm>
          <a:prstGeom prst="rect">
            <a:avLst/>
          </a:prstGeom>
          <a:noFill/>
        </p:spPr>
        <p:txBody>
          <a:bodyPr wrap="square" lIns="0" tIns="0" rIns="0" bIns="0" rtlCol="0" anchor="ctr"/>
          <a:lstStyle/>
          <a:p>
            <a:pPr marL="0" indent="0">
              <a:buNone/>
            </a:pPr>
            <a:r>
              <a:rPr lang="en-US" sz="1150" b="1" dirty="0">
                <a:solidFill>
                  <a:srgbClr val="0E7490"/>
                </a:solidFill>
                <a:latin typeface="Noto Sans CJK SC" pitchFamily="34" charset="0"/>
                <a:ea typeface="Noto Sans CJK SC" pitchFamily="34" charset="-122"/>
                <a:cs typeface="Noto Sans CJK SC" pitchFamily="34" charset="-120"/>
              </a:rPr>
              <a:t>① 计算 FFT 参数</a:t>
            </a:r>
            <a:endParaRPr lang="en-US" sz="1150" dirty="0"/>
          </a:p>
        </p:txBody>
      </p:sp>
      <p:sp>
        <p:nvSpPr>
          <p:cNvPr id="7" name="Shape 5"/>
          <p:cNvSpPr/>
          <p:nvPr/>
        </p:nvSpPr>
        <p:spPr>
          <a:xfrm>
            <a:off x="566928" y="2212848"/>
            <a:ext cx="5532120" cy="1828800"/>
          </a:xfrm>
          <a:prstGeom prst="roundRect">
            <a:avLst>
              <a:gd name="adj" fmla="val 3000"/>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8" name="Text 6"/>
          <p:cNvSpPr/>
          <p:nvPr/>
        </p:nvSpPr>
        <p:spPr>
          <a:xfrm>
            <a:off x="768096" y="2340864"/>
            <a:ext cx="5166360" cy="1572768"/>
          </a:xfrm>
          <a:prstGeom prst="rect">
            <a:avLst/>
          </a:prstGeom>
          <a:noFill/>
        </p:spPr>
        <p:txBody>
          <a:bodyPr wrap="square" lIns="0" tIns="0" rIns="0" bIns="0" rtlCol="0" anchor="t"/>
          <a:lstStyle/>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def _get_fft_params(proj_dim, freq_step):</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    fft_length  = round(proj_dim / freq_step)</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    coord_scale = proj_dim / (</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        fft_length * freq_step)</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    return fft_length, coord_scale</a:t>
            </a:r>
            <a:endParaRPr lang="en-US" sz="1000" dirty="0"/>
          </a:p>
        </p:txBody>
      </p:sp>
      <p:sp>
        <p:nvSpPr>
          <p:cNvPr id="9" name="Text 7"/>
          <p:cNvSpPr/>
          <p:nvPr/>
        </p:nvSpPr>
        <p:spPr>
          <a:xfrm>
            <a:off x="6400800" y="1901952"/>
            <a:ext cx="5486400" cy="292608"/>
          </a:xfrm>
          <a:prstGeom prst="rect">
            <a:avLst/>
          </a:prstGeom>
          <a:noFill/>
        </p:spPr>
        <p:txBody>
          <a:bodyPr wrap="square" lIns="0" tIns="0" rIns="0" bIns="0" rtlCol="0" anchor="ctr"/>
          <a:lstStyle/>
          <a:p>
            <a:pPr marL="0" indent="0">
              <a:buNone/>
            </a:pPr>
            <a:r>
              <a:rPr lang="en-US" sz="1150" b="1" dirty="0">
                <a:solidFill>
                  <a:srgbClr val="F59E0B"/>
                </a:solidFill>
                <a:latin typeface="Noto Sans CJK SC" pitchFamily="34" charset="0"/>
                <a:ea typeface="Noto Sans CJK SC" pitchFamily="34" charset="-122"/>
                <a:cs typeface="Noto Sans CJK SC" pitchFamily="34" charset="-120"/>
              </a:rPr>
              <a:t>② 解码时裁切有效频谱</a:t>
            </a:r>
            <a:endParaRPr lang="en-US" sz="1150" dirty="0"/>
          </a:p>
        </p:txBody>
      </p:sp>
      <p:sp>
        <p:nvSpPr>
          <p:cNvPr id="10" name="Shape 8"/>
          <p:cNvSpPr/>
          <p:nvPr/>
        </p:nvSpPr>
        <p:spPr>
          <a:xfrm>
            <a:off x="6400800" y="2212848"/>
            <a:ext cx="5221224" cy="1828800"/>
          </a:xfrm>
          <a:prstGeom prst="roundRect">
            <a:avLst>
              <a:gd name="adj" fmla="val 3000"/>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1" name="Text 9"/>
          <p:cNvSpPr/>
          <p:nvPr/>
        </p:nvSpPr>
        <p:spPr>
          <a:xfrm>
            <a:off x="6601968" y="2340864"/>
            <a:ext cx="4855464" cy="1572768"/>
          </a:xfrm>
          <a:prstGeom prst="rect">
            <a:avLst/>
          </a:prstGeom>
          <a:noFill/>
        </p:spPr>
        <p:txBody>
          <a:bodyPr wrap="square" lIns="0" tIns="0" rIns="0" bIns="0" rtlCol="0" anchor="t"/>
          <a:lstStyle/>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C = np.fft.fft(D_block, n=fft_length,</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               axis=0)</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valid = C[:proj_dim]          # 裁负频率</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mag   = np.abs(valid)</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idx   = np.argmax(mag, axis=0)</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disparity = idx * coord_scale</a:t>
            </a:r>
            <a:endParaRPr lang="en-US" sz="1000" dirty="0"/>
          </a:p>
        </p:txBody>
      </p:sp>
      <p:sp>
        <p:nvSpPr>
          <p:cNvPr id="12" name="Shape 10"/>
          <p:cNvSpPr/>
          <p:nvPr/>
        </p:nvSpPr>
        <p:spPr>
          <a:xfrm>
            <a:off x="566928" y="4261104"/>
            <a:ext cx="11055096" cy="1700784"/>
          </a:xfrm>
          <a:prstGeom prst="roundRect">
            <a:avLst>
              <a:gd name="adj" fmla="val 483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3" name="Text 11"/>
          <p:cNvSpPr/>
          <p:nvPr/>
        </p:nvSpPr>
        <p:spPr>
          <a:xfrm>
            <a:off x="768096" y="4389120"/>
            <a:ext cx="2743200" cy="292608"/>
          </a:xfrm>
          <a:prstGeom prst="rect">
            <a:avLst/>
          </a:prstGeom>
          <a:noFill/>
        </p:spPr>
        <p:txBody>
          <a:bodyPr wrap="square" lIns="0" tIns="0" rIns="0" bIns="0" rtlCol="0" anchor="ctr"/>
          <a:lstStyle/>
          <a:p>
            <a:pPr marL="0" indent="0">
              <a:buNone/>
            </a:pPr>
            <a:r>
              <a:rPr lang="en-US" sz="1200" b="1" dirty="0">
                <a:solidFill>
                  <a:srgbClr val="22D3EE"/>
                </a:solidFill>
                <a:latin typeface="Noto Sans CJK SC" pitchFamily="34" charset="0"/>
                <a:ea typeface="Noto Sans CJK SC" pitchFamily="34" charset="-122"/>
                <a:cs typeface="Noto Sans CJK SC" pitchFamily="34" charset="-120"/>
              </a:rPr>
              <a:t>修改要点</a:t>
            </a:r>
            <a:endParaRPr lang="en-US" sz="1200" dirty="0"/>
          </a:p>
        </p:txBody>
      </p:sp>
      <p:sp>
        <p:nvSpPr>
          <p:cNvPr id="14" name="Text 12"/>
          <p:cNvSpPr/>
          <p:nvPr/>
        </p:nvSpPr>
        <p:spPr>
          <a:xfrm>
            <a:off x="768096" y="4718304"/>
            <a:ext cx="10607040" cy="1188720"/>
          </a:xfrm>
          <a:prstGeom prst="rect">
            <a:avLst/>
          </a:prstGeom>
          <a:noFill/>
        </p:spPr>
        <p:txBody>
          <a:bodyPr wrap="square" lIns="0" tIns="0" rIns="0" bIns="0" rtlCol="0" anchor="t"/>
          <a:lstStyle/>
          <a:p>
            <a:pPr marL="177800" indent="-177800">
              <a:spcAft>
                <a:spcPts val="800"/>
              </a:spcAft>
              <a:buSzPct val="100000"/>
              <a:buChar char="•"/>
            </a:pPr>
            <a:r>
              <a:rPr lang="en-US" sz="1100" dirty="0">
                <a:solidFill>
                  <a:srgbClr val="CBD5E1"/>
                </a:solidFill>
                <a:latin typeface="Noto Sans CJK SC" pitchFamily="34" charset="0"/>
                <a:ea typeface="Noto Sans CJK SC" pitchFamily="34" charset="-122"/>
                <a:cs typeface="Noto Sans CJK SC" pitchFamily="34" charset="-120"/>
              </a:rPr>
              <a:t>fft_length 由 round(proj_dim / frequency_step) 统一计算，标准模式自然得到 proj_dim。</a:t>
            </a:r>
            <a:endParaRPr lang="en-US" sz="1100" dirty="0"/>
          </a:p>
          <a:p>
            <a:pPr marL="177800" indent="-177800">
              <a:spcAft>
                <a:spcPts val="800"/>
              </a:spcAft>
              <a:buSzPct val="100000"/>
              <a:buChar char="•"/>
            </a:pPr>
            <a:r>
              <a:rPr lang="en-US" sz="1100" dirty="0">
                <a:solidFill>
                  <a:srgbClr val="CBD5E1"/>
                </a:solidFill>
                <a:latin typeface="Noto Sans CJK SC" pitchFamily="34" charset="0"/>
                <a:ea typeface="Noto Sans CJK SC" pitchFamily="34" charset="-122"/>
                <a:cs typeface="Noto Sans CJK SC" pitchFamily="34" charset="-120"/>
              </a:rPr>
              <a:t>coord_scale 由通用公式给出，两种步长下都正确，无需写两个分支。</a:t>
            </a:r>
            <a:endParaRPr lang="en-US" sz="1100" dirty="0"/>
          </a:p>
          <a:p>
            <a:pPr marL="177800" indent="-177800">
              <a:spcAft>
                <a:spcPts val="800"/>
              </a:spcAft>
              <a:buSzPct val="100000"/>
              <a:buChar char="•"/>
            </a:pPr>
            <a:r>
              <a:rPr lang="en-US" sz="1100" dirty="0">
                <a:solidFill>
                  <a:srgbClr val="22D3EE"/>
                </a:solidFill>
                <a:latin typeface="Noto Sans CJK SC" pitchFamily="34" charset="0"/>
                <a:ea typeface="Noto Sans CJK SC" pitchFamily="34" charset="-122"/>
                <a:cs typeface="Noto Sans CJK SC" pitchFamily="34" charset="-120"/>
              </a:rPr>
              <a:t>argmax 前用 C[:proj_dim] 裁掉负频率区，半步长下尤为关键。</a:t>
            </a:r>
            <a:endParaRPr lang="en-US" sz="1100" dirty="0"/>
          </a:p>
        </p:txBody>
      </p:sp>
      <p:sp>
        <p:nvSpPr>
          <p:cNvPr id="15" name="Text 1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6" name="Text 1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17" name="Text 1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34 / 42</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序列规模</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NUM_FREQUENCIES 与图像数量、顺序</a:t>
            </a:r>
            <a:endParaRPr lang="en-US" sz="2900" dirty="0"/>
          </a:p>
        </p:txBody>
      </p:sp>
      <p:sp>
        <p:nvSpPr>
          <p:cNvPr id="5" name="Text 3"/>
          <p:cNvSpPr/>
          <p:nvPr/>
        </p:nvSpPr>
        <p:spPr>
          <a:xfrm>
            <a:off x="566928" y="1627632"/>
            <a:ext cx="5349240" cy="2103120"/>
          </a:xfrm>
          <a:prstGeom prst="rect">
            <a:avLst/>
          </a:prstGeom>
          <a:noFill/>
        </p:spPr>
        <p:txBody>
          <a:bodyPr wrap="square" lIns="0" tIns="0" rIns="0" bIns="0" rtlCol="0" anchor="t"/>
          <a:lstStyle/>
          <a:p>
            <a:pPr marL="177800" indent="-177800">
              <a:spcAft>
                <a:spcPts val="1000"/>
              </a:spcAft>
              <a:buSzPct val="100000"/>
              <a:buChar char="•"/>
            </a:pPr>
            <a:r>
              <a:rPr lang="en-US" sz="1250" b="1" dirty="0">
                <a:solidFill>
                  <a:srgbClr val="1E293B"/>
                </a:solidFill>
                <a:latin typeface="Noto Sans CJK SC" pitchFamily="34" charset="0"/>
                <a:ea typeface="Noto Sans CJK SC" pitchFamily="34" charset="-122"/>
                <a:cs typeface="Noto Sans CJK SC" pitchFamily="34" charset="-120"/>
              </a:rPr>
              <a:t>NUM_FREQUENCIES 即频率个数 M，frequency_step 决定它如何取值。</a:t>
            </a:r>
            <a:endParaRPr lang="en-US" sz="1250" dirty="0"/>
          </a:p>
          <a:p>
            <a:pPr marL="177800" indent="-177800">
              <a:spcAft>
                <a:spcPts val="1000"/>
              </a:spcAft>
              <a:buSzPct val="100000"/>
              <a:buChar char="•"/>
            </a:pPr>
            <a:r>
              <a:rPr lang="en-US" sz="1250" dirty="0">
                <a:solidFill>
                  <a:srgbClr val="1E293B"/>
                </a:solidFill>
                <a:latin typeface="Noto Sans CJK SC" pitchFamily="34" charset="0"/>
                <a:ea typeface="Noto Sans CJK SC" pitchFamily="34" charset="-122"/>
                <a:cs typeface="Noto Sans CJK SC" pitchFamily="34" charset="-120"/>
              </a:rPr>
              <a:t>step = 1.0：频率取 0,1,…,150，共 151 个。</a:t>
            </a:r>
            <a:endParaRPr lang="en-US" sz="1250" dirty="0"/>
          </a:p>
          <a:p>
            <a:pPr marL="177800" indent="-177800">
              <a:spcAft>
                <a:spcPts val="1000"/>
              </a:spcAft>
              <a:buSzPct val="100000"/>
              <a:buChar char="•"/>
            </a:pPr>
            <a:r>
              <a:rPr lang="en-US" sz="1250" b="1" dirty="0">
                <a:solidFill>
                  <a:srgbClr val="F59E0B"/>
                </a:solidFill>
                <a:latin typeface="Noto Sans CJK SC" pitchFamily="34" charset="0"/>
                <a:ea typeface="Noto Sans CJK SC" pitchFamily="34" charset="-122"/>
                <a:cs typeface="Noto Sans CJK SC" pitchFamily="34" charset="-120"/>
              </a:rPr>
              <a:t>step = 0.5：频率取 0,0.5,…,150，共 301 个。</a:t>
            </a:r>
            <a:endParaRPr lang="en-US" sz="1250" dirty="0"/>
          </a:p>
          <a:p>
            <a:pPr marL="177800" indent="-177800">
              <a:spcAft>
                <a:spcPts val="1000"/>
              </a:spcAft>
              <a:buSzPct val="100000"/>
              <a:buChar char="•"/>
            </a:pPr>
            <a:r>
              <a:rPr lang="en-US" sz="1250" dirty="0">
                <a:solidFill>
                  <a:srgbClr val="1E293B"/>
                </a:solidFill>
                <a:latin typeface="Noto Sans CJK SC" pitchFamily="34" charset="0"/>
                <a:ea typeface="Noto Sans CJK SC" pitchFamily="34" charset="-122"/>
                <a:cs typeface="Noto Sans CJK SC" pitchFamily="34" charset="-120"/>
              </a:rPr>
              <a:t>每个频率配 4 张相移图，总图像数 = M × 4。</a:t>
            </a:r>
            <a:endParaRPr lang="en-US" sz="1250" dirty="0"/>
          </a:p>
        </p:txBody>
      </p:sp>
      <p:sp>
        <p:nvSpPr>
          <p:cNvPr id="6" name="Shape 4"/>
          <p:cNvSpPr/>
          <p:nvPr/>
        </p:nvSpPr>
        <p:spPr>
          <a:xfrm>
            <a:off x="566928" y="3840480"/>
            <a:ext cx="5349240" cy="859536"/>
          </a:xfrm>
          <a:prstGeom prst="roundRect">
            <a:avLst>
              <a:gd name="adj" fmla="val 7447"/>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3840480"/>
            <a:ext cx="5166360" cy="859536"/>
          </a:xfrm>
          <a:prstGeom prst="rect">
            <a:avLst/>
          </a:prstGeom>
          <a:noFill/>
        </p:spPr>
        <p:txBody>
          <a:bodyPr wrap="square" lIns="0" tIns="0" rIns="0" bIns="0" rtlCol="0" anchor="ctr"/>
          <a:lstStyle/>
          <a:p>
            <a:pPr marL="0" indent="0" algn="ctr">
              <a:buNone/>
            </a:pPr>
            <a:r>
              <a:rPr lang="en-US" sz="1500" b="1" dirty="0">
                <a:solidFill>
                  <a:srgbClr val="22D3EE"/>
                </a:solidFill>
                <a:latin typeface="DejaVu Sans Mono" pitchFamily="34" charset="0"/>
                <a:ea typeface="DejaVu Sans Mono" pitchFamily="34" charset="-122"/>
                <a:cs typeface="DejaVu Sans Mono" pitchFamily="34" charset="-120"/>
              </a:rPr>
              <a:t>step = 0.5  →  301 × 4 = 1204 张</a:t>
            </a:r>
            <a:endParaRPr lang="en-US" sz="1500" dirty="0"/>
          </a:p>
        </p:txBody>
      </p:sp>
      <p:sp>
        <p:nvSpPr>
          <p:cNvPr id="8" name="Shape 6"/>
          <p:cNvSpPr/>
          <p:nvPr/>
        </p:nvSpPr>
        <p:spPr>
          <a:xfrm>
            <a:off x="566928" y="4846320"/>
            <a:ext cx="5349240" cy="1115568"/>
          </a:xfrm>
          <a:prstGeom prst="roundRect">
            <a:avLst>
              <a:gd name="adj" fmla="val 7377"/>
            </a:avLst>
          </a:prstGeom>
          <a:solidFill>
            <a:srgbClr val="F2F5F9"/>
          </a:solidFill>
          <a:ln w="12700">
            <a:solidFill>
              <a:srgbClr val="E2E8F0"/>
            </a:solidFill>
            <a:prstDash val="solid"/>
          </a:ln>
        </p:spPr>
        <p:txBody>
          <a:bodyPr/>
          <a:lstStyle/>
          <a:p>
            <a:endParaRPr lang="zh-CN" altLang="en-US"/>
          </a:p>
        </p:txBody>
      </p:sp>
      <p:sp>
        <p:nvSpPr>
          <p:cNvPr id="9" name="Text 7"/>
          <p:cNvSpPr/>
          <p:nvPr/>
        </p:nvSpPr>
        <p:spPr>
          <a:xfrm>
            <a:off x="768096" y="4937760"/>
            <a:ext cx="2743200" cy="274320"/>
          </a:xfrm>
          <a:prstGeom prst="rect">
            <a:avLst/>
          </a:prstGeom>
          <a:noFill/>
        </p:spPr>
        <p:txBody>
          <a:bodyPr wrap="square" lIns="0" tIns="0" rIns="0" bIns="0" rtlCol="0" anchor="ctr"/>
          <a:lstStyle/>
          <a:p>
            <a:pPr marL="0" indent="0">
              <a:buNone/>
            </a:pPr>
            <a:r>
              <a:rPr lang="en-US" sz="1100" b="1" dirty="0">
                <a:solidFill>
                  <a:srgbClr val="0E7490"/>
                </a:solidFill>
                <a:latin typeface="Noto Sans CJK SC" pitchFamily="34" charset="0"/>
                <a:ea typeface="Noto Sans CJK SC" pitchFamily="34" charset="-122"/>
                <a:cs typeface="Noto Sans CJK SC" pitchFamily="34" charset="-120"/>
              </a:rPr>
              <a:t>命名顺序</a:t>
            </a:r>
            <a:endParaRPr lang="en-US" sz="1100" dirty="0"/>
          </a:p>
        </p:txBody>
      </p:sp>
      <p:sp>
        <p:nvSpPr>
          <p:cNvPr id="10" name="Text 8"/>
          <p:cNvSpPr/>
          <p:nvPr/>
        </p:nvSpPr>
        <p:spPr>
          <a:xfrm>
            <a:off x="768096" y="5193792"/>
            <a:ext cx="5029200" cy="694944"/>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图像按「频率优先」排列：0,1,2,3 是频率 0 的四相移，</a:t>
            </a:r>
            <a:endParaRPr lang="en-US" sz="1100" dirty="0"/>
          </a:p>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4,5,6,7 是频率 1，依此类推。</a:t>
            </a:r>
            <a:endParaRPr lang="en-US" sz="1100" dirty="0"/>
          </a:p>
        </p:txBody>
      </p:sp>
      <p:sp>
        <p:nvSpPr>
          <p:cNvPr id="11" name="Shape 9"/>
          <p:cNvSpPr/>
          <p:nvPr/>
        </p:nvSpPr>
        <p:spPr>
          <a:xfrm>
            <a:off x="6126480" y="1627632"/>
            <a:ext cx="5504688"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327648" y="1755648"/>
            <a:ext cx="512064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两种步长的序列规模对比</a:t>
            </a:r>
            <a:endParaRPr lang="en-US" sz="1200" dirty="0"/>
          </a:p>
        </p:txBody>
      </p:sp>
      <p:sp>
        <p:nvSpPr>
          <p:cNvPr id="13" name="Shape 11"/>
          <p:cNvSpPr/>
          <p:nvPr/>
        </p:nvSpPr>
        <p:spPr>
          <a:xfrm>
            <a:off x="6355080" y="2212848"/>
            <a:ext cx="5029200" cy="603504"/>
          </a:xfrm>
          <a:prstGeom prst="rect">
            <a:avLst/>
          </a:prstGeom>
          <a:solidFill>
            <a:srgbClr val="0E2A47"/>
          </a:solidFill>
          <a:ln w="9525">
            <a:solidFill>
              <a:srgbClr val="E2E8F0"/>
            </a:solidFill>
            <a:prstDash val="solid"/>
          </a:ln>
        </p:spPr>
        <p:txBody>
          <a:bodyPr/>
          <a:lstStyle/>
          <a:p>
            <a:endParaRPr lang="zh-CN" altLang="en-US"/>
          </a:p>
        </p:txBody>
      </p:sp>
      <p:sp>
        <p:nvSpPr>
          <p:cNvPr id="14" name="Text 12"/>
          <p:cNvSpPr/>
          <p:nvPr/>
        </p:nvSpPr>
        <p:spPr>
          <a:xfrm>
            <a:off x="6501384" y="2212848"/>
            <a:ext cx="2103120" cy="603504"/>
          </a:xfrm>
          <a:prstGeom prst="rect">
            <a:avLst/>
          </a:prstGeom>
          <a:noFill/>
        </p:spPr>
        <p:txBody>
          <a:bodyPr wrap="square" lIns="0" tIns="0" rIns="0" bIns="0" rtlCol="0" anchor="ctr"/>
          <a:lstStyle/>
          <a:p>
            <a:pPr marL="0" indent="0">
              <a:buNone/>
            </a:pPr>
            <a:r>
              <a:rPr lang="en-US" sz="1050" b="1" dirty="0">
                <a:solidFill>
                  <a:srgbClr val="FFFFFF"/>
                </a:solidFill>
                <a:latin typeface="Noto Sans CJK SC" pitchFamily="34" charset="0"/>
                <a:ea typeface="Noto Sans CJK SC" pitchFamily="34" charset="-122"/>
                <a:cs typeface="Noto Sans CJK SC" pitchFamily="34" charset="-120"/>
              </a:rPr>
              <a:t>frequency_step</a:t>
            </a:r>
            <a:endParaRPr lang="en-US" sz="1050" dirty="0"/>
          </a:p>
        </p:txBody>
      </p:sp>
      <p:sp>
        <p:nvSpPr>
          <p:cNvPr id="15" name="Text 13"/>
          <p:cNvSpPr/>
          <p:nvPr/>
        </p:nvSpPr>
        <p:spPr>
          <a:xfrm>
            <a:off x="8641080" y="2212848"/>
            <a:ext cx="1371600" cy="60350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1.0</a:t>
            </a:r>
            <a:endParaRPr lang="en-US" sz="1050" dirty="0"/>
          </a:p>
        </p:txBody>
      </p:sp>
      <p:sp>
        <p:nvSpPr>
          <p:cNvPr id="16" name="Text 14"/>
          <p:cNvSpPr/>
          <p:nvPr/>
        </p:nvSpPr>
        <p:spPr>
          <a:xfrm>
            <a:off x="10012680" y="2212848"/>
            <a:ext cx="1371600" cy="60350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0.5</a:t>
            </a:r>
            <a:endParaRPr lang="en-US" sz="1050" dirty="0"/>
          </a:p>
        </p:txBody>
      </p:sp>
      <p:sp>
        <p:nvSpPr>
          <p:cNvPr id="17" name="Shape 15"/>
          <p:cNvSpPr/>
          <p:nvPr/>
        </p:nvSpPr>
        <p:spPr>
          <a:xfrm>
            <a:off x="6355080" y="2816352"/>
            <a:ext cx="5029200" cy="603504"/>
          </a:xfrm>
          <a:prstGeom prst="rect">
            <a:avLst/>
          </a:prstGeom>
          <a:solidFill>
            <a:srgbClr val="F2F5F9"/>
          </a:solidFill>
          <a:ln w="9525">
            <a:solidFill>
              <a:srgbClr val="E2E8F0"/>
            </a:solidFill>
            <a:prstDash val="solid"/>
          </a:ln>
        </p:spPr>
        <p:txBody>
          <a:bodyPr/>
          <a:lstStyle/>
          <a:p>
            <a:endParaRPr lang="zh-CN" altLang="en-US"/>
          </a:p>
        </p:txBody>
      </p:sp>
      <p:sp>
        <p:nvSpPr>
          <p:cNvPr id="18" name="Text 16"/>
          <p:cNvSpPr/>
          <p:nvPr/>
        </p:nvSpPr>
        <p:spPr>
          <a:xfrm>
            <a:off x="6501384" y="2816352"/>
            <a:ext cx="2103120" cy="603504"/>
          </a:xfrm>
          <a:prstGeom prst="rect">
            <a:avLst/>
          </a:prstGeom>
          <a:noFill/>
        </p:spPr>
        <p:txBody>
          <a:bodyPr wrap="square" lIns="0" tIns="0" rIns="0" bIns="0" rtlCol="0" anchor="ctr"/>
          <a:lstStyle/>
          <a:p>
            <a:pPr marL="0" indent="0">
              <a:buNone/>
            </a:pPr>
            <a:r>
              <a:rPr lang="en-US" sz="1050" dirty="0">
                <a:solidFill>
                  <a:srgbClr val="1E293B"/>
                </a:solidFill>
                <a:latin typeface="Noto Sans CJK SC" pitchFamily="34" charset="0"/>
                <a:ea typeface="Noto Sans CJK SC" pitchFamily="34" charset="-122"/>
                <a:cs typeface="Noto Sans CJK SC" pitchFamily="34" charset="-120"/>
              </a:rPr>
              <a:t>频率个数 M</a:t>
            </a:r>
            <a:endParaRPr lang="en-US" sz="1050" dirty="0"/>
          </a:p>
        </p:txBody>
      </p:sp>
      <p:sp>
        <p:nvSpPr>
          <p:cNvPr id="19" name="Text 17"/>
          <p:cNvSpPr/>
          <p:nvPr/>
        </p:nvSpPr>
        <p:spPr>
          <a:xfrm>
            <a:off x="8641080" y="2816352"/>
            <a:ext cx="1371600" cy="603504"/>
          </a:xfrm>
          <a:prstGeom prst="rect">
            <a:avLst/>
          </a:prstGeom>
          <a:noFill/>
        </p:spPr>
        <p:txBody>
          <a:bodyPr wrap="square" lIns="0" tIns="0" rIns="0" bIns="0" rtlCol="0" anchor="ctr"/>
          <a:lstStyle/>
          <a:p>
            <a:pPr marL="0" indent="0" algn="ctr">
              <a:buNone/>
            </a:pPr>
            <a:r>
              <a:rPr lang="en-US" sz="1050" dirty="0">
                <a:solidFill>
                  <a:srgbClr val="3B82F6"/>
                </a:solidFill>
                <a:latin typeface="DejaVu Sans Mono" pitchFamily="34" charset="0"/>
                <a:ea typeface="DejaVu Sans Mono" pitchFamily="34" charset="-122"/>
                <a:cs typeface="DejaVu Sans Mono" pitchFamily="34" charset="-120"/>
              </a:rPr>
              <a:t>151</a:t>
            </a:r>
            <a:endParaRPr lang="en-US" sz="1050" dirty="0"/>
          </a:p>
        </p:txBody>
      </p:sp>
      <p:sp>
        <p:nvSpPr>
          <p:cNvPr id="20" name="Text 18"/>
          <p:cNvSpPr/>
          <p:nvPr/>
        </p:nvSpPr>
        <p:spPr>
          <a:xfrm>
            <a:off x="10012680" y="2816352"/>
            <a:ext cx="1371600" cy="603504"/>
          </a:xfrm>
          <a:prstGeom prst="rect">
            <a:avLst/>
          </a:prstGeom>
          <a:noFill/>
        </p:spPr>
        <p:txBody>
          <a:bodyPr wrap="square" lIns="0" tIns="0" rIns="0" bIns="0" rtlCol="0" anchor="ctr"/>
          <a:lstStyle/>
          <a:p>
            <a:pPr marL="0" indent="0" algn="ctr">
              <a:buNone/>
            </a:pPr>
            <a:r>
              <a:rPr lang="en-US" sz="1050" dirty="0">
                <a:solidFill>
                  <a:srgbClr val="F59E0B"/>
                </a:solidFill>
                <a:latin typeface="DejaVu Sans Mono" pitchFamily="34" charset="0"/>
                <a:ea typeface="DejaVu Sans Mono" pitchFamily="34" charset="-122"/>
                <a:cs typeface="DejaVu Sans Mono" pitchFamily="34" charset="-120"/>
              </a:rPr>
              <a:t>301</a:t>
            </a:r>
            <a:endParaRPr lang="en-US" sz="1050" dirty="0"/>
          </a:p>
        </p:txBody>
      </p:sp>
      <p:sp>
        <p:nvSpPr>
          <p:cNvPr id="21" name="Shape 19"/>
          <p:cNvSpPr/>
          <p:nvPr/>
        </p:nvSpPr>
        <p:spPr>
          <a:xfrm>
            <a:off x="6355080" y="3419856"/>
            <a:ext cx="5029200" cy="603504"/>
          </a:xfrm>
          <a:prstGeom prst="rect">
            <a:avLst/>
          </a:prstGeom>
          <a:solidFill>
            <a:srgbClr val="FFFFFF"/>
          </a:solidFill>
          <a:ln w="9525">
            <a:solidFill>
              <a:srgbClr val="E2E8F0"/>
            </a:solidFill>
            <a:prstDash val="solid"/>
          </a:ln>
        </p:spPr>
        <p:txBody>
          <a:bodyPr/>
          <a:lstStyle/>
          <a:p>
            <a:endParaRPr lang="zh-CN" altLang="en-US"/>
          </a:p>
        </p:txBody>
      </p:sp>
      <p:sp>
        <p:nvSpPr>
          <p:cNvPr id="22" name="Text 20"/>
          <p:cNvSpPr/>
          <p:nvPr/>
        </p:nvSpPr>
        <p:spPr>
          <a:xfrm>
            <a:off x="6501384" y="3419856"/>
            <a:ext cx="2103120" cy="603504"/>
          </a:xfrm>
          <a:prstGeom prst="rect">
            <a:avLst/>
          </a:prstGeom>
          <a:noFill/>
        </p:spPr>
        <p:txBody>
          <a:bodyPr wrap="square" lIns="0" tIns="0" rIns="0" bIns="0" rtlCol="0" anchor="ctr"/>
          <a:lstStyle/>
          <a:p>
            <a:pPr marL="0" indent="0">
              <a:buNone/>
            </a:pPr>
            <a:r>
              <a:rPr lang="en-US" sz="1050" dirty="0">
                <a:solidFill>
                  <a:srgbClr val="1E293B"/>
                </a:solidFill>
                <a:latin typeface="Noto Sans CJK SC" pitchFamily="34" charset="0"/>
                <a:ea typeface="Noto Sans CJK SC" pitchFamily="34" charset="-122"/>
                <a:cs typeface="Noto Sans CJK SC" pitchFamily="34" charset="-120"/>
              </a:rPr>
              <a:t>每方向图像数</a:t>
            </a:r>
            <a:endParaRPr lang="en-US" sz="1050" dirty="0"/>
          </a:p>
        </p:txBody>
      </p:sp>
      <p:sp>
        <p:nvSpPr>
          <p:cNvPr id="23" name="Text 21"/>
          <p:cNvSpPr/>
          <p:nvPr/>
        </p:nvSpPr>
        <p:spPr>
          <a:xfrm>
            <a:off x="8641080" y="3419856"/>
            <a:ext cx="1371600" cy="603504"/>
          </a:xfrm>
          <a:prstGeom prst="rect">
            <a:avLst/>
          </a:prstGeom>
          <a:noFill/>
        </p:spPr>
        <p:txBody>
          <a:bodyPr wrap="square" lIns="0" tIns="0" rIns="0" bIns="0" rtlCol="0" anchor="ctr"/>
          <a:lstStyle/>
          <a:p>
            <a:pPr marL="0" indent="0" algn="ctr">
              <a:buNone/>
            </a:pPr>
            <a:r>
              <a:rPr lang="en-US" sz="1050" dirty="0">
                <a:solidFill>
                  <a:srgbClr val="3B82F6"/>
                </a:solidFill>
                <a:latin typeface="DejaVu Sans Mono" pitchFamily="34" charset="0"/>
                <a:ea typeface="DejaVu Sans Mono" pitchFamily="34" charset="-122"/>
                <a:cs typeface="DejaVu Sans Mono" pitchFamily="34" charset="-120"/>
              </a:rPr>
              <a:t>604</a:t>
            </a:r>
            <a:endParaRPr lang="en-US" sz="1050" dirty="0"/>
          </a:p>
        </p:txBody>
      </p:sp>
      <p:sp>
        <p:nvSpPr>
          <p:cNvPr id="24" name="Text 22"/>
          <p:cNvSpPr/>
          <p:nvPr/>
        </p:nvSpPr>
        <p:spPr>
          <a:xfrm>
            <a:off x="10012680" y="3419856"/>
            <a:ext cx="1371600" cy="603504"/>
          </a:xfrm>
          <a:prstGeom prst="rect">
            <a:avLst/>
          </a:prstGeom>
          <a:noFill/>
        </p:spPr>
        <p:txBody>
          <a:bodyPr wrap="square" lIns="0" tIns="0" rIns="0" bIns="0" rtlCol="0" anchor="ctr"/>
          <a:lstStyle/>
          <a:p>
            <a:pPr marL="0" indent="0" algn="ctr">
              <a:buNone/>
            </a:pPr>
            <a:r>
              <a:rPr lang="en-US" sz="1050" dirty="0">
                <a:solidFill>
                  <a:srgbClr val="F59E0B"/>
                </a:solidFill>
                <a:latin typeface="DejaVu Sans Mono" pitchFamily="34" charset="0"/>
                <a:ea typeface="DejaVu Sans Mono" pitchFamily="34" charset="-122"/>
                <a:cs typeface="DejaVu Sans Mono" pitchFamily="34" charset="-120"/>
              </a:rPr>
              <a:t>1204</a:t>
            </a:r>
            <a:endParaRPr lang="en-US" sz="1050" dirty="0"/>
          </a:p>
        </p:txBody>
      </p:sp>
      <p:sp>
        <p:nvSpPr>
          <p:cNvPr id="25" name="Shape 23"/>
          <p:cNvSpPr/>
          <p:nvPr/>
        </p:nvSpPr>
        <p:spPr>
          <a:xfrm>
            <a:off x="6355080" y="4023360"/>
            <a:ext cx="5029200" cy="603504"/>
          </a:xfrm>
          <a:prstGeom prst="rect">
            <a:avLst/>
          </a:prstGeom>
          <a:solidFill>
            <a:srgbClr val="F2F5F9"/>
          </a:solidFill>
          <a:ln w="9525">
            <a:solidFill>
              <a:srgbClr val="E2E8F0"/>
            </a:solidFill>
            <a:prstDash val="solid"/>
          </a:ln>
        </p:spPr>
        <p:txBody>
          <a:bodyPr/>
          <a:lstStyle/>
          <a:p>
            <a:endParaRPr lang="zh-CN" altLang="en-US"/>
          </a:p>
        </p:txBody>
      </p:sp>
      <p:sp>
        <p:nvSpPr>
          <p:cNvPr id="26" name="Text 24"/>
          <p:cNvSpPr/>
          <p:nvPr/>
        </p:nvSpPr>
        <p:spPr>
          <a:xfrm>
            <a:off x="6501384" y="4023360"/>
            <a:ext cx="2103120" cy="603504"/>
          </a:xfrm>
          <a:prstGeom prst="rect">
            <a:avLst/>
          </a:prstGeom>
          <a:noFill/>
        </p:spPr>
        <p:txBody>
          <a:bodyPr wrap="square" lIns="0" tIns="0" rIns="0" bIns="0" rtlCol="0" anchor="ctr"/>
          <a:lstStyle/>
          <a:p>
            <a:pPr marL="0" indent="0">
              <a:buNone/>
            </a:pPr>
            <a:r>
              <a:rPr lang="en-US" sz="1050" dirty="0">
                <a:solidFill>
                  <a:srgbClr val="1E293B"/>
                </a:solidFill>
                <a:latin typeface="Noto Sans CJK SC" pitchFamily="34" charset="0"/>
                <a:ea typeface="Noto Sans CJK SC" pitchFamily="34" charset="-122"/>
                <a:cs typeface="Noto Sans CJK SC" pitchFamily="34" charset="-120"/>
              </a:rPr>
              <a:t>坐标分辨能力</a:t>
            </a:r>
            <a:endParaRPr lang="en-US" sz="1050" dirty="0"/>
          </a:p>
        </p:txBody>
      </p:sp>
      <p:sp>
        <p:nvSpPr>
          <p:cNvPr id="27" name="Text 25"/>
          <p:cNvSpPr/>
          <p:nvPr/>
        </p:nvSpPr>
        <p:spPr>
          <a:xfrm>
            <a:off x="8641080" y="4023360"/>
            <a:ext cx="1371600" cy="603504"/>
          </a:xfrm>
          <a:prstGeom prst="rect">
            <a:avLst/>
          </a:prstGeom>
          <a:noFill/>
        </p:spPr>
        <p:txBody>
          <a:bodyPr wrap="square" lIns="0" tIns="0" rIns="0" bIns="0" rtlCol="0" anchor="ctr"/>
          <a:lstStyle/>
          <a:p>
            <a:pPr marL="0" indent="0" algn="ctr">
              <a:buNone/>
            </a:pPr>
            <a:r>
              <a:rPr lang="en-US" sz="1050" dirty="0">
                <a:solidFill>
                  <a:srgbClr val="3B82F6"/>
                </a:solidFill>
                <a:latin typeface="DejaVu Sans Mono" pitchFamily="34" charset="0"/>
                <a:ea typeface="DejaVu Sans Mono" pitchFamily="34" charset="-122"/>
                <a:cs typeface="DejaVu Sans Mono" pitchFamily="34" charset="-120"/>
              </a:rPr>
              <a:t>基准</a:t>
            </a:r>
            <a:endParaRPr lang="en-US" sz="1050" dirty="0"/>
          </a:p>
        </p:txBody>
      </p:sp>
      <p:sp>
        <p:nvSpPr>
          <p:cNvPr id="28" name="Text 26"/>
          <p:cNvSpPr/>
          <p:nvPr/>
        </p:nvSpPr>
        <p:spPr>
          <a:xfrm>
            <a:off x="10012680" y="4023360"/>
            <a:ext cx="1371600" cy="603504"/>
          </a:xfrm>
          <a:prstGeom prst="rect">
            <a:avLst/>
          </a:prstGeom>
          <a:noFill/>
        </p:spPr>
        <p:txBody>
          <a:bodyPr wrap="square" lIns="0" tIns="0" rIns="0" bIns="0" rtlCol="0" anchor="ctr"/>
          <a:lstStyle/>
          <a:p>
            <a:pPr marL="0" indent="0" algn="ctr">
              <a:buNone/>
            </a:pPr>
            <a:r>
              <a:rPr lang="en-US" sz="1050" dirty="0">
                <a:solidFill>
                  <a:srgbClr val="F59E0B"/>
                </a:solidFill>
                <a:latin typeface="DejaVu Sans Mono" pitchFamily="34" charset="0"/>
                <a:ea typeface="DejaVu Sans Mono" pitchFamily="34" charset="-122"/>
                <a:cs typeface="DejaVu Sans Mono" pitchFamily="34" charset="-120"/>
              </a:rPr>
              <a:t>更细</a:t>
            </a:r>
            <a:endParaRPr lang="en-US" sz="1050" dirty="0"/>
          </a:p>
        </p:txBody>
      </p:sp>
      <p:sp>
        <p:nvSpPr>
          <p:cNvPr id="29" name="Shape 27"/>
          <p:cNvSpPr/>
          <p:nvPr/>
        </p:nvSpPr>
        <p:spPr>
          <a:xfrm>
            <a:off x="6355080" y="4626864"/>
            <a:ext cx="5029200" cy="603504"/>
          </a:xfrm>
          <a:prstGeom prst="rect">
            <a:avLst/>
          </a:prstGeom>
          <a:solidFill>
            <a:srgbClr val="FFFFFF"/>
          </a:solidFill>
          <a:ln w="9525">
            <a:solidFill>
              <a:srgbClr val="E2E8F0"/>
            </a:solidFill>
            <a:prstDash val="solid"/>
          </a:ln>
        </p:spPr>
        <p:txBody>
          <a:bodyPr/>
          <a:lstStyle/>
          <a:p>
            <a:endParaRPr lang="zh-CN" altLang="en-US"/>
          </a:p>
        </p:txBody>
      </p:sp>
      <p:sp>
        <p:nvSpPr>
          <p:cNvPr id="30" name="Text 28"/>
          <p:cNvSpPr/>
          <p:nvPr/>
        </p:nvSpPr>
        <p:spPr>
          <a:xfrm>
            <a:off x="6501384" y="4626864"/>
            <a:ext cx="2103120" cy="603504"/>
          </a:xfrm>
          <a:prstGeom prst="rect">
            <a:avLst/>
          </a:prstGeom>
          <a:noFill/>
        </p:spPr>
        <p:txBody>
          <a:bodyPr wrap="square" lIns="0" tIns="0" rIns="0" bIns="0" rtlCol="0" anchor="ctr"/>
          <a:lstStyle/>
          <a:p>
            <a:pPr marL="0" indent="0">
              <a:buNone/>
            </a:pPr>
            <a:r>
              <a:rPr lang="en-US" sz="1050" dirty="0">
                <a:solidFill>
                  <a:srgbClr val="1E293B"/>
                </a:solidFill>
                <a:latin typeface="Noto Sans CJK SC" pitchFamily="34" charset="0"/>
                <a:ea typeface="Noto Sans CJK SC" pitchFamily="34" charset="-122"/>
                <a:cs typeface="Noto Sans CJK SC" pitchFamily="34" charset="-120"/>
              </a:rPr>
              <a:t>fft_length</a:t>
            </a:r>
            <a:endParaRPr lang="en-US" sz="1050" dirty="0"/>
          </a:p>
        </p:txBody>
      </p:sp>
      <p:sp>
        <p:nvSpPr>
          <p:cNvPr id="31" name="Text 29"/>
          <p:cNvSpPr/>
          <p:nvPr/>
        </p:nvSpPr>
        <p:spPr>
          <a:xfrm>
            <a:off x="8641080" y="4626864"/>
            <a:ext cx="1371600" cy="603504"/>
          </a:xfrm>
          <a:prstGeom prst="rect">
            <a:avLst/>
          </a:prstGeom>
          <a:noFill/>
        </p:spPr>
        <p:txBody>
          <a:bodyPr wrap="square" lIns="0" tIns="0" rIns="0" bIns="0" rtlCol="0" anchor="ctr"/>
          <a:lstStyle/>
          <a:p>
            <a:pPr marL="0" indent="0" algn="ctr">
              <a:buNone/>
            </a:pPr>
            <a:r>
              <a:rPr lang="en-US" sz="1050" dirty="0">
                <a:solidFill>
                  <a:srgbClr val="3B82F6"/>
                </a:solidFill>
                <a:latin typeface="DejaVu Sans Mono" pitchFamily="34" charset="0"/>
                <a:ea typeface="DejaVu Sans Mono" pitchFamily="34" charset="-122"/>
                <a:cs typeface="DejaVu Sans Mono" pitchFamily="34" charset="-120"/>
              </a:rPr>
              <a:t>proj_dim</a:t>
            </a:r>
            <a:endParaRPr lang="en-US" sz="1050" dirty="0"/>
          </a:p>
        </p:txBody>
      </p:sp>
      <p:sp>
        <p:nvSpPr>
          <p:cNvPr id="32" name="Text 30"/>
          <p:cNvSpPr/>
          <p:nvPr/>
        </p:nvSpPr>
        <p:spPr>
          <a:xfrm>
            <a:off x="10012680" y="4626864"/>
            <a:ext cx="1371600" cy="603504"/>
          </a:xfrm>
          <a:prstGeom prst="rect">
            <a:avLst/>
          </a:prstGeom>
          <a:noFill/>
        </p:spPr>
        <p:txBody>
          <a:bodyPr wrap="square" lIns="0" tIns="0" rIns="0" bIns="0" rtlCol="0" anchor="ctr"/>
          <a:lstStyle/>
          <a:p>
            <a:pPr marL="0" indent="0" algn="ctr">
              <a:buNone/>
            </a:pPr>
            <a:r>
              <a:rPr lang="en-US" sz="1050" dirty="0">
                <a:solidFill>
                  <a:srgbClr val="F59E0B"/>
                </a:solidFill>
                <a:latin typeface="DejaVu Sans Mono" pitchFamily="34" charset="0"/>
                <a:ea typeface="DejaVu Sans Mono" pitchFamily="34" charset="-122"/>
                <a:cs typeface="DejaVu Sans Mono" pitchFamily="34" charset="-120"/>
              </a:rPr>
              <a:t>2 · proj_dim</a:t>
            </a:r>
            <a:endParaRPr lang="en-US" sz="1050" dirty="0"/>
          </a:p>
        </p:txBody>
      </p:sp>
      <p:sp>
        <p:nvSpPr>
          <p:cNvPr id="33" name="Text 31"/>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34" name="Text 32"/>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35" name="Text 33"/>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35 / 42</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874520"/>
            <a:ext cx="4572000" cy="365760"/>
          </a:xfrm>
          <a:prstGeom prst="rect">
            <a:avLst/>
          </a:prstGeom>
          <a:noFill/>
        </p:spPr>
        <p:txBody>
          <a:bodyPr wrap="square" lIns="0" tIns="0" rIns="0" bIns="0" rtlCol="0" anchor="ctr"/>
          <a:lstStyle/>
          <a:p>
            <a:pPr marL="0" indent="0">
              <a:buNone/>
            </a:pPr>
            <a:r>
              <a:rPr lang="en-US" sz="1400" b="1" kern="0" spc="500" dirty="0">
                <a:solidFill>
                  <a:srgbClr val="22D3EE"/>
                </a:solidFill>
                <a:latin typeface="Noto Sans CJK SC" pitchFamily="34" charset="0"/>
                <a:ea typeface="Noto Sans CJK SC" pitchFamily="34" charset="-122"/>
                <a:cs typeface="Noto Sans CJK SC" pitchFamily="34" charset="-120"/>
              </a:rPr>
              <a:t>CHAPTER</a:t>
            </a:r>
            <a:endParaRPr lang="en-US" sz="1400" dirty="0"/>
          </a:p>
        </p:txBody>
      </p:sp>
      <p:sp>
        <p:nvSpPr>
          <p:cNvPr id="3" name="Text 1"/>
          <p:cNvSpPr/>
          <p:nvPr/>
        </p:nvSpPr>
        <p:spPr>
          <a:xfrm>
            <a:off x="822960" y="2103120"/>
            <a:ext cx="3108960" cy="2103120"/>
          </a:xfrm>
          <a:prstGeom prst="rect">
            <a:avLst/>
          </a:prstGeom>
          <a:noFill/>
        </p:spPr>
        <p:txBody>
          <a:bodyPr wrap="square" lIns="0" tIns="0" rIns="0" bIns="0" rtlCol="0" anchor="ctr"/>
          <a:lstStyle/>
          <a:p>
            <a:pPr marL="0" indent="0">
              <a:buNone/>
            </a:pPr>
            <a:r>
              <a:rPr lang="en-US" sz="15000" b="1" dirty="0">
                <a:solidFill>
                  <a:srgbClr val="13395E"/>
                </a:solidFill>
                <a:latin typeface="Noto Sans CJK SC" pitchFamily="34" charset="0"/>
                <a:ea typeface="Noto Sans CJK SC" pitchFamily="34" charset="-122"/>
                <a:cs typeface="Noto Sans CJK SC" pitchFamily="34" charset="-120"/>
              </a:rPr>
              <a:t>六</a:t>
            </a:r>
            <a:endParaRPr lang="en-US" sz="15000" dirty="0"/>
          </a:p>
        </p:txBody>
      </p:sp>
      <p:sp>
        <p:nvSpPr>
          <p:cNvPr id="4" name="Text 2"/>
          <p:cNvSpPr/>
          <p:nvPr/>
        </p:nvSpPr>
        <p:spPr>
          <a:xfrm>
            <a:off x="3246120" y="2395728"/>
            <a:ext cx="7863840" cy="914400"/>
          </a:xfrm>
          <a:prstGeom prst="rect">
            <a:avLst/>
          </a:prstGeom>
          <a:noFill/>
        </p:spPr>
        <p:txBody>
          <a:bodyPr wrap="square" lIns="0" tIns="0" rIns="0" bIns="0" rtlCol="0" anchor="ctr"/>
          <a:lstStyle/>
          <a:p>
            <a:pPr marL="0" indent="0">
              <a:buNone/>
            </a:pPr>
            <a:r>
              <a:rPr lang="en-US" sz="4000" b="1" dirty="0">
                <a:solidFill>
                  <a:srgbClr val="FFFFFF"/>
                </a:solidFill>
                <a:latin typeface="Noto Sans CJK SC" pitchFamily="34" charset="0"/>
                <a:ea typeface="Noto Sans CJK SC" pitchFamily="34" charset="-122"/>
                <a:cs typeface="Noto Sans CJK SC" pitchFamily="34" charset="-120"/>
              </a:rPr>
              <a:t>工程实现 · 后处理 · 排查</a:t>
            </a:r>
            <a:endParaRPr lang="en-US" sz="4000" dirty="0"/>
          </a:p>
        </p:txBody>
      </p:sp>
      <p:sp>
        <p:nvSpPr>
          <p:cNvPr id="5" name="Text 3"/>
          <p:cNvSpPr/>
          <p:nvPr/>
        </p:nvSpPr>
        <p:spPr>
          <a:xfrm>
            <a:off x="3291840" y="3310128"/>
            <a:ext cx="7863840" cy="502920"/>
          </a:xfrm>
          <a:prstGeom prst="rect">
            <a:avLst/>
          </a:prstGeom>
          <a:noFill/>
        </p:spPr>
        <p:txBody>
          <a:bodyPr wrap="square" lIns="0" tIns="0" rIns="0" bIns="0" rtlCol="0" anchor="ctr"/>
          <a:lstStyle/>
          <a:p>
            <a:pPr marL="0" indent="0">
              <a:buNone/>
            </a:pPr>
            <a:r>
              <a:rPr lang="en-US" sz="1700" dirty="0">
                <a:solidFill>
                  <a:srgbClr val="22D3EE"/>
                </a:solidFill>
                <a:latin typeface="Noto Sans CJK SC" pitchFamily="34" charset="0"/>
                <a:ea typeface="Noto Sans CJK SC" pitchFamily="34" charset="-122"/>
                <a:cs typeface="Noto Sans CJK SC" pitchFamily="34" charset="-120"/>
              </a:rPr>
              <a:t>Engineering · Post-processing · QA</a:t>
            </a:r>
            <a:endParaRPr lang="en-US" sz="1700" dirty="0"/>
          </a:p>
        </p:txBody>
      </p:sp>
      <p:sp>
        <p:nvSpPr>
          <p:cNvPr id="6" name="Shape 4"/>
          <p:cNvSpPr/>
          <p:nvPr/>
        </p:nvSpPr>
        <p:spPr>
          <a:xfrm>
            <a:off x="3310128" y="3950208"/>
            <a:ext cx="2743200" cy="0"/>
          </a:xfrm>
          <a:prstGeom prst="line">
            <a:avLst/>
          </a:prstGeom>
          <a:noFill/>
          <a:ln w="19050">
            <a:solidFill>
              <a:srgbClr val="1E466E"/>
            </a:solidFill>
            <a:prstDash val="solid"/>
          </a:ln>
        </p:spPr>
        <p:txBody>
          <a:bodyPr/>
          <a:lstStyle/>
          <a:p>
            <a:endParaRPr lang="zh-CN" altLang="en-US"/>
          </a:p>
        </p:txBody>
      </p:sp>
      <p:sp>
        <p:nvSpPr>
          <p:cNvPr id="7" name="Text 5"/>
          <p:cNvSpPr/>
          <p:nvPr/>
        </p:nvSpPr>
        <p:spPr>
          <a:xfrm>
            <a:off x="3310128" y="4078224"/>
            <a:ext cx="7680960" cy="822960"/>
          </a:xfrm>
          <a:prstGeom prst="rect">
            <a:avLst/>
          </a:prstGeom>
          <a:noFill/>
        </p:spPr>
        <p:txBody>
          <a:bodyPr wrap="square" lIns="0" tIns="0" rIns="0" bIns="0" rtlCol="0" anchor="ctr"/>
          <a:lstStyle/>
          <a:p>
            <a:pPr marL="0" indent="0">
              <a:buNone/>
            </a:pPr>
            <a:r>
              <a:rPr lang="en-US" sz="1250" dirty="0">
                <a:solidFill>
                  <a:srgbClr val="CBD5E1"/>
                </a:solidFill>
                <a:latin typeface="Noto Sans CJK SC" pitchFamily="34" charset="0"/>
                <a:ea typeface="Noto Sans CJK SC" pitchFamily="34" charset="-122"/>
                <a:cs typeface="Noto Sans CJK SC" pitchFamily="34" charset="-120"/>
              </a:rPr>
              <a:t>计算量与内存的权衡、图像缓存、多峰检测、极线约束校正与解码质量排查。</a:t>
            </a:r>
            <a:endParaRPr lang="en-US" sz="1250" dirty="0"/>
          </a:p>
        </p:txBody>
      </p:sp>
      <p:sp>
        <p:nvSpPr>
          <p:cNvPr id="8" name="Text 6"/>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9" name="Text 7"/>
          <p:cNvSpPr/>
          <p:nvPr/>
        </p:nvSpPr>
        <p:spPr>
          <a:xfrm>
            <a:off x="5029200" y="6446520"/>
            <a:ext cx="4572000" cy="274320"/>
          </a:xfrm>
          <a:prstGeom prst="rect">
            <a:avLst/>
          </a:prstGeom>
          <a:noFill/>
        </p:spPr>
        <p:txBody>
          <a:bodyPr wrap="square" lIns="0" tIns="0" rIns="0" bIns="0" rtlCol="0" anchor="ctr"/>
          <a:lstStyle/>
          <a:p>
            <a:pPr marL="0" indent="0" algn="ctr">
              <a:buNone/>
            </a:pPr>
            <a:endParaRPr lang="en-US" sz="850" dirty="0"/>
          </a:p>
        </p:txBody>
      </p:sp>
      <p:sp>
        <p:nvSpPr>
          <p:cNvPr id="10" name="Text 8"/>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36 / 42</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六 · 工程实现</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计算量、内存与图像缓存</a:t>
            </a:r>
            <a:endParaRPr lang="en-US" sz="2900" dirty="0"/>
          </a:p>
        </p:txBody>
      </p:sp>
      <p:sp>
        <p:nvSpPr>
          <p:cNvPr id="5" name="Shape 3"/>
          <p:cNvSpPr/>
          <p:nvPr/>
        </p:nvSpPr>
        <p:spPr>
          <a:xfrm>
            <a:off x="566928" y="1591056"/>
            <a:ext cx="11055096" cy="713232"/>
          </a:xfrm>
          <a:prstGeom prst="roundRect">
            <a:avLst>
              <a:gd name="adj" fmla="val 89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658368" y="1591056"/>
            <a:ext cx="10872216" cy="713232"/>
          </a:xfrm>
          <a:prstGeom prst="rect">
            <a:avLst/>
          </a:prstGeom>
          <a:noFill/>
        </p:spPr>
        <p:txBody>
          <a:bodyPr wrap="square" lIns="0" tIns="0" rIns="0" bIns="0" rtlCol="0" anchor="ctr"/>
          <a:lstStyle/>
          <a:p>
            <a:pPr marL="0" indent="0" algn="ctr">
              <a:buNone/>
            </a:pPr>
            <a:r>
              <a:rPr lang="en-US" sz="1600" b="1" dirty="0">
                <a:solidFill>
                  <a:srgbClr val="22D3EE"/>
                </a:solidFill>
                <a:latin typeface="Noto Sans CJK SC" pitchFamily="34" charset="0"/>
                <a:ea typeface="Noto Sans CJK SC" pitchFamily="34" charset="-122"/>
                <a:cs typeface="Noto Sans CJK SC" pitchFamily="34" charset="-120"/>
              </a:rPr>
              <a:t>FFT 环节计算量  ≈  O( Hc · Wc · fft_length · log fft_length )</a:t>
            </a:r>
            <a:endParaRPr lang="en-US" sz="1600" dirty="0"/>
          </a:p>
        </p:txBody>
      </p:sp>
      <p:sp>
        <p:nvSpPr>
          <p:cNvPr id="7" name="Shape 5"/>
          <p:cNvSpPr/>
          <p:nvPr/>
        </p:nvSpPr>
        <p:spPr>
          <a:xfrm>
            <a:off x="566928" y="2542032"/>
            <a:ext cx="3721608" cy="2286000"/>
          </a:xfrm>
          <a:prstGeom prst="roundRect">
            <a:avLst>
              <a:gd name="adj" fmla="val 36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8" name="Shape 6"/>
          <p:cNvSpPr/>
          <p:nvPr/>
        </p:nvSpPr>
        <p:spPr>
          <a:xfrm>
            <a:off x="566928" y="2542032"/>
            <a:ext cx="3721608" cy="82296"/>
          </a:xfrm>
          <a:prstGeom prst="rect">
            <a:avLst/>
          </a:prstGeom>
          <a:solidFill>
            <a:srgbClr val="0E7490"/>
          </a:solidFill>
          <a:ln w="12700">
            <a:solidFill>
              <a:srgbClr val="0E7490"/>
            </a:solidFill>
            <a:prstDash val="solid"/>
          </a:ln>
        </p:spPr>
        <p:txBody>
          <a:bodyPr/>
          <a:lstStyle/>
          <a:p>
            <a:endParaRPr lang="zh-CN" altLang="en-US"/>
          </a:p>
        </p:txBody>
      </p:sp>
      <p:sp>
        <p:nvSpPr>
          <p:cNvPr id="9" name="Text 7"/>
          <p:cNvSpPr/>
          <p:nvPr/>
        </p:nvSpPr>
        <p:spPr>
          <a:xfrm>
            <a:off x="804672" y="2724912"/>
            <a:ext cx="3264408" cy="329184"/>
          </a:xfrm>
          <a:prstGeom prst="rect">
            <a:avLst/>
          </a:prstGeom>
          <a:noFill/>
        </p:spPr>
        <p:txBody>
          <a:bodyPr wrap="square" lIns="0" tIns="0" rIns="0" bIns="0" rtlCol="0" anchor="ctr"/>
          <a:lstStyle/>
          <a:p>
            <a:pPr marL="0" indent="0">
              <a:buNone/>
            </a:pPr>
            <a:r>
              <a:rPr lang="en-US" sz="1300" b="1" dirty="0">
                <a:solidFill>
                  <a:srgbClr val="0E2A47"/>
                </a:solidFill>
                <a:latin typeface="Noto Sans CJK SC" pitchFamily="34" charset="0"/>
                <a:ea typeface="Noto Sans CJK SC" pitchFamily="34" charset="-122"/>
                <a:cs typeface="Noto Sans CJK SC" pitchFamily="34" charset="-120"/>
              </a:rPr>
              <a:t>标准分块模式</a:t>
            </a:r>
            <a:endParaRPr lang="en-US" sz="1300" dirty="0"/>
          </a:p>
        </p:txBody>
      </p:sp>
      <p:sp>
        <p:nvSpPr>
          <p:cNvPr id="10" name="Text 8"/>
          <p:cNvSpPr/>
          <p:nvPr/>
        </p:nvSpPr>
        <p:spPr>
          <a:xfrm>
            <a:off x="804672" y="3108960"/>
            <a:ext cx="3246120" cy="1645920"/>
          </a:xfrm>
          <a:prstGeom prst="rect">
            <a:avLst/>
          </a:prstGeom>
          <a:noFill/>
        </p:spPr>
        <p:txBody>
          <a:bodyPr wrap="square" lIns="0" tIns="0" rIns="0" bIns="0" rtlCol="0" anchor="ctr"/>
          <a:lstStyle/>
          <a:p>
            <a:pPr marL="0" indent="0">
              <a:lnSpc>
                <a:spcPts val="1500"/>
              </a:lnSpc>
              <a:buNone/>
            </a:pPr>
            <a:r>
              <a:rPr lang="en-US" sz="1080" dirty="0">
                <a:solidFill>
                  <a:srgbClr val="1E293B"/>
                </a:solidFill>
                <a:latin typeface="Noto Sans CJK SC" pitchFamily="34" charset="0"/>
                <a:ea typeface="Noto Sans CJK SC" pitchFamily="34" charset="-122"/>
                <a:cs typeface="Noto Sans CJK SC" pitchFamily="34" charset="-120"/>
              </a:rPr>
              <a:t>按 block_size（如 100×100）切块，块内所有像素同时做 FFT。速度快，是默认模式。内存峰值来自 D_block、C、C_magnitude。</a:t>
            </a:r>
            <a:endParaRPr lang="en-US" sz="1080" dirty="0"/>
          </a:p>
        </p:txBody>
      </p:sp>
      <p:sp>
        <p:nvSpPr>
          <p:cNvPr id="11" name="Shape 9"/>
          <p:cNvSpPr/>
          <p:nvPr/>
        </p:nvSpPr>
        <p:spPr>
          <a:xfrm>
            <a:off x="4443984" y="2542032"/>
            <a:ext cx="3721608" cy="2286000"/>
          </a:xfrm>
          <a:prstGeom prst="roundRect">
            <a:avLst>
              <a:gd name="adj" fmla="val 36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Shape 10"/>
          <p:cNvSpPr/>
          <p:nvPr/>
        </p:nvSpPr>
        <p:spPr>
          <a:xfrm>
            <a:off x="4443984" y="2542032"/>
            <a:ext cx="3721608" cy="82296"/>
          </a:xfrm>
          <a:prstGeom prst="rect">
            <a:avLst/>
          </a:prstGeom>
          <a:solidFill>
            <a:srgbClr val="F59E0B"/>
          </a:solidFill>
          <a:ln w="12700">
            <a:solidFill>
              <a:srgbClr val="F59E0B"/>
            </a:solidFill>
            <a:prstDash val="solid"/>
          </a:ln>
        </p:spPr>
        <p:txBody>
          <a:bodyPr/>
          <a:lstStyle/>
          <a:p>
            <a:endParaRPr lang="zh-CN" altLang="en-US"/>
          </a:p>
        </p:txBody>
      </p:sp>
      <p:sp>
        <p:nvSpPr>
          <p:cNvPr id="13" name="Text 11"/>
          <p:cNvSpPr/>
          <p:nvPr/>
        </p:nvSpPr>
        <p:spPr>
          <a:xfrm>
            <a:off x="4681728" y="2724912"/>
            <a:ext cx="3264408" cy="329184"/>
          </a:xfrm>
          <a:prstGeom prst="rect">
            <a:avLst/>
          </a:prstGeom>
          <a:noFill/>
        </p:spPr>
        <p:txBody>
          <a:bodyPr wrap="square" lIns="0" tIns="0" rIns="0" bIns="0" rtlCol="0" anchor="ctr"/>
          <a:lstStyle/>
          <a:p>
            <a:pPr marL="0" indent="0">
              <a:buNone/>
            </a:pPr>
            <a:r>
              <a:rPr lang="en-US" sz="1300" b="1" dirty="0">
                <a:solidFill>
                  <a:srgbClr val="0E2A47"/>
                </a:solidFill>
                <a:latin typeface="Noto Sans CJK SC" pitchFamily="34" charset="0"/>
                <a:ea typeface="Noto Sans CJK SC" pitchFamily="34" charset="-122"/>
                <a:cs typeface="Noto Sans CJK SC" pitchFamily="34" charset="-120"/>
              </a:rPr>
              <a:t>低内存模式</a:t>
            </a:r>
            <a:endParaRPr lang="en-US" sz="1300" dirty="0"/>
          </a:p>
        </p:txBody>
      </p:sp>
      <p:sp>
        <p:nvSpPr>
          <p:cNvPr id="14" name="Text 12"/>
          <p:cNvSpPr/>
          <p:nvPr/>
        </p:nvSpPr>
        <p:spPr>
          <a:xfrm>
            <a:off x="4681728" y="3108960"/>
            <a:ext cx="3246120" cy="1645920"/>
          </a:xfrm>
          <a:prstGeom prst="rect">
            <a:avLst/>
          </a:prstGeom>
          <a:noFill/>
        </p:spPr>
        <p:txBody>
          <a:bodyPr wrap="square" lIns="0" tIns="0" rIns="0" bIns="0" rtlCol="0" anchor="ctr"/>
          <a:lstStyle/>
          <a:p>
            <a:pPr marL="0" indent="0">
              <a:lnSpc>
                <a:spcPts val="1500"/>
              </a:lnSpc>
              <a:buNone/>
            </a:pPr>
            <a:r>
              <a:rPr lang="en-US" sz="1080" dirty="0">
                <a:solidFill>
                  <a:srgbClr val="1E293B"/>
                </a:solidFill>
                <a:latin typeface="Noto Sans CJK SC" pitchFamily="34" charset="0"/>
                <a:ea typeface="Noto Sans CJK SC" pitchFamily="34" charset="-122"/>
                <a:cs typeface="Noto Sans CJK SC" pitchFamily="34" charset="-120"/>
              </a:rPr>
              <a:t>_decode_direction_low_memory() 逐行处理，每次只保留一行的频率响应再逐像素 FFT。内存峰值显著降低，但通常更慢。</a:t>
            </a:r>
            <a:endParaRPr lang="en-US" sz="1080" dirty="0"/>
          </a:p>
        </p:txBody>
      </p:sp>
      <p:sp>
        <p:nvSpPr>
          <p:cNvPr id="15" name="Shape 13"/>
          <p:cNvSpPr/>
          <p:nvPr/>
        </p:nvSpPr>
        <p:spPr>
          <a:xfrm>
            <a:off x="8321040" y="2542032"/>
            <a:ext cx="3721608" cy="2286000"/>
          </a:xfrm>
          <a:prstGeom prst="roundRect">
            <a:avLst>
              <a:gd name="adj" fmla="val 36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6" name="Shape 14"/>
          <p:cNvSpPr/>
          <p:nvPr/>
        </p:nvSpPr>
        <p:spPr>
          <a:xfrm>
            <a:off x="8321040" y="2542032"/>
            <a:ext cx="3721608" cy="82296"/>
          </a:xfrm>
          <a:prstGeom prst="rect">
            <a:avLst/>
          </a:prstGeom>
          <a:solidFill>
            <a:srgbClr val="3B82F6"/>
          </a:solidFill>
          <a:ln w="12700">
            <a:solidFill>
              <a:srgbClr val="3B82F6"/>
            </a:solidFill>
            <a:prstDash val="solid"/>
          </a:ln>
        </p:spPr>
        <p:txBody>
          <a:bodyPr/>
          <a:lstStyle/>
          <a:p>
            <a:endParaRPr lang="zh-CN" altLang="en-US"/>
          </a:p>
        </p:txBody>
      </p:sp>
      <p:sp>
        <p:nvSpPr>
          <p:cNvPr id="17" name="Text 15"/>
          <p:cNvSpPr/>
          <p:nvPr/>
        </p:nvSpPr>
        <p:spPr>
          <a:xfrm>
            <a:off x="8558784" y="2724912"/>
            <a:ext cx="3264408" cy="329184"/>
          </a:xfrm>
          <a:prstGeom prst="rect">
            <a:avLst/>
          </a:prstGeom>
          <a:noFill/>
        </p:spPr>
        <p:txBody>
          <a:bodyPr wrap="square" lIns="0" tIns="0" rIns="0" bIns="0" rtlCol="0" anchor="ctr"/>
          <a:lstStyle/>
          <a:p>
            <a:pPr marL="0" indent="0">
              <a:buNone/>
            </a:pPr>
            <a:r>
              <a:rPr lang="en-US" sz="1300" b="1" dirty="0">
                <a:solidFill>
                  <a:srgbClr val="0E2A47"/>
                </a:solidFill>
                <a:latin typeface="Noto Sans CJK SC" pitchFamily="34" charset="0"/>
                <a:ea typeface="Noto Sans CJK SC" pitchFamily="34" charset="-122"/>
                <a:cs typeface="Noto Sans CJK SC" pitchFamily="34" charset="-120"/>
              </a:rPr>
              <a:t>图像缓存</a:t>
            </a:r>
            <a:endParaRPr lang="en-US" sz="1300" dirty="0"/>
          </a:p>
        </p:txBody>
      </p:sp>
      <p:sp>
        <p:nvSpPr>
          <p:cNvPr id="18" name="Text 16"/>
          <p:cNvSpPr/>
          <p:nvPr/>
        </p:nvSpPr>
        <p:spPr>
          <a:xfrm>
            <a:off x="8558784" y="3108960"/>
            <a:ext cx="3246120" cy="1645920"/>
          </a:xfrm>
          <a:prstGeom prst="rect">
            <a:avLst/>
          </a:prstGeom>
          <a:noFill/>
        </p:spPr>
        <p:txBody>
          <a:bodyPr wrap="square" lIns="0" tIns="0" rIns="0" bIns="0" rtlCol="0" anchor="ctr"/>
          <a:lstStyle/>
          <a:p>
            <a:pPr marL="0" indent="0">
              <a:lnSpc>
                <a:spcPts val="1500"/>
              </a:lnSpc>
              <a:buNone/>
            </a:pPr>
            <a:r>
              <a:rPr lang="en-US" sz="1080" dirty="0">
                <a:solidFill>
                  <a:srgbClr val="1E293B"/>
                </a:solidFill>
                <a:latin typeface="Noto Sans CJK SC" pitchFamily="34" charset="0"/>
                <a:ea typeface="Noto Sans CJK SC" pitchFamily="34" charset="-122"/>
                <a:cs typeface="Noto Sans CJK SC" pitchFamily="34" charset="-120"/>
              </a:rPr>
              <a:t>ImageLoader.load_images() 把大量小图的重复读取转为一次 images_cache.npy 数组读取，便于反复调试 FFT 参数。</a:t>
            </a:r>
            <a:endParaRPr lang="en-US" sz="1080" dirty="0"/>
          </a:p>
        </p:txBody>
      </p:sp>
      <p:sp>
        <p:nvSpPr>
          <p:cNvPr id="19" name="Shape 17"/>
          <p:cNvSpPr/>
          <p:nvPr/>
        </p:nvSpPr>
        <p:spPr>
          <a:xfrm>
            <a:off x="566928" y="4992624"/>
            <a:ext cx="11055096" cy="969264"/>
          </a:xfrm>
          <a:prstGeom prst="roundRect">
            <a:avLst>
              <a:gd name="adj" fmla="val 8491"/>
            </a:avLst>
          </a:prstGeom>
          <a:solidFill>
            <a:srgbClr val="F2F5F9"/>
          </a:solidFill>
          <a:ln w="12700">
            <a:solidFill>
              <a:srgbClr val="E2E8F0"/>
            </a:solidFill>
            <a:prstDash val="solid"/>
          </a:ln>
        </p:spPr>
        <p:txBody>
          <a:bodyPr/>
          <a:lstStyle/>
          <a:p>
            <a:endParaRPr lang="zh-CN" altLang="en-US"/>
          </a:p>
        </p:txBody>
      </p:sp>
      <p:sp>
        <p:nvSpPr>
          <p:cNvPr id="20" name="Text 18"/>
          <p:cNvSpPr/>
          <p:nvPr/>
        </p:nvSpPr>
        <p:spPr>
          <a:xfrm>
            <a:off x="768096" y="5084064"/>
            <a:ext cx="2743200" cy="274320"/>
          </a:xfrm>
          <a:prstGeom prst="rect">
            <a:avLst/>
          </a:prstGeom>
          <a:noFill/>
        </p:spPr>
        <p:txBody>
          <a:bodyPr wrap="square" lIns="0" tIns="0" rIns="0" bIns="0" rtlCol="0" anchor="ctr"/>
          <a:lstStyle/>
          <a:p>
            <a:pPr marL="0" indent="0">
              <a:buNone/>
            </a:pPr>
            <a:r>
              <a:rPr lang="en-US" sz="1100" b="1" dirty="0">
                <a:solidFill>
                  <a:srgbClr val="0E7490"/>
                </a:solidFill>
                <a:latin typeface="Noto Sans CJK SC" pitchFamily="34" charset="0"/>
                <a:ea typeface="Noto Sans CJK SC" pitchFamily="34" charset="-122"/>
                <a:cs typeface="Noto Sans CJK SC" pitchFamily="34" charset="-120"/>
              </a:rPr>
              <a:t>取舍建议</a:t>
            </a:r>
            <a:endParaRPr lang="en-US" sz="1100" dirty="0"/>
          </a:p>
        </p:txBody>
      </p:sp>
      <p:sp>
        <p:nvSpPr>
          <p:cNvPr id="21" name="Text 19"/>
          <p:cNvSpPr/>
          <p:nvPr/>
        </p:nvSpPr>
        <p:spPr>
          <a:xfrm>
            <a:off x="768096" y="5340096"/>
            <a:ext cx="10607040" cy="548640"/>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内存足够时优先标准分块模式；内存不足再开启 LOW_MEMORY_MODE = True。缓存不改变算法结果，只把重复磁盘读取转为一次数组读取，是调参与后处理的加速基础。</a:t>
            </a:r>
            <a:endParaRPr lang="en-US" sz="1100" dirty="0"/>
          </a:p>
        </p:txBody>
      </p:sp>
      <p:sp>
        <p:nvSpPr>
          <p:cNvPr id="22" name="Text 20"/>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3" name="Text 21"/>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六 · 工程实现 · 后处理 · 排查</a:t>
            </a:r>
            <a:endParaRPr lang="en-US" sz="850" dirty="0"/>
          </a:p>
        </p:txBody>
      </p:sp>
      <p:sp>
        <p:nvSpPr>
          <p:cNvPr id="24" name="Text 22"/>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37 / 42</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六 · 后处理 ①</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FF0000"/>
                </a:solidFill>
                <a:latin typeface="Noto Sans CJK SC" pitchFamily="34" charset="0"/>
                <a:ea typeface="Noto Sans CJK SC" pitchFamily="34" charset="-122"/>
                <a:cs typeface="Noto Sans CJK SC" pitchFamily="34" charset="-120"/>
              </a:rPr>
              <a:t>多峰检测</a:t>
            </a:r>
            <a:r>
              <a:rPr lang="en-US" sz="2900" b="1" dirty="0">
                <a:solidFill>
                  <a:srgbClr val="0E2A47"/>
                </a:solidFill>
                <a:latin typeface="Noto Sans CJK SC" pitchFamily="34" charset="0"/>
                <a:ea typeface="Noto Sans CJK SC" pitchFamily="34" charset="-122"/>
                <a:cs typeface="Noto Sans CJK SC" pitchFamily="34" charset="-120"/>
              </a:rPr>
              <a:t> —— 处理误匹配的第一级后处理</a:t>
            </a:r>
            <a:endParaRPr lang="en-US" sz="2900" dirty="0"/>
          </a:p>
        </p:txBody>
      </p:sp>
      <p:sp>
        <p:nvSpPr>
          <p:cNvPr id="5" name="Text 3"/>
          <p:cNvSpPr/>
          <p:nvPr/>
        </p:nvSpPr>
        <p:spPr>
          <a:xfrm>
            <a:off x="566928" y="1627632"/>
            <a:ext cx="5349240" cy="2103120"/>
          </a:xfrm>
          <a:prstGeom prst="rect">
            <a:avLst/>
          </a:prstGeom>
          <a:noFill/>
        </p:spPr>
        <p:txBody>
          <a:bodyPr wrap="square" lIns="0" tIns="0" rIns="0" bIns="0" rtlCol="0" anchor="t"/>
          <a:lstStyle/>
          <a:p>
            <a:pPr marL="177800" indent="-177800">
              <a:spcAft>
                <a:spcPts val="1000"/>
              </a:spcAft>
              <a:buSzPct val="100000"/>
              <a:buChar char="•"/>
            </a:pPr>
            <a:r>
              <a:rPr lang="en-US" sz="1250" dirty="0">
                <a:solidFill>
                  <a:srgbClr val="1E293B"/>
                </a:solidFill>
                <a:latin typeface="Noto Sans CJK SC" pitchFamily="34" charset="0"/>
                <a:ea typeface="Noto Sans CJK SC" pitchFamily="34" charset="-122"/>
                <a:cs typeface="Noto Sans CJK SC" pitchFamily="34" charset="-120"/>
              </a:rPr>
              <a:t>理想情况下每个像素频谱只有一个主峰，</a:t>
            </a:r>
            <a:r>
              <a:rPr lang="en-US" sz="1250" dirty="0">
                <a:solidFill>
                  <a:srgbClr val="FF0000"/>
                </a:solidFill>
                <a:latin typeface="Noto Sans CJK SC" pitchFamily="34" charset="0"/>
                <a:ea typeface="Noto Sans CJK SC" pitchFamily="34" charset="-122"/>
                <a:cs typeface="Noto Sans CJK SC" pitchFamily="34" charset="-120"/>
              </a:rPr>
              <a:t>argmax 即正确坐标</a:t>
            </a:r>
            <a:r>
              <a:rPr lang="en-US" sz="1250" dirty="0">
                <a:solidFill>
                  <a:srgbClr val="1E293B"/>
                </a:solidFill>
                <a:latin typeface="Noto Sans CJK SC" pitchFamily="34" charset="0"/>
                <a:ea typeface="Noto Sans CJK SC" pitchFamily="34" charset="-122"/>
                <a:cs typeface="Noto Sans CJK SC" pitchFamily="34" charset="-120"/>
              </a:rPr>
              <a:t>。</a:t>
            </a:r>
            <a:endParaRPr lang="en-US" sz="1250" dirty="0"/>
          </a:p>
          <a:p>
            <a:pPr marL="177800" indent="-177800">
              <a:spcAft>
                <a:spcPts val="1000"/>
              </a:spcAft>
              <a:buSzPct val="100000"/>
              <a:buChar char="•"/>
            </a:pPr>
            <a:r>
              <a:rPr lang="en-US" sz="1250" b="1" dirty="0">
                <a:solidFill>
                  <a:srgbClr val="1E293B"/>
                </a:solidFill>
                <a:latin typeface="Noto Sans CJK SC" pitchFamily="34" charset="0"/>
                <a:ea typeface="Noto Sans CJK SC" pitchFamily="34" charset="-122"/>
                <a:cs typeface="Noto Sans CJK SC" pitchFamily="34" charset="-120"/>
              </a:rPr>
              <a:t>实际可能出现多个显著峰值。</a:t>
            </a:r>
            <a:endParaRPr lang="en-US" sz="1250" dirty="0"/>
          </a:p>
          <a:p>
            <a:pPr marL="177800" indent="-177800">
              <a:spcAft>
                <a:spcPts val="1000"/>
              </a:spcAft>
              <a:buSzPct val="100000"/>
              <a:buChar char="•"/>
            </a:pPr>
            <a:r>
              <a:rPr lang="en-US" sz="1250" dirty="0">
                <a:solidFill>
                  <a:srgbClr val="1E293B"/>
                </a:solidFill>
                <a:latin typeface="Noto Sans CJK SC" pitchFamily="34" charset="0"/>
                <a:ea typeface="Noto Sans CJK SC" pitchFamily="34" charset="-122"/>
                <a:cs typeface="Noto Sans CJK SC" pitchFamily="34" charset="-120"/>
              </a:rPr>
              <a:t>成因：高</a:t>
            </a:r>
            <a:r>
              <a:rPr lang="en-US" sz="1250" dirty="0">
                <a:solidFill>
                  <a:srgbClr val="FF0000"/>
                </a:solidFill>
                <a:latin typeface="Noto Sans CJK SC" pitchFamily="34" charset="0"/>
                <a:ea typeface="Noto Sans CJK SC" pitchFamily="34" charset="-122"/>
                <a:cs typeface="Noto Sans CJK SC" pitchFamily="34" charset="-120"/>
              </a:rPr>
              <a:t>反光区混合反射、遮挡边界混合信号、多路径干扰、噪声降低主峰优势</a:t>
            </a:r>
            <a:r>
              <a:rPr lang="en-US" sz="1250" dirty="0">
                <a:solidFill>
                  <a:srgbClr val="1E293B"/>
                </a:solidFill>
                <a:latin typeface="Noto Sans CJK SC" pitchFamily="34" charset="0"/>
                <a:ea typeface="Noto Sans CJK SC" pitchFamily="34" charset="-122"/>
                <a:cs typeface="Noto Sans CJK SC" pitchFamily="34" charset="-120"/>
              </a:rPr>
              <a:t>。</a:t>
            </a:r>
            <a:endParaRPr lang="en-US" sz="1250" dirty="0"/>
          </a:p>
          <a:p>
            <a:pPr marL="177800" indent="-177800">
              <a:spcAft>
                <a:spcPts val="1000"/>
              </a:spcAft>
              <a:buSzPct val="100000"/>
              <a:buChar char="•"/>
            </a:pPr>
            <a:r>
              <a:rPr lang="en-US" sz="1250" b="1" dirty="0">
                <a:solidFill>
                  <a:srgbClr val="0E7490"/>
                </a:solidFill>
                <a:latin typeface="Noto Sans CJK SC" pitchFamily="34" charset="0"/>
                <a:ea typeface="Noto Sans CJK SC" pitchFamily="34" charset="-122"/>
                <a:cs typeface="Noto Sans CJK SC" pitchFamily="34" charset="-120"/>
              </a:rPr>
              <a:t>MultiPeakDetector.find_peaks() 输出一组候选坐标。</a:t>
            </a:r>
            <a:endParaRPr lang="en-US" sz="1250" dirty="0"/>
          </a:p>
        </p:txBody>
      </p:sp>
      <p:sp>
        <p:nvSpPr>
          <p:cNvPr id="6" name="Shape 4"/>
          <p:cNvSpPr/>
          <p:nvPr/>
        </p:nvSpPr>
        <p:spPr>
          <a:xfrm>
            <a:off x="566928" y="4114800"/>
            <a:ext cx="5349240" cy="786384"/>
          </a:xfrm>
          <a:prstGeom prst="roundRect">
            <a:avLst>
              <a:gd name="adj" fmla="val 10465"/>
            </a:avLst>
          </a:prstGeom>
          <a:solidFill>
            <a:srgbClr val="F2F5F9"/>
          </a:solidFill>
          <a:ln w="12700">
            <a:solidFill>
              <a:srgbClr val="E2E8F0"/>
            </a:solidFill>
            <a:prstDash val="solid"/>
          </a:ln>
        </p:spPr>
        <p:txBody>
          <a:bodyPr/>
          <a:lstStyle/>
          <a:p>
            <a:endParaRPr lang="zh-CN" altLang="en-US"/>
          </a:p>
        </p:txBody>
      </p:sp>
      <p:sp>
        <p:nvSpPr>
          <p:cNvPr id="7" name="Text 5"/>
          <p:cNvSpPr/>
          <p:nvPr/>
        </p:nvSpPr>
        <p:spPr>
          <a:xfrm>
            <a:off x="768096" y="4114800"/>
            <a:ext cx="5029200" cy="786384"/>
          </a:xfrm>
          <a:prstGeom prst="rect">
            <a:avLst/>
          </a:prstGeom>
          <a:noFill/>
        </p:spPr>
        <p:txBody>
          <a:bodyPr wrap="square" lIns="0" tIns="0" rIns="0" bIns="0" rtlCol="0" anchor="ctr"/>
          <a:lstStyle/>
          <a:p>
            <a:pPr marL="0" indent="0">
              <a:lnSpc>
                <a:spcPts val="1400"/>
              </a:lnSpc>
              <a:buNone/>
            </a:pPr>
            <a:r>
              <a:rPr lang="en-US" sz="1080" dirty="0">
                <a:solidFill>
                  <a:srgbClr val="1E293B"/>
                </a:solidFill>
                <a:latin typeface="Noto Sans CJK SC" pitchFamily="34" charset="0"/>
                <a:ea typeface="Noto Sans CJK SC" pitchFamily="34" charset="-122"/>
                <a:cs typeface="Noto Sans CJK SC" pitchFamily="34" charset="-120"/>
              </a:rPr>
              <a:t>检测步骤：阈值去弱峰  →  左右邻域判局部极大值  →  近峰按幅值加权合并。</a:t>
            </a:r>
            <a:endParaRPr lang="en-US" sz="1080" dirty="0"/>
          </a:p>
        </p:txBody>
      </p:sp>
      <p:sp>
        <p:nvSpPr>
          <p:cNvPr id="8" name="Shape 6"/>
          <p:cNvSpPr/>
          <p:nvPr/>
        </p:nvSpPr>
        <p:spPr>
          <a:xfrm>
            <a:off x="566928" y="5029200"/>
            <a:ext cx="5349240" cy="932688"/>
          </a:xfrm>
          <a:prstGeom prst="roundRect">
            <a:avLst>
              <a:gd name="adj" fmla="val 6863"/>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Text 7"/>
          <p:cNvSpPr/>
          <p:nvPr/>
        </p:nvSpPr>
        <p:spPr>
          <a:xfrm>
            <a:off x="658368" y="5029200"/>
            <a:ext cx="5166360" cy="932688"/>
          </a:xfrm>
          <a:prstGeom prst="rect">
            <a:avLst/>
          </a:prstGeom>
          <a:noFill/>
        </p:spPr>
        <p:txBody>
          <a:bodyPr wrap="square" lIns="0" tIns="0" rIns="0" bIns="0" rtlCol="0" anchor="ctr"/>
          <a:lstStyle/>
          <a:p>
            <a:pPr marL="0" indent="0" algn="ctr">
              <a:buNone/>
            </a:pPr>
            <a:r>
              <a:rPr lang="en-US" sz="1300" b="1" dirty="0">
                <a:solidFill>
                  <a:srgbClr val="22D3EE"/>
                </a:solidFill>
                <a:latin typeface="Noto Sans CJK SC" pitchFamily="34" charset="0"/>
                <a:ea typeface="Noto Sans CJK SC" pitchFamily="34" charset="-122"/>
                <a:cs typeface="Noto Sans CJK SC" pitchFamily="34" charset="-120"/>
              </a:rPr>
              <a:t>kᵢ = v / (v + v_prev)</a:t>
            </a:r>
            <a:endParaRPr lang="en-US" sz="1300" dirty="0"/>
          </a:p>
          <a:p>
            <a:pPr marL="0" indent="0" algn="ctr">
              <a:buNone/>
            </a:pPr>
            <a:r>
              <a:rPr lang="en-US" sz="1300" b="1" dirty="0">
                <a:solidFill>
                  <a:srgbClr val="22D3EE"/>
                </a:solidFill>
                <a:latin typeface="Noto Sans CJK SC" pitchFamily="34" charset="0"/>
                <a:ea typeface="Noto Sans CJK SC" pitchFamily="34" charset="-122"/>
                <a:cs typeface="Noto Sans CJK SC" pitchFamily="34" charset="-120"/>
              </a:rPr>
              <a:t>new_pos = kᵢ·i + (1−kᵢ)·prev_pos</a:t>
            </a:r>
            <a:endParaRPr lang="en-US" sz="1300" dirty="0"/>
          </a:p>
        </p:txBody>
      </p:sp>
      <p:sp>
        <p:nvSpPr>
          <p:cNvPr id="10" name="Shape 8"/>
          <p:cNvSpPr/>
          <p:nvPr/>
        </p:nvSpPr>
        <p:spPr>
          <a:xfrm>
            <a:off x="6126480" y="1627632"/>
            <a:ext cx="5504688"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1" name="Text 9"/>
          <p:cNvSpPr/>
          <p:nvPr/>
        </p:nvSpPr>
        <p:spPr>
          <a:xfrm>
            <a:off x="6327648" y="1755648"/>
            <a:ext cx="512064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一个频谱中的主峰与次峰</a:t>
            </a:r>
            <a:endParaRPr lang="en-US" sz="1200" dirty="0"/>
          </a:p>
        </p:txBody>
      </p:sp>
      <p:pic>
        <p:nvPicPr>
          <p:cNvPr id="12" name="Image 0" descr="/home/claude/work/assets/fig_multipeak.png"/>
          <p:cNvPicPr>
            <a:picLocks noChangeAspect="1"/>
          </p:cNvPicPr>
          <p:nvPr/>
        </p:nvPicPr>
        <p:blipFill>
          <a:blip r:embed="rId1"/>
          <a:stretch>
            <a:fillRect/>
          </a:stretch>
        </p:blipFill>
        <p:spPr>
          <a:xfrm>
            <a:off x="6355080" y="2286000"/>
            <a:ext cx="5029200" cy="2244190"/>
          </a:xfrm>
          <a:prstGeom prst="rect">
            <a:avLst/>
          </a:prstGeom>
        </p:spPr>
      </p:pic>
      <p:sp>
        <p:nvSpPr>
          <p:cNvPr id="13" name="Shape 10"/>
          <p:cNvSpPr/>
          <p:nvPr/>
        </p:nvSpPr>
        <p:spPr>
          <a:xfrm>
            <a:off x="6327648" y="4443984"/>
            <a:ext cx="5120640" cy="1335024"/>
          </a:xfrm>
          <a:prstGeom prst="roundRect">
            <a:avLst>
              <a:gd name="adj" fmla="val 616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4" name="Text 11"/>
          <p:cNvSpPr/>
          <p:nvPr/>
        </p:nvSpPr>
        <p:spPr>
          <a:xfrm>
            <a:off x="6510528" y="4443984"/>
            <a:ext cx="4754880" cy="1335024"/>
          </a:xfrm>
          <a:prstGeom prst="rect">
            <a:avLst/>
          </a:prstGeom>
          <a:noFill/>
        </p:spPr>
        <p:txBody>
          <a:bodyPr wrap="square" lIns="0" tIns="0" rIns="0" bIns="0" rtlCol="0" anchor="ctr"/>
          <a:lstStyle/>
          <a:p>
            <a:pPr marL="0" indent="0">
              <a:lnSpc>
                <a:spcPts val="1500"/>
              </a:lnSpc>
              <a:buNone/>
            </a:pPr>
            <a:r>
              <a:rPr lang="en-US" sz="1080" dirty="0">
                <a:solidFill>
                  <a:srgbClr val="CBD5E1"/>
                </a:solidFill>
                <a:latin typeface="Noto Sans CJK SC" pitchFamily="34" charset="0"/>
                <a:ea typeface="Noto Sans CJK SC" pitchFamily="34" charset="-122"/>
                <a:cs typeface="Noto Sans CJK SC" pitchFamily="34" charset="-120"/>
              </a:rPr>
              <a:t>阈值线以下的弱峰被滤除；</a:t>
            </a:r>
            <a:r>
              <a:rPr lang="en-US" sz="1080" dirty="0">
                <a:solidFill>
                  <a:srgbClr val="FF0000"/>
                </a:solidFill>
                <a:latin typeface="Noto Sans CJK SC" pitchFamily="34" charset="0"/>
                <a:ea typeface="Noto Sans CJK SC" pitchFamily="34" charset="-122"/>
                <a:cs typeface="Noto Sans CJK SC" pitchFamily="34" charset="-120"/>
              </a:rPr>
              <a:t>主峰与次峰都作为候选保留，交由极线约束做最终判定</a:t>
            </a:r>
            <a:r>
              <a:rPr lang="en-US" sz="1080" dirty="0">
                <a:solidFill>
                  <a:srgbClr val="CBD5E1"/>
                </a:solidFill>
                <a:latin typeface="Noto Sans CJK SC" pitchFamily="34" charset="0"/>
                <a:ea typeface="Noto Sans CJK SC" pitchFamily="34" charset="-122"/>
                <a:cs typeface="Noto Sans CJK SC" pitchFamily="34" charset="-120"/>
              </a:rPr>
              <a:t>。</a:t>
            </a:r>
            <a:endParaRPr lang="en-US" sz="1080" dirty="0"/>
          </a:p>
        </p:txBody>
      </p:sp>
      <p:sp>
        <p:nvSpPr>
          <p:cNvPr id="15" name="Text 12"/>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6" name="Text 13"/>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六 · 工程实现 · 后处理 · 排查</a:t>
            </a:r>
            <a:endParaRPr lang="en-US" sz="850" dirty="0"/>
          </a:p>
        </p:txBody>
      </p:sp>
      <p:sp>
        <p:nvSpPr>
          <p:cNvPr id="17" name="Text 14"/>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38 / 42</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六 · 后处理 ②</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极线约束校正 —— 用几何选出正确匹配</a:t>
            </a:r>
            <a:endParaRPr lang="en-US" sz="2900" dirty="0"/>
          </a:p>
        </p:txBody>
      </p:sp>
      <p:sp>
        <p:nvSpPr>
          <p:cNvPr id="5" name="Shape 3"/>
          <p:cNvSpPr/>
          <p:nvPr/>
        </p:nvSpPr>
        <p:spPr>
          <a:xfrm>
            <a:off x="566928" y="1627632"/>
            <a:ext cx="5486400"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768096" y="1755648"/>
            <a:ext cx="512064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候选点到投影仪极线的距离</a:t>
            </a:r>
            <a:endParaRPr lang="en-US" sz="1200" dirty="0"/>
          </a:p>
        </p:txBody>
      </p:sp>
      <p:pic>
        <p:nvPicPr>
          <p:cNvPr id="7" name="Image 0" descr="/home/claude/work/assets/fig_epipolar.png"/>
          <p:cNvPicPr>
            <a:picLocks noChangeAspect="1"/>
          </p:cNvPicPr>
          <p:nvPr/>
        </p:nvPicPr>
        <p:blipFill>
          <a:blip r:embed="rId1"/>
          <a:stretch>
            <a:fillRect/>
          </a:stretch>
        </p:blipFill>
        <p:spPr>
          <a:xfrm>
            <a:off x="768096" y="2309326"/>
            <a:ext cx="5029200" cy="2696547"/>
          </a:xfrm>
          <a:prstGeom prst="rect">
            <a:avLst/>
          </a:prstGeom>
        </p:spPr>
      </p:pic>
      <p:sp>
        <p:nvSpPr>
          <p:cNvPr id="8" name="Text 5"/>
          <p:cNvSpPr/>
          <p:nvPr/>
        </p:nvSpPr>
        <p:spPr>
          <a:xfrm>
            <a:off x="6309360" y="1682496"/>
            <a:ext cx="5349240" cy="1828800"/>
          </a:xfrm>
          <a:prstGeom prst="rect">
            <a:avLst/>
          </a:prstGeom>
          <a:noFill/>
        </p:spPr>
        <p:txBody>
          <a:bodyPr wrap="square" lIns="0" tIns="0" rIns="0" bIns="0" rtlCol="0" anchor="t"/>
          <a:lstStyle/>
          <a:p>
            <a:pPr marL="177800" indent="-177800">
              <a:spcAft>
                <a:spcPts val="900"/>
              </a:spcAft>
              <a:buSzPct val="100000"/>
              <a:buChar char="•"/>
            </a:pPr>
            <a:r>
              <a:rPr lang="en-US" sz="1180" b="1" dirty="0">
                <a:solidFill>
                  <a:srgbClr val="1E293B"/>
                </a:solidFill>
                <a:latin typeface="Noto Sans CJK SC" pitchFamily="34" charset="0"/>
                <a:ea typeface="Noto Sans CJK SC" pitchFamily="34" charset="-122"/>
                <a:cs typeface="Noto Sans CJK SC" pitchFamily="34" charset="-120"/>
              </a:rPr>
              <a:t>EpipolarCorrector 用</a:t>
            </a:r>
            <a:r>
              <a:rPr lang="en-US" sz="1180" b="1" dirty="0">
                <a:solidFill>
                  <a:srgbClr val="FF0000"/>
                </a:solidFill>
                <a:latin typeface="Noto Sans CJK SC" pitchFamily="34" charset="0"/>
                <a:ea typeface="Noto Sans CJK SC" pitchFamily="34" charset="-122"/>
                <a:cs typeface="Noto Sans CJK SC" pitchFamily="34" charset="-120"/>
              </a:rPr>
              <a:t>相机与投影仪标定参数构造投影矩阵</a:t>
            </a:r>
            <a:r>
              <a:rPr lang="en-US" sz="1180" b="1" dirty="0">
                <a:solidFill>
                  <a:srgbClr val="1E293B"/>
                </a:solidFill>
                <a:latin typeface="Noto Sans CJK SC" pitchFamily="34" charset="0"/>
                <a:ea typeface="Noto Sans CJK SC" pitchFamily="34" charset="-122"/>
                <a:cs typeface="Noto Sans CJK SC" pitchFamily="34" charset="-120"/>
              </a:rPr>
              <a:t>。</a:t>
            </a:r>
            <a:endParaRPr lang="en-US" sz="1180" dirty="0"/>
          </a:p>
          <a:p>
            <a:pPr marL="177800" indent="-177800">
              <a:spcAft>
                <a:spcPts val="900"/>
              </a:spcAft>
              <a:buSzPct val="100000"/>
              <a:buChar char="•"/>
            </a:pPr>
            <a:r>
              <a:rPr lang="en-US" sz="1180" dirty="0">
                <a:solidFill>
                  <a:srgbClr val="1E293B"/>
                </a:solidFill>
                <a:latin typeface="Noto Sans CJK SC" pitchFamily="34" charset="0"/>
                <a:ea typeface="Noto Sans CJK SC" pitchFamily="34" charset="-122"/>
                <a:cs typeface="Noto Sans CJK SC" pitchFamily="34" charset="-120"/>
              </a:rPr>
              <a:t>计算相机像素在投影仪图像中的极线。</a:t>
            </a:r>
            <a:endParaRPr lang="en-US" sz="1180" dirty="0"/>
          </a:p>
          <a:p>
            <a:pPr marL="177800" indent="-177800">
              <a:spcAft>
                <a:spcPts val="900"/>
              </a:spcAft>
              <a:buSzPct val="100000"/>
              <a:buChar char="•"/>
            </a:pPr>
            <a:r>
              <a:rPr lang="en-US" sz="1180" dirty="0">
                <a:solidFill>
                  <a:srgbClr val="0E7490"/>
                </a:solidFill>
                <a:latin typeface="Noto Sans CJK SC" pitchFamily="34" charset="0"/>
                <a:ea typeface="Noto Sans CJK SC" pitchFamily="34" charset="-122"/>
                <a:cs typeface="Noto Sans CJK SC" pitchFamily="34" charset="-120"/>
              </a:rPr>
              <a:t>把水平、垂直方向候选峰组合：(px, py) = peaks_ver × peaks_hor。</a:t>
            </a:r>
            <a:endParaRPr lang="en-US" sz="1180" dirty="0"/>
          </a:p>
        </p:txBody>
      </p:sp>
      <p:sp>
        <p:nvSpPr>
          <p:cNvPr id="9" name="Shape 6"/>
          <p:cNvSpPr/>
          <p:nvPr/>
        </p:nvSpPr>
        <p:spPr>
          <a:xfrm>
            <a:off x="6309360" y="3602736"/>
            <a:ext cx="5349240" cy="786384"/>
          </a:xfrm>
          <a:prstGeom prst="roundRect">
            <a:avLst>
              <a:gd name="adj" fmla="val 814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0" name="Text 7"/>
          <p:cNvSpPr/>
          <p:nvPr/>
        </p:nvSpPr>
        <p:spPr>
          <a:xfrm>
            <a:off x="6400800" y="3602736"/>
            <a:ext cx="5166360" cy="786384"/>
          </a:xfrm>
          <a:prstGeom prst="rect">
            <a:avLst/>
          </a:prstGeom>
          <a:noFill/>
        </p:spPr>
        <p:txBody>
          <a:bodyPr wrap="square" lIns="0" tIns="0" rIns="0" bIns="0" rtlCol="0" anchor="ctr"/>
          <a:lstStyle/>
          <a:p>
            <a:pPr marL="0" indent="0" algn="ctr">
              <a:buNone/>
            </a:pPr>
            <a:r>
              <a:rPr lang="en-US" sz="1500" b="1" dirty="0">
                <a:solidFill>
                  <a:srgbClr val="22D3EE"/>
                </a:solidFill>
                <a:latin typeface="Noto Sans CJK SC" pitchFamily="34" charset="0"/>
                <a:ea typeface="Noto Sans CJK SC" pitchFamily="34" charset="-122"/>
                <a:cs typeface="Noto Sans CJK SC" pitchFamily="34" charset="-120"/>
              </a:rPr>
              <a:t>d = | a·x + b·y + c | / √( a² + b² )</a:t>
            </a:r>
            <a:endParaRPr lang="en-US" sz="1500" dirty="0"/>
          </a:p>
        </p:txBody>
      </p:sp>
      <p:sp>
        <p:nvSpPr>
          <p:cNvPr id="11" name="Shape 8"/>
          <p:cNvSpPr/>
          <p:nvPr/>
        </p:nvSpPr>
        <p:spPr>
          <a:xfrm>
            <a:off x="6309360" y="4553712"/>
            <a:ext cx="5349240" cy="1408176"/>
          </a:xfrm>
          <a:prstGeom prst="roundRect">
            <a:avLst>
              <a:gd name="adj" fmla="val 5844"/>
            </a:avLst>
          </a:prstGeom>
          <a:solidFill>
            <a:srgbClr val="F2F5F9"/>
          </a:solidFill>
          <a:ln w="12700">
            <a:solidFill>
              <a:srgbClr val="E2E8F0"/>
            </a:solidFill>
            <a:prstDash val="solid"/>
          </a:ln>
        </p:spPr>
        <p:txBody>
          <a:bodyPr/>
          <a:lstStyle/>
          <a:p>
            <a:endParaRPr lang="zh-CN" altLang="en-US"/>
          </a:p>
        </p:txBody>
      </p:sp>
      <p:sp>
        <p:nvSpPr>
          <p:cNvPr id="12" name="Text 9"/>
          <p:cNvSpPr/>
          <p:nvPr/>
        </p:nvSpPr>
        <p:spPr>
          <a:xfrm>
            <a:off x="6492240" y="4645152"/>
            <a:ext cx="45720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选出与极线距离最小的组合</a:t>
            </a:r>
            <a:endParaRPr lang="en-US" sz="1100" dirty="0"/>
          </a:p>
        </p:txBody>
      </p:sp>
      <p:sp>
        <p:nvSpPr>
          <p:cNvPr id="13" name="Text 10"/>
          <p:cNvSpPr/>
          <p:nvPr/>
        </p:nvSpPr>
        <p:spPr>
          <a:xfrm>
            <a:off x="6492240" y="4901184"/>
            <a:ext cx="5029200" cy="1005840"/>
          </a:xfrm>
          <a:prstGeom prst="rect">
            <a:avLst/>
          </a:prstGeom>
          <a:noFill/>
        </p:spPr>
        <p:txBody>
          <a:bodyPr wrap="square" lIns="0" tIns="0" rIns="0" bIns="0" rtlCol="0" anchor="ctr"/>
          <a:lstStyle/>
          <a:p>
            <a:pPr marL="0" indent="0">
              <a:lnSpc>
                <a:spcPts val="1400"/>
              </a:lnSpc>
              <a:buNone/>
            </a:pPr>
            <a:r>
              <a:rPr lang="en-US" sz="1050" dirty="0">
                <a:solidFill>
                  <a:srgbClr val="1E293B"/>
                </a:solidFill>
                <a:latin typeface="Noto Sans CJK SC" pitchFamily="34" charset="0"/>
                <a:ea typeface="Noto Sans CJK SC" pitchFamily="34" charset="-122"/>
                <a:cs typeface="Noto Sans CJK SC" pitchFamily="34" charset="-120"/>
              </a:rPr>
              <a:t>距离最小者最符合双目几何约束，结果保存为</a:t>
            </a:r>
            <a:endParaRPr lang="en-US" sz="1050" dirty="0"/>
          </a:p>
          <a:p>
            <a:pPr marL="0" indent="0">
              <a:lnSpc>
                <a:spcPts val="1400"/>
              </a:lnSpc>
              <a:buNone/>
            </a:pPr>
            <a:r>
              <a:rPr lang="en-US" sz="1050" dirty="0">
                <a:solidFill>
                  <a:srgbClr val="1E293B"/>
                </a:solidFill>
                <a:latin typeface="Noto Sans CJK SC" pitchFamily="34" charset="0"/>
                <a:ea typeface="Noto Sans CJK SC" pitchFamily="34" charset="-122"/>
                <a:cs typeface="Noto Sans CJK SC" pitchFamily="34" charset="-120"/>
              </a:rPr>
              <a:t>disp_hor_corrected.npy / disp_ver_corrected.npy。</a:t>
            </a:r>
            <a:r>
              <a:rPr lang="en-US" sz="1050" dirty="0">
                <a:solidFill>
                  <a:srgbClr val="FF0000"/>
                </a:solidFill>
                <a:latin typeface="Noto Sans CJK SC" pitchFamily="34" charset="0"/>
                <a:ea typeface="Noto Sans CJK SC" pitchFamily="34" charset="-122"/>
                <a:cs typeface="Noto Sans CJK SC" pitchFamily="34" charset="-120"/>
              </a:rPr>
              <a:t>多峰检测与极线校正是可选后处理</a:t>
            </a:r>
            <a:r>
              <a:rPr lang="en-US" sz="1050" dirty="0">
                <a:solidFill>
                  <a:srgbClr val="1E293B"/>
                </a:solidFill>
                <a:latin typeface="Noto Sans CJK SC" pitchFamily="34" charset="0"/>
                <a:ea typeface="Noto Sans CJK SC" pitchFamily="34" charset="-122"/>
                <a:cs typeface="Noto Sans CJK SC" pitchFamily="34" charset="-120"/>
              </a:rPr>
              <a:t>，不替代速度快、流程稳定的 argmax 主解码。</a:t>
            </a:r>
            <a:endParaRPr lang="en-US" sz="1050" dirty="0"/>
          </a:p>
        </p:txBody>
      </p:sp>
      <p:sp>
        <p:nvSpPr>
          <p:cNvPr id="14" name="Text 11"/>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5" name="Text 12"/>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六 · 工程实现 · 后处理 · 排查</a:t>
            </a:r>
            <a:endParaRPr lang="en-US" sz="850" dirty="0"/>
          </a:p>
        </p:txBody>
      </p:sp>
      <p:sp>
        <p:nvSpPr>
          <p:cNvPr id="16" name="Text 13"/>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39 / 42</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六 · 质量与排查</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解码质量评估与问题排查</a:t>
            </a:r>
            <a:endParaRPr lang="en-US" sz="2900" dirty="0"/>
          </a:p>
        </p:txBody>
      </p:sp>
      <p:sp>
        <p:nvSpPr>
          <p:cNvPr id="5" name="Shape 3"/>
          <p:cNvSpPr/>
          <p:nvPr/>
        </p:nvSpPr>
        <p:spPr>
          <a:xfrm>
            <a:off x="566928" y="1591056"/>
            <a:ext cx="5349240" cy="713232"/>
          </a:xfrm>
          <a:prstGeom prst="roundRect">
            <a:avLst>
              <a:gd name="adj" fmla="val 89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658368" y="1591056"/>
            <a:ext cx="5166360" cy="713232"/>
          </a:xfrm>
          <a:prstGeom prst="rect">
            <a:avLst/>
          </a:prstGeom>
          <a:noFill/>
        </p:spPr>
        <p:txBody>
          <a:bodyPr wrap="square" lIns="0" tIns="0" rIns="0" bIns="0" rtlCol="0" anchor="ctr"/>
          <a:lstStyle/>
          <a:p>
            <a:pPr marL="0" indent="0" algn="ctr">
              <a:buNone/>
            </a:pPr>
            <a:r>
              <a:rPr lang="en-US" sz="1500" b="1" dirty="0">
                <a:solidFill>
                  <a:srgbClr val="22D3EE"/>
                </a:solidFill>
                <a:latin typeface="DejaVu Sans Mono" pitchFamily="34" charset="0"/>
                <a:ea typeface="DejaVu Sans Mono" pitchFamily="34" charset="-122"/>
                <a:cs typeface="DejaVu Sans Mono" pitchFamily="34" charset="-120"/>
              </a:rPr>
              <a:t>peak = max(|C|) / fft_length</a:t>
            </a:r>
            <a:endParaRPr lang="en-US" sz="1500" dirty="0"/>
          </a:p>
        </p:txBody>
      </p:sp>
      <p:sp>
        <p:nvSpPr>
          <p:cNvPr id="7" name="Text 5"/>
          <p:cNvSpPr/>
          <p:nvPr/>
        </p:nvSpPr>
        <p:spPr>
          <a:xfrm>
            <a:off x="566928" y="2377440"/>
            <a:ext cx="5486400" cy="457200"/>
          </a:xfrm>
          <a:prstGeom prst="rect">
            <a:avLst/>
          </a:prstGeom>
          <a:noFill/>
        </p:spPr>
        <p:txBody>
          <a:bodyPr wrap="square" lIns="0" tIns="0" rIns="0" bIns="0" rtlCol="0" anchor="ctr"/>
          <a:lstStyle/>
          <a:p>
            <a:pPr marL="0" indent="0">
              <a:lnSpc>
                <a:spcPts val="1400"/>
              </a:lnSpc>
              <a:buNone/>
            </a:pPr>
            <a:r>
              <a:rPr lang="en-US" sz="1050" dirty="0">
                <a:solidFill>
                  <a:srgbClr val="64748B"/>
                </a:solidFill>
                <a:latin typeface="Noto Sans CJK SC" pitchFamily="34" charset="0"/>
                <a:ea typeface="Noto Sans CJK SC" pitchFamily="34" charset="-122"/>
                <a:cs typeface="Noto Sans CJK SC" pitchFamily="34" charset="-120"/>
              </a:rPr>
              <a:t>主峰越高、次峰越低，投影仪坐标越明确。阈值需结合数据集调整。</a:t>
            </a:r>
            <a:endParaRPr lang="en-US" sz="1050" dirty="0"/>
          </a:p>
        </p:txBody>
      </p:sp>
      <p:sp>
        <p:nvSpPr>
          <p:cNvPr id="8" name="Text 6"/>
          <p:cNvSpPr/>
          <p:nvPr/>
        </p:nvSpPr>
        <p:spPr>
          <a:xfrm>
            <a:off x="566928" y="2907792"/>
            <a:ext cx="45720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常见误差来源</a:t>
            </a:r>
            <a:endParaRPr lang="en-US" sz="1200" dirty="0"/>
          </a:p>
        </p:txBody>
      </p:sp>
      <p:sp>
        <p:nvSpPr>
          <p:cNvPr id="9" name="Shape 7"/>
          <p:cNvSpPr/>
          <p:nvPr/>
        </p:nvSpPr>
        <p:spPr>
          <a:xfrm>
            <a:off x="566928" y="3236976"/>
            <a:ext cx="5349240" cy="530352"/>
          </a:xfrm>
          <a:prstGeom prst="roundRect">
            <a:avLst>
              <a:gd name="adj" fmla="val 15517"/>
            </a:avLst>
          </a:prstGeom>
          <a:solidFill>
            <a:srgbClr val="F2F5F9"/>
          </a:solidFill>
          <a:ln w="12700">
            <a:solidFill>
              <a:srgbClr val="E2E8F0"/>
            </a:solidFill>
            <a:prstDash val="solid"/>
          </a:ln>
        </p:spPr>
        <p:txBody>
          <a:bodyPr/>
          <a:lstStyle/>
          <a:p>
            <a:endParaRPr lang="zh-CN" altLang="en-US"/>
          </a:p>
        </p:txBody>
      </p:sp>
      <p:sp>
        <p:nvSpPr>
          <p:cNvPr id="10" name="Shape 8"/>
          <p:cNvSpPr/>
          <p:nvPr/>
        </p:nvSpPr>
        <p:spPr>
          <a:xfrm>
            <a:off x="566928" y="3236976"/>
            <a:ext cx="64008" cy="530352"/>
          </a:xfrm>
          <a:prstGeom prst="rect">
            <a:avLst/>
          </a:prstGeom>
          <a:solidFill>
            <a:srgbClr val="EF4444"/>
          </a:solidFill>
          <a:ln w="12700">
            <a:solidFill>
              <a:srgbClr val="EF4444"/>
            </a:solidFill>
            <a:prstDash val="solid"/>
          </a:ln>
        </p:spPr>
        <p:txBody>
          <a:bodyPr/>
          <a:lstStyle/>
          <a:p>
            <a:endParaRPr lang="zh-CN" altLang="en-US"/>
          </a:p>
        </p:txBody>
      </p:sp>
      <p:sp>
        <p:nvSpPr>
          <p:cNvPr id="11" name="Text 9"/>
          <p:cNvSpPr/>
          <p:nvPr/>
        </p:nvSpPr>
        <p:spPr>
          <a:xfrm>
            <a:off x="731520" y="3236976"/>
            <a:ext cx="2286000" cy="530352"/>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图像数量 / 命名错误</a:t>
            </a:r>
            <a:endParaRPr lang="en-US" sz="1050" dirty="0"/>
          </a:p>
        </p:txBody>
      </p:sp>
      <p:sp>
        <p:nvSpPr>
          <p:cNvPr id="12" name="Text 10"/>
          <p:cNvSpPr/>
          <p:nvPr/>
        </p:nvSpPr>
        <p:spPr>
          <a:xfrm>
            <a:off x="3017520" y="3236976"/>
            <a:ext cx="2834640" cy="530352"/>
          </a:xfrm>
          <a:prstGeom prst="rect">
            <a:avLst/>
          </a:prstGeom>
          <a:noFill/>
        </p:spPr>
        <p:txBody>
          <a:bodyPr wrap="square" lIns="0" tIns="0" rIns="0" bIns="0" rtlCol="0" anchor="ctr"/>
          <a:lstStyle/>
          <a:p>
            <a:pPr marL="0" indent="0">
              <a:buNone/>
            </a:pPr>
            <a:r>
              <a:rPr lang="en-US" sz="1000" dirty="0">
                <a:solidFill>
                  <a:srgbClr val="1E293B"/>
                </a:solidFill>
                <a:latin typeface="Noto Sans CJK SC" pitchFamily="34" charset="0"/>
                <a:ea typeface="Noto Sans CJK SC" pitchFamily="34" charset="-122"/>
                <a:cs typeface="Noto Sans CJK SC" pitchFamily="34" charset="-120"/>
              </a:rPr>
              <a:t>序列不完整或顺序错乱</a:t>
            </a:r>
            <a:endParaRPr lang="en-US" sz="1000" dirty="0"/>
          </a:p>
        </p:txBody>
      </p:sp>
      <p:sp>
        <p:nvSpPr>
          <p:cNvPr id="13" name="Shape 11"/>
          <p:cNvSpPr/>
          <p:nvPr/>
        </p:nvSpPr>
        <p:spPr>
          <a:xfrm>
            <a:off x="566928" y="3877056"/>
            <a:ext cx="5349240" cy="530352"/>
          </a:xfrm>
          <a:prstGeom prst="roundRect">
            <a:avLst>
              <a:gd name="adj" fmla="val 15517"/>
            </a:avLst>
          </a:prstGeom>
          <a:solidFill>
            <a:srgbClr val="F2F5F9"/>
          </a:solidFill>
          <a:ln w="12700">
            <a:solidFill>
              <a:srgbClr val="E2E8F0"/>
            </a:solidFill>
            <a:prstDash val="solid"/>
          </a:ln>
        </p:spPr>
        <p:txBody>
          <a:bodyPr/>
          <a:lstStyle/>
          <a:p>
            <a:endParaRPr lang="zh-CN" altLang="en-US"/>
          </a:p>
        </p:txBody>
      </p:sp>
      <p:sp>
        <p:nvSpPr>
          <p:cNvPr id="14" name="Shape 12"/>
          <p:cNvSpPr/>
          <p:nvPr/>
        </p:nvSpPr>
        <p:spPr>
          <a:xfrm>
            <a:off x="566928" y="3877056"/>
            <a:ext cx="64008" cy="530352"/>
          </a:xfrm>
          <a:prstGeom prst="rect">
            <a:avLst/>
          </a:prstGeom>
          <a:solidFill>
            <a:srgbClr val="EF4444"/>
          </a:solidFill>
          <a:ln w="12700">
            <a:solidFill>
              <a:srgbClr val="EF4444"/>
            </a:solidFill>
            <a:prstDash val="solid"/>
          </a:ln>
        </p:spPr>
        <p:txBody>
          <a:bodyPr/>
          <a:lstStyle/>
          <a:p>
            <a:endParaRPr lang="zh-CN" altLang="en-US"/>
          </a:p>
        </p:txBody>
      </p:sp>
      <p:sp>
        <p:nvSpPr>
          <p:cNvPr id="15" name="Text 13"/>
          <p:cNvSpPr/>
          <p:nvPr/>
        </p:nvSpPr>
        <p:spPr>
          <a:xfrm>
            <a:off x="731520" y="3877056"/>
            <a:ext cx="2286000" cy="530352"/>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FFT 长度设错</a:t>
            </a:r>
            <a:endParaRPr lang="en-US" sz="1050" dirty="0"/>
          </a:p>
        </p:txBody>
      </p:sp>
      <p:sp>
        <p:nvSpPr>
          <p:cNvPr id="16" name="Text 14"/>
          <p:cNvSpPr/>
          <p:nvPr/>
        </p:nvSpPr>
        <p:spPr>
          <a:xfrm>
            <a:off x="3017520" y="3877056"/>
            <a:ext cx="2834640" cy="530352"/>
          </a:xfrm>
          <a:prstGeom prst="rect">
            <a:avLst/>
          </a:prstGeom>
          <a:noFill/>
        </p:spPr>
        <p:txBody>
          <a:bodyPr wrap="square" lIns="0" tIns="0" rIns="0" bIns="0" rtlCol="0" anchor="ctr"/>
          <a:lstStyle/>
          <a:p>
            <a:pPr marL="0" indent="0">
              <a:buNone/>
            </a:pPr>
            <a:r>
              <a:rPr lang="en-US" sz="1000" dirty="0">
                <a:solidFill>
                  <a:srgbClr val="1E293B"/>
                </a:solidFill>
                <a:latin typeface="Noto Sans CJK SC" pitchFamily="34" charset="0"/>
                <a:ea typeface="Noto Sans CJK SC" pitchFamily="34" charset="-122"/>
                <a:cs typeface="Noto Sans CJK SC" pitchFamily="34" charset="-120"/>
              </a:rPr>
              <a:t>点云出现量化阶梯</a:t>
            </a:r>
            <a:endParaRPr lang="en-US" sz="1000" dirty="0"/>
          </a:p>
        </p:txBody>
      </p:sp>
      <p:sp>
        <p:nvSpPr>
          <p:cNvPr id="17" name="Shape 15"/>
          <p:cNvSpPr/>
          <p:nvPr/>
        </p:nvSpPr>
        <p:spPr>
          <a:xfrm>
            <a:off x="566928" y="4517136"/>
            <a:ext cx="5349240" cy="530352"/>
          </a:xfrm>
          <a:prstGeom prst="roundRect">
            <a:avLst>
              <a:gd name="adj" fmla="val 15517"/>
            </a:avLst>
          </a:prstGeom>
          <a:solidFill>
            <a:srgbClr val="F2F5F9"/>
          </a:solidFill>
          <a:ln w="12700">
            <a:solidFill>
              <a:srgbClr val="E2E8F0"/>
            </a:solidFill>
            <a:prstDash val="solid"/>
          </a:ln>
        </p:spPr>
        <p:txBody>
          <a:bodyPr/>
          <a:lstStyle/>
          <a:p>
            <a:endParaRPr lang="zh-CN" altLang="en-US"/>
          </a:p>
        </p:txBody>
      </p:sp>
      <p:sp>
        <p:nvSpPr>
          <p:cNvPr id="18" name="Shape 16"/>
          <p:cNvSpPr/>
          <p:nvPr/>
        </p:nvSpPr>
        <p:spPr>
          <a:xfrm>
            <a:off x="566928" y="4517136"/>
            <a:ext cx="64008" cy="530352"/>
          </a:xfrm>
          <a:prstGeom prst="rect">
            <a:avLst/>
          </a:prstGeom>
          <a:solidFill>
            <a:srgbClr val="EF4444"/>
          </a:solidFill>
          <a:ln w="12700">
            <a:solidFill>
              <a:srgbClr val="EF4444"/>
            </a:solidFill>
            <a:prstDash val="solid"/>
          </a:ln>
        </p:spPr>
        <p:txBody>
          <a:bodyPr/>
          <a:lstStyle/>
          <a:p>
            <a:endParaRPr lang="zh-CN" altLang="en-US"/>
          </a:p>
        </p:txBody>
      </p:sp>
      <p:sp>
        <p:nvSpPr>
          <p:cNvPr id="19" name="Text 17"/>
          <p:cNvSpPr/>
          <p:nvPr/>
        </p:nvSpPr>
        <p:spPr>
          <a:xfrm>
            <a:off x="731520" y="4517136"/>
            <a:ext cx="2286000" cy="530352"/>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frequency_step 不匹配</a:t>
            </a:r>
            <a:endParaRPr lang="en-US" sz="1050" dirty="0"/>
          </a:p>
        </p:txBody>
      </p:sp>
      <p:sp>
        <p:nvSpPr>
          <p:cNvPr id="20" name="Text 18"/>
          <p:cNvSpPr/>
          <p:nvPr/>
        </p:nvSpPr>
        <p:spPr>
          <a:xfrm>
            <a:off x="3017520" y="4517136"/>
            <a:ext cx="2834640" cy="530352"/>
          </a:xfrm>
          <a:prstGeom prst="rect">
            <a:avLst/>
          </a:prstGeom>
          <a:noFill/>
        </p:spPr>
        <p:txBody>
          <a:bodyPr wrap="square" lIns="0" tIns="0" rIns="0" bIns="0" rtlCol="0" anchor="ctr"/>
          <a:lstStyle/>
          <a:p>
            <a:pPr marL="0" indent="0">
              <a:buNone/>
            </a:pPr>
            <a:r>
              <a:rPr lang="en-US" sz="1000" dirty="0">
                <a:solidFill>
                  <a:srgbClr val="1E293B"/>
                </a:solidFill>
                <a:latin typeface="Noto Sans CJK SC" pitchFamily="34" charset="0"/>
                <a:ea typeface="Noto Sans CJK SC" pitchFamily="34" charset="-122"/>
                <a:cs typeface="Noto Sans CJK SC" pitchFamily="34" charset="-120"/>
              </a:rPr>
              <a:t>坐标系统性偏移</a:t>
            </a:r>
            <a:endParaRPr lang="en-US" sz="1000" dirty="0"/>
          </a:p>
        </p:txBody>
      </p:sp>
      <p:sp>
        <p:nvSpPr>
          <p:cNvPr id="21" name="Shape 19"/>
          <p:cNvSpPr/>
          <p:nvPr/>
        </p:nvSpPr>
        <p:spPr>
          <a:xfrm>
            <a:off x="566928" y="5157216"/>
            <a:ext cx="5349240" cy="530352"/>
          </a:xfrm>
          <a:prstGeom prst="roundRect">
            <a:avLst>
              <a:gd name="adj" fmla="val 15517"/>
            </a:avLst>
          </a:prstGeom>
          <a:solidFill>
            <a:srgbClr val="F2F5F9"/>
          </a:solidFill>
          <a:ln w="12700">
            <a:solidFill>
              <a:srgbClr val="E2E8F0"/>
            </a:solidFill>
            <a:prstDash val="solid"/>
          </a:ln>
        </p:spPr>
        <p:txBody>
          <a:bodyPr/>
          <a:lstStyle/>
          <a:p>
            <a:endParaRPr lang="zh-CN" altLang="en-US"/>
          </a:p>
        </p:txBody>
      </p:sp>
      <p:sp>
        <p:nvSpPr>
          <p:cNvPr id="22" name="Shape 20"/>
          <p:cNvSpPr/>
          <p:nvPr/>
        </p:nvSpPr>
        <p:spPr>
          <a:xfrm>
            <a:off x="566928" y="5157216"/>
            <a:ext cx="64008" cy="530352"/>
          </a:xfrm>
          <a:prstGeom prst="rect">
            <a:avLst/>
          </a:prstGeom>
          <a:solidFill>
            <a:srgbClr val="EF4444"/>
          </a:solidFill>
          <a:ln w="12700">
            <a:solidFill>
              <a:srgbClr val="EF4444"/>
            </a:solidFill>
            <a:prstDash val="solid"/>
          </a:ln>
        </p:spPr>
        <p:txBody>
          <a:bodyPr/>
          <a:lstStyle/>
          <a:p>
            <a:endParaRPr lang="zh-CN" altLang="en-US"/>
          </a:p>
        </p:txBody>
      </p:sp>
      <p:sp>
        <p:nvSpPr>
          <p:cNvPr id="23" name="Text 21"/>
          <p:cNvSpPr/>
          <p:nvPr/>
        </p:nvSpPr>
        <p:spPr>
          <a:xfrm>
            <a:off x="731520" y="5157216"/>
            <a:ext cx="2286000" cy="530352"/>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高反光 / 遮挡</a:t>
            </a:r>
            <a:endParaRPr lang="en-US" sz="1050" dirty="0"/>
          </a:p>
        </p:txBody>
      </p:sp>
      <p:sp>
        <p:nvSpPr>
          <p:cNvPr id="24" name="Text 22"/>
          <p:cNvSpPr/>
          <p:nvPr/>
        </p:nvSpPr>
        <p:spPr>
          <a:xfrm>
            <a:off x="3017520" y="5157216"/>
            <a:ext cx="2834640" cy="530352"/>
          </a:xfrm>
          <a:prstGeom prst="rect">
            <a:avLst/>
          </a:prstGeom>
          <a:noFill/>
        </p:spPr>
        <p:txBody>
          <a:bodyPr wrap="square" lIns="0" tIns="0" rIns="0" bIns="0" rtlCol="0" anchor="ctr"/>
          <a:lstStyle/>
          <a:p>
            <a:pPr marL="0" indent="0">
              <a:buNone/>
            </a:pPr>
            <a:r>
              <a:rPr lang="en-US" sz="1000" dirty="0">
                <a:solidFill>
                  <a:srgbClr val="1E293B"/>
                </a:solidFill>
                <a:latin typeface="Noto Sans CJK SC" pitchFamily="34" charset="0"/>
                <a:ea typeface="Noto Sans CJK SC" pitchFamily="34" charset="-122"/>
                <a:cs typeface="Noto Sans CJK SC" pitchFamily="34" charset="-120"/>
              </a:rPr>
              <a:t>多峰导致误匹配</a:t>
            </a:r>
            <a:endParaRPr lang="en-US" sz="1000" dirty="0"/>
          </a:p>
        </p:txBody>
      </p:sp>
      <p:sp>
        <p:nvSpPr>
          <p:cNvPr id="25" name="Shape 23"/>
          <p:cNvSpPr/>
          <p:nvPr/>
        </p:nvSpPr>
        <p:spPr>
          <a:xfrm>
            <a:off x="6126480" y="1627632"/>
            <a:ext cx="5504688" cy="4334256"/>
          </a:xfrm>
          <a:prstGeom prst="roundRect">
            <a:avLst>
              <a:gd name="adj" fmla="val 189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6" name="Text 24"/>
          <p:cNvSpPr/>
          <p:nvPr/>
        </p:nvSpPr>
        <p:spPr>
          <a:xfrm>
            <a:off x="6327648" y="1773936"/>
            <a:ext cx="4572000" cy="310896"/>
          </a:xfrm>
          <a:prstGeom prst="rect">
            <a:avLst/>
          </a:prstGeom>
          <a:noFill/>
        </p:spPr>
        <p:txBody>
          <a:bodyPr wrap="square" lIns="0" tIns="0" rIns="0" bIns="0" rtlCol="0" anchor="ctr"/>
          <a:lstStyle/>
          <a:p>
            <a:pPr marL="0" indent="0">
              <a:buNone/>
            </a:pPr>
            <a:r>
              <a:rPr lang="en-US" sz="1250" b="1" dirty="0">
                <a:solidFill>
                  <a:srgbClr val="22D3EE"/>
                </a:solidFill>
                <a:latin typeface="Noto Sans CJK SC" pitchFamily="34" charset="0"/>
                <a:ea typeface="Noto Sans CJK SC" pitchFamily="34" charset="-122"/>
                <a:cs typeface="Noto Sans CJK SC" pitchFamily="34" charset="-120"/>
              </a:rPr>
              <a:t>推荐排查顺序</a:t>
            </a:r>
            <a:endParaRPr lang="en-US" sz="1250" dirty="0"/>
          </a:p>
        </p:txBody>
      </p:sp>
      <p:sp>
        <p:nvSpPr>
          <p:cNvPr id="27" name="Shape 25"/>
          <p:cNvSpPr/>
          <p:nvPr/>
        </p:nvSpPr>
        <p:spPr>
          <a:xfrm>
            <a:off x="6364224" y="2249424"/>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28" name="Text 26"/>
          <p:cNvSpPr/>
          <p:nvPr/>
        </p:nvSpPr>
        <p:spPr>
          <a:xfrm>
            <a:off x="6364224" y="2249424"/>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1</a:t>
            </a:r>
            <a:endParaRPr lang="en-US" sz="880" dirty="0"/>
          </a:p>
        </p:txBody>
      </p:sp>
      <p:sp>
        <p:nvSpPr>
          <p:cNvPr id="29" name="Text 27"/>
          <p:cNvSpPr/>
          <p:nvPr/>
        </p:nvSpPr>
        <p:spPr>
          <a:xfrm>
            <a:off x="6858000" y="2231136"/>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核对图像数量与命名规则</a:t>
            </a:r>
            <a:endParaRPr lang="en-US" sz="1100" dirty="0"/>
          </a:p>
        </p:txBody>
      </p:sp>
      <p:sp>
        <p:nvSpPr>
          <p:cNvPr id="30" name="Shape 28"/>
          <p:cNvSpPr/>
          <p:nvPr/>
        </p:nvSpPr>
        <p:spPr>
          <a:xfrm>
            <a:off x="6547104" y="2615184"/>
            <a:ext cx="0" cy="201168"/>
          </a:xfrm>
          <a:prstGeom prst="line">
            <a:avLst/>
          </a:prstGeom>
          <a:noFill/>
          <a:ln w="19050">
            <a:solidFill>
              <a:srgbClr val="1E466E"/>
            </a:solidFill>
            <a:prstDash val="solid"/>
          </a:ln>
        </p:spPr>
        <p:txBody>
          <a:bodyPr/>
          <a:lstStyle/>
          <a:p>
            <a:endParaRPr lang="zh-CN" altLang="en-US"/>
          </a:p>
        </p:txBody>
      </p:sp>
      <p:sp>
        <p:nvSpPr>
          <p:cNvPr id="31" name="Shape 29"/>
          <p:cNvSpPr/>
          <p:nvPr/>
        </p:nvSpPr>
        <p:spPr>
          <a:xfrm>
            <a:off x="6364224" y="2816352"/>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32" name="Text 30"/>
          <p:cNvSpPr/>
          <p:nvPr/>
        </p:nvSpPr>
        <p:spPr>
          <a:xfrm>
            <a:off x="6364224" y="2816352"/>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2</a:t>
            </a:r>
            <a:endParaRPr lang="en-US" sz="880" dirty="0"/>
          </a:p>
        </p:txBody>
      </p:sp>
      <p:sp>
        <p:nvSpPr>
          <p:cNvPr id="33" name="Text 31"/>
          <p:cNvSpPr/>
          <p:nvPr/>
        </p:nvSpPr>
        <p:spPr>
          <a:xfrm>
            <a:off x="6858000" y="2798064"/>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运行 VERIFY_SEQUENCE 校验序列</a:t>
            </a:r>
            <a:endParaRPr lang="en-US" sz="1100" dirty="0"/>
          </a:p>
        </p:txBody>
      </p:sp>
      <p:sp>
        <p:nvSpPr>
          <p:cNvPr id="34" name="Shape 32"/>
          <p:cNvSpPr/>
          <p:nvPr/>
        </p:nvSpPr>
        <p:spPr>
          <a:xfrm>
            <a:off x="6547104" y="3182112"/>
            <a:ext cx="0" cy="201168"/>
          </a:xfrm>
          <a:prstGeom prst="line">
            <a:avLst/>
          </a:prstGeom>
          <a:noFill/>
          <a:ln w="19050">
            <a:solidFill>
              <a:srgbClr val="1E466E"/>
            </a:solidFill>
            <a:prstDash val="solid"/>
          </a:ln>
        </p:spPr>
        <p:txBody>
          <a:bodyPr/>
          <a:lstStyle/>
          <a:p>
            <a:endParaRPr lang="zh-CN" altLang="en-US"/>
          </a:p>
        </p:txBody>
      </p:sp>
      <p:sp>
        <p:nvSpPr>
          <p:cNvPr id="35" name="Shape 33"/>
          <p:cNvSpPr/>
          <p:nvPr/>
        </p:nvSpPr>
        <p:spPr>
          <a:xfrm>
            <a:off x="6364224" y="3383280"/>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36" name="Text 34"/>
          <p:cNvSpPr/>
          <p:nvPr/>
        </p:nvSpPr>
        <p:spPr>
          <a:xfrm>
            <a:off x="6364224" y="3383280"/>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3</a:t>
            </a:r>
            <a:endParaRPr lang="en-US" sz="880" dirty="0"/>
          </a:p>
        </p:txBody>
      </p:sp>
      <p:sp>
        <p:nvSpPr>
          <p:cNvPr id="37" name="Text 35"/>
          <p:cNvSpPr/>
          <p:nvPr/>
        </p:nvSpPr>
        <p:spPr>
          <a:xfrm>
            <a:off x="6858000" y="3364992"/>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查看 peak_*.npy 找低质量像素</a:t>
            </a:r>
            <a:endParaRPr lang="en-US" sz="1100" dirty="0"/>
          </a:p>
        </p:txBody>
      </p:sp>
      <p:sp>
        <p:nvSpPr>
          <p:cNvPr id="38" name="Shape 36"/>
          <p:cNvSpPr/>
          <p:nvPr/>
        </p:nvSpPr>
        <p:spPr>
          <a:xfrm>
            <a:off x="6547104" y="3749040"/>
            <a:ext cx="0" cy="201168"/>
          </a:xfrm>
          <a:prstGeom prst="line">
            <a:avLst/>
          </a:prstGeom>
          <a:noFill/>
          <a:ln w="19050">
            <a:solidFill>
              <a:srgbClr val="1E466E"/>
            </a:solidFill>
            <a:prstDash val="solid"/>
          </a:ln>
        </p:spPr>
        <p:txBody>
          <a:bodyPr/>
          <a:lstStyle/>
          <a:p>
            <a:endParaRPr lang="zh-CN" altLang="en-US"/>
          </a:p>
        </p:txBody>
      </p:sp>
      <p:sp>
        <p:nvSpPr>
          <p:cNvPr id="39" name="Shape 37"/>
          <p:cNvSpPr/>
          <p:nvPr/>
        </p:nvSpPr>
        <p:spPr>
          <a:xfrm>
            <a:off x="6364224" y="3950208"/>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40" name="Text 38"/>
          <p:cNvSpPr/>
          <p:nvPr/>
        </p:nvSpPr>
        <p:spPr>
          <a:xfrm>
            <a:off x="6364224" y="3950208"/>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4</a:t>
            </a:r>
            <a:endParaRPr lang="en-US" sz="880" dirty="0"/>
          </a:p>
        </p:txBody>
      </p:sp>
      <p:sp>
        <p:nvSpPr>
          <p:cNvPr id="41" name="Text 39"/>
          <p:cNvSpPr/>
          <p:nvPr/>
        </p:nvSpPr>
        <p:spPr>
          <a:xfrm>
            <a:off x="6858000" y="3931920"/>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对异常点设 SPECTRUM_POINTS 看频谱</a:t>
            </a:r>
            <a:endParaRPr lang="en-US" sz="1100" dirty="0"/>
          </a:p>
        </p:txBody>
      </p:sp>
      <p:sp>
        <p:nvSpPr>
          <p:cNvPr id="42" name="Shape 40"/>
          <p:cNvSpPr/>
          <p:nvPr/>
        </p:nvSpPr>
        <p:spPr>
          <a:xfrm>
            <a:off x="6547104" y="4315968"/>
            <a:ext cx="0" cy="201168"/>
          </a:xfrm>
          <a:prstGeom prst="line">
            <a:avLst/>
          </a:prstGeom>
          <a:noFill/>
          <a:ln w="19050">
            <a:solidFill>
              <a:srgbClr val="1E466E"/>
            </a:solidFill>
            <a:prstDash val="solid"/>
          </a:ln>
        </p:spPr>
        <p:txBody>
          <a:bodyPr/>
          <a:lstStyle/>
          <a:p>
            <a:endParaRPr lang="zh-CN" altLang="en-US"/>
          </a:p>
        </p:txBody>
      </p:sp>
      <p:sp>
        <p:nvSpPr>
          <p:cNvPr id="43" name="Shape 41"/>
          <p:cNvSpPr/>
          <p:nvPr/>
        </p:nvSpPr>
        <p:spPr>
          <a:xfrm>
            <a:off x="6364224" y="4517136"/>
            <a:ext cx="365760" cy="365760"/>
          </a:xfrm>
          <a:prstGeom prst="ellipse">
            <a:avLst/>
          </a:prstGeom>
          <a:solidFill>
            <a:srgbClr val="F59E0B"/>
          </a:solidFill>
          <a:ln w="12700">
            <a:solidFill>
              <a:srgbClr val="F59E0B"/>
            </a:solidFill>
            <a:prstDash val="solid"/>
          </a:ln>
        </p:spPr>
        <p:txBody>
          <a:bodyPr/>
          <a:lstStyle/>
          <a:p>
            <a:endParaRPr lang="zh-CN" altLang="en-US"/>
          </a:p>
        </p:txBody>
      </p:sp>
      <p:sp>
        <p:nvSpPr>
          <p:cNvPr id="44" name="Text 42"/>
          <p:cNvSpPr/>
          <p:nvPr/>
        </p:nvSpPr>
        <p:spPr>
          <a:xfrm>
            <a:off x="6364224" y="4517136"/>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5</a:t>
            </a:r>
            <a:endParaRPr lang="en-US" sz="880" dirty="0"/>
          </a:p>
        </p:txBody>
      </p:sp>
      <p:sp>
        <p:nvSpPr>
          <p:cNvPr id="45" name="Text 43"/>
          <p:cNvSpPr/>
          <p:nvPr/>
        </p:nvSpPr>
        <p:spPr>
          <a:xfrm>
            <a:off x="6858000" y="4498848"/>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启用多峰扫描 + 极线校正</a:t>
            </a:r>
            <a:endParaRPr lang="en-US" sz="1100" dirty="0"/>
          </a:p>
        </p:txBody>
      </p:sp>
      <p:sp>
        <p:nvSpPr>
          <p:cNvPr id="46" name="Shape 44"/>
          <p:cNvSpPr/>
          <p:nvPr/>
        </p:nvSpPr>
        <p:spPr>
          <a:xfrm>
            <a:off x="6547104" y="4882896"/>
            <a:ext cx="0" cy="201168"/>
          </a:xfrm>
          <a:prstGeom prst="line">
            <a:avLst/>
          </a:prstGeom>
          <a:noFill/>
          <a:ln w="19050">
            <a:solidFill>
              <a:srgbClr val="1E466E"/>
            </a:solidFill>
            <a:prstDash val="solid"/>
          </a:ln>
        </p:spPr>
        <p:txBody>
          <a:bodyPr/>
          <a:lstStyle/>
          <a:p>
            <a:endParaRPr lang="zh-CN" altLang="en-US"/>
          </a:p>
        </p:txBody>
      </p:sp>
      <p:sp>
        <p:nvSpPr>
          <p:cNvPr id="47" name="Shape 45"/>
          <p:cNvSpPr/>
          <p:nvPr/>
        </p:nvSpPr>
        <p:spPr>
          <a:xfrm>
            <a:off x="6364224" y="5084064"/>
            <a:ext cx="365760" cy="365760"/>
          </a:xfrm>
          <a:prstGeom prst="ellipse">
            <a:avLst/>
          </a:prstGeom>
          <a:solidFill>
            <a:srgbClr val="F59E0B"/>
          </a:solidFill>
          <a:ln w="12700">
            <a:solidFill>
              <a:srgbClr val="F59E0B"/>
            </a:solidFill>
            <a:prstDash val="solid"/>
          </a:ln>
        </p:spPr>
        <p:txBody>
          <a:bodyPr/>
          <a:lstStyle/>
          <a:p>
            <a:endParaRPr lang="zh-CN" altLang="en-US"/>
          </a:p>
        </p:txBody>
      </p:sp>
      <p:sp>
        <p:nvSpPr>
          <p:cNvPr id="48" name="Text 46"/>
          <p:cNvSpPr/>
          <p:nvPr/>
        </p:nvSpPr>
        <p:spPr>
          <a:xfrm>
            <a:off x="6364224" y="5084064"/>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6</a:t>
            </a:r>
            <a:endParaRPr lang="en-US" sz="880" dirty="0"/>
          </a:p>
        </p:txBody>
      </p:sp>
      <p:sp>
        <p:nvSpPr>
          <p:cNvPr id="49" name="Text 47"/>
          <p:cNvSpPr/>
          <p:nvPr/>
        </p:nvSpPr>
        <p:spPr>
          <a:xfrm>
            <a:off x="6858000" y="5065776"/>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点云若呈阶梯，回查 FFT 长度与步长</a:t>
            </a:r>
            <a:endParaRPr lang="en-US" sz="1100" dirty="0"/>
          </a:p>
        </p:txBody>
      </p:sp>
      <p:sp>
        <p:nvSpPr>
          <p:cNvPr id="50" name="Text 48"/>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51" name="Text 49"/>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六 · 工程实现 · 后处理 · 排查</a:t>
            </a:r>
            <a:endParaRPr lang="en-US" sz="850" dirty="0"/>
          </a:p>
        </p:txBody>
      </p:sp>
      <p:sp>
        <p:nvSpPr>
          <p:cNvPr id="52" name="Text 50"/>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40 / 42</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七 · 与三维重建的关系</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FSM 在三维重建管线中的位置</a:t>
            </a:r>
            <a:endParaRPr lang="en-US" sz="2900" dirty="0"/>
          </a:p>
        </p:txBody>
      </p:sp>
      <p:sp>
        <p:nvSpPr>
          <p:cNvPr id="5" name="Text 3"/>
          <p:cNvSpPr/>
          <p:nvPr/>
        </p:nvSpPr>
        <p:spPr>
          <a:xfrm>
            <a:off x="566928" y="1627632"/>
            <a:ext cx="5349240" cy="1828800"/>
          </a:xfrm>
          <a:prstGeom prst="rect">
            <a:avLst/>
          </a:prstGeom>
          <a:noFill/>
        </p:spPr>
        <p:txBody>
          <a:bodyPr wrap="square" lIns="0" tIns="0" rIns="0" bIns="0" rtlCol="0" anchor="t"/>
          <a:lstStyle/>
          <a:p>
            <a:pPr marL="177800" indent="-177800">
              <a:spcAft>
                <a:spcPts val="900"/>
              </a:spcAft>
              <a:buSzPct val="100000"/>
              <a:buChar char="•"/>
            </a:pPr>
            <a:r>
              <a:rPr lang="en-US" sz="1200" b="1" dirty="0">
                <a:solidFill>
                  <a:srgbClr val="1E293B"/>
                </a:solidFill>
                <a:latin typeface="Noto Sans CJK SC" pitchFamily="34" charset="0"/>
                <a:ea typeface="Noto Sans CJK SC" pitchFamily="34" charset="-122"/>
                <a:cs typeface="Noto Sans CJK SC" pitchFamily="34" charset="-120"/>
              </a:rPr>
              <a:t>FSM 解码本身不直接输出三维点云。</a:t>
            </a:r>
            <a:endParaRPr lang="en-US" sz="1200" dirty="0"/>
          </a:p>
          <a:p>
            <a:pPr marL="177800" indent="-177800">
              <a:spcAft>
                <a:spcPts val="900"/>
              </a:spcAft>
              <a:buSzPct val="100000"/>
              <a:buChar char="•"/>
            </a:pPr>
            <a:r>
              <a:rPr lang="en-US" sz="1200" dirty="0">
                <a:solidFill>
                  <a:srgbClr val="1E293B"/>
                </a:solidFill>
                <a:latin typeface="Noto Sans CJK SC" pitchFamily="34" charset="0"/>
                <a:ea typeface="Noto Sans CJK SC" pitchFamily="34" charset="-122"/>
                <a:cs typeface="Noto Sans CJK SC" pitchFamily="34" charset="-120"/>
              </a:rPr>
              <a:t>它输出的是</a:t>
            </a:r>
            <a:r>
              <a:rPr lang="en-US" sz="1200" dirty="0">
                <a:solidFill>
                  <a:srgbClr val="FF0000"/>
                </a:solidFill>
                <a:latin typeface="Noto Sans CJK SC" pitchFamily="34" charset="0"/>
                <a:ea typeface="Noto Sans CJK SC" pitchFamily="34" charset="-122"/>
                <a:cs typeface="Noto Sans CJK SC" pitchFamily="34" charset="-120"/>
              </a:rPr>
              <a:t>相机像素到投影仪像素的二维对应关系</a:t>
            </a:r>
            <a:r>
              <a:rPr lang="en-US" sz="1200" dirty="0">
                <a:solidFill>
                  <a:srgbClr val="1E293B"/>
                </a:solidFill>
                <a:latin typeface="Noto Sans CJK SC" pitchFamily="34" charset="0"/>
                <a:ea typeface="Noto Sans CJK SC" pitchFamily="34" charset="-122"/>
                <a:cs typeface="Noto Sans CJK SC" pitchFamily="34" charset="-120"/>
              </a:rPr>
              <a:t>。</a:t>
            </a:r>
            <a:endParaRPr lang="en-US" sz="1200" dirty="0"/>
          </a:p>
          <a:p>
            <a:pPr marL="177800" indent="-177800">
              <a:spcAft>
                <a:spcPts val="900"/>
              </a:spcAft>
              <a:buSzPct val="100000"/>
              <a:buChar char="•"/>
            </a:pPr>
            <a:r>
              <a:rPr lang="en-US" sz="1200" b="1" dirty="0">
                <a:solidFill>
                  <a:srgbClr val="0E7490"/>
                </a:solidFill>
                <a:latin typeface="Noto Sans CJK SC" pitchFamily="34" charset="0"/>
                <a:ea typeface="Noto Sans CJK SC" pitchFamily="34" charset="-122"/>
                <a:cs typeface="Noto Sans CJK SC" pitchFamily="34" charset="-120"/>
              </a:rPr>
              <a:t>后续 FSM_reconstruct_* 读取对应关系，结合标定参数三角化生成点云。</a:t>
            </a:r>
            <a:endParaRPr lang="en-US" sz="1200" dirty="0"/>
          </a:p>
          <a:p>
            <a:pPr marL="177800" indent="-177800">
              <a:spcAft>
                <a:spcPts val="900"/>
              </a:spcAft>
              <a:buSzPct val="100000"/>
              <a:buChar char="•"/>
            </a:pPr>
            <a:r>
              <a:rPr lang="en-US" sz="1200" dirty="0">
                <a:solidFill>
                  <a:srgbClr val="1E293B"/>
                </a:solidFill>
                <a:latin typeface="Noto Sans CJK SC" pitchFamily="34" charset="0"/>
                <a:ea typeface="Noto Sans CJK SC" pitchFamily="34" charset="-122"/>
                <a:cs typeface="Noto Sans CJK SC" pitchFamily="34" charset="-120"/>
              </a:rPr>
              <a:t>peak_* 用于在三角化前过滤低质量像素。</a:t>
            </a:r>
            <a:endParaRPr lang="en-US" sz="1200" dirty="0"/>
          </a:p>
        </p:txBody>
      </p:sp>
      <p:sp>
        <p:nvSpPr>
          <p:cNvPr id="6" name="Shape 4"/>
          <p:cNvSpPr/>
          <p:nvPr/>
        </p:nvSpPr>
        <p:spPr>
          <a:xfrm>
            <a:off x="566928" y="3657600"/>
            <a:ext cx="5349240" cy="859536"/>
          </a:xfrm>
          <a:prstGeom prst="roundRect">
            <a:avLst>
              <a:gd name="adj" fmla="val 7447"/>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3657600"/>
            <a:ext cx="5166360" cy="859536"/>
          </a:xfrm>
          <a:prstGeom prst="rect">
            <a:avLst/>
          </a:prstGeom>
          <a:noFill/>
        </p:spPr>
        <p:txBody>
          <a:bodyPr wrap="square" lIns="0" tIns="0" rIns="0" bIns="0" rtlCol="0" anchor="ctr"/>
          <a:lstStyle/>
          <a:p>
            <a:pPr marL="0" indent="0" algn="ctr">
              <a:buNone/>
            </a:pPr>
            <a:r>
              <a:rPr lang="en-US" sz="1500" b="1" dirty="0">
                <a:solidFill>
                  <a:srgbClr val="22D3EE"/>
                </a:solidFill>
                <a:latin typeface="DejaVu Sans Mono" pitchFamily="34" charset="0"/>
                <a:ea typeface="DejaVu Sans Mono" pitchFamily="34" charset="-122"/>
                <a:cs typeface="DejaVu Sans Mono" pitchFamily="34" charset="-120"/>
              </a:rPr>
              <a:t>xp = disp_ver[yc, xc]</a:t>
            </a:r>
            <a:endParaRPr lang="en-US" sz="1500" dirty="0"/>
          </a:p>
          <a:p>
            <a:pPr marL="0" indent="0" algn="ctr">
              <a:buNone/>
            </a:pPr>
            <a:r>
              <a:rPr lang="en-US" sz="1500" b="1" dirty="0">
                <a:solidFill>
                  <a:srgbClr val="22D3EE"/>
                </a:solidFill>
                <a:latin typeface="DejaVu Sans Mono" pitchFamily="34" charset="0"/>
                <a:ea typeface="DejaVu Sans Mono" pitchFamily="34" charset="-122"/>
                <a:cs typeface="DejaVu Sans Mono" pitchFamily="34" charset="-120"/>
              </a:rPr>
              <a:t>yp = disp_hor[yc, xc]</a:t>
            </a:r>
            <a:endParaRPr lang="en-US" sz="1500" dirty="0"/>
          </a:p>
        </p:txBody>
      </p:sp>
      <p:sp>
        <p:nvSpPr>
          <p:cNvPr id="8" name="Shape 6"/>
          <p:cNvSpPr/>
          <p:nvPr/>
        </p:nvSpPr>
        <p:spPr>
          <a:xfrm>
            <a:off x="566928" y="4663440"/>
            <a:ext cx="5349240" cy="1298448"/>
          </a:xfrm>
          <a:prstGeom prst="roundRect">
            <a:avLst>
              <a:gd name="adj" fmla="val 6338"/>
            </a:avLst>
          </a:prstGeom>
          <a:solidFill>
            <a:srgbClr val="F2F5F9"/>
          </a:solidFill>
          <a:ln w="12700">
            <a:solidFill>
              <a:srgbClr val="E2E8F0"/>
            </a:solidFill>
            <a:prstDash val="solid"/>
          </a:ln>
        </p:spPr>
        <p:txBody>
          <a:bodyPr/>
          <a:lstStyle/>
          <a:p>
            <a:endParaRPr lang="zh-CN" altLang="en-US"/>
          </a:p>
        </p:txBody>
      </p:sp>
      <p:sp>
        <p:nvSpPr>
          <p:cNvPr id="9" name="Text 7"/>
          <p:cNvSpPr/>
          <p:nvPr/>
        </p:nvSpPr>
        <p:spPr>
          <a:xfrm>
            <a:off x="768096" y="4754880"/>
            <a:ext cx="27432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一句话定位</a:t>
            </a:r>
            <a:endParaRPr lang="en-US" sz="1100" dirty="0"/>
          </a:p>
        </p:txBody>
      </p:sp>
      <p:sp>
        <p:nvSpPr>
          <p:cNvPr id="10" name="Text 8"/>
          <p:cNvSpPr/>
          <p:nvPr/>
        </p:nvSpPr>
        <p:spPr>
          <a:xfrm>
            <a:off x="768096" y="5029200"/>
            <a:ext cx="5029200" cy="822960"/>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FSM 是「</a:t>
            </a:r>
            <a:r>
              <a:rPr lang="en-US" sz="1100" dirty="0">
                <a:solidFill>
                  <a:srgbClr val="FF0000"/>
                </a:solidFill>
                <a:latin typeface="Noto Sans CJK SC" pitchFamily="34" charset="0"/>
                <a:ea typeface="Noto Sans CJK SC" pitchFamily="34" charset="-122"/>
                <a:cs typeface="Noto Sans CJK SC" pitchFamily="34" charset="-120"/>
              </a:rPr>
              <a:t>对应关系建立</a:t>
            </a:r>
            <a:r>
              <a:rPr lang="en-US" sz="1100" dirty="0">
                <a:solidFill>
                  <a:srgbClr val="1E293B"/>
                </a:solidFill>
                <a:latin typeface="Noto Sans CJK SC" pitchFamily="34" charset="0"/>
                <a:ea typeface="Noto Sans CJK SC" pitchFamily="34" charset="-122"/>
                <a:cs typeface="Noto Sans CJK SC" pitchFamily="34" charset="-120"/>
              </a:rPr>
              <a:t>」环节，三角化是「几何求解」环节 —— FSM 的输出正是三角化的输入。</a:t>
            </a:r>
            <a:endParaRPr lang="en-US" sz="1100" dirty="0"/>
          </a:p>
        </p:txBody>
      </p:sp>
      <p:sp>
        <p:nvSpPr>
          <p:cNvPr id="11" name="Shape 9"/>
          <p:cNvSpPr/>
          <p:nvPr/>
        </p:nvSpPr>
        <p:spPr>
          <a:xfrm>
            <a:off x="6126480" y="1627632"/>
            <a:ext cx="5504688"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327648" y="1755648"/>
            <a:ext cx="457200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完整数据流</a:t>
            </a:r>
            <a:endParaRPr lang="en-US" sz="1200" dirty="0"/>
          </a:p>
        </p:txBody>
      </p:sp>
      <p:sp>
        <p:nvSpPr>
          <p:cNvPr id="13" name="Shape 11"/>
          <p:cNvSpPr/>
          <p:nvPr/>
        </p:nvSpPr>
        <p:spPr>
          <a:xfrm>
            <a:off x="6355080" y="2194560"/>
            <a:ext cx="5029200" cy="475488"/>
          </a:xfrm>
          <a:prstGeom prst="roundRect">
            <a:avLst>
              <a:gd name="adj" fmla="val 11538"/>
            </a:avLst>
          </a:prstGeom>
          <a:solidFill>
            <a:srgbClr val="EAF0F6"/>
          </a:solidFill>
          <a:ln w="15875">
            <a:solidFill>
              <a:srgbClr val="3B82F6"/>
            </a:solidFill>
            <a:prstDash val="solid"/>
          </a:ln>
        </p:spPr>
        <p:txBody>
          <a:bodyPr/>
          <a:lstStyle/>
          <a:p>
            <a:endParaRPr lang="zh-CN" altLang="en-US"/>
          </a:p>
        </p:txBody>
      </p:sp>
      <p:sp>
        <p:nvSpPr>
          <p:cNvPr id="14" name="Shape 12"/>
          <p:cNvSpPr/>
          <p:nvPr/>
        </p:nvSpPr>
        <p:spPr>
          <a:xfrm>
            <a:off x="6483096" y="2350008"/>
            <a:ext cx="164592" cy="164592"/>
          </a:xfrm>
          <a:prstGeom prst="ellipse">
            <a:avLst/>
          </a:prstGeom>
          <a:solidFill>
            <a:srgbClr val="3B82F6"/>
          </a:solidFill>
          <a:ln w="12700">
            <a:solidFill>
              <a:srgbClr val="3B82F6"/>
            </a:solidFill>
            <a:prstDash val="solid"/>
          </a:ln>
        </p:spPr>
        <p:txBody>
          <a:bodyPr/>
          <a:lstStyle/>
          <a:p>
            <a:endParaRPr lang="zh-CN" altLang="en-US"/>
          </a:p>
        </p:txBody>
      </p:sp>
      <p:sp>
        <p:nvSpPr>
          <p:cNvPr id="15" name="Text 13"/>
          <p:cNvSpPr/>
          <p:nvPr/>
        </p:nvSpPr>
        <p:spPr>
          <a:xfrm>
            <a:off x="6775704" y="2194560"/>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投影 + 相机采集多频率多相移条纹</a:t>
            </a:r>
            <a:endParaRPr lang="en-US" sz="1050" dirty="0"/>
          </a:p>
        </p:txBody>
      </p:sp>
      <p:sp>
        <p:nvSpPr>
          <p:cNvPr id="16" name="Shape 14"/>
          <p:cNvSpPr/>
          <p:nvPr/>
        </p:nvSpPr>
        <p:spPr>
          <a:xfrm>
            <a:off x="8869680" y="2670048"/>
            <a:ext cx="0" cy="146304"/>
          </a:xfrm>
          <a:prstGeom prst="line">
            <a:avLst/>
          </a:prstGeom>
          <a:noFill/>
          <a:ln w="20320">
            <a:solidFill>
              <a:srgbClr val="64748B"/>
            </a:solidFill>
            <a:prstDash val="solid"/>
            <a:tailEnd type="triangle"/>
          </a:ln>
        </p:spPr>
        <p:txBody>
          <a:bodyPr/>
          <a:lstStyle/>
          <a:p>
            <a:endParaRPr lang="zh-CN" altLang="en-US"/>
          </a:p>
        </p:txBody>
      </p:sp>
      <p:sp>
        <p:nvSpPr>
          <p:cNvPr id="17" name="Shape 15"/>
          <p:cNvSpPr/>
          <p:nvPr/>
        </p:nvSpPr>
        <p:spPr>
          <a:xfrm>
            <a:off x="6355080" y="2816352"/>
            <a:ext cx="5029200" cy="475488"/>
          </a:xfrm>
          <a:prstGeom prst="roundRect">
            <a:avLst>
              <a:gd name="adj" fmla="val 11538"/>
            </a:avLst>
          </a:prstGeom>
          <a:solidFill>
            <a:srgbClr val="FFFFFF"/>
          </a:solidFill>
          <a:ln w="15875">
            <a:solidFill>
              <a:srgbClr val="2DD4BF"/>
            </a:solidFill>
            <a:prstDash val="solid"/>
          </a:ln>
        </p:spPr>
        <p:txBody>
          <a:bodyPr/>
          <a:lstStyle/>
          <a:p>
            <a:endParaRPr lang="zh-CN" altLang="en-US"/>
          </a:p>
        </p:txBody>
      </p:sp>
      <p:sp>
        <p:nvSpPr>
          <p:cNvPr id="18" name="Shape 16"/>
          <p:cNvSpPr/>
          <p:nvPr/>
        </p:nvSpPr>
        <p:spPr>
          <a:xfrm>
            <a:off x="6483096" y="2971800"/>
            <a:ext cx="164592" cy="164592"/>
          </a:xfrm>
          <a:prstGeom prst="ellipse">
            <a:avLst/>
          </a:prstGeom>
          <a:solidFill>
            <a:srgbClr val="2DD4BF"/>
          </a:solidFill>
          <a:ln w="12700">
            <a:solidFill>
              <a:srgbClr val="2DD4BF"/>
            </a:solidFill>
            <a:prstDash val="solid"/>
          </a:ln>
        </p:spPr>
        <p:txBody>
          <a:bodyPr/>
          <a:lstStyle/>
          <a:p>
            <a:endParaRPr lang="zh-CN" altLang="en-US"/>
          </a:p>
        </p:txBody>
      </p:sp>
      <p:sp>
        <p:nvSpPr>
          <p:cNvPr id="19" name="Text 17"/>
          <p:cNvSpPr/>
          <p:nvPr/>
        </p:nvSpPr>
        <p:spPr>
          <a:xfrm>
            <a:off x="6775704" y="2816352"/>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ImageLoader 加载 M×4 图像</a:t>
            </a:r>
            <a:endParaRPr lang="en-US" sz="1050" dirty="0"/>
          </a:p>
        </p:txBody>
      </p:sp>
      <p:sp>
        <p:nvSpPr>
          <p:cNvPr id="20" name="Shape 18"/>
          <p:cNvSpPr/>
          <p:nvPr/>
        </p:nvSpPr>
        <p:spPr>
          <a:xfrm>
            <a:off x="8869680" y="3291840"/>
            <a:ext cx="0" cy="146304"/>
          </a:xfrm>
          <a:prstGeom prst="line">
            <a:avLst/>
          </a:prstGeom>
          <a:noFill/>
          <a:ln w="20320">
            <a:solidFill>
              <a:srgbClr val="64748B"/>
            </a:solidFill>
            <a:prstDash val="solid"/>
            <a:tailEnd type="triangle"/>
          </a:ln>
        </p:spPr>
        <p:txBody>
          <a:bodyPr/>
          <a:lstStyle/>
          <a:p>
            <a:endParaRPr lang="zh-CN" altLang="en-US"/>
          </a:p>
        </p:txBody>
      </p:sp>
      <p:sp>
        <p:nvSpPr>
          <p:cNvPr id="21" name="Shape 19"/>
          <p:cNvSpPr/>
          <p:nvPr/>
        </p:nvSpPr>
        <p:spPr>
          <a:xfrm>
            <a:off x="6355080" y="3438144"/>
            <a:ext cx="5029200" cy="475488"/>
          </a:xfrm>
          <a:prstGeom prst="roundRect">
            <a:avLst>
              <a:gd name="adj" fmla="val 11538"/>
            </a:avLst>
          </a:prstGeom>
          <a:solidFill>
            <a:srgbClr val="FFFFFF"/>
          </a:solidFill>
          <a:ln w="15875">
            <a:solidFill>
              <a:srgbClr val="2DD4BF"/>
            </a:solidFill>
            <a:prstDash val="solid"/>
          </a:ln>
        </p:spPr>
        <p:txBody>
          <a:bodyPr/>
          <a:lstStyle/>
          <a:p>
            <a:endParaRPr lang="zh-CN" altLang="en-US"/>
          </a:p>
        </p:txBody>
      </p:sp>
      <p:sp>
        <p:nvSpPr>
          <p:cNvPr id="22" name="Shape 20"/>
          <p:cNvSpPr/>
          <p:nvPr/>
        </p:nvSpPr>
        <p:spPr>
          <a:xfrm>
            <a:off x="6483096" y="3593592"/>
            <a:ext cx="164592" cy="164592"/>
          </a:xfrm>
          <a:prstGeom prst="ellipse">
            <a:avLst/>
          </a:prstGeom>
          <a:solidFill>
            <a:srgbClr val="2DD4BF"/>
          </a:solidFill>
          <a:ln w="12700">
            <a:solidFill>
              <a:srgbClr val="2DD4BF"/>
            </a:solidFill>
            <a:prstDash val="solid"/>
          </a:ln>
        </p:spPr>
        <p:txBody>
          <a:bodyPr/>
          <a:lstStyle/>
          <a:p>
            <a:endParaRPr lang="zh-CN" altLang="en-US"/>
          </a:p>
        </p:txBody>
      </p:sp>
      <p:sp>
        <p:nvSpPr>
          <p:cNvPr id="23" name="Text 21"/>
          <p:cNvSpPr/>
          <p:nvPr/>
        </p:nvSpPr>
        <p:spPr>
          <a:xfrm>
            <a:off x="6775704" y="3438144"/>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提取 I0/I1/I2/I3 → 构造复信号 D</a:t>
            </a:r>
            <a:endParaRPr lang="en-US" sz="1050" dirty="0"/>
          </a:p>
        </p:txBody>
      </p:sp>
      <p:sp>
        <p:nvSpPr>
          <p:cNvPr id="24" name="Shape 22"/>
          <p:cNvSpPr/>
          <p:nvPr/>
        </p:nvSpPr>
        <p:spPr>
          <a:xfrm>
            <a:off x="8869680" y="3913632"/>
            <a:ext cx="0" cy="146304"/>
          </a:xfrm>
          <a:prstGeom prst="line">
            <a:avLst/>
          </a:prstGeom>
          <a:noFill/>
          <a:ln w="20320">
            <a:solidFill>
              <a:srgbClr val="64748B"/>
            </a:solidFill>
            <a:prstDash val="solid"/>
            <a:tailEnd type="triangle"/>
          </a:ln>
        </p:spPr>
        <p:txBody>
          <a:bodyPr/>
          <a:lstStyle/>
          <a:p>
            <a:endParaRPr lang="zh-CN" altLang="en-US"/>
          </a:p>
        </p:txBody>
      </p:sp>
      <p:sp>
        <p:nvSpPr>
          <p:cNvPr id="25" name="Shape 23"/>
          <p:cNvSpPr/>
          <p:nvPr/>
        </p:nvSpPr>
        <p:spPr>
          <a:xfrm>
            <a:off x="6355080" y="4059936"/>
            <a:ext cx="5029200" cy="475488"/>
          </a:xfrm>
          <a:prstGeom prst="roundRect">
            <a:avLst>
              <a:gd name="adj" fmla="val 11538"/>
            </a:avLst>
          </a:prstGeom>
          <a:solidFill>
            <a:srgbClr val="FFFFFF"/>
          </a:solidFill>
          <a:ln w="15875">
            <a:solidFill>
              <a:srgbClr val="F59E0B"/>
            </a:solidFill>
            <a:prstDash val="solid"/>
          </a:ln>
        </p:spPr>
        <p:txBody>
          <a:bodyPr/>
          <a:lstStyle/>
          <a:p>
            <a:endParaRPr lang="zh-CN" altLang="en-US"/>
          </a:p>
        </p:txBody>
      </p:sp>
      <p:sp>
        <p:nvSpPr>
          <p:cNvPr id="26" name="Shape 24"/>
          <p:cNvSpPr/>
          <p:nvPr/>
        </p:nvSpPr>
        <p:spPr>
          <a:xfrm>
            <a:off x="6483096" y="4215384"/>
            <a:ext cx="164592" cy="164592"/>
          </a:xfrm>
          <a:prstGeom prst="ellipse">
            <a:avLst/>
          </a:prstGeom>
          <a:solidFill>
            <a:srgbClr val="F59E0B"/>
          </a:solidFill>
          <a:ln w="12700">
            <a:solidFill>
              <a:srgbClr val="F59E0B"/>
            </a:solidFill>
            <a:prstDash val="solid"/>
          </a:ln>
        </p:spPr>
        <p:txBody>
          <a:bodyPr/>
          <a:lstStyle/>
          <a:p>
            <a:endParaRPr lang="zh-CN" altLang="en-US"/>
          </a:p>
        </p:txBody>
      </p:sp>
      <p:sp>
        <p:nvSpPr>
          <p:cNvPr id="27" name="Text 25"/>
          <p:cNvSpPr/>
          <p:nvPr/>
        </p:nvSpPr>
        <p:spPr>
          <a:xfrm>
            <a:off x="6775704" y="4059936"/>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每像素沿频率轴 FFT → 取峰值</a:t>
            </a:r>
            <a:endParaRPr lang="en-US" sz="1050" dirty="0"/>
          </a:p>
        </p:txBody>
      </p:sp>
      <p:sp>
        <p:nvSpPr>
          <p:cNvPr id="28" name="Shape 26"/>
          <p:cNvSpPr/>
          <p:nvPr/>
        </p:nvSpPr>
        <p:spPr>
          <a:xfrm>
            <a:off x="8869680" y="4535424"/>
            <a:ext cx="0" cy="146304"/>
          </a:xfrm>
          <a:prstGeom prst="line">
            <a:avLst/>
          </a:prstGeom>
          <a:noFill/>
          <a:ln w="20320">
            <a:solidFill>
              <a:srgbClr val="64748B"/>
            </a:solidFill>
            <a:prstDash val="solid"/>
            <a:tailEnd type="triangle"/>
          </a:ln>
        </p:spPr>
        <p:txBody>
          <a:bodyPr/>
          <a:lstStyle/>
          <a:p>
            <a:endParaRPr lang="zh-CN" altLang="en-US"/>
          </a:p>
        </p:txBody>
      </p:sp>
      <p:sp>
        <p:nvSpPr>
          <p:cNvPr id="29" name="Shape 27"/>
          <p:cNvSpPr/>
          <p:nvPr/>
        </p:nvSpPr>
        <p:spPr>
          <a:xfrm>
            <a:off x="6355080" y="4681728"/>
            <a:ext cx="5029200" cy="475488"/>
          </a:xfrm>
          <a:prstGeom prst="roundRect">
            <a:avLst>
              <a:gd name="adj" fmla="val 11538"/>
            </a:avLst>
          </a:prstGeom>
          <a:solidFill>
            <a:srgbClr val="FFFFFF"/>
          </a:solidFill>
          <a:ln w="15875">
            <a:solidFill>
              <a:srgbClr val="0E7490"/>
            </a:solidFill>
            <a:prstDash val="solid"/>
          </a:ln>
        </p:spPr>
        <p:txBody>
          <a:bodyPr/>
          <a:lstStyle/>
          <a:p>
            <a:endParaRPr lang="zh-CN" altLang="en-US"/>
          </a:p>
        </p:txBody>
      </p:sp>
      <p:sp>
        <p:nvSpPr>
          <p:cNvPr id="30" name="Shape 28"/>
          <p:cNvSpPr/>
          <p:nvPr/>
        </p:nvSpPr>
        <p:spPr>
          <a:xfrm>
            <a:off x="6483096" y="4837176"/>
            <a:ext cx="164592" cy="164592"/>
          </a:xfrm>
          <a:prstGeom prst="ellipse">
            <a:avLst/>
          </a:prstGeom>
          <a:solidFill>
            <a:srgbClr val="0E7490"/>
          </a:solidFill>
          <a:ln w="12700">
            <a:solidFill>
              <a:srgbClr val="0E7490"/>
            </a:solidFill>
            <a:prstDash val="solid"/>
          </a:ln>
        </p:spPr>
        <p:txBody>
          <a:bodyPr/>
          <a:lstStyle/>
          <a:p>
            <a:endParaRPr lang="zh-CN" altLang="en-US"/>
          </a:p>
        </p:txBody>
      </p:sp>
      <p:sp>
        <p:nvSpPr>
          <p:cNvPr id="31" name="Text 29"/>
          <p:cNvSpPr/>
          <p:nvPr/>
        </p:nvSpPr>
        <p:spPr>
          <a:xfrm>
            <a:off x="6775704" y="4681728"/>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保存 disp_* / peak_*</a:t>
            </a:r>
            <a:endParaRPr lang="en-US" sz="1050" dirty="0"/>
          </a:p>
        </p:txBody>
      </p:sp>
      <p:sp>
        <p:nvSpPr>
          <p:cNvPr id="32" name="Shape 30"/>
          <p:cNvSpPr/>
          <p:nvPr/>
        </p:nvSpPr>
        <p:spPr>
          <a:xfrm>
            <a:off x="8869680" y="5157216"/>
            <a:ext cx="0" cy="146304"/>
          </a:xfrm>
          <a:prstGeom prst="line">
            <a:avLst/>
          </a:prstGeom>
          <a:noFill/>
          <a:ln w="20320">
            <a:solidFill>
              <a:srgbClr val="64748B"/>
            </a:solidFill>
            <a:prstDash val="solid"/>
            <a:tailEnd type="triangle"/>
          </a:ln>
        </p:spPr>
        <p:txBody>
          <a:bodyPr/>
          <a:lstStyle/>
          <a:p>
            <a:endParaRPr lang="zh-CN" altLang="en-US"/>
          </a:p>
        </p:txBody>
      </p:sp>
      <p:sp>
        <p:nvSpPr>
          <p:cNvPr id="33" name="Shape 31"/>
          <p:cNvSpPr/>
          <p:nvPr/>
        </p:nvSpPr>
        <p:spPr>
          <a:xfrm>
            <a:off x="6355080" y="5303520"/>
            <a:ext cx="5029200" cy="475488"/>
          </a:xfrm>
          <a:prstGeom prst="roundRect">
            <a:avLst>
              <a:gd name="adj" fmla="val 11538"/>
            </a:avLst>
          </a:prstGeom>
          <a:solidFill>
            <a:srgbClr val="E8F6EF"/>
          </a:solidFill>
          <a:ln w="15875">
            <a:solidFill>
              <a:srgbClr val="22C55E"/>
            </a:solidFill>
            <a:prstDash val="solid"/>
          </a:ln>
        </p:spPr>
        <p:txBody>
          <a:bodyPr/>
          <a:lstStyle/>
          <a:p>
            <a:endParaRPr lang="zh-CN" altLang="en-US"/>
          </a:p>
        </p:txBody>
      </p:sp>
      <p:sp>
        <p:nvSpPr>
          <p:cNvPr id="34" name="Shape 32"/>
          <p:cNvSpPr/>
          <p:nvPr/>
        </p:nvSpPr>
        <p:spPr>
          <a:xfrm>
            <a:off x="6483096" y="5458968"/>
            <a:ext cx="164592" cy="164592"/>
          </a:xfrm>
          <a:prstGeom prst="ellipse">
            <a:avLst/>
          </a:prstGeom>
          <a:solidFill>
            <a:srgbClr val="22C55E"/>
          </a:solidFill>
          <a:ln w="12700">
            <a:solidFill>
              <a:srgbClr val="22C55E"/>
            </a:solidFill>
            <a:prstDash val="solid"/>
          </a:ln>
        </p:spPr>
        <p:txBody>
          <a:bodyPr/>
          <a:lstStyle/>
          <a:p>
            <a:endParaRPr lang="zh-CN" altLang="en-US"/>
          </a:p>
        </p:txBody>
      </p:sp>
      <p:sp>
        <p:nvSpPr>
          <p:cNvPr id="35" name="Text 33"/>
          <p:cNvSpPr/>
          <p:nvPr/>
        </p:nvSpPr>
        <p:spPr>
          <a:xfrm>
            <a:off x="6775704" y="5303520"/>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三角化生成三维点云</a:t>
            </a:r>
            <a:endParaRPr lang="en-US" sz="1050" dirty="0"/>
          </a:p>
        </p:txBody>
      </p:sp>
      <p:sp>
        <p:nvSpPr>
          <p:cNvPr id="36" name="Text 34"/>
          <p:cNvSpPr/>
          <p:nvPr/>
        </p:nvSpPr>
        <p:spPr>
          <a:xfrm>
            <a:off x="6355080" y="5943600"/>
            <a:ext cx="5029200" cy="274320"/>
          </a:xfrm>
          <a:prstGeom prst="rect">
            <a:avLst/>
          </a:prstGeom>
          <a:noFill/>
        </p:spPr>
        <p:txBody>
          <a:bodyPr wrap="square" lIns="0" tIns="0" rIns="0" bIns="0" rtlCol="0" anchor="ctr"/>
          <a:lstStyle/>
          <a:p>
            <a:pPr marL="0" indent="0" algn="ctr">
              <a:buNone/>
            </a:pPr>
            <a:r>
              <a:rPr lang="en-US" sz="950" i="1" dirty="0">
                <a:solidFill>
                  <a:srgbClr val="64748B"/>
                </a:solidFill>
                <a:latin typeface="Noto Sans CJK SC" pitchFamily="34" charset="0"/>
                <a:ea typeface="Noto Sans CJK SC" pitchFamily="34" charset="-122"/>
                <a:cs typeface="Noto Sans CJK SC" pitchFamily="34" charset="-120"/>
              </a:rPr>
              <a:t>FSM 解码 = 第 2 至第 5 步；三角化在其后。</a:t>
            </a:r>
            <a:endParaRPr lang="en-US" sz="950" dirty="0"/>
          </a:p>
        </p:txBody>
      </p:sp>
      <p:sp>
        <p:nvSpPr>
          <p:cNvPr id="37" name="Text 35"/>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38" name="Text 36"/>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七 · 与三维重建的关系</a:t>
            </a:r>
            <a:endParaRPr lang="en-US" sz="850" dirty="0"/>
          </a:p>
        </p:txBody>
      </p:sp>
      <p:sp>
        <p:nvSpPr>
          <p:cNvPr id="39" name="Text 37"/>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41 / 42</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68680" y="603504"/>
            <a:ext cx="5486400" cy="365760"/>
          </a:xfrm>
          <a:prstGeom prst="rect">
            <a:avLst/>
          </a:prstGeom>
          <a:noFill/>
        </p:spPr>
        <p:txBody>
          <a:bodyPr wrap="square" lIns="0" tIns="0" rIns="0" bIns="0" rtlCol="0" anchor="ctr"/>
          <a:lstStyle/>
          <a:p>
            <a:pPr marL="0" indent="0">
              <a:buNone/>
            </a:pPr>
            <a:r>
              <a:rPr lang="en-US" sz="1300" b="1" kern="0" spc="400" dirty="0">
                <a:solidFill>
                  <a:srgbClr val="22D3EE"/>
                </a:solidFill>
                <a:latin typeface="Noto Sans CJK SC" pitchFamily="34" charset="0"/>
                <a:ea typeface="Noto Sans CJK SC" pitchFamily="34" charset="-122"/>
                <a:cs typeface="Noto Sans CJK SC" pitchFamily="34" charset="-120"/>
              </a:rPr>
              <a:t>SUMMARY</a:t>
            </a:r>
            <a:endParaRPr lang="en-US" sz="1300" dirty="0"/>
          </a:p>
        </p:txBody>
      </p:sp>
      <p:sp>
        <p:nvSpPr>
          <p:cNvPr id="3" name="Text 1"/>
          <p:cNvSpPr/>
          <p:nvPr/>
        </p:nvSpPr>
        <p:spPr>
          <a:xfrm>
            <a:off x="841248" y="914400"/>
            <a:ext cx="10515600" cy="731520"/>
          </a:xfrm>
          <a:prstGeom prst="rect">
            <a:avLst/>
          </a:prstGeom>
          <a:noFill/>
        </p:spPr>
        <p:txBody>
          <a:bodyPr wrap="square" lIns="0" tIns="0" rIns="0" bIns="0" rtlCol="0" anchor="ctr"/>
          <a:lstStyle/>
          <a:p>
            <a:pPr marL="0" indent="0">
              <a:buNone/>
            </a:pPr>
            <a:r>
              <a:rPr lang="en-US" sz="3400" b="1" dirty="0">
                <a:solidFill>
                  <a:srgbClr val="FFFFFF"/>
                </a:solidFill>
                <a:latin typeface="Noto Sans CJK SC" pitchFamily="34" charset="0"/>
                <a:ea typeface="Noto Sans CJK SC" pitchFamily="34" charset="-122"/>
                <a:cs typeface="Noto Sans CJK SC" pitchFamily="34" charset="-120"/>
              </a:rPr>
              <a:t>核心要点回顾</a:t>
            </a:r>
            <a:endParaRPr lang="en-US" sz="3400" dirty="0"/>
          </a:p>
        </p:txBody>
      </p:sp>
      <p:sp>
        <p:nvSpPr>
          <p:cNvPr id="4" name="Shape 2"/>
          <p:cNvSpPr/>
          <p:nvPr/>
        </p:nvSpPr>
        <p:spPr>
          <a:xfrm>
            <a:off x="868680" y="186537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5" name="Shape 3"/>
          <p:cNvSpPr/>
          <p:nvPr/>
        </p:nvSpPr>
        <p:spPr>
          <a:xfrm>
            <a:off x="868680" y="186537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6" name="Text 4"/>
          <p:cNvSpPr/>
          <p:nvPr/>
        </p:nvSpPr>
        <p:spPr>
          <a:xfrm>
            <a:off x="1106424" y="202996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本质</a:t>
            </a:r>
            <a:endParaRPr lang="en-US" sz="1400" dirty="0"/>
          </a:p>
        </p:txBody>
      </p:sp>
      <p:sp>
        <p:nvSpPr>
          <p:cNvPr id="7" name="Text 5"/>
          <p:cNvSpPr/>
          <p:nvPr/>
        </p:nvSpPr>
        <p:spPr>
          <a:xfrm>
            <a:off x="1106424" y="241401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把</a:t>
            </a:r>
            <a:r>
              <a:rPr lang="en-US" sz="1050" dirty="0">
                <a:solidFill>
                  <a:srgbClr val="FF0000"/>
                </a:solidFill>
                <a:latin typeface="Noto Sans CJK SC" pitchFamily="34" charset="0"/>
                <a:ea typeface="Noto Sans CJK SC" pitchFamily="34" charset="-122"/>
                <a:cs typeface="Noto Sans CJK SC" pitchFamily="34" charset="-120"/>
              </a:rPr>
              <a:t>投影仪坐标编码为频率轴上的相位旋转速度</a:t>
            </a:r>
            <a:r>
              <a:rPr lang="en-US" sz="1050" dirty="0">
                <a:solidFill>
                  <a:srgbClr val="CBD5E1"/>
                </a:solidFill>
                <a:latin typeface="Noto Sans CJK SC" pitchFamily="34" charset="0"/>
                <a:ea typeface="Noto Sans CJK SC" pitchFamily="34" charset="-122"/>
                <a:cs typeface="Noto Sans CJK SC" pitchFamily="34" charset="-120"/>
              </a:rPr>
              <a:t>，再用 FFT 解出。</a:t>
            </a:r>
            <a:endParaRPr lang="en-US" sz="1050" dirty="0"/>
          </a:p>
        </p:txBody>
      </p:sp>
      <p:sp>
        <p:nvSpPr>
          <p:cNvPr id="8" name="Shape 6"/>
          <p:cNvSpPr/>
          <p:nvPr/>
        </p:nvSpPr>
        <p:spPr>
          <a:xfrm>
            <a:off x="4544568" y="186537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9" name="Shape 7"/>
          <p:cNvSpPr/>
          <p:nvPr/>
        </p:nvSpPr>
        <p:spPr>
          <a:xfrm>
            <a:off x="4544568" y="186537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10" name="Text 8"/>
          <p:cNvSpPr/>
          <p:nvPr/>
        </p:nvSpPr>
        <p:spPr>
          <a:xfrm>
            <a:off x="4782312" y="202996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四步相移</a:t>
            </a:r>
            <a:endParaRPr lang="en-US" sz="1400" dirty="0"/>
          </a:p>
        </p:txBody>
      </p:sp>
      <p:sp>
        <p:nvSpPr>
          <p:cNvPr id="11" name="Text 9"/>
          <p:cNvSpPr/>
          <p:nvPr/>
        </p:nvSpPr>
        <p:spPr>
          <a:xfrm>
            <a:off x="4782312" y="241401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差分抵消直流亮度干扰，把实数灰度转化为携带相位的复数 D。</a:t>
            </a:r>
            <a:endParaRPr lang="en-US" sz="1050" dirty="0"/>
          </a:p>
        </p:txBody>
      </p:sp>
      <p:sp>
        <p:nvSpPr>
          <p:cNvPr id="12" name="Shape 10"/>
          <p:cNvSpPr/>
          <p:nvPr/>
        </p:nvSpPr>
        <p:spPr>
          <a:xfrm>
            <a:off x="8220456" y="186537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13" name="Shape 11"/>
          <p:cNvSpPr/>
          <p:nvPr/>
        </p:nvSpPr>
        <p:spPr>
          <a:xfrm>
            <a:off x="8220456" y="186537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14" name="Text 12"/>
          <p:cNvSpPr/>
          <p:nvPr/>
        </p:nvSpPr>
        <p:spPr>
          <a:xfrm>
            <a:off x="8458200" y="202996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频率轴 FFT</a:t>
            </a:r>
            <a:endParaRPr lang="en-US" sz="1400" dirty="0"/>
          </a:p>
        </p:txBody>
      </p:sp>
      <p:sp>
        <p:nvSpPr>
          <p:cNvPr id="15" name="Text 13"/>
          <p:cNvSpPr/>
          <p:nvPr/>
        </p:nvSpPr>
        <p:spPr>
          <a:xfrm>
            <a:off x="8458200" y="241401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多频率序列构成频率轴信号，</a:t>
            </a:r>
            <a:r>
              <a:rPr lang="en-US" sz="1050" dirty="0">
                <a:solidFill>
                  <a:srgbClr val="FF0000"/>
                </a:solidFill>
                <a:latin typeface="Noto Sans CJK SC" pitchFamily="34" charset="0"/>
                <a:ea typeface="Noto Sans CJK SC" pitchFamily="34" charset="-122"/>
                <a:cs typeface="Noto Sans CJK SC" pitchFamily="34" charset="-120"/>
              </a:rPr>
              <a:t>频谱峰值位置即投影仪坐标</a:t>
            </a:r>
            <a:r>
              <a:rPr lang="en-US" sz="1050" dirty="0">
                <a:solidFill>
                  <a:srgbClr val="CBD5E1"/>
                </a:solidFill>
                <a:latin typeface="Noto Sans CJK SC" pitchFamily="34" charset="0"/>
                <a:ea typeface="Noto Sans CJK SC" pitchFamily="34" charset="-122"/>
                <a:cs typeface="Noto Sans CJK SC" pitchFamily="34" charset="-120"/>
              </a:rPr>
              <a:t>。</a:t>
            </a:r>
            <a:endParaRPr lang="en-US" sz="1050" dirty="0"/>
          </a:p>
        </p:txBody>
      </p:sp>
      <p:sp>
        <p:nvSpPr>
          <p:cNvPr id="16" name="Shape 14"/>
          <p:cNvSpPr/>
          <p:nvPr/>
        </p:nvSpPr>
        <p:spPr>
          <a:xfrm>
            <a:off x="868680" y="360273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17" name="Shape 15"/>
          <p:cNvSpPr/>
          <p:nvPr/>
        </p:nvSpPr>
        <p:spPr>
          <a:xfrm>
            <a:off x="868680" y="360273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18" name="Text 16"/>
          <p:cNvSpPr/>
          <p:nvPr/>
        </p:nvSpPr>
        <p:spPr>
          <a:xfrm>
            <a:off x="1106424" y="376732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FFT 长度</a:t>
            </a:r>
            <a:endParaRPr lang="en-US" sz="1400" dirty="0"/>
          </a:p>
        </p:txBody>
      </p:sp>
      <p:sp>
        <p:nvSpPr>
          <p:cNvPr id="19" name="Text 17"/>
          <p:cNvSpPr/>
          <p:nvPr/>
        </p:nvSpPr>
        <p:spPr>
          <a:xfrm>
            <a:off x="1106424" y="415137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标准模式 fft_length = 投影仪分辨率，避免量化阶梯。</a:t>
            </a:r>
            <a:endParaRPr lang="en-US" sz="1050" dirty="0"/>
          </a:p>
        </p:txBody>
      </p:sp>
      <p:sp>
        <p:nvSpPr>
          <p:cNvPr id="20" name="Shape 18"/>
          <p:cNvSpPr/>
          <p:nvPr/>
        </p:nvSpPr>
        <p:spPr>
          <a:xfrm>
            <a:off x="4544568" y="360273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21" name="Shape 19"/>
          <p:cNvSpPr/>
          <p:nvPr/>
        </p:nvSpPr>
        <p:spPr>
          <a:xfrm>
            <a:off x="4544568" y="360273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22" name="Text 20"/>
          <p:cNvSpPr/>
          <p:nvPr/>
        </p:nvSpPr>
        <p:spPr>
          <a:xfrm>
            <a:off x="4782312" y="376732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工程实现</a:t>
            </a:r>
            <a:endParaRPr lang="en-US" sz="1400" dirty="0"/>
          </a:p>
        </p:txBody>
      </p:sp>
      <p:sp>
        <p:nvSpPr>
          <p:cNvPr id="23" name="Text 21"/>
          <p:cNvSpPr/>
          <p:nvPr/>
        </p:nvSpPr>
        <p:spPr>
          <a:xfrm>
            <a:off x="4782312" y="415137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分块 / 低内存模式平衡速度与内存，缓存加速反复调试。</a:t>
            </a:r>
            <a:endParaRPr lang="en-US" sz="1050" dirty="0"/>
          </a:p>
        </p:txBody>
      </p:sp>
      <p:sp>
        <p:nvSpPr>
          <p:cNvPr id="24" name="Shape 22"/>
          <p:cNvSpPr/>
          <p:nvPr/>
        </p:nvSpPr>
        <p:spPr>
          <a:xfrm>
            <a:off x="8220456" y="360273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25" name="Shape 23"/>
          <p:cNvSpPr/>
          <p:nvPr/>
        </p:nvSpPr>
        <p:spPr>
          <a:xfrm>
            <a:off x="8220456" y="360273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26" name="Text 24"/>
          <p:cNvSpPr/>
          <p:nvPr/>
        </p:nvSpPr>
        <p:spPr>
          <a:xfrm>
            <a:off x="8458200" y="376732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后处理</a:t>
            </a:r>
            <a:endParaRPr lang="en-US" sz="1400" dirty="0"/>
          </a:p>
        </p:txBody>
      </p:sp>
      <p:sp>
        <p:nvSpPr>
          <p:cNvPr id="27" name="Text 25"/>
          <p:cNvSpPr/>
          <p:nvPr/>
        </p:nvSpPr>
        <p:spPr>
          <a:xfrm>
            <a:off x="8458200" y="415137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多峰检测与极线校正修正复杂反射、遮挡区域的误匹配。</a:t>
            </a:r>
            <a:endParaRPr lang="en-US" sz="1050" dirty="0"/>
          </a:p>
        </p:txBody>
      </p:sp>
      <p:sp>
        <p:nvSpPr>
          <p:cNvPr id="28" name="Shape 26"/>
          <p:cNvSpPr/>
          <p:nvPr/>
        </p:nvSpPr>
        <p:spPr>
          <a:xfrm>
            <a:off x="868680" y="5431536"/>
            <a:ext cx="1482852" cy="566928"/>
          </a:xfrm>
          <a:prstGeom prst="roundRect">
            <a:avLst>
              <a:gd name="adj" fmla="val 12903"/>
            </a:avLst>
          </a:prstGeom>
          <a:solidFill>
            <a:srgbClr val="0F2F4E"/>
          </a:solidFill>
          <a:ln w="12700">
            <a:solidFill>
              <a:srgbClr val="1E466E"/>
            </a:solidFill>
            <a:prstDash val="solid"/>
          </a:ln>
        </p:spPr>
        <p:txBody>
          <a:bodyPr/>
          <a:lstStyle/>
          <a:p>
            <a:endParaRPr lang="zh-CN" altLang="en-US"/>
          </a:p>
        </p:txBody>
      </p:sp>
      <p:sp>
        <p:nvSpPr>
          <p:cNvPr id="29" name="Text 27"/>
          <p:cNvSpPr/>
          <p:nvPr/>
        </p:nvSpPr>
        <p:spPr>
          <a:xfrm>
            <a:off x="822960"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条纹采集</a:t>
            </a:r>
            <a:endParaRPr lang="en-US" sz="1100" dirty="0"/>
          </a:p>
        </p:txBody>
      </p:sp>
      <p:sp>
        <p:nvSpPr>
          <p:cNvPr id="30" name="Shape 28"/>
          <p:cNvSpPr/>
          <p:nvPr/>
        </p:nvSpPr>
        <p:spPr>
          <a:xfrm>
            <a:off x="2388108" y="5715000"/>
            <a:ext cx="237744" cy="0"/>
          </a:xfrm>
          <a:prstGeom prst="line">
            <a:avLst/>
          </a:prstGeom>
          <a:noFill/>
          <a:ln w="25400">
            <a:solidFill>
              <a:srgbClr val="22D3EE"/>
            </a:solidFill>
            <a:prstDash val="solid"/>
            <a:tailEnd type="triangle"/>
          </a:ln>
        </p:spPr>
        <p:txBody>
          <a:bodyPr/>
          <a:lstStyle/>
          <a:p>
            <a:endParaRPr lang="zh-CN" altLang="en-US"/>
          </a:p>
        </p:txBody>
      </p:sp>
      <p:sp>
        <p:nvSpPr>
          <p:cNvPr id="31" name="Shape 29"/>
          <p:cNvSpPr/>
          <p:nvPr/>
        </p:nvSpPr>
        <p:spPr>
          <a:xfrm>
            <a:off x="2662428" y="5431536"/>
            <a:ext cx="1482852" cy="566928"/>
          </a:xfrm>
          <a:prstGeom prst="roundRect">
            <a:avLst>
              <a:gd name="adj" fmla="val 12903"/>
            </a:avLst>
          </a:prstGeom>
          <a:solidFill>
            <a:srgbClr val="123A5C"/>
          </a:solidFill>
          <a:ln w="12700">
            <a:solidFill>
              <a:srgbClr val="1E466E"/>
            </a:solidFill>
            <a:prstDash val="solid"/>
          </a:ln>
        </p:spPr>
        <p:txBody>
          <a:bodyPr/>
          <a:lstStyle/>
          <a:p>
            <a:endParaRPr lang="zh-CN" altLang="en-US"/>
          </a:p>
        </p:txBody>
      </p:sp>
      <p:sp>
        <p:nvSpPr>
          <p:cNvPr id="32" name="Text 30"/>
          <p:cNvSpPr/>
          <p:nvPr/>
        </p:nvSpPr>
        <p:spPr>
          <a:xfrm>
            <a:off x="2616708"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四步相移</a:t>
            </a:r>
            <a:endParaRPr lang="en-US" sz="1100" dirty="0"/>
          </a:p>
        </p:txBody>
      </p:sp>
      <p:sp>
        <p:nvSpPr>
          <p:cNvPr id="33" name="Shape 31"/>
          <p:cNvSpPr/>
          <p:nvPr/>
        </p:nvSpPr>
        <p:spPr>
          <a:xfrm>
            <a:off x="4181856" y="5715000"/>
            <a:ext cx="237744" cy="0"/>
          </a:xfrm>
          <a:prstGeom prst="line">
            <a:avLst/>
          </a:prstGeom>
          <a:noFill/>
          <a:ln w="25400">
            <a:solidFill>
              <a:srgbClr val="22D3EE"/>
            </a:solidFill>
            <a:prstDash val="solid"/>
            <a:tailEnd type="triangle"/>
          </a:ln>
        </p:spPr>
        <p:txBody>
          <a:bodyPr/>
          <a:lstStyle/>
          <a:p>
            <a:endParaRPr lang="zh-CN" altLang="en-US"/>
          </a:p>
        </p:txBody>
      </p:sp>
      <p:sp>
        <p:nvSpPr>
          <p:cNvPr id="34" name="Shape 32"/>
          <p:cNvSpPr/>
          <p:nvPr/>
        </p:nvSpPr>
        <p:spPr>
          <a:xfrm>
            <a:off x="4456176" y="5431536"/>
            <a:ext cx="1482852" cy="566928"/>
          </a:xfrm>
          <a:prstGeom prst="roundRect">
            <a:avLst>
              <a:gd name="adj" fmla="val 12903"/>
            </a:avLst>
          </a:prstGeom>
          <a:solidFill>
            <a:srgbClr val="0F2F4E"/>
          </a:solidFill>
          <a:ln w="12700">
            <a:solidFill>
              <a:srgbClr val="1E466E"/>
            </a:solidFill>
            <a:prstDash val="solid"/>
          </a:ln>
        </p:spPr>
        <p:txBody>
          <a:bodyPr/>
          <a:lstStyle/>
          <a:p>
            <a:endParaRPr lang="zh-CN" altLang="en-US"/>
          </a:p>
        </p:txBody>
      </p:sp>
      <p:sp>
        <p:nvSpPr>
          <p:cNvPr id="35" name="Text 33"/>
          <p:cNvSpPr/>
          <p:nvPr/>
        </p:nvSpPr>
        <p:spPr>
          <a:xfrm>
            <a:off x="4410456"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频率轴信号</a:t>
            </a:r>
            <a:endParaRPr lang="en-US" sz="1100" dirty="0"/>
          </a:p>
        </p:txBody>
      </p:sp>
      <p:sp>
        <p:nvSpPr>
          <p:cNvPr id="36" name="Shape 34"/>
          <p:cNvSpPr/>
          <p:nvPr/>
        </p:nvSpPr>
        <p:spPr>
          <a:xfrm>
            <a:off x="5975604" y="5715000"/>
            <a:ext cx="237744" cy="0"/>
          </a:xfrm>
          <a:prstGeom prst="line">
            <a:avLst/>
          </a:prstGeom>
          <a:noFill/>
          <a:ln w="25400">
            <a:solidFill>
              <a:srgbClr val="22D3EE"/>
            </a:solidFill>
            <a:prstDash val="solid"/>
            <a:tailEnd type="triangle"/>
          </a:ln>
        </p:spPr>
        <p:txBody>
          <a:bodyPr/>
          <a:lstStyle/>
          <a:p>
            <a:endParaRPr lang="zh-CN" altLang="en-US"/>
          </a:p>
        </p:txBody>
      </p:sp>
      <p:sp>
        <p:nvSpPr>
          <p:cNvPr id="37" name="Shape 35"/>
          <p:cNvSpPr/>
          <p:nvPr/>
        </p:nvSpPr>
        <p:spPr>
          <a:xfrm>
            <a:off x="6249924" y="5431536"/>
            <a:ext cx="1482852" cy="566928"/>
          </a:xfrm>
          <a:prstGeom prst="roundRect">
            <a:avLst>
              <a:gd name="adj" fmla="val 12903"/>
            </a:avLst>
          </a:prstGeom>
          <a:solidFill>
            <a:srgbClr val="123A5C"/>
          </a:solidFill>
          <a:ln w="12700">
            <a:solidFill>
              <a:srgbClr val="1E466E"/>
            </a:solidFill>
            <a:prstDash val="solid"/>
          </a:ln>
        </p:spPr>
        <p:txBody>
          <a:bodyPr/>
          <a:lstStyle/>
          <a:p>
            <a:endParaRPr lang="zh-CN" altLang="en-US"/>
          </a:p>
        </p:txBody>
      </p:sp>
      <p:sp>
        <p:nvSpPr>
          <p:cNvPr id="38" name="Text 36"/>
          <p:cNvSpPr/>
          <p:nvPr/>
        </p:nvSpPr>
        <p:spPr>
          <a:xfrm>
            <a:off x="6204204"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FFT 解码</a:t>
            </a:r>
            <a:endParaRPr lang="en-US" sz="1100" dirty="0"/>
          </a:p>
        </p:txBody>
      </p:sp>
      <p:sp>
        <p:nvSpPr>
          <p:cNvPr id="39" name="Shape 37"/>
          <p:cNvSpPr/>
          <p:nvPr/>
        </p:nvSpPr>
        <p:spPr>
          <a:xfrm>
            <a:off x="7769352" y="5715000"/>
            <a:ext cx="237744" cy="0"/>
          </a:xfrm>
          <a:prstGeom prst="line">
            <a:avLst/>
          </a:prstGeom>
          <a:noFill/>
          <a:ln w="25400">
            <a:solidFill>
              <a:srgbClr val="22D3EE"/>
            </a:solidFill>
            <a:prstDash val="solid"/>
            <a:tailEnd type="triangle"/>
          </a:ln>
        </p:spPr>
        <p:txBody>
          <a:bodyPr/>
          <a:lstStyle/>
          <a:p>
            <a:endParaRPr lang="zh-CN" altLang="en-US"/>
          </a:p>
        </p:txBody>
      </p:sp>
      <p:sp>
        <p:nvSpPr>
          <p:cNvPr id="40" name="Shape 38"/>
          <p:cNvSpPr/>
          <p:nvPr/>
        </p:nvSpPr>
        <p:spPr>
          <a:xfrm>
            <a:off x="8043672" y="5431536"/>
            <a:ext cx="1482852" cy="566928"/>
          </a:xfrm>
          <a:prstGeom prst="roundRect">
            <a:avLst>
              <a:gd name="adj" fmla="val 12903"/>
            </a:avLst>
          </a:prstGeom>
          <a:solidFill>
            <a:srgbClr val="0F2F4E"/>
          </a:solidFill>
          <a:ln w="12700">
            <a:solidFill>
              <a:srgbClr val="1E466E"/>
            </a:solidFill>
            <a:prstDash val="solid"/>
          </a:ln>
        </p:spPr>
        <p:txBody>
          <a:bodyPr/>
          <a:lstStyle/>
          <a:p>
            <a:endParaRPr lang="zh-CN" altLang="en-US"/>
          </a:p>
        </p:txBody>
      </p:sp>
      <p:sp>
        <p:nvSpPr>
          <p:cNvPr id="41" name="Text 39"/>
          <p:cNvSpPr/>
          <p:nvPr/>
        </p:nvSpPr>
        <p:spPr>
          <a:xfrm>
            <a:off x="7997952"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投影仪坐标</a:t>
            </a:r>
            <a:endParaRPr lang="en-US" sz="1100" dirty="0"/>
          </a:p>
        </p:txBody>
      </p:sp>
      <p:sp>
        <p:nvSpPr>
          <p:cNvPr id="42" name="Shape 40"/>
          <p:cNvSpPr/>
          <p:nvPr/>
        </p:nvSpPr>
        <p:spPr>
          <a:xfrm>
            <a:off x="9563100" y="5715000"/>
            <a:ext cx="237744" cy="0"/>
          </a:xfrm>
          <a:prstGeom prst="line">
            <a:avLst/>
          </a:prstGeom>
          <a:noFill/>
          <a:ln w="25400">
            <a:solidFill>
              <a:srgbClr val="22D3EE"/>
            </a:solidFill>
            <a:prstDash val="solid"/>
            <a:tailEnd type="triangle"/>
          </a:ln>
        </p:spPr>
        <p:txBody>
          <a:bodyPr/>
          <a:lstStyle/>
          <a:p>
            <a:endParaRPr lang="zh-CN" altLang="en-US"/>
          </a:p>
        </p:txBody>
      </p:sp>
      <p:sp>
        <p:nvSpPr>
          <p:cNvPr id="43" name="Shape 41"/>
          <p:cNvSpPr/>
          <p:nvPr/>
        </p:nvSpPr>
        <p:spPr>
          <a:xfrm>
            <a:off x="9837420" y="5431536"/>
            <a:ext cx="1482852" cy="566928"/>
          </a:xfrm>
          <a:prstGeom prst="roundRect">
            <a:avLst>
              <a:gd name="adj" fmla="val 12903"/>
            </a:avLst>
          </a:prstGeom>
          <a:solidFill>
            <a:srgbClr val="123A5C"/>
          </a:solidFill>
          <a:ln w="12700">
            <a:solidFill>
              <a:srgbClr val="1E466E"/>
            </a:solidFill>
            <a:prstDash val="solid"/>
          </a:ln>
        </p:spPr>
        <p:txBody>
          <a:bodyPr/>
          <a:lstStyle/>
          <a:p>
            <a:endParaRPr lang="zh-CN" altLang="en-US"/>
          </a:p>
        </p:txBody>
      </p:sp>
      <p:sp>
        <p:nvSpPr>
          <p:cNvPr id="44" name="Text 42"/>
          <p:cNvSpPr/>
          <p:nvPr/>
        </p:nvSpPr>
        <p:spPr>
          <a:xfrm>
            <a:off x="9791700"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三维点云</a:t>
            </a:r>
            <a:endParaRPr lang="en-US" sz="1100" dirty="0"/>
          </a:p>
        </p:txBody>
      </p:sp>
      <p:sp>
        <p:nvSpPr>
          <p:cNvPr id="45" name="Text 43"/>
          <p:cNvSpPr/>
          <p:nvPr/>
        </p:nvSpPr>
        <p:spPr>
          <a:xfrm>
            <a:off x="868680" y="6163056"/>
            <a:ext cx="10424160" cy="365760"/>
          </a:xfrm>
          <a:prstGeom prst="rect">
            <a:avLst/>
          </a:prstGeom>
          <a:noFill/>
        </p:spPr>
        <p:txBody>
          <a:bodyPr wrap="square" lIns="0" tIns="0" rIns="0" bIns="0" rtlCol="0" anchor="ctr"/>
          <a:lstStyle/>
          <a:p>
            <a:pPr marL="0" indent="0">
              <a:buNone/>
            </a:pPr>
            <a:r>
              <a:rPr lang="en-US" sz="1300" b="1" kern="0" spc="200" dirty="0">
                <a:solidFill>
                  <a:srgbClr val="FFFFFF"/>
                </a:solidFill>
                <a:latin typeface="Noto Sans CJK SC" pitchFamily="34" charset="0"/>
                <a:ea typeface="Noto Sans CJK SC" pitchFamily="34" charset="-122"/>
                <a:cs typeface="Noto Sans CJK SC" pitchFamily="34" charset="-120"/>
              </a:rPr>
              <a:t>谢谢观看  ·  Q &amp; A</a:t>
            </a:r>
            <a:endParaRPr lang="en-US" sz="1300" dirty="0"/>
          </a:p>
        </p:txBody>
      </p:sp>
      <p:sp>
        <p:nvSpPr>
          <p:cNvPr id="46" name="Text 44"/>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7" name="Text 45"/>
          <p:cNvSpPr/>
          <p:nvPr/>
        </p:nvSpPr>
        <p:spPr>
          <a:xfrm>
            <a:off x="5029200" y="6446520"/>
            <a:ext cx="4572000" cy="274320"/>
          </a:xfrm>
          <a:prstGeom prst="rect">
            <a:avLst/>
          </a:prstGeom>
          <a:noFill/>
        </p:spPr>
        <p:txBody>
          <a:bodyPr wrap="square" lIns="0" tIns="0" rIns="0" bIns="0" rtlCol="0" anchor="ctr"/>
          <a:lstStyle/>
          <a:p>
            <a:pPr marL="0" indent="0" algn="ctr">
              <a:buNone/>
            </a:pPr>
            <a:endParaRPr lang="en-US" sz="850" dirty="0"/>
          </a:p>
        </p:txBody>
      </p:sp>
      <p:sp>
        <p:nvSpPr>
          <p:cNvPr id="48" name="Text 46"/>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42 / 42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16623</Words>
  <Application>WPS 演示</Application>
  <PresentationFormat>宽屏</PresentationFormat>
  <Paragraphs>1852</Paragraphs>
  <Slides>49</Slides>
  <Notes>42</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49</vt:i4>
      </vt:variant>
    </vt:vector>
  </HeadingPairs>
  <TitlesOfParts>
    <vt:vector size="70" baseType="lpstr">
      <vt:lpstr>Arial</vt:lpstr>
      <vt:lpstr>宋体</vt:lpstr>
      <vt:lpstr>Wingdings</vt:lpstr>
      <vt:lpstr>Noto Sans CJK SC</vt:lpstr>
      <vt:lpstr>FFont-Family</vt:lpstr>
      <vt:lpstr>Noto Sans CJK SC</vt:lpstr>
      <vt:lpstr>Noto Sans CJK SC</vt:lpstr>
      <vt:lpstr>DejaVu Sans Mono</vt:lpstr>
      <vt:lpstr>DejaVu Sans Mono</vt:lpstr>
      <vt:lpstr>DejaVu Sans Mono</vt:lpstr>
      <vt:lpstr>Cambria</vt:lpstr>
      <vt:lpstr>ADLaM Display</vt:lpstr>
      <vt:lpstr>Calibri</vt:lpstr>
      <vt:lpstr>微软雅黑</vt:lpstr>
      <vt:lpstr>Arial Unicode MS</vt:lpstr>
      <vt:lpstr>等线</vt:lpstr>
      <vt:lpstr>MingLiU-ExtB</vt:lpstr>
      <vt:lpstr>Noto Sans CJK SC</vt:lpstr>
      <vt:lpstr>DejaVu Sans Mono</vt:lpstr>
      <vt:lpstr>Wide Latin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频移法（FSM / FSA）原理详解</dc:title>
  <dc:creator>FSM / FSA</dc:creator>
  <dc:subject>PptxGenJS Presentation</dc:subject>
  <cp:lastModifiedBy>照汗青</cp:lastModifiedBy>
  <cp:revision>3</cp:revision>
  <dcterms:created xsi:type="dcterms:W3CDTF">2026-05-17T05:06:00Z</dcterms:created>
  <dcterms:modified xsi:type="dcterms:W3CDTF">2026-05-18T12:15:46Z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13B6ECA0ACC749AE96EB07EE00DF66D3_12</vt:lpwstr>
  </property>
  <property fmtid="{D5CDD505-2E9C-101B-9397-08002B2CF9AE}" pid="3" name="KSOProductBuildVer">
    <vt:lpwstr>2052-12.1.0.25222</vt:lpwstr>
  </property>
</Properties>
</file>